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71" r:id="rId2"/>
    <p:sldId id="270" r:id="rId3"/>
    <p:sldId id="258" r:id="rId4"/>
    <p:sldId id="272" r:id="rId5"/>
    <p:sldId id="273" r:id="rId6"/>
    <p:sldId id="274" r:id="rId7"/>
    <p:sldId id="263" r:id="rId8"/>
    <p:sldId id="275" r:id="rId9"/>
    <p:sldId id="276" r:id="rId10"/>
    <p:sldId id="277" r:id="rId11"/>
    <p:sldId id="280" r:id="rId12"/>
    <p:sldId id="267" r:id="rId13"/>
    <p:sldId id="281" r:id="rId14"/>
    <p:sldId id="288" r:id="rId15"/>
    <p:sldId id="290" r:id="rId16"/>
    <p:sldId id="282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299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7B8216C-6208-FD08-832B-180FD7718023}" name="Mengyao Li" initials="ML" userId="S::11024864@polimi.it::f6e95dda-dfd9-43da-a11e-e8698766ffeb" providerId="AD"/>
  <p188:author id="{2D283EC7-5112-183D-959D-A20AA12CA895}" name="梦瑶 李" initials="梦李" userId="6230b2ca144a9234" providerId="Windows Live"/>
  <p188:author id="{71C6AFD9-62BD-8B0A-2A62-89E107C76DE9}" name="Simone Mauro" initials="SM" userId="S::10767574@polimi.it::12f8f890-be46-467a-a1bb-941f5f0f4e3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351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3457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F67160-03C3-4181-AF58-8E65F31339B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8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658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355080"/>
            <a:ext cx="11183112" cy="0"/>
          </a:xfrm>
          <a:prstGeom prst="line">
            <a:avLst/>
          </a:prstGeom>
          <a:noFill/>
          <a:ln w="12700">
            <a:solidFill>
              <a:srgbClr val="E4DE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6446520"/>
            <a:ext cx="4937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>
                <a:solidFill>
                  <a:srgbClr val="7A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Requirement 3 · Primal-Dual Factorized Hedge</a:t>
            </a:r>
            <a:endParaRPr lang="en-US" sz="7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282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766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282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766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827"/>
                </a:solidFill>
              </a:defRPr>
            </a:pPr>
            <a:r>
              <a:t>Notation</a:t>
            </a:r>
            <a:r>
              <a:rPr lang="en-US"/>
              <a:t>s</a:t>
            </a:r>
            <a:r>
              <a:t>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64748B"/>
                </a:solidFill>
              </a:defRPr>
            </a:pPr>
            <a:r>
              <a:t>All symbols used later, so the math does not feel like it appears from nowhere.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64748B"/>
                </a:solidFill>
              </a:defRPr>
            </a:pPr>
            <a: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48920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54864" cy="7772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325880"/>
            <a:ext cx="4617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618488"/>
            <a:ext cx="4617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60" b="0">
                <a:solidFill>
                  <a:srgbClr val="334155"/>
                </a:solidFill>
              </a:defRPr>
            </a:pPr>
            <a:r>
              <a:t>number of rounds; here T = 1000.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34440"/>
            <a:ext cx="48920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7920" y="1234440"/>
            <a:ext cx="54864" cy="77724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82512" y="1325880"/>
            <a:ext cx="4617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618488"/>
            <a:ext cx="4617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60" b="0">
                <a:solidFill>
                  <a:srgbClr val="334155"/>
                </a:solidFill>
              </a:defRPr>
            </a:pPr>
            <a:r>
              <a:t>number of campaigns; here N = 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331720"/>
            <a:ext cx="48920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1520" y="2331720"/>
            <a:ext cx="54864" cy="7772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6112" y="2423160"/>
            <a:ext cx="4617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2715768"/>
            <a:ext cx="4617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60" b="0">
                <a:solidFill>
                  <a:srgbClr val="334155"/>
                </a:solidFill>
              </a:defRPr>
            </a:pPr>
            <a:r>
              <a:t>finite bid grid, i.e., allowed bid levels. Here B = {0, 0.2, ..., 1}.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331720"/>
            <a:ext cx="48920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17920" y="2331720"/>
            <a:ext cx="54864" cy="77724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82512" y="2423160"/>
            <a:ext cx="4617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|B|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715768"/>
            <a:ext cx="4617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60" b="0">
                <a:solidFill>
                  <a:srgbClr val="334155"/>
                </a:solidFill>
              </a:defRPr>
            </a:pPr>
            <a:r>
              <a:t>number of allowed bid levels; here |B| = 6. It is not the same as 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429000"/>
            <a:ext cx="48920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31520" y="3429000"/>
            <a:ext cx="54864" cy="7772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3520440"/>
            <a:ext cx="4617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b(t)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813048"/>
            <a:ext cx="4617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60" b="0">
                <a:solidFill>
                  <a:srgbClr val="334155"/>
                </a:solidFill>
              </a:defRPr>
            </a:pPr>
            <a:r>
              <a:t>bid vector chosen at round t: one bid b(t,i) for every campaign 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429000"/>
            <a:ext cx="48920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17920" y="3429000"/>
            <a:ext cx="54864" cy="77724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82512" y="3520440"/>
            <a:ext cx="4617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m(t)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3813048"/>
            <a:ext cx="4617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60" b="0">
                <a:solidFill>
                  <a:srgbClr val="334155"/>
                </a:solidFill>
              </a:defRPr>
            </a:pPr>
            <a:r>
              <a:t>market vector: highest competing bid m(t,i) for each campaign.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526279"/>
            <a:ext cx="48920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31520" y="4526279"/>
            <a:ext cx="54864" cy="7772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19"/>
            <a:ext cx="4617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v(i)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4910327"/>
            <a:ext cx="4617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60" b="0">
                <a:solidFill>
                  <a:srgbClr val="334155"/>
                </a:solidFill>
              </a:defRPr>
            </a:pPr>
            <a:r>
              <a:t>value of winning campaign i. Here v(i) = 1 is a normalization.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526279"/>
            <a:ext cx="48920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4526279"/>
            <a:ext cx="54864" cy="77724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4617719"/>
            <a:ext cx="4617720" cy="2646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rPr lang="zh-CN" altLang="en-US" sz="1100">
                <a:ea typeface="等线"/>
              </a:rPr>
              <a:t> </a:t>
            </a:r>
            <a:r>
              <a:rPr lang="el-GR" altLang="zh-CN" sz="1100">
                <a:ea typeface="等线"/>
              </a:rPr>
              <a:t>λ</a:t>
            </a:r>
            <a:endParaRPr lang="zh-CN" altLang="en-US" sz="1100"/>
          </a:p>
        </p:txBody>
      </p:sp>
      <p:sp>
        <p:nvSpPr>
          <p:cNvPr id="36" name="TextBox 35"/>
          <p:cNvSpPr txBox="1"/>
          <p:nvPr/>
        </p:nvSpPr>
        <p:spPr>
          <a:xfrm>
            <a:off x="6382512" y="4910327"/>
            <a:ext cx="46177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60" b="0">
                <a:solidFill>
                  <a:srgbClr val="334155"/>
                </a:solidFill>
              </a:defRPr>
            </a:pPr>
            <a:r>
              <a:t>dual variable: a price for spending too much budget.</a:t>
            </a:r>
          </a:p>
        </p:txBody>
      </p:sp>
    </p:spTree>
    <p:extLst>
      <p:ext uri="{BB962C8B-B14F-4D97-AF65-F5344CB8AC3E}">
        <p14:creationId xmlns:p14="http://schemas.microsoft.com/office/powerpoint/2010/main" val="2516896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827"/>
                </a:solidFill>
              </a:defRPr>
            </a:pPr>
            <a:r>
              <a:t>One round of the auction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64748B"/>
                </a:solidFill>
              </a:defRPr>
            </a:pPr>
            <a:r>
              <a:t>This explains exactly how utility and cost are computed after a bid vector is chosen.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64748B"/>
                </a:solidFill>
              </a:defRPr>
            </a:pPr>
            <a: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34440"/>
            <a:ext cx="338328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234440"/>
            <a:ext cx="54864" cy="13258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" y="13258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1. Learner chooses b(t)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618488"/>
            <a:ext cx="310896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b(t) = (b(t,1), ..., b(t,i)).</a:t>
            </a:r>
            <a:br/>
            <a:r>
              <a:t>This is the full action/superarm: it combines one bid for each campaign.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234440"/>
            <a:ext cx="338328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234440"/>
            <a:ext cx="54864" cy="132588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53712" y="13258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2. Market reveals m(t)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1618488"/>
            <a:ext cx="310896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m(t) = (m(t,1), ..., m(t,i)).</a:t>
            </a:r>
            <a:br/>
            <a:r>
              <a:t>Each m(t,i) is the highest competing bid in campaign 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234440"/>
            <a:ext cx="3383280" cy="13258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234440"/>
            <a:ext cx="54864" cy="132588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57031" y="13258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3. Win or lose each campaign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1618488"/>
            <a:ext cx="310896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Campaign i is won if b(t,i) &gt;= m(t,i).</a:t>
            </a:r>
            <a:br/>
            <a:r>
              <a:t>The indicator 1{b(t,i) &gt;= m(t,i)} is 1 if won, 0 otherwise.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154680"/>
            <a:ext cx="4846320" cy="1143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14400" y="3154680"/>
            <a:ext cx="54864" cy="1143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32461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Utility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538728"/>
            <a:ext cx="45720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u(t)(b(t)) = sum over i (v(i) - b(t,i)) 1{b(t,i) &gt;= m(t,i)}</a:t>
            </a:r>
            <a:br/>
            <a:r>
              <a:t>Winning gives value v(i) and pays the bid b(t,i).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154680"/>
            <a:ext cx="4663440" cy="1143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0" y="3154680"/>
            <a:ext cx="54864" cy="1143000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65392" y="32461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5392" y="3538728"/>
            <a:ext cx="438912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c(t)(b(t)) = sum over i b(t,i) 1{b(t,i) &gt;= m(t,i)}</a:t>
            </a:r>
            <a:br/>
            <a:r>
              <a:t>Only won auctions create cost.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8920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334155"/>
                </a:solidFill>
              </a:defRPr>
            </a:pPr>
            <a:r>
              <a:t>Important bound: realized cost c(t)(b(t)) &lt;= sum over i b(t,i).</a:t>
            </a:r>
          </a:p>
          <a:p>
            <a:pPr>
              <a:spcAft>
                <a:spcPts val="500"/>
              </a:spcAft>
              <a:defRPr sz="1700">
                <a:solidFill>
                  <a:srgbClr val="334155"/>
                </a:solidFill>
              </a:defRPr>
            </a:pPr>
            <a:r>
              <a:t>The algorithm uses this upper bound for a deterministic budget guarantee.</a:t>
            </a:r>
          </a:p>
        </p:txBody>
      </p:sp>
    </p:spTree>
    <p:extLst>
      <p:ext uri="{BB962C8B-B14F-4D97-AF65-F5344CB8AC3E}">
        <p14:creationId xmlns:p14="http://schemas.microsoft.com/office/powerpoint/2010/main" val="215208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B1B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Highly non-stationary environment</a:t>
            </a:r>
            <a:endParaRPr lang="en-US" sz="3000"/>
          </a:p>
        </p:txBody>
      </p:sp>
      <p:sp>
        <p:nvSpPr>
          <p:cNvPr id="3" name="Text 1"/>
          <p:cNvSpPr/>
          <p:nvPr/>
        </p:nvSpPr>
        <p:spPr>
          <a:xfrm>
            <a:off x="621792" y="8778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67635E"/>
                </a:solidFill>
              </a:rPr>
              <a:t>Gaussian market regimes change every K rounds</a:t>
            </a:r>
          </a:p>
          <a:p>
            <a:r>
              <a:rPr lang="en-US" sz="1200">
                <a:solidFill>
                  <a:srgbClr val="67635E"/>
                </a:solidFill>
              </a:rPr>
              <a:t>Each Gaussian regimes is shown with a different color clock</a:t>
            </a:r>
          </a:p>
        </p:txBody>
      </p:sp>
      <p:sp>
        <p:nvSpPr>
          <p:cNvPr id="18" name="Shape 16"/>
          <p:cNvSpPr/>
          <p:nvPr/>
        </p:nvSpPr>
        <p:spPr>
          <a:xfrm>
            <a:off x="922949" y="1464527"/>
            <a:ext cx="2834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FE9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151549" y="1693127"/>
            <a:ext cx="24688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500" b="1">
                <a:solidFill>
                  <a:srgbClr val="2F6F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Sample regime</a:t>
            </a:r>
            <a:endParaRPr lang="en-US" sz="1500"/>
          </a:p>
        </p:txBody>
      </p:sp>
      <p:sp>
        <p:nvSpPr>
          <p:cNvPr id="20" name="Text 18"/>
          <p:cNvSpPr/>
          <p:nvPr/>
        </p:nvSpPr>
        <p:spPr>
          <a:xfrm>
            <a:off x="1151549" y="1994879"/>
            <a:ext cx="22860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400">
                <a:solidFill>
                  <a:srgbClr val="6763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μₖ and Σₖ</a:t>
            </a:r>
            <a:endParaRPr lang="en-US" sz="1400"/>
          </a:p>
        </p:txBody>
      </p:sp>
      <p:sp>
        <p:nvSpPr>
          <p:cNvPr id="21" name="Shape 19"/>
          <p:cNvSpPr/>
          <p:nvPr/>
        </p:nvSpPr>
        <p:spPr>
          <a:xfrm>
            <a:off x="4260509" y="1464527"/>
            <a:ext cx="2834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FE9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489109" y="1693127"/>
            <a:ext cx="24688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500" b="1">
                <a:solidFill>
                  <a:srgbClr val="2F6F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Draw market</a:t>
            </a:r>
            <a:endParaRPr lang="en-US" sz="1500"/>
          </a:p>
        </p:txBody>
      </p:sp>
      <p:sp>
        <p:nvSpPr>
          <p:cNvPr id="23" name="Text 21"/>
          <p:cNvSpPr/>
          <p:nvPr/>
        </p:nvSpPr>
        <p:spPr>
          <a:xfrm>
            <a:off x="4489109" y="1994879"/>
            <a:ext cx="22860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400">
                <a:solidFill>
                  <a:srgbClr val="6763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mₜ ~ N(μₖ, Σₖ)</a:t>
            </a:r>
            <a:endParaRPr lang="en-US" sz="1400"/>
          </a:p>
        </p:txBody>
      </p:sp>
      <p:sp>
        <p:nvSpPr>
          <p:cNvPr id="24" name="Shape 22"/>
          <p:cNvSpPr/>
          <p:nvPr/>
        </p:nvSpPr>
        <p:spPr>
          <a:xfrm>
            <a:off x="7598069" y="1464527"/>
            <a:ext cx="28346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FE9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826669" y="1693127"/>
            <a:ext cx="24688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500" b="1">
                <a:solidFill>
                  <a:srgbClr val="2F6F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Clip bids</a:t>
            </a:r>
            <a:endParaRPr lang="en-US" sz="1500"/>
          </a:p>
        </p:txBody>
      </p:sp>
      <p:sp>
        <p:nvSpPr>
          <p:cNvPr id="26" name="Text 24"/>
          <p:cNvSpPr/>
          <p:nvPr/>
        </p:nvSpPr>
        <p:spPr>
          <a:xfrm>
            <a:off x="7826669" y="1994879"/>
            <a:ext cx="2286000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400">
                <a:solidFill>
                  <a:srgbClr val="6763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mₜ ∈ [0, 1]ᴺ</a:t>
            </a:r>
            <a:endParaRPr lang="en-US" sz="1400"/>
          </a:p>
        </p:txBody>
      </p:sp>
      <p:sp>
        <p:nvSpPr>
          <p:cNvPr id="27" name="Shape 25"/>
          <p:cNvSpPr/>
          <p:nvPr/>
        </p:nvSpPr>
        <p:spPr>
          <a:xfrm>
            <a:off x="3803309" y="1994879"/>
            <a:ext cx="411480" cy="0"/>
          </a:xfrm>
          <a:prstGeom prst="line">
            <a:avLst/>
          </a:prstGeom>
          <a:noFill/>
          <a:ln w="25400">
            <a:solidFill>
              <a:srgbClr val="8E877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140869" y="1994879"/>
            <a:ext cx="411480" cy="0"/>
          </a:xfrm>
          <a:prstGeom prst="line">
            <a:avLst/>
          </a:prstGeom>
          <a:noFill/>
          <a:ln w="25400">
            <a:solidFill>
              <a:srgbClr val="8E877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007327" y="5690839"/>
            <a:ext cx="10058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>
                <a:solidFill>
                  <a:srgbClr val="000000"/>
                </a:solidFill>
              </a:rPr>
              <a:t>T = 1000, K = 100: the distribution jumps every 100 rounds</a:t>
            </a:r>
            <a:endParaRPr lang="zh-CN" altLang="en-US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282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7A766E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4" name="图片 3" descr="日历&#10;&#10;AI 生成的内容可能不正确。">
            <a:extLst>
              <a:ext uri="{FF2B5EF4-FFF2-40B4-BE49-F238E27FC236}">
                <a16:creationId xmlns:a16="http://schemas.microsoft.com/office/drawing/2014/main" id="{58BB4282-BA29-62BA-124B-1A09A4B58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1" y="2678882"/>
            <a:ext cx="9776604" cy="27941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827"/>
                </a:solidFill>
              </a:defRPr>
            </a:pPr>
            <a:r>
              <a:t>Conflict graph and feasible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64748B"/>
                </a:solidFill>
              </a:defRPr>
            </a:pPr>
            <a:r>
              <a:t>A conflict edge means two campaigns cannot both be active in the same round.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64748B"/>
                </a:solidFill>
              </a:defRPr>
            </a:pPr>
            <a: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34440"/>
            <a:ext cx="32004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234440"/>
            <a:ext cx="54864" cy="914400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" y="132588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Current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618488"/>
            <a:ext cx="2926080" cy="42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70" b="0">
                <a:solidFill>
                  <a:srgbClr val="334155"/>
                </a:solidFill>
              </a:defRPr>
            </a:pPr>
            <a:r>
              <a:t>Edges: (0, 1), (0, 2), (1, 3), (2, 3), (3, 4).</a:t>
            </a:r>
            <a:br>
              <a:rPr/>
            </a:br>
            <a:r>
              <a:t>Denser than the first graph, but not complete.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23160"/>
            <a:ext cx="32004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2423160"/>
            <a:ext cx="54864" cy="91440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0392" y="251460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Feasibility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2807208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If (i, j) is an edge, then it is forbidden to have both b(t) &gt; 0 and b(t) &gt; 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611880"/>
            <a:ext cx="3200400" cy="9144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3611880"/>
            <a:ext cx="54864" cy="91440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0392" y="370332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After filtering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3995928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The raw 7776 bid vectors become 276 feasible bid vectors after applying conflicts.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42432" y="1581912"/>
            <a:ext cx="1965960" cy="411479"/>
          </a:xfrm>
          <a:prstGeom prst="line">
            <a:avLst/>
          </a:prstGeom>
          <a:ln w="28575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605272" y="1581912"/>
            <a:ext cx="137160" cy="2331720"/>
          </a:xfrm>
          <a:prstGeom prst="line">
            <a:avLst/>
          </a:prstGeom>
          <a:ln w="28575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08392" y="1993391"/>
            <a:ext cx="182879" cy="2057401"/>
          </a:xfrm>
          <a:prstGeom prst="line">
            <a:avLst/>
          </a:prstGeom>
          <a:ln w="28575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605272" y="3913632"/>
            <a:ext cx="2285999" cy="137160"/>
          </a:xfrm>
          <a:prstGeom prst="line">
            <a:avLst/>
          </a:prstGeom>
          <a:ln w="28575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891271" y="2953512"/>
            <a:ext cx="1828801" cy="1097280"/>
          </a:xfrm>
          <a:prstGeom prst="line">
            <a:avLst/>
          </a:prstGeom>
          <a:ln w="28575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86400" y="1325880"/>
            <a:ext cx="530352" cy="53035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0" y="142646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1827"/>
                </a:solidFill>
              </a:defRPr>
            </a:pPr>
            <a:r>
              <a:t>0</a:t>
            </a:r>
          </a:p>
        </p:txBody>
      </p:sp>
      <p:sp>
        <p:nvSpPr>
          <p:cNvPr id="24" name="Oval 23"/>
          <p:cNvSpPr/>
          <p:nvPr/>
        </p:nvSpPr>
        <p:spPr>
          <a:xfrm>
            <a:off x="7452360" y="1737360"/>
            <a:ext cx="530352" cy="53035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52360" y="1837943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1827"/>
                </a:solidFill>
              </a:defRPr>
            </a:pPr>
            <a:r>
              <a:t>1</a:t>
            </a:r>
          </a:p>
        </p:txBody>
      </p:sp>
      <p:sp>
        <p:nvSpPr>
          <p:cNvPr id="26" name="Oval 25"/>
          <p:cNvSpPr/>
          <p:nvPr/>
        </p:nvSpPr>
        <p:spPr>
          <a:xfrm>
            <a:off x="5349240" y="3657600"/>
            <a:ext cx="530352" cy="53035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49240" y="375818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1827"/>
                </a:solidFill>
              </a:defRPr>
            </a:pPr>
            <a: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7635240" y="3794760"/>
            <a:ext cx="530352" cy="53035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89534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1827"/>
                </a:solidFill>
              </a:defRPr>
            </a:pPr>
            <a:r>
              <a:t>3</a:t>
            </a:r>
          </a:p>
        </p:txBody>
      </p:sp>
      <p:sp>
        <p:nvSpPr>
          <p:cNvPr id="30" name="Oval 29"/>
          <p:cNvSpPr/>
          <p:nvPr/>
        </p:nvSpPr>
        <p:spPr>
          <a:xfrm>
            <a:off x="9464040" y="2697480"/>
            <a:ext cx="530352" cy="53035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464040" y="279806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1827"/>
                </a:solidFill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5074920"/>
            <a:ext cx="6126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20" b="0">
                <a:solidFill>
                  <a:srgbClr val="334155"/>
                </a:solidFill>
              </a:defRPr>
            </a:pPr>
            <a:r>
              <a:t>The graph has 5 conflict edges out of 10 possible pairs for N = 5. At most 3 campaigns can be active together, so it is restrictive but still not a complete graph.</a:t>
            </a:r>
          </a:p>
        </p:txBody>
      </p:sp>
    </p:spTree>
    <p:extLst>
      <p:ext uri="{BB962C8B-B14F-4D97-AF65-F5344CB8AC3E}">
        <p14:creationId xmlns:p14="http://schemas.microsoft.com/office/powerpoint/2010/main" val="333607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827"/>
                </a:solidFill>
              </a:defRPr>
            </a:pPr>
            <a:r>
              <a:t>Primal-dual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64748B"/>
                </a:solidFill>
              </a:defRPr>
            </a:pPr>
            <a:r>
              <a:t>Primal learns which bids are useful; dual makes expensive bids less attractive.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64748B"/>
                </a:solidFill>
              </a:defRPr>
            </a:pPr>
            <a: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3429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54864" cy="8686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325880"/>
            <a:ext cx="3154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Primal reward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554480"/>
            <a:ext cx="3154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For each campaign-bid arm, compute utility and cost using observed </a:t>
            </a:r>
            <a:r>
              <a:rPr err="1"/>
              <a:t>m(t)</a:t>
            </a:r>
            <a: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234440"/>
            <a:ext cx="3429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234440"/>
            <a:ext cx="54864" cy="86868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53712" y="1325880"/>
            <a:ext cx="3154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Lagrangian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1513332"/>
            <a:ext cx="3154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rPr sz="1400"/>
              <a:t>L = utility - λ(t) * cost.</a:t>
            </a:r>
          </a:p>
          <a:p>
            <a:r>
              <a:rPr sz="1400"/>
              <a:t>If λ(t) is high, costly bids receive lower score.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234440"/>
            <a:ext cx="3429000" cy="8686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1234440"/>
            <a:ext cx="54864" cy="86868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1325880"/>
            <a:ext cx="3154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Hedge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6928" y="1562058"/>
            <a:ext cx="31546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Weights increase multiplicatively for arms with higher normalized </a:t>
            </a:r>
            <a:r>
              <a:rPr err="1"/>
              <a:t>Lagrangian</a:t>
            </a:r>
            <a:r>
              <a:t> reward.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88920"/>
            <a:ext cx="50749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" y="2788920"/>
            <a:ext cx="54864" cy="123444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" y="2880360"/>
            <a:ext cx="4800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Dual update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3172968"/>
            <a:ext cx="48006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rPr sz="1400"/>
              <a:t>λ(t+1) = projection(λ(t) + η * (cost(t) - ρ)).</a:t>
            </a:r>
          </a:p>
          <a:p>
            <a:r>
              <a:rPr sz="1400"/>
              <a:t>ρ = B total / T is the target average spend per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788920"/>
            <a:ext cx="50749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09360" y="2788920"/>
            <a:ext cx="54864" cy="12344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73952" y="2880360"/>
            <a:ext cx="4800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Interpretation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172968"/>
            <a:ext cx="480060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If current spending is above </a:t>
            </a:r>
            <a:r>
              <a:rPr lang="el-GR"/>
              <a:t>ρ</a:t>
            </a:r>
            <a:r>
              <a:t>, </a:t>
            </a:r>
            <a:r>
              <a:rPr lang="el-GR"/>
              <a:t>λ</a:t>
            </a:r>
            <a:r>
              <a:t> increases and future expensive bids are penalized more.</a:t>
            </a:r>
            <a:br>
              <a:rPr/>
            </a:br>
            <a:r>
              <a:t>If spending is below </a:t>
            </a:r>
            <a:r>
              <a:rPr lang="el-GR"/>
              <a:t>ρ</a:t>
            </a:r>
            <a:r>
              <a:t>, </a:t>
            </a:r>
            <a:r>
              <a:rPr lang="el-GR"/>
              <a:t>λ</a:t>
            </a:r>
            <a:r>
              <a:t> can decrease.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754880"/>
            <a:ext cx="10241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334155"/>
                </a:solidFill>
              </a:defRPr>
            </a:pPr>
            <a:r>
              <a:rPr sz="1300"/>
              <a:t>Projection keeps λ bounded in [0, 1/ρ], preventing unstable multiplier values.</a:t>
            </a:r>
          </a:p>
        </p:txBody>
      </p:sp>
    </p:spTree>
    <p:extLst>
      <p:ext uri="{BB962C8B-B14F-4D97-AF65-F5344CB8AC3E}">
        <p14:creationId xmlns:p14="http://schemas.microsoft.com/office/powerpoint/2010/main" val="760265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11827"/>
                </a:solidFill>
              </a:defRPr>
            </a:pPr>
            <a:r>
              <a:t>Hard budget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64748B"/>
                </a:solidFill>
              </a:defRPr>
            </a:pPr>
            <a:r>
              <a:t>The dual variable encourages budget control, but the filter gives the actual guarantee.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64748B"/>
                </a:solidFill>
              </a:defRPr>
            </a:pPr>
            <a: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3383280" cy="1143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54864" cy="1143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13258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Before sampling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618488"/>
            <a:ext cx="3108960" cy="5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Keep only bid vectors satisfying:</a:t>
            </a:r>
            <a:br>
              <a:rPr/>
            </a:br>
            <a:r>
              <a:rPr lang="en-US" sz="1400">
                <a:latin typeface="Aptos" pitchFamily="34" charset="0"/>
                <a:ea typeface="Aptos" pitchFamily="34" charset="-122"/>
                <a:cs typeface="Aptos" pitchFamily="34" charset="-120"/>
              </a:rPr>
              <a:t>Σᵢ bᵢ </a:t>
            </a:r>
            <a:r>
              <a:t>&lt;= remaining budget.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234440"/>
            <a:ext cx="3383280" cy="1143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34840" y="1234440"/>
            <a:ext cx="54864" cy="114300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9431" y="13258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Why this is safe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618488"/>
            <a:ext cx="310896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Realized cost is</a:t>
            </a:r>
            <a:r>
              <a:rPr lang="en-US" sz="1200">
                <a:latin typeface="Aptos" pitchFamily="34" charset="0"/>
                <a:ea typeface="Aptos" pitchFamily="34" charset="-122"/>
                <a:cs typeface="Aptos" pitchFamily="34" charset="-120"/>
              </a:rPr>
              <a:t> Σᵢ bᵢ</a:t>
            </a:r>
            <a:r>
              <a:t> {</a:t>
            </a:r>
            <a:r>
              <a:rPr err="1"/>
              <a:t>win(i)</a:t>
            </a:r>
            <a:r>
              <a:t>}, so it can never exceed</a:t>
            </a:r>
            <a:r>
              <a:rPr lang="en-US" sz="1200">
                <a:latin typeface="Aptos" pitchFamily="34" charset="0"/>
                <a:ea typeface="Aptos" pitchFamily="34" charset="-122"/>
                <a:cs typeface="Aptos" pitchFamily="34" charset="-120"/>
              </a:rPr>
              <a:t> Σᵢ bᵢ</a:t>
            </a:r>
            <a: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234440"/>
            <a:ext cx="3383280" cy="1143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1234440"/>
            <a:ext cx="54864" cy="114300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02752" y="13258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111827"/>
                </a:solidFill>
              </a:defRPr>
            </a:pPr>
            <a:r>
              <a:t>If budget is almost gone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618488"/>
            <a:ext cx="310896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334155"/>
                </a:solidFill>
              </a:defRPr>
            </a:pPr>
            <a:r>
              <a:t>If no positive-bid vector is affordable, choose the zero-bid action.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06324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900">
                <a:solidFill>
                  <a:srgbClr val="334155"/>
                </a:solidFill>
              </a:defRPr>
            </a:pPr>
            <a:r>
              <a:t>This is conservative: an action might have low expected realized cost, but it is rejected if its worst-case cost is too high.</a:t>
            </a:r>
          </a:p>
          <a:p>
            <a:pPr>
              <a:spcAft>
                <a:spcPts val="500"/>
              </a:spcAft>
              <a:defRPr sz="1900">
                <a:solidFill>
                  <a:srgbClr val="334155"/>
                </a:solidFill>
              </a:defRPr>
            </a:pPr>
            <a:r>
              <a:t>The benefit is simple and deterministic: cumulative cost never exceeds the total budget.</a:t>
            </a:r>
          </a:p>
          <a:p>
            <a:pPr>
              <a:spcAft>
                <a:spcPts val="500"/>
              </a:spcAft>
              <a:defRPr sz="1900">
                <a:solidFill>
                  <a:srgbClr val="334155"/>
                </a:solidFill>
              </a:defRPr>
            </a:pPr>
            <a:r>
              <a:t>This is why the final cost often lands exactly on or below the budget line in the plots.</a:t>
            </a:r>
          </a:p>
        </p:txBody>
      </p:sp>
    </p:spTree>
    <p:extLst>
      <p:ext uri="{BB962C8B-B14F-4D97-AF65-F5344CB8AC3E}">
        <p14:creationId xmlns:p14="http://schemas.microsoft.com/office/powerpoint/2010/main" val="3317426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472" y="292608"/>
            <a:ext cx="54864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900" b="1">
                <a:solidFill>
                  <a:srgbClr val="191919"/>
                </a:solidFill>
              </a:rPr>
              <a:t>Experiment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77824"/>
            <a:ext cx="47548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5F5B55"/>
                </a:solidFill>
              </a:rPr>
              <a:t>Values used in the current run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874519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12648" y="1709928"/>
            <a:ext cx="1655063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>
                <a:solidFill>
                  <a:srgbClr val="2D7479"/>
                </a:solidFill>
              </a:rPr>
              <a:t>1000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167128"/>
            <a:ext cx="1655063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0">
                <a:solidFill>
                  <a:srgbClr val="5F5B55"/>
                </a:solidFill>
              </a:rPr>
              <a:t>Rounds 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417320"/>
            <a:ext cx="1874519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90088" y="1709928"/>
            <a:ext cx="1655063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>
                <a:solidFill>
                  <a:srgbClr val="2D7479"/>
                </a:solidFill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8" y="2167128"/>
            <a:ext cx="1655063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0">
                <a:solidFill>
                  <a:srgbClr val="5F5B55"/>
                </a:solidFill>
              </a:rPr>
              <a:t>Campaigns 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1417320"/>
            <a:ext cx="1874519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67528" y="1709928"/>
            <a:ext cx="1655063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1">
                <a:solidFill>
                  <a:srgbClr val="2D7479"/>
                </a:solidFill>
              </a:rPr>
              <a:t>100 base</a:t>
            </a:r>
            <a:br/>
            <a:r>
              <a:rPr sz="1200" b="1">
                <a:solidFill>
                  <a:srgbClr val="2D7479"/>
                </a:solidFill>
              </a:rPr>
              <a:t>25,50,100,200 tested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67528" y="2167128"/>
            <a:ext cx="1655063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0">
                <a:solidFill>
                  <a:srgbClr val="5F5B55"/>
                </a:solidFill>
              </a:rPr>
              <a:t>Regime length 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417320"/>
            <a:ext cx="1874519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44967" y="1709928"/>
            <a:ext cx="1655063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>
                <a:solidFill>
                  <a:srgbClr val="C45E2F"/>
                </a:solidFill>
              </a:rPr>
              <a:t>250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4967" y="2167128"/>
            <a:ext cx="1655063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0">
                <a:solidFill>
                  <a:srgbClr val="5F5B55"/>
                </a:solidFill>
              </a:rPr>
              <a:t>Budget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2680" y="1417320"/>
            <a:ext cx="1874519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122407" y="1709928"/>
            <a:ext cx="1655063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>
                <a:solidFill>
                  <a:srgbClr val="2D7479"/>
                </a:solidFill>
              </a:rPr>
              <a:t>276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2407" y="2167128"/>
            <a:ext cx="1655063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00" b="0">
                <a:solidFill>
                  <a:srgbClr val="5F5B55"/>
                </a:solidFill>
              </a:rPr>
              <a:t>Feasible 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063240"/>
            <a:ext cx="1234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2D7479"/>
                </a:solidFill>
              </a:rPr>
              <a:t>Bid 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035808"/>
            <a:ext cx="978408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233046"/>
                </a:solidFill>
              </a:rPr>
              <a:t>B = {0.0, 0.2, 0.4, 0.6, 0.8, 1.0}.</a:t>
            </a:r>
            <a:br/>
            <a:r>
              <a:rPr sz="1300" b="0">
                <a:solidFill>
                  <a:srgbClr val="233046"/>
                </a:solidFill>
              </a:rPr>
              <a:t>The project assumes a small discrete bid set; this grid is a synthetic experimental choice.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776472"/>
            <a:ext cx="12344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2D7479"/>
                </a:solidFill>
              </a:rPr>
              <a:t>Values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3749039"/>
            <a:ext cx="978408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233046"/>
                </a:solidFill>
              </a:rPr>
              <a:t>v(i) = 1 for all campaigns means every campaign has the same normalized value.</a:t>
            </a:r>
            <a:br/>
            <a:r>
              <a:rPr sz="1300" b="0">
                <a:solidFill>
                  <a:srgbClr val="233046"/>
                </a:solidFill>
              </a:rPr>
              <a:t>It is not estimated from m(t).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89704"/>
            <a:ext cx="14173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2D7479"/>
                </a:solidFill>
              </a:rPr>
              <a:t>Environment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462272"/>
            <a:ext cx="978408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233046"/>
                </a:solidFill>
              </a:rPr>
              <a:t>Competing-bid means are separated: [0.08, 0.25, 0.45, 0.70, 0.92].</a:t>
            </a:r>
            <a:br/>
            <a:r>
              <a:rPr sz="1300" b="0">
                <a:solidFill>
                  <a:srgbClr val="233046"/>
                </a:solidFill>
              </a:rPr>
              <a:t>Across trials, the regime structure is fixed; only Gaussian realizations and learner seeds change.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02936"/>
            <a:ext cx="14173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600" b="1">
                <a:solidFill>
                  <a:srgbClr val="2D7479"/>
                </a:solidFill>
              </a:rPr>
              <a:t>Benchmark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75503"/>
            <a:ext cx="978408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000000"/>
                </a:solidFill>
              </a:rPr>
              <a:t>Piecewise-static feasible bid vector in hindsight, subject to one global total budget.</a:t>
            </a:r>
            <a:br/>
            <a:r>
              <a:rPr sz="1300" b="0">
                <a:solidFill>
                  <a:srgbClr val="000000"/>
                </a:solidFill>
              </a:rPr>
              <a:t>It can change at Gaussian regime boundaries, but it is not adaptive inside a regime block.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715000"/>
            <a:ext cx="10789920" cy="6583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000000"/>
                </a:solidFill>
              </a:rPr>
              <a:t>The main run uses K = 100 and n trials = 50. The sensitivity test repeats the same protocol for K = 25, 50, 100, and 200; smaller K means the Gaussian market distribution changes more frequently. The benchmark is the best piecewise-static budget-feasible bid vector in hindsight under the same global budget.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" y="6473952"/>
            <a:ext cx="11841480" cy="9144"/>
          </a:xfrm>
          <a:prstGeom prst="rect">
            <a:avLst/>
          </a:prstGeom>
          <a:solidFill>
            <a:srgbClr val="E2DACD"/>
          </a:solidFill>
          <a:ln>
            <a:solidFill>
              <a:srgbClr val="E2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7472" y="6547104"/>
            <a:ext cx="347472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700" b="0">
                <a:solidFill>
                  <a:srgbClr val="5F5B55"/>
                </a:solidFill>
              </a:rPr>
              <a:t>Requirement 3 - Primal-Dual Factorized Hedge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67160" y="6547104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5F5B55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600" b="0">
                <a:solidFill>
                  <a:srgbClr val="000000"/>
                </a:solidFill>
              </a:rPr>
              <a:t>Last-trial empirical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86384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000000"/>
                </a:solidFill>
              </a:rPr>
              <a:t>One representative realization; uncertainty is summarized on the multi-seed slides.</a:t>
            </a:r>
          </a:p>
        </p:txBody>
      </p:sp>
      <p:pic>
        <p:nvPicPr>
          <p:cNvPr id="4" name="Picture 3" descr="simone_last_tri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6766560" cy="396640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498079" y="1325880"/>
            <a:ext cx="3749039" cy="82296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498079" y="1325880"/>
            <a:ext cx="64008" cy="822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62671" y="1453895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62671" y="1764792"/>
            <a:ext cx="34747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423.0</a:t>
            </a:r>
            <a:br/>
            <a:r>
              <a:rPr sz="1500" b="0">
                <a:solidFill>
                  <a:srgbClr val="000000"/>
                </a:solidFill>
              </a:rPr>
              <a:t>Learner utility in the last trial.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331720"/>
            <a:ext cx="3749039" cy="82296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498079" y="2331720"/>
            <a:ext cx="64008" cy="82296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62671" y="2459736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2671" y="2770632"/>
            <a:ext cx="34747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250.0 / 250.0</a:t>
            </a:r>
            <a:br/>
            <a:r>
              <a:rPr sz="1500" b="0">
                <a:solidFill>
                  <a:srgbClr val="000000"/>
                </a:solidFill>
              </a:rPr>
              <a:t>Hard budget is respected.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79" y="3337560"/>
            <a:ext cx="3749039" cy="96012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498079" y="3337560"/>
            <a:ext cx="64008" cy="96012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62671" y="3465576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Regret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2671" y="3776472"/>
            <a:ext cx="34747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252.2</a:t>
            </a:r>
            <a:br/>
            <a:r>
              <a:rPr sz="1500" b="0">
                <a:solidFill>
                  <a:srgbClr val="000000"/>
                </a:solidFill>
              </a:rPr>
              <a:t>Piecewise oracle utility 675.2; cost 249.8.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4526280"/>
            <a:ext cx="3749039" cy="96012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498079" y="4526280"/>
            <a:ext cx="64008" cy="960120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62671" y="4654296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Remaining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2671" y="4965192"/>
            <a:ext cx="34747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Learner 0.0; oracle 0.2.</a:t>
            </a:r>
            <a:br/>
            <a:r>
              <a:rPr sz="1500" b="0">
                <a:solidFill>
                  <a:srgbClr val="000000"/>
                </a:solidFill>
              </a:rPr>
              <a:t>Both are under the same global budget.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67160" y="6473952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47387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842935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600" b="0">
                <a:solidFill>
                  <a:srgbClr val="000000"/>
                </a:solidFill>
              </a:rPr>
              <a:t>Multi-seed cumulative and normalized regret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86384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000000"/>
                </a:solidFill>
              </a:rPr>
              <a:t>Mean and 95% CI over realizations of the same medium-shift environment structure.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1556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0">
                <a:solidFill>
                  <a:srgbClr val="000000"/>
                </a:solidFill>
              </a:rPr>
              <a:t>Cumulative regret R(t) = oracle utility up to t - learner utility up to t.  Normalized regret R(t) / t is the average utility gap per round.</a:t>
            </a:r>
          </a:p>
        </p:txBody>
      </p:sp>
      <p:pic>
        <p:nvPicPr>
          <p:cNvPr id="5" name="Picture 4" descr="simone_regret_norm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7635240" cy="2643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58200" y="1691640"/>
            <a:ext cx="31089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58200" y="1691640"/>
            <a:ext cx="64008" cy="822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22792" y="1819656"/>
            <a:ext cx="2834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Utility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22792" y="2130552"/>
            <a:ext cx="283464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438.6 +/- 2.4</a:t>
            </a:r>
            <a:br/>
            <a:r>
              <a:rPr sz="1500" b="0">
                <a:solidFill>
                  <a:srgbClr val="000000"/>
                </a:solidFill>
              </a:rPr>
              <a:t>Final utility, mean +/- 95% CI.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2788920"/>
            <a:ext cx="3108960" cy="82296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58200" y="2788920"/>
            <a:ext cx="64008" cy="82296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22792" y="2916936"/>
            <a:ext cx="2834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3227832"/>
            <a:ext cx="283464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250.0 +/- 0.0</a:t>
            </a:r>
            <a:br/>
            <a:r>
              <a:rPr sz="1500" b="0">
                <a:solidFill>
                  <a:srgbClr val="000000"/>
                </a:solidFill>
              </a:rPr>
              <a:t>Budget enforced run by run.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3886200"/>
            <a:ext cx="310896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458200" y="3886200"/>
            <a:ext cx="64008" cy="96012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4014215"/>
            <a:ext cx="2834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Regret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22792" y="4325112"/>
            <a:ext cx="28346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R(T)=237.3 +/- 2.7</a:t>
            </a:r>
            <a:br/>
            <a:r>
              <a:rPr sz="1500" b="0">
                <a:solidFill>
                  <a:srgbClr val="000000"/>
                </a:solidFill>
              </a:rPr>
              <a:t>R(T)/T=0.237 +/- 0.003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67160" y="6473952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47387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599048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600" b="0">
                <a:solidFill>
                  <a:srgbClr val="000000"/>
                </a:solidFill>
              </a:rPr>
              <a:t>Sensitivity to 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86384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000000"/>
                </a:solidFill>
              </a:rPr>
              <a:t>K controls how often the Gaussian market distribution changes; smaller K means more frequent regime changes.</a:t>
            </a:r>
          </a:p>
        </p:txBody>
      </p:sp>
      <p:pic>
        <p:nvPicPr>
          <p:cNvPr id="4" name="Picture 3" descr="simone_k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6995160" cy="229054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26679" y="1325880"/>
            <a:ext cx="3749039" cy="96012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26679" y="1325880"/>
            <a:ext cx="64008" cy="960120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91271" y="1453895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Small 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1" y="1764792"/>
            <a:ext cx="34747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K = 25 or 50</a:t>
            </a:r>
            <a:br/>
            <a:r>
              <a:rPr sz="1500" b="0">
                <a:solidFill>
                  <a:srgbClr val="000000"/>
                </a:solidFill>
              </a:rPr>
              <a:t>More frequent regime changes; the learner has less time to adapt before the market shifts.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26679" y="2514600"/>
            <a:ext cx="3749039" cy="96012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26679" y="2514600"/>
            <a:ext cx="64008" cy="96012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91271" y="2642616"/>
            <a:ext cx="34747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Large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953512"/>
            <a:ext cx="34747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K = 100 or 200</a:t>
            </a:r>
            <a:br/>
            <a:r>
              <a:rPr sz="1500" b="0">
                <a:solidFill>
                  <a:srgbClr val="000000"/>
                </a:solidFill>
              </a:rPr>
              <a:t>Longer stationary blocks; final regret is lower in this 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977639"/>
            <a:ext cx="3657600" cy="1234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000000"/>
                </a:solidFill>
              </a:rPr>
              <a:t>Final regret vs piecewise oracle, mean +/- 95% CI:</a:t>
            </a:r>
            <a:br/>
            <a:r>
              <a:rPr sz="1200" b="0">
                <a:solidFill>
                  <a:srgbClr val="000000"/>
                </a:solidFill>
              </a:rPr>
              <a:t>K=25: 248.4 +/- 3.3</a:t>
            </a:r>
            <a:br/>
            <a:r>
              <a:rPr sz="1200" b="0">
                <a:solidFill>
                  <a:srgbClr val="000000"/>
                </a:solidFill>
              </a:rPr>
              <a:t>K=50: 240.5 +/- 2.1</a:t>
            </a:r>
            <a:br/>
            <a:r>
              <a:rPr sz="1200" b="0">
                <a:solidFill>
                  <a:srgbClr val="000000"/>
                </a:solidFill>
              </a:rPr>
              <a:t>K=100: 215.2 +/- 3.2</a:t>
            </a:r>
            <a:br/>
            <a:r>
              <a:rPr sz="1200" b="0">
                <a:solidFill>
                  <a:srgbClr val="000000"/>
                </a:solidFill>
              </a:rPr>
              <a:t>K=200: 221.1 +/- 3.4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5532120"/>
            <a:ext cx="36576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000000"/>
                </a:solidFill>
              </a:rPr>
              <a:t>The budget guarantee is unchanged because it comes from the hard action filter.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67160" y="6473952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47387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577747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600" b="0">
                <a:solidFill>
                  <a:srgbClr val="000000"/>
                </a:solidFill>
              </a:rPr>
              <a:t>Large-window budget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86384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/>
              <a:t>This answers Simone's question about whether the late spike is caused by budget exhaustion.</a:t>
            </a:r>
          </a:p>
        </p:txBody>
      </p:sp>
      <p:pic>
        <p:nvPicPr>
          <p:cNvPr id="4" name="Picture 3" descr="simone_large_window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7589520" cy="427306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0" y="1234440"/>
            <a:ext cx="347472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1234440"/>
            <a:ext cx="64008" cy="96012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94192" y="1362456"/>
            <a:ext cx="3200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Main observation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673352"/>
            <a:ext cx="3200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The spike after round 800 is strongest when the learner has almost no budget left around round 800.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2514600"/>
            <a:ext cx="3383280" cy="1600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00" b="0">
                <a:solidFill>
                  <a:srgbClr val="000000"/>
                </a:solidFill>
              </a:rPr>
              <a:t>Diagnostic summary, mean over 50 trials:</a:t>
            </a:r>
            <a:br/>
            <a:r>
              <a:rPr sz="1100" b="0">
                <a:solidFill>
                  <a:srgbClr val="000000"/>
                </a:solidFill>
              </a:rPr>
              <a:t>K=200: spike=130.0, budget@800=21.7, exh. round=885</a:t>
            </a:r>
            <a:br/>
            <a:r>
              <a:rPr sz="1100" b="0">
                <a:solidFill>
                  <a:srgbClr val="000000"/>
                </a:solidFill>
              </a:rPr>
              <a:t>K=300: spike=42.2, budget@800=0.2, exh. round=953</a:t>
            </a:r>
            <a:br/>
            <a:r>
              <a:rPr sz="1100" b="0">
                <a:solidFill>
                  <a:srgbClr val="000000"/>
                </a:solidFill>
              </a:rPr>
              <a:t>K=400: spike=122.9, budget@800=0.2, exh. round=853</a:t>
            </a:r>
            <a:br/>
            <a:r>
              <a:rPr sz="1100" b="0">
                <a:solidFill>
                  <a:srgbClr val="000000"/>
                </a:solidFill>
              </a:rPr>
              <a:t>K=500: spike=157.9, budget@800=0.2, exh. round=800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4617720"/>
            <a:ext cx="347472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0" y="4617720"/>
            <a:ext cx="64008" cy="109728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94192" y="4745736"/>
            <a:ext cx="320040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Interpretation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5056631"/>
            <a:ext cx="3200400" cy="5943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The oracle spends the same global budget more efficiently across regimes. When the learner exhausts budget early, later oracle utility creates a visible regret increase.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67160" y="6473952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47387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03934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11827"/>
                </a:solidFill>
              </a:defRPr>
            </a:pPr>
            <a:r>
              <a:t>Empirical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86384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374151"/>
                </a:solidFill>
              </a:defRPr>
            </a:pPr>
            <a:r>
              <a:t>The run respects the hard budget while tracking utility, spending, λ, and regret.</a:t>
            </a:r>
          </a:p>
        </p:txBody>
      </p:sp>
      <p:pic>
        <p:nvPicPr>
          <p:cNvPr id="4" name="Picture 3" descr="requirement3_readable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7818120" cy="459048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732520" y="1234440"/>
            <a:ext cx="2788920" cy="1143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732520" y="1234440"/>
            <a:ext cx="73152" cy="114300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33688" y="1344168"/>
            <a:ext cx="246887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374151"/>
                </a:solidFill>
              </a:defRPr>
            </a:pPr>
            <a:r>
              <a:t>Budget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33688" y="1627632"/>
            <a:ext cx="24688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66534"/>
                </a:solidFill>
              </a:defRPr>
            </a:pPr>
            <a:r>
              <a:t>250.0 / 250.0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33688" y="2039112"/>
            <a:ext cx="24688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374151"/>
                </a:solidFill>
              </a:defRPr>
            </a:pPr>
            <a:r>
              <a:t>No violation: cumulative cost stays at or below 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2520" y="2560320"/>
            <a:ext cx="2788920" cy="11430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732520" y="2560320"/>
            <a:ext cx="73152" cy="1143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33688" y="2670048"/>
            <a:ext cx="246887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374151"/>
                </a:solidFill>
              </a:defRPr>
            </a:pPr>
            <a:r>
              <a:t>Total utility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3688" y="2953512"/>
            <a:ext cx="24688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563EB"/>
                </a:solidFill>
              </a:defRPr>
            </a:pPr>
            <a:r>
              <a:t>906.0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33688" y="3364991"/>
            <a:ext cx="24688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374151"/>
                </a:solidFill>
              </a:defRPr>
            </a:pPr>
            <a:r>
              <a:t>Utility collected by the primal-dual factorized Hedge learner.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32520" y="3886200"/>
            <a:ext cx="27889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732520" y="3886200"/>
            <a:ext cx="73152" cy="123444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33688" y="3995928"/>
            <a:ext cx="246887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374151"/>
                </a:solidFill>
              </a:defRPr>
            </a:pPr>
            <a:r>
              <a:t>Oracle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3688" y="4279392"/>
            <a:ext cx="24688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A580C"/>
                </a:solidFill>
              </a:defRPr>
            </a:pPr>
            <a:r>
              <a:t>22.4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33688" y="4690872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374151"/>
                </a:solidFill>
              </a:defRPr>
            </a:pPr>
            <a:r>
              <a:t>Final regret; oracle utility 928.4, cost 188.6.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28232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374151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A38"/>
                </a:solidFill>
              </a:defRPr>
            </a:pPr>
            <a:r>
              <a:t>Replacing the test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E2A38"/>
                </a:solidFill>
              </a:defRPr>
            </a:pPr>
            <a:r>
              <a:t>The learner is unchanged; only the source of competing bid vectors changes.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30352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D3748"/>
                </a:solidFill>
              </a:defRPr>
            </a:pPr>
            <a:r>
              <a:t>Original notebook environment: fixed-window Gaussian regimes, used as a fast debugging baseline.</a:t>
            </a:r>
          </a:p>
          <a:p>
            <a:pPr>
              <a:defRPr sz="1500">
                <a:solidFill>
                  <a:srgbClr val="2D3748"/>
                </a:solidFill>
              </a:defRPr>
            </a:pPr>
            <a:r>
              <a:t>Gaussian Constellation environment: ccm-nova SyntheticDataset generates a stream with controlled pairwise sKL.</a:t>
            </a:r>
          </a:p>
          <a:p>
            <a:pPr>
              <a:defRPr sz="1500">
                <a:solidFill>
                  <a:srgbClr val="2D3748"/>
                </a:solidFill>
              </a:defRPr>
            </a:pPr>
            <a:r>
              <a:t>Teammate variance fix: use phi(0) = (0.5 vector, 0.01 I) as the first star, then rotation range keeps all modes low-variance.</a:t>
            </a:r>
          </a:p>
          <a:p>
            <a:pPr>
              <a:defRPr sz="1500">
                <a:solidFill>
                  <a:srgbClr val="2D3748"/>
                </a:solidFill>
              </a:defRPr>
            </a:pPr>
            <a:r>
              <a:t>Adapter idea: expose stream[t] through get competing bids at t, so the primal-dual learner does not need to change.</a:t>
            </a:r>
          </a:p>
          <a:p>
            <a:pPr>
              <a:defRPr sz="1500">
                <a:solidFill>
                  <a:srgbClr val="2D3748"/>
                </a:solidFill>
              </a:defRPr>
            </a:pPr>
            <a:r>
              <a:t>Experiment grid: sKL ranges low (0.1, 0.5), medium (1.5, 3.0), high (10, 15).</a:t>
            </a:r>
          </a:p>
          <a:p>
            <a:pPr>
              <a:defRPr sz="1500">
                <a:solidFill>
                  <a:srgbClr val="2D3748"/>
                </a:solidFill>
              </a:defRPr>
            </a:pPr>
            <a:r>
              <a:t>Change frequencies: slow 1/200, medium 1/100, fast 1/50.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1842" y="3086100"/>
            <a:ext cx="502920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D3748"/>
                </a:solidFill>
              </a:defRPr>
            </a:pPr>
            <a:r>
              <a:rPr dirty="0"/>
              <a:t>T = 1000, N = 5, budget = 250, Gaussian modes = 5.</a:t>
            </a:r>
          </a:p>
          <a:p>
            <a:pPr>
              <a:defRPr sz="1500">
                <a:solidFill>
                  <a:srgbClr val="2D3748"/>
                </a:solidFill>
              </a:defRPr>
            </a:pPr>
            <a:r>
              <a:rPr dirty="0"/>
              <a:t>8 random trials per setting.</a:t>
            </a:r>
          </a:p>
          <a:p>
            <a:pPr>
              <a:defRPr sz="1500">
                <a:solidFill>
                  <a:srgbClr val="2D3748"/>
                </a:solidFill>
              </a:defRPr>
            </a:pPr>
            <a:r>
              <a:rPr dirty="0"/>
              <a:t>Same feasible actions and conflict graph as the previous Req 3 slides.</a:t>
            </a:r>
          </a:p>
          <a:p>
            <a:pPr>
              <a:defRPr sz="1500">
                <a:solidFill>
                  <a:srgbClr val="2D3748"/>
                </a:solidFill>
              </a:defRPr>
            </a:pPr>
            <a:r>
              <a:rPr dirty="0"/>
              <a:t>Oracle: corrected piecewise-static oracle with one global budget.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35508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7882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600" b="0">
                <a:solidFill>
                  <a:srgbClr val="000000"/>
                </a:solidFill>
              </a:rPr>
              <a:t>Separated Gaussian environment profiles</a:t>
            </a:r>
          </a:p>
        </p:txBody>
      </p:sp>
      <p:pic>
        <p:nvPicPr>
          <p:cNvPr id="4" name="Picture 3" descr="simone_environment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7726679" cy="250985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49640" y="1325880"/>
            <a:ext cx="30632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549640" y="1325880"/>
            <a:ext cx="64008" cy="9601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14232" y="1453895"/>
            <a:ext cx="27889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What 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14232" y="1764792"/>
            <a:ext cx="27889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The means are no longer clustered near 0.5. Base means are [0.08, 0.25, 0.45, 0.70, 0.92].</a:t>
            </a:r>
          </a:p>
        </p:txBody>
      </p:sp>
      <p:sp>
        <p:nvSpPr>
          <p:cNvPr id="9" name="Rectangle 8"/>
          <p:cNvSpPr/>
          <p:nvPr/>
        </p:nvSpPr>
        <p:spPr>
          <a:xfrm>
            <a:off x="8549640" y="2514600"/>
            <a:ext cx="306324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49640" y="2514600"/>
            <a:ext cx="64008" cy="86868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14232" y="2642616"/>
            <a:ext cx="27889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Low shift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14232" y="2953512"/>
            <a:ext cx="2788920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Ordering remains almost the same; this is the mild non-stationary case.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49640" y="3657600"/>
            <a:ext cx="306324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549640" y="3657600"/>
            <a:ext cx="64008" cy="960120"/>
          </a:xfrm>
          <a:prstGeom prst="rect">
            <a:avLst/>
          </a:prstGeom>
          <a:solidFill>
            <a:srgbClr val="EA580C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14232" y="3785615"/>
            <a:ext cx="278892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 b="1">
                <a:solidFill>
                  <a:srgbClr val="141C2B"/>
                </a:solidFill>
              </a:rPr>
              <a:t>Medium / high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14232" y="4096512"/>
            <a:ext cx="27889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500" b="0">
                <a:solidFill>
                  <a:srgbClr val="000000"/>
                </a:solidFill>
              </a:rPr>
              <a:t>Regime changes rotate separated means, so the best campaigns can change after a boundary.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13648" y="5074920"/>
            <a:ext cx="297180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00" b="0">
                <a:solidFill>
                  <a:srgbClr val="000000"/>
                </a:solidFill>
              </a:rPr>
              <a:t>In the main experiment we use the medium profile, K=100, and 50 trials with the same regime structure but different Gaussian samples.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67160" y="6473952"/>
            <a:ext cx="3200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00" b="0">
                <a:solidFill>
                  <a:srgbClr val="647387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8181B"/>
                </a:solidFill>
              </a:defRPr>
            </a:pPr>
            <a:r>
              <a:t>Fast-change spectrum across sKL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 b="0">
                <a:solidFill>
                  <a:srgbClr val="66625B"/>
                </a:solidFill>
              </a:defRPr>
            </a:pPr>
            <a:r>
              <a:t>Fixed change frequency 1/50; all panels use the same low-variance first-star construction.</a:t>
            </a:r>
          </a:p>
        </p:txBody>
      </p:sp>
      <p:pic>
        <p:nvPicPr>
          <p:cNvPr id="4" name="Picture 3" descr="req3_environment_spectrum_fast_freq_all_sk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78992"/>
            <a:ext cx="10195560" cy="4650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44768"/>
            <a:ext cx="10424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60" b="0">
                <a:solidFill>
                  <a:srgbClr val="2D3748"/>
                </a:solidFill>
              </a:defRPr>
            </a:pPr>
            <a:r>
              <a:t>This is the high-frequency stress case: more realized switches, with low, medium, and high sKL shown on the same scale.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35508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7882"/>
                </a:solidFill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2A38"/>
                </a:solidFill>
              </a:defRPr>
            </a:pPr>
            <a:r>
              <a:t>Gaussian Constellation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E2A38"/>
                </a:solidFill>
              </a:defRPr>
            </a:pPr>
            <a:r>
              <a:t>Higher sKL and faster changes generally make the environment harder.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623560"/>
            <a:ext cx="106070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D3748"/>
                </a:solidFill>
              </a:defRPr>
            </a:pPr>
            <a:r>
              <a:t>Medium setting: sKL (1.5, 3.0), change frequency 1/100 gives final regret 70.2 +/- 3.3 over 8 trials.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The low-variance first star reduces sample noise; high sKL remains harder because modes are farther apart.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35508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7882"/>
                </a:solidFill>
              </a:defRPr>
            </a:pPr>
            <a:r>
              <a:t>14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5349240" cy="3272476"/>
          </a:xfrm>
          <a:prstGeom prst="rect">
            <a:avLst/>
          </a:prstGeom>
        </p:spPr>
      </p:pic>
      <p:pic>
        <p:nvPicPr>
          <p:cNvPr id="9" name="Picture 8" descr="req3_constellation_skl_freq_li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97280"/>
            <a:ext cx="5349240" cy="32724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106424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11827"/>
                </a:solidFill>
              </a:rPr>
              <a:t>Low sKL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13232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50" b="0">
                <a:solidFill>
                  <a:srgbClr val="4B5563"/>
                </a:solidFill>
              </a:rPr>
              <a:t>sKL (0.1, 0.5), change frequency 1/100; mean +/- SD over fixed-schedule realizations.</a:t>
            </a:r>
          </a:p>
        </p:txBody>
      </p:sp>
      <p:pic>
        <p:nvPicPr>
          <p:cNvPr id="4" name="Picture 3" descr="req3_low_skl_halo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78992"/>
            <a:ext cx="11292840" cy="54329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50" b="0">
                <a:solidFill>
                  <a:srgbClr val="1F2937"/>
                </a:solidFill>
              </a:rPr>
              <a:t>Constellation, change points, and mode sequence are fixed; the halo is standard deviation across Gaussian sample realizations.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355080"/>
            <a:ext cx="3657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>
                <a:solidFill>
                  <a:srgbClr val="6E7882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106424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11827"/>
                </a:solidFill>
              </a:rPr>
              <a:t>Medium sKL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13232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50" b="0">
                <a:solidFill>
                  <a:srgbClr val="4B5563"/>
                </a:solidFill>
              </a:rPr>
              <a:t>sKL (1.5, 3.0), change frequency 1/100; mean +/- SD over fixed-schedule realizations.</a:t>
            </a:r>
          </a:p>
        </p:txBody>
      </p:sp>
      <p:pic>
        <p:nvPicPr>
          <p:cNvPr id="4" name="Picture 3" descr="req3_medium_skl_halo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78992"/>
            <a:ext cx="11292840" cy="54329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50" b="0">
                <a:solidFill>
                  <a:srgbClr val="1F2937"/>
                </a:solidFill>
              </a:rPr>
              <a:t>Constellation, change points, and mode sequence are fixed; the halo is standard deviation across Gaussian sample realizations.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355080"/>
            <a:ext cx="3657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>
                <a:solidFill>
                  <a:srgbClr val="6E7882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106424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11827"/>
                </a:solidFill>
              </a:rPr>
              <a:t>High sKL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13232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50" b="0">
                <a:solidFill>
                  <a:srgbClr val="4B5563"/>
                </a:solidFill>
              </a:rPr>
              <a:t>sKL (10, 15), change frequency 1/100; mean +/- SD over fixed-schedule realizations.</a:t>
            </a:r>
          </a:p>
        </p:txBody>
      </p:sp>
      <p:pic>
        <p:nvPicPr>
          <p:cNvPr id="4" name="Picture 3" descr="req3_high_skl_halo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78992"/>
            <a:ext cx="11292840" cy="54476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50" b="0">
                <a:solidFill>
                  <a:srgbClr val="1F2937"/>
                </a:solidFill>
              </a:rPr>
              <a:t>Constellation, change points, and mode sequence are fixed; the halo is standard deviation across Gaussian sample realizations.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355080"/>
            <a:ext cx="3657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>
                <a:solidFill>
                  <a:srgbClr val="6E7882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19456"/>
            <a:ext cx="109728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11827"/>
                </a:solidFill>
              </a:rPr>
              <a:t>Diagnostic Realization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04672"/>
            <a:ext cx="10972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70" b="0">
                <a:solidFill>
                  <a:srgbClr val="4B5563"/>
                </a:solidFill>
              </a:rPr>
              <a:t>Each sKL level uses 20 fixed-schedule Gaussian realizations; dots show individual runs and the black marker shows mean +/- SD.</a:t>
            </a:r>
          </a:p>
        </p:txBody>
      </p:sp>
      <p:pic>
        <p:nvPicPr>
          <p:cNvPr id="4" name="Picture 3" descr="req3_skl_diagnostic_summary_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353312"/>
            <a:ext cx="5532120" cy="35509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8" y="5230368"/>
            <a:ext cx="548640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60" b="0">
                <a:solidFill>
                  <a:srgbClr val="111827"/>
                </a:solidFill>
              </a:rPr>
              <a:t>Reading this slide: every dot is one realization. The black marker is the mean final regret and the error bar is +/- 1 standard deviation. The full distribution makes the low-to-high sKL trend visible.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1325880"/>
            <a:ext cx="49834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629400" y="1325880"/>
            <a:ext cx="73152" cy="114300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85432" y="1481328"/>
            <a:ext cx="4599432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11827"/>
                </a:solidFill>
              </a:rPr>
              <a:t>Low sKL (0.1, 0.5)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5432" y="1828800"/>
            <a:ext cx="459943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60" b="0">
                <a:solidFill>
                  <a:srgbClr val="1F2937"/>
                </a:solidFill>
              </a:rPr>
              <a:t>20 realization dots; mean regret 50.9 +/- 9.0 SD</a:t>
            </a:r>
            <a:br/>
            <a:r>
              <a:rPr sz="1060" b="0">
                <a:solidFill>
                  <a:srgbClr val="1F2937"/>
                </a:solidFill>
              </a:rPr>
              <a:t>Utility 265.3; cost 249.9; fixed changes 10.</a:t>
            </a:r>
            <a:br/>
            <a:r>
              <a:rPr sz="1060" b="0">
                <a:solidFill>
                  <a:srgbClr val="1F2937"/>
                </a:solidFill>
              </a:rPr>
              <a:t>Small shifts; most realizations stay comparatively easy.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2816352"/>
            <a:ext cx="49834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29400" y="2816352"/>
            <a:ext cx="73152" cy="11430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85432" y="2971800"/>
            <a:ext cx="4599432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11827"/>
                </a:solidFill>
              </a:rPr>
              <a:t>Medium sKL (1.5, 3.0)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432" y="3319272"/>
            <a:ext cx="459943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60" b="0">
                <a:solidFill>
                  <a:srgbClr val="1F2937"/>
                </a:solidFill>
              </a:rPr>
              <a:t>20 realization dots; mean regret 64.2 +/- 11.1 SD</a:t>
            </a:r>
            <a:br/>
            <a:r>
              <a:rPr sz="1060" b="0">
                <a:solidFill>
                  <a:srgbClr val="1F2937"/>
                </a:solidFill>
              </a:rPr>
              <a:t>Utility 290.8; cost 249.9; fixed changes 10.</a:t>
            </a:r>
            <a:br/>
            <a:r>
              <a:rPr sz="1060" b="0">
                <a:solidFill>
                  <a:srgbClr val="1F2937"/>
                </a:solidFill>
              </a:rPr>
              <a:t>Intermediate behavior; spread is larger than low.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306824"/>
            <a:ext cx="49834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29400" y="4306824"/>
            <a:ext cx="73152" cy="1143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85432" y="4462272"/>
            <a:ext cx="4599432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11827"/>
                </a:solidFill>
              </a:rPr>
              <a:t>High sKL (10, 15)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5432" y="4809744"/>
            <a:ext cx="459943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60" b="0">
                <a:solidFill>
                  <a:srgbClr val="1F2937"/>
                </a:solidFill>
              </a:rPr>
              <a:t>20 realization dots; mean regret 115.7 +/- 7.0 SD</a:t>
            </a:r>
            <a:br/>
            <a:r>
              <a:rPr sz="1060" b="0">
                <a:solidFill>
                  <a:srgbClr val="1F2937"/>
                </a:solidFill>
              </a:rPr>
              <a:t>Utility 295.7; cost 250.0; fixed changes 10.</a:t>
            </a:r>
            <a:br/>
            <a:r>
              <a:rPr sz="1060" b="0">
                <a:solidFill>
                  <a:srgbClr val="1F2937"/>
                </a:solidFill>
              </a:rPr>
              <a:t>Largest shifts; regret is highest across realizations.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355080"/>
            <a:ext cx="365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>
                <a:solidFill>
                  <a:srgbClr val="6E7882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106424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11827"/>
                </a:solidFill>
              </a:rPr>
              <a:t>Slow frequency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13232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50" b="0">
                <a:solidFill>
                  <a:srgbClr val="4B5563"/>
                </a:solidFill>
              </a:rPr>
              <a:t>Medium sKL, change frequency 1/200; mean +/- SD over fixed-schedule realizations.</a:t>
            </a:r>
          </a:p>
        </p:txBody>
      </p:sp>
      <p:pic>
        <p:nvPicPr>
          <p:cNvPr id="4" name="Picture 3" descr="req3_slow_frequency_halo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78992"/>
            <a:ext cx="11292840" cy="54329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50" b="0">
                <a:solidFill>
                  <a:srgbClr val="1F2937"/>
                </a:solidFill>
              </a:rPr>
              <a:t>Constellation, change points, and mode sequence are fixed; the halo is standard deviation across Gaussian sample realizations.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355080"/>
            <a:ext cx="3657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>
                <a:solidFill>
                  <a:srgbClr val="6E7882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106424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11827"/>
                </a:solidFill>
              </a:rPr>
              <a:t>Medium frequency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13232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50" b="0">
                <a:solidFill>
                  <a:srgbClr val="4B5563"/>
                </a:solidFill>
              </a:rPr>
              <a:t>Medium sKL, change frequency 1/100; mean +/- SD over fixed-schedule realizations.</a:t>
            </a:r>
          </a:p>
        </p:txBody>
      </p:sp>
      <p:pic>
        <p:nvPicPr>
          <p:cNvPr id="4" name="Picture 3" descr="req3_medium_freq_frequency_halo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78992"/>
            <a:ext cx="11292840" cy="54329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50" b="0">
                <a:solidFill>
                  <a:srgbClr val="1F2937"/>
                </a:solidFill>
              </a:rPr>
              <a:t>Constellation, change points, and mode sequence are fixed; the halo is standard deviation across Gaussian sample realizations.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355080"/>
            <a:ext cx="3657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>
                <a:solidFill>
                  <a:srgbClr val="6E7882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01168"/>
            <a:ext cx="1106424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2500" b="1">
                <a:solidFill>
                  <a:srgbClr val="111827"/>
                </a:solidFill>
              </a:rPr>
              <a:t>Fast frequency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713232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150" b="0">
                <a:solidFill>
                  <a:srgbClr val="4B5563"/>
                </a:solidFill>
              </a:rPr>
              <a:t>Medium sKL, change frequency 1/50; mean +/- SD over fixed-schedule realizations.</a:t>
            </a:r>
          </a:p>
        </p:txBody>
      </p:sp>
      <p:pic>
        <p:nvPicPr>
          <p:cNvPr id="4" name="Picture 3" descr="req3_fast_frequency_halo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78992"/>
            <a:ext cx="11292840" cy="54329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6053328"/>
            <a:ext cx="1060704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50" b="0">
                <a:solidFill>
                  <a:srgbClr val="1F2937"/>
                </a:solidFill>
              </a:rPr>
              <a:t>Constellation, change points, and mode sequence are fixed; the halo is standard deviation across Gaussian sample realizations.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355080"/>
            <a:ext cx="36576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>
                <a:solidFill>
                  <a:srgbClr val="6E7882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19456"/>
            <a:ext cx="109728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3000" b="1">
                <a:solidFill>
                  <a:srgbClr val="111827"/>
                </a:solidFill>
              </a:rPr>
              <a:t>Medium-sKL Frequency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04672"/>
            <a:ext cx="1097280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70" b="0">
                <a:solidFill>
                  <a:srgbClr val="4B5563"/>
                </a:solidFill>
              </a:rPr>
              <a:t>sKL is fixed at (1.5, 3.0). Each frequency setting uses 20 fixed-schedule Gaussian realizations; dots show individual runs.</a:t>
            </a:r>
          </a:p>
        </p:txBody>
      </p:sp>
      <p:pic>
        <p:nvPicPr>
          <p:cNvPr id="4" name="Picture 3" descr="req3_frequency_summary_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353312"/>
            <a:ext cx="5532120" cy="35408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8" y="5230368"/>
            <a:ext cx="548640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260" b="0">
                <a:solidFill>
                  <a:srgbClr val="111827"/>
                </a:solidFill>
              </a:rPr>
              <a:t>Reading this slide: every dot is one realization. The black marker is the mean final regret and the error bar is +/- 1 standard deviation. Slow changes are easier; medium and fast are close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1325880"/>
            <a:ext cx="49834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629400" y="1325880"/>
            <a:ext cx="73152" cy="1143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85432" y="1481328"/>
            <a:ext cx="4599432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11827"/>
                </a:solidFill>
              </a:rPr>
              <a:t>Slow changes (1/200)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5432" y="1828800"/>
            <a:ext cx="459943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60" b="0">
                <a:solidFill>
                  <a:srgbClr val="1F2937"/>
                </a:solidFill>
              </a:rPr>
              <a:t>20 realization dots; mean regret 61.7 +/- 2.9 SD</a:t>
            </a:r>
            <a:br/>
            <a:r>
              <a:rPr sz="1060" b="0">
                <a:solidFill>
                  <a:srgbClr val="1F2937"/>
                </a:solidFill>
              </a:rPr>
              <a:t>Utility 314.1; cost 249.8; fixed changes 4.</a:t>
            </a:r>
            <a:br/>
            <a:r>
              <a:rPr sz="1060" b="0">
                <a:solidFill>
                  <a:srgbClr val="1F2937"/>
                </a:solidFill>
              </a:rPr>
              <a:t>Fewer regime switches; learner has longer to adapt.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2816352"/>
            <a:ext cx="49834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29400" y="2816352"/>
            <a:ext cx="73152" cy="114300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85432" y="2971800"/>
            <a:ext cx="4599432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11827"/>
                </a:solidFill>
              </a:rPr>
              <a:t>Medium changes (1/100)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432" y="3319272"/>
            <a:ext cx="459943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60" b="0">
                <a:solidFill>
                  <a:srgbClr val="1F2937"/>
                </a:solidFill>
              </a:rPr>
              <a:t>20 realization dots; mean regret 74.9 +/- 7.4 SD</a:t>
            </a:r>
            <a:br/>
            <a:r>
              <a:rPr sz="1060" b="0">
                <a:solidFill>
                  <a:srgbClr val="1F2937"/>
                </a:solidFill>
              </a:rPr>
              <a:t>Utility 277.3; cost 249.8; fixed changes 14.</a:t>
            </a:r>
            <a:br/>
            <a:r>
              <a:rPr sz="1060" b="0">
                <a:solidFill>
                  <a:srgbClr val="1F2937"/>
                </a:solidFill>
              </a:rPr>
              <a:t>Baseline frequency; regret increases relative to slow.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306824"/>
            <a:ext cx="49834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29400" y="4306824"/>
            <a:ext cx="73152" cy="114300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85432" y="4462272"/>
            <a:ext cx="4599432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400" b="1">
                <a:solidFill>
                  <a:srgbClr val="111827"/>
                </a:solidFill>
              </a:rPr>
              <a:t>Fast changes (1/50)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5432" y="4809744"/>
            <a:ext cx="4599432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060" b="0">
                <a:solidFill>
                  <a:srgbClr val="1F2937"/>
                </a:solidFill>
              </a:rPr>
              <a:t>20 realization dots; mean regret 74.3 +/- 6.6 SD</a:t>
            </a:r>
            <a:br/>
            <a:r>
              <a:rPr sz="1060" b="0">
                <a:solidFill>
                  <a:srgbClr val="1F2937"/>
                </a:solidFill>
              </a:rPr>
              <a:t>Utility 274.7; cost 249.9; fixed changes 18.</a:t>
            </a:r>
            <a:br/>
            <a:r>
              <a:rPr sz="1060" b="0">
                <a:solidFill>
                  <a:srgbClr val="1F2937"/>
                </a:solidFill>
              </a:rPr>
              <a:t>More switches; less time to adapt between regimes.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355080"/>
            <a:ext cx="3657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>
                <a:solidFill>
                  <a:srgbClr val="6E7882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10896"/>
            <a:ext cx="11064240" cy="438912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defRPr sz="3000" b="1">
                <a:solidFill>
                  <a:srgbClr val="111827"/>
                </a:solidFill>
              </a:defRPr>
            </a:pPr>
            <a:r>
              <a:t>General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defRPr sz="1300" b="0">
                <a:solidFill>
                  <a:srgbClr val="4B5563"/>
                </a:solidFill>
              </a:defRPr>
            </a:pPr>
            <a:r>
              <a:t>After testing multiple sKL levels, change frequencies, and repeated realizations.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515600" cy="8686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defRPr sz="2000" b="0">
                <a:solidFill>
                  <a:srgbClr val="111827"/>
                </a:solidFill>
              </a:defRPr>
            </a:pPr>
            <a:r>
              <a:t>Overall, the primal-dual learner remains robust in the tested non-stationary Gaussian Constellation environments. Increasing sKL or change frequency makes the problem harder and can increase regret, but it does not break hard-budget feasibility or lead to unstable behavior in these experiments.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88920"/>
            <a:ext cx="34290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" y="2788920"/>
            <a:ext cx="73152" cy="10515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8136" y="2898648"/>
            <a:ext cx="3081528" cy="20116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Worst-case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3218688"/>
            <a:ext cx="3081528" cy="47548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defRPr sz="940" b="0">
                <a:solidFill>
                  <a:srgbClr val="4B5563"/>
                </a:solidFill>
              </a:defRPr>
            </a:pPr>
            <a:r>
              <a:t>The primal-dual/Hedge update is designed for adversarial feedback, so it does not require the bid distribution to be stationary.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788920"/>
            <a:ext cx="34290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34840" y="2788920"/>
            <a:ext cx="73152" cy="1051560"/>
          </a:xfrm>
          <a:prstGeom prst="rect">
            <a:avLst/>
          </a:prstGeom>
          <a:solidFill>
            <a:srgbClr val="166534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54296" y="2898648"/>
            <a:ext cx="3081528" cy="20116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Empirical stability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3218688"/>
            <a:ext cx="3081528" cy="47548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defRPr sz="940" b="0">
                <a:solidFill>
                  <a:srgbClr val="4B5563"/>
                </a:solidFill>
              </a:defRPr>
            </a:pPr>
            <a:r>
              <a:t>Across the grid and repeated diagnostics, regret varies with environment difficulty but remains bounded; spending respects the hard budget.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788920"/>
            <a:ext cx="34290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01000" y="2788920"/>
            <a:ext cx="73152" cy="105156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0456" y="2898648"/>
            <a:ext cx="3081528" cy="20116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defRPr sz="1200" b="1">
                <a:solidFill>
                  <a:srgbClr val="111827"/>
                </a:solidFill>
              </a:defRPr>
            </a:pPr>
            <a:r>
              <a:t>What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3218688"/>
            <a:ext cx="3081528" cy="47548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defRPr sz="940" b="0">
                <a:solidFill>
                  <a:srgbClr val="4B5563"/>
                </a:solidFill>
              </a:defRPr>
            </a:pPr>
            <a:r>
              <a:t>Higher sKL or faster changes mainly affect regret scale and trajectory variability, while budget control remains stable.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663440"/>
            <a:ext cx="10332720" cy="65836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defRPr sz="1600" b="0">
                <a:solidFill>
                  <a:srgbClr val="1F2937"/>
                </a:solidFill>
              </a:defRPr>
            </a:pPr>
            <a:r>
              <a:t>Conclusion: sKL and frequency matter, but their effect is moderate in this setup because the learner updates conservatively and the hard-budget filter prevents overspending.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35508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E7882"/>
                </a:solidFill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615</TotalTime>
  <Words>2838</Words>
  <Application>Microsoft Office PowerPoint</Application>
  <PresentationFormat>Widescreen</PresentationFormat>
  <Paragraphs>250</Paragraphs>
  <Slides>25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等线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Requirement 3 — Primal-Dual Factorized Hedge</dc:title>
  <dc:subject>Readable redesign of Requirement 3 slides</dc:subject>
  <dc:creator>李梦瑶</dc:creator>
  <cp:lastModifiedBy>梦瑶 李</cp:lastModifiedBy>
  <cp:revision>8</cp:revision>
  <dcterms:created xsi:type="dcterms:W3CDTF">2026-05-11T18:20:40Z</dcterms:created>
  <dcterms:modified xsi:type="dcterms:W3CDTF">2026-06-06T11:39:33Z</dcterms:modified>
</cp:coreProperties>
</file>