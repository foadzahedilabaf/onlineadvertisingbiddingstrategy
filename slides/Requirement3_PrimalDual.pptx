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71" r:id="rId2"/>
    <p:sldId id="301" r:id="rId3"/>
    <p:sldId id="270" r:id="rId4"/>
    <p:sldId id="258" r:id="rId5"/>
    <p:sldId id="272" r:id="rId6"/>
    <p:sldId id="273" r:id="rId7"/>
    <p:sldId id="274" r:id="rId8"/>
    <p:sldId id="263" r:id="rId9"/>
    <p:sldId id="300" r:id="rId10"/>
    <p:sldId id="275" r:id="rId11"/>
    <p:sldId id="276" r:id="rId12"/>
    <p:sldId id="277" r:id="rId13"/>
    <p:sldId id="280" r:id="rId14"/>
    <p:sldId id="267" r:id="rId15"/>
    <p:sldId id="281" r:id="rId16"/>
    <p:sldId id="288" r:id="rId17"/>
    <p:sldId id="290" r:id="rId18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7B8216C-6208-FD08-832B-180FD7718023}" name="Mengyao Li" initials="ML" userId="S::11024864@polimi.it::f6e95dda-dfd9-43da-a11e-e8698766ffeb" providerId="AD"/>
  <p188:author id="{2D283EC7-5112-183D-959D-A20AA12CA895}" name="梦瑶 李" initials="梦李" userId="6230b2ca144a9234" providerId="Windows Live"/>
  <p188:author id="{71C6AFD9-62BD-8B0A-2A62-89E107C76DE9}" name="Simone Mauro" initials="SM" userId="S::10767574@polimi.it::12f8f890-be46-467a-a1bb-941f5f0f4e3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915" autoAdjust="0"/>
  </p:normalViewPr>
  <p:slideViewPr>
    <p:cSldViewPr snapToGrid="0">
      <p:cViewPr varScale="1">
        <p:scale>
          <a:sx n="87" d="100"/>
          <a:sy n="87" d="100"/>
        </p:scale>
        <p:origin x="489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45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F67160-03C3-4181-AF58-8E65F31339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08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370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0619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72281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658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766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766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9.png"/><Relationship Id="rId5" Type="http://schemas.openxmlformats.org/officeDocument/2006/relationships/image" Target="../media/image64.png"/><Relationship Id="rId6" Type="http://schemas.openxmlformats.org/officeDocument/2006/relationships/image" Target="../media/image89.png"/><Relationship Id="rId7" Type="http://schemas.openxmlformats.org/officeDocument/2006/relationships/image" Target="../media/image10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40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65.png"/><Relationship Id="rId13" Type="http://schemas.openxmlformats.org/officeDocument/2006/relationships/image" Target="../media/image78.png"/><Relationship Id="rId14" Type="http://schemas.openxmlformats.org/officeDocument/2006/relationships/image" Target="../media/image90.png"/><Relationship Id="rId15" Type="http://schemas.openxmlformats.org/officeDocument/2006/relationships/image" Target="../media/image10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41.png"/><Relationship Id="rId4" Type="http://schemas.openxmlformats.org/officeDocument/2006/relationships/image" Target="../media/image15.png"/><Relationship Id="rId5" Type="http://schemas.openxmlformats.org/officeDocument/2006/relationships/image" Target="../media/image66.png"/><Relationship Id="rId6" Type="http://schemas.openxmlformats.org/officeDocument/2006/relationships/image" Target="../media/image76.png"/><Relationship Id="rId7" Type="http://schemas.openxmlformats.org/officeDocument/2006/relationships/image" Target="../media/image79.png"/><Relationship Id="rId8" Type="http://schemas.openxmlformats.org/officeDocument/2006/relationships/image" Target="../media/image91.png"/><Relationship Id="rId9" Type="http://schemas.openxmlformats.org/officeDocument/2006/relationships/image" Target="../media/image10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42.png"/><Relationship Id="rId4" Type="http://schemas.openxmlformats.org/officeDocument/2006/relationships/image" Target="../media/image67.png"/><Relationship Id="rId5" Type="http://schemas.openxmlformats.org/officeDocument/2006/relationships/image" Target="../media/image77.png"/><Relationship Id="rId6" Type="http://schemas.openxmlformats.org/officeDocument/2006/relationships/image" Target="../media/image80.png"/><Relationship Id="rId7" Type="http://schemas.openxmlformats.org/officeDocument/2006/relationships/image" Target="../media/image92.png"/><Relationship Id="rId8" Type="http://schemas.openxmlformats.org/officeDocument/2006/relationships/image" Target="../media/image10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40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16.png"/><Relationship Id="rId10" Type="http://schemas.openxmlformats.org/officeDocument/2006/relationships/image" Target="../media/image68.png"/><Relationship Id="rId11" Type="http://schemas.openxmlformats.org/officeDocument/2006/relationships/image" Target="../media/image81.png"/><Relationship Id="rId12" Type="http://schemas.openxmlformats.org/officeDocument/2006/relationships/image" Target="../media/image93.png"/><Relationship Id="rId13" Type="http://schemas.openxmlformats.org/officeDocument/2006/relationships/image" Target="../media/image10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43.png"/><Relationship Id="rId4" Type="http://schemas.openxmlformats.org/officeDocument/2006/relationships/image" Target="../media/image56.png"/><Relationship Id="rId5" Type="http://schemas.openxmlformats.org/officeDocument/2006/relationships/image" Target="../media/image69.png"/><Relationship Id="rId6" Type="http://schemas.openxmlformats.org/officeDocument/2006/relationships/image" Target="../media/image82.png"/><Relationship Id="rId7" Type="http://schemas.openxmlformats.org/officeDocument/2006/relationships/image" Target="../media/image94.png"/><Relationship Id="rId8" Type="http://schemas.openxmlformats.org/officeDocument/2006/relationships/image" Target="../media/image10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4.png"/><Relationship Id="rId4" Type="http://schemas.openxmlformats.org/officeDocument/2006/relationships/image" Target="../media/image51.png"/><Relationship Id="rId5" Type="http://schemas.openxmlformats.org/officeDocument/2006/relationships/image" Target="../media/image5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44.png"/><Relationship Id="rId4" Type="http://schemas.openxmlformats.org/officeDocument/2006/relationships/image" Target="../media/image51.png"/><Relationship Id="rId5" Type="http://schemas.openxmlformats.org/officeDocument/2006/relationships/image" Target="../media/image5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39.png"/><Relationship Id="rId5" Type="http://schemas.openxmlformats.org/officeDocument/2006/relationships/image" Target="../media/image64.png"/><Relationship Id="rId6" Type="http://schemas.openxmlformats.org/officeDocument/2006/relationships/image" Target="../media/image89.png"/><Relationship Id="rId7" Type="http://schemas.openxmlformats.org/officeDocument/2006/relationships/image" Target="../media/image10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45.png"/><Relationship Id="rId7" Type="http://schemas.openxmlformats.org/officeDocument/2006/relationships/image" Target="../media/image58.png"/><Relationship Id="rId8" Type="http://schemas.openxmlformats.org/officeDocument/2006/relationships/image" Target="../media/image70.png"/><Relationship Id="rId9" Type="http://schemas.openxmlformats.org/officeDocument/2006/relationships/image" Target="../media/image83.png"/><Relationship Id="rId10" Type="http://schemas.openxmlformats.org/officeDocument/2006/relationships/image" Target="../media/image95.png"/><Relationship Id="rId11" Type="http://schemas.openxmlformats.org/officeDocument/2006/relationships/image" Target="../media/image10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43.png"/><Relationship Id="rId7" Type="http://schemas.openxmlformats.org/officeDocument/2006/relationships/image" Target="../media/image56.png"/><Relationship Id="rId8" Type="http://schemas.openxmlformats.org/officeDocument/2006/relationships/image" Target="../media/image69.png"/><Relationship Id="rId9" Type="http://schemas.openxmlformats.org/officeDocument/2006/relationships/image" Target="../media/image82.png"/><Relationship Id="rId10" Type="http://schemas.openxmlformats.org/officeDocument/2006/relationships/image" Target="../media/image94.png"/><Relationship Id="rId11" Type="http://schemas.openxmlformats.org/officeDocument/2006/relationships/image" Target="../media/image10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46.png"/><Relationship Id="rId7" Type="http://schemas.openxmlformats.org/officeDocument/2006/relationships/image" Target="../media/image59.png"/><Relationship Id="rId8" Type="http://schemas.openxmlformats.org/officeDocument/2006/relationships/image" Target="../media/image71.png"/><Relationship Id="rId9" Type="http://schemas.openxmlformats.org/officeDocument/2006/relationships/image" Target="../media/image84.png"/><Relationship Id="rId10" Type="http://schemas.openxmlformats.org/officeDocument/2006/relationships/image" Target="../media/image96.png"/><Relationship Id="rId11" Type="http://schemas.openxmlformats.org/officeDocument/2006/relationships/image" Target="../media/image10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47.png"/><Relationship Id="rId4" Type="http://schemas.openxmlformats.org/officeDocument/2006/relationships/image" Target="../media/image60.png"/><Relationship Id="rId5" Type="http://schemas.openxmlformats.org/officeDocument/2006/relationships/image" Target="../media/image72.png"/><Relationship Id="rId6" Type="http://schemas.openxmlformats.org/officeDocument/2006/relationships/image" Target="../media/image85.png"/><Relationship Id="rId7" Type="http://schemas.openxmlformats.org/officeDocument/2006/relationships/image" Target="../media/image97.png"/><Relationship Id="rId8" Type="http://schemas.openxmlformats.org/officeDocument/2006/relationships/image" Target="../media/image108.png"/><Relationship Id="rId9" Type="http://schemas.openxmlformats.org/officeDocument/2006/relationships/image" Target="../media/image1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48.png"/><Relationship Id="rId7" Type="http://schemas.openxmlformats.org/officeDocument/2006/relationships/image" Target="../media/image61.png"/><Relationship Id="rId8" Type="http://schemas.openxmlformats.org/officeDocument/2006/relationships/image" Target="../media/image73.png"/><Relationship Id="rId9" Type="http://schemas.openxmlformats.org/officeDocument/2006/relationships/image" Target="../media/image86.png"/><Relationship Id="rId10" Type="http://schemas.openxmlformats.org/officeDocument/2006/relationships/image" Target="../media/image10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43.png"/><Relationship Id="rId7" Type="http://schemas.openxmlformats.org/officeDocument/2006/relationships/image" Target="../media/image56.png"/><Relationship Id="rId8" Type="http://schemas.openxmlformats.org/officeDocument/2006/relationships/image" Target="../media/image69.png"/><Relationship Id="rId9" Type="http://schemas.openxmlformats.org/officeDocument/2006/relationships/image" Target="../media/image82.png"/><Relationship Id="rId10" Type="http://schemas.openxmlformats.org/officeDocument/2006/relationships/image" Target="../media/image94.png"/><Relationship Id="rId11" Type="http://schemas.openxmlformats.org/officeDocument/2006/relationships/image" Target="../media/image10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49.png"/><Relationship Id="rId7" Type="http://schemas.openxmlformats.org/officeDocument/2006/relationships/image" Target="../media/image62.png"/><Relationship Id="rId8" Type="http://schemas.openxmlformats.org/officeDocument/2006/relationships/image" Target="../media/image74.png"/><Relationship Id="rId9" Type="http://schemas.openxmlformats.org/officeDocument/2006/relationships/image" Target="../media/image87.png"/><Relationship Id="rId10" Type="http://schemas.openxmlformats.org/officeDocument/2006/relationships/image" Target="../media/image98.png"/><Relationship Id="rId11" Type="http://schemas.openxmlformats.org/officeDocument/2006/relationships/image" Target="../media/image1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50.png"/><Relationship Id="rId4" Type="http://schemas.openxmlformats.org/officeDocument/2006/relationships/image" Target="../media/image63.png"/><Relationship Id="rId5" Type="http://schemas.openxmlformats.org/officeDocument/2006/relationships/image" Target="../media/image75.png"/><Relationship Id="rId6" Type="http://schemas.openxmlformats.org/officeDocument/2006/relationships/image" Target="../media/image88.png"/><Relationship Id="rId7" Type="http://schemas.openxmlformats.org/officeDocument/2006/relationships/image" Target="../media/image99.png"/><Relationship Id="rId8" Type="http://schemas.openxmlformats.org/officeDocument/2006/relationships/image" Target="../media/image111.png"/><Relationship Id="rId9" Type="http://schemas.openxmlformats.org/officeDocument/2006/relationships/image" Target="../media/image1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20040"/>
            <a:ext cx="10789920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60704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Symbols are formatted exactly as they appear in the model and update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103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98448"/>
            <a:ext cx="5212080" cy="89611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298448"/>
            <a:ext cx="73152" cy="896112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444751"/>
            <a:ext cx="477316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87552" y="1463039"/>
            <a:ext cx="777240" cy="38404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102A43"/>
                </a:solidFill>
                <a:latin typeface="Aptos"/>
              </a:rPr>
              <a:t>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2224" y="1444751"/>
            <a:ext cx="384048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horizon; T = 3000 rounds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1298448"/>
            <a:ext cx="5212080" cy="89611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1072" y="1298448"/>
            <a:ext cx="73152" cy="896112"/>
          </a:xfrm>
          <a:prstGeom prst="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1444751"/>
            <a:ext cx="477316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565392" y="1463039"/>
            <a:ext cx="777240" cy="38404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102A43"/>
                </a:solidFill>
                <a:latin typeface="Aptos"/>
              </a:rPr>
              <a:t>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0064" y="1444751"/>
            <a:ext cx="384048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number of campaigns; N = 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468880"/>
            <a:ext cx="5212080" cy="89611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2468880"/>
            <a:ext cx="73152" cy="896112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2615184"/>
            <a:ext cx="477316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87552" y="2633472"/>
            <a:ext cx="777240" cy="38404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102A43"/>
                </a:solidFill>
                <a:latin typeface="Aptos"/>
              </a:rPr>
              <a:t>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92224" y="2615184"/>
            <a:ext cx="384048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finite bid grid: {0.0, 0.1, ..., 1.0}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91072" y="2468880"/>
            <a:ext cx="5212080" cy="89611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91072" y="2468880"/>
            <a:ext cx="73152" cy="896112"/>
          </a:xfrm>
          <a:prstGeom prst="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2615184"/>
            <a:ext cx="477316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565392" y="2633472"/>
            <a:ext cx="777240" cy="38404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102A43"/>
                </a:solidFill>
                <a:latin typeface="Aptos"/>
              </a:rPr>
              <a:t>|G|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0064" y="2615184"/>
            <a:ext cx="384048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number of bid levels; |G| = 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3639312"/>
            <a:ext cx="5212080" cy="89611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" y="3639312"/>
            <a:ext cx="73152" cy="896112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3785615"/>
            <a:ext cx="477316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987552" y="3803904"/>
            <a:ext cx="777240" cy="38404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102A43"/>
                </a:solidFill>
                <a:latin typeface="Aptos"/>
              </a:rPr>
              <a:t>b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92224" y="3785615"/>
            <a:ext cx="384048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bid vector selected at round 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91072" y="3639312"/>
            <a:ext cx="5212080" cy="89611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91072" y="3639312"/>
            <a:ext cx="73152" cy="896112"/>
          </a:xfrm>
          <a:prstGeom prst="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4" y="3785615"/>
            <a:ext cx="477316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6565392" y="3803904"/>
            <a:ext cx="777240" cy="38404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102A43"/>
                </a:solidFill>
                <a:latin typeface="Aptos"/>
              </a:rPr>
              <a:t>m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0064" y="3785615"/>
            <a:ext cx="384048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highest-competing-bid vector at round 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" y="4809744"/>
            <a:ext cx="5212080" cy="89611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3232" y="4809744"/>
            <a:ext cx="73152" cy="896112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" y="4956048"/>
            <a:ext cx="477316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987552" y="4974336"/>
            <a:ext cx="777240" cy="38404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102A43"/>
                </a:solidFill>
                <a:latin typeface="Aptos"/>
              </a:rPr>
              <a:t>v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92224" y="4956048"/>
            <a:ext cx="384048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campaign i value; normalized to 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91072" y="4809744"/>
            <a:ext cx="5212080" cy="89611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91072" y="4809744"/>
            <a:ext cx="73152" cy="896112"/>
          </a:xfrm>
          <a:prstGeom prst="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47104" y="4956048"/>
            <a:ext cx="477316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6565392" y="4974336"/>
            <a:ext cx="777240" cy="38404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102A43"/>
                </a:solidFill>
                <a:latin typeface="Aptos"/>
              </a:rPr>
              <a:t>λ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70064" y="4956048"/>
            <a:ext cx="384048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dual price controlling expenditure at round t</a:t>
            </a:r>
          </a:p>
        </p:txBody>
      </p:sp>
    </p:spTree>
    <p:extLst>
      <p:ext uri="{BB962C8B-B14F-4D97-AF65-F5344CB8AC3E}">
        <p14:creationId xmlns:p14="http://schemas.microsoft.com/office/powerpoint/2010/main" val="2516896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Final Req3 environment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Req3 and Req4 now differ in algorithm, not in the realized market input.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256032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35607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F6DF6"/>
                </a:solidFill>
                <a:latin typeface="Aptos"/>
              </a:defRPr>
            </a:pPr>
            <a:r>
              <a:t>SHARED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19072"/>
            <a:ext cx="2194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T=3000, N=10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12848"/>
            <a:ext cx="21945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B=10000; 11 bid levels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25880"/>
            <a:ext cx="256032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435607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08477"/>
                </a:solidFill>
                <a:latin typeface="Aptos"/>
              </a:defRPr>
            </a:pPr>
            <a:r>
              <a:t>SKL GRID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719072"/>
            <a:ext cx="2194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20 / 200 / 2000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212848"/>
            <a:ext cx="21945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Shared symmetric-KL definition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256032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35607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2741F"/>
                </a:solidFill>
                <a:latin typeface="Aptos"/>
              </a:defRPr>
            </a:pPr>
            <a:r>
              <a:t>FREQUENCY GRID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19072"/>
            <a:ext cx="2194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02A43"/>
                </a:solidFill>
                <a:latin typeface="Aptos"/>
              </a:defRPr>
            </a:pPr>
            <a:r>
              <a:t>1/100 / 1/50 / 1/25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12848"/>
            <a:ext cx="21945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Stochastic regime changes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325880"/>
            <a:ext cx="256032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19" y="1435607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6856B"/>
                </a:solidFill>
                <a:latin typeface="Aptos"/>
              </a:defRPr>
            </a:pPr>
            <a:r>
              <a:t>REPLICATIONS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1719072"/>
            <a:ext cx="2194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10 per cell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2212848"/>
            <a:ext cx="21945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90 exact market matrices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788920"/>
            <a:ext cx="109270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C8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017520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Comparison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520440"/>
            <a:ext cx="102412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Aptos"/>
              </a:defRPr>
            </a:pPr>
            <a:r>
              <a:t>For realization r in setting s, every algorithm loads the same realization_r.npy file. The file fixes the complete highest-competing-bid matrix. config.json records the constellation seed, sample seed, change points, and active modes.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09160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2F6DF6"/>
                </a:solidFill>
                <a:latin typeface="Aptos"/>
              </a:defRPr>
            </a:pPr>
            <a:r>
              <a:t>This deck reports the Req3 primal-dual results only; the common inputs make the later three-way comparison valid.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20040"/>
            <a:ext cx="10789920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One round of the auction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60704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A compact view of the action, feedback, utility, and cost at round 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103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306324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1508760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472184"/>
            <a:ext cx="262432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1. Choose bids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325880"/>
            <a:ext cx="306324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325880"/>
            <a:ext cx="73152" cy="1508760"/>
          </a:xfrm>
          <a:prstGeom prst="rect">
            <a:avLst/>
          </a:prstGeom>
          <a:solidFill>
            <a:srgbClr val="E2741F"/>
          </a:solidFill>
          <a:ln>
            <a:solidFill>
              <a:srgbClr val="E27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472184"/>
            <a:ext cx="262432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2. Observe market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1325880"/>
            <a:ext cx="306324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1325880"/>
            <a:ext cx="73152" cy="1508760"/>
          </a:xfrm>
          <a:prstGeom prst="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91271" y="1472184"/>
            <a:ext cx="262432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3. Determine wins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1828800"/>
            <a:ext cx="2514600" cy="34747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102A43"/>
                </a:solidFill>
                <a:latin typeface="Aptos"/>
              </a:rPr>
              <a:t>b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2000" b="1" i="0">
                <a:solidFill>
                  <a:srgbClr val="102A43"/>
                </a:solidFill>
                <a:latin typeface="Aptos"/>
              </a:rPr>
              <a:t> = (</a:t>
            </a:r>
            <a:r>
              <a:rPr sz="2000" b="1" i="0">
                <a:solidFill>
                  <a:srgbClr val="102A43"/>
                </a:solidFill>
                <a:latin typeface="Aptos"/>
              </a:rPr>
              <a:t>b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t,1</a:t>
            </a:r>
            <a:r>
              <a:rPr sz="2000" b="1" i="0">
                <a:solidFill>
                  <a:srgbClr val="102A43"/>
                </a:solidFill>
                <a:latin typeface="Aptos"/>
              </a:rPr>
              <a:t>, ..., </a:t>
            </a:r>
            <a:r>
              <a:rPr sz="2000" b="1" i="0">
                <a:solidFill>
                  <a:srgbClr val="102A43"/>
                </a:solidFill>
                <a:latin typeface="Aptos"/>
              </a:rPr>
              <a:t>b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t,N</a:t>
            </a:r>
            <a:r>
              <a:rPr sz="2000" b="1" i="0">
                <a:solidFill>
                  <a:srgbClr val="102A43"/>
                </a:solidFill>
                <a:latin typeface="Aptos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212848"/>
            <a:ext cx="2514600" cy="39319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One bid for every campaign.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828800"/>
            <a:ext cx="2514600" cy="34747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102A43"/>
                </a:solidFill>
                <a:latin typeface="Aptos"/>
              </a:rPr>
              <a:t>m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2000" b="1" i="0">
                <a:solidFill>
                  <a:srgbClr val="102A43"/>
                </a:solidFill>
                <a:latin typeface="Aptos"/>
              </a:rPr>
              <a:t> = (</a:t>
            </a:r>
            <a:r>
              <a:rPr sz="2000" b="1" i="0">
                <a:solidFill>
                  <a:srgbClr val="102A43"/>
                </a:solidFill>
                <a:latin typeface="Aptos"/>
              </a:rPr>
              <a:t>m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t,1</a:t>
            </a:r>
            <a:r>
              <a:rPr sz="2000" b="1" i="0">
                <a:solidFill>
                  <a:srgbClr val="102A43"/>
                </a:solidFill>
                <a:latin typeface="Aptos"/>
              </a:rPr>
              <a:t>, ..., </a:t>
            </a:r>
            <a:r>
              <a:rPr sz="2000" b="1" i="0">
                <a:solidFill>
                  <a:srgbClr val="102A43"/>
                </a:solidFill>
                <a:latin typeface="Aptos"/>
              </a:rPr>
              <a:t>m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t,N</a:t>
            </a:r>
            <a:r>
              <a:rPr sz="2000" b="1" i="0">
                <a:solidFill>
                  <a:srgbClr val="102A43"/>
                </a:solidFill>
                <a:latin typeface="Aptos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212848"/>
            <a:ext cx="2560320" cy="39319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Highest competing bids.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1810512"/>
            <a:ext cx="2606040" cy="38404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102A43"/>
                </a:solidFill>
                <a:latin typeface="Aptos"/>
              </a:rPr>
              <a:t>b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2000" b="1" i="0">
                <a:solidFill>
                  <a:srgbClr val="102A43"/>
                </a:solidFill>
                <a:latin typeface="Aptos"/>
              </a:rPr>
              <a:t> ≥ </a:t>
            </a:r>
            <a:r>
              <a:rPr sz="2000" b="1" i="0">
                <a:solidFill>
                  <a:srgbClr val="102A43"/>
                </a:solidFill>
                <a:latin typeface="Aptos"/>
              </a:rPr>
              <a:t>m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t,i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212848"/>
            <a:ext cx="2514600" cy="39319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Campaign i is won iff this holds.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246120"/>
            <a:ext cx="507492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3246120"/>
            <a:ext cx="73152" cy="15087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2" y="3392424"/>
            <a:ext cx="463600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Utility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3730752"/>
            <a:ext cx="4434840" cy="43891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800" b="0" i="0">
                <a:solidFill>
                  <a:srgbClr val="102A43"/>
                </a:solidFill>
                <a:latin typeface="Aptos"/>
              </a:rPr>
              <a:t>u</a:t>
            </a:r>
            <a:r>
              <a:rPr sz="1296" b="0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0" i="0">
                <a:solidFill>
                  <a:srgbClr val="102A43"/>
                </a:solidFill>
                <a:latin typeface="Aptos"/>
              </a:rPr>
              <a:t>(</a:t>
            </a:r>
            <a:r>
              <a:rPr sz="1800" b="0" i="0">
                <a:solidFill>
                  <a:srgbClr val="102A43"/>
                </a:solidFill>
                <a:latin typeface="Aptos"/>
              </a:rPr>
              <a:t>b</a:t>
            </a:r>
            <a:r>
              <a:rPr sz="1296" b="0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0" i="0">
                <a:solidFill>
                  <a:srgbClr val="102A43"/>
                </a:solidFill>
                <a:latin typeface="Aptos"/>
              </a:rPr>
              <a:t>) = Σ</a:t>
            </a:r>
            <a:r>
              <a:rPr sz="1800" b="0" i="0">
                <a:solidFill>
                  <a:srgbClr val="102A43"/>
                </a:solidFill>
                <a:latin typeface="Aptos"/>
              </a:rPr>
              <a:t/>
            </a:r>
            <a:r>
              <a:rPr sz="1296" b="0" i="0" baseline="-25000">
                <a:solidFill>
                  <a:srgbClr val="102A43"/>
                </a:solidFill>
                <a:latin typeface="Aptos"/>
              </a:rPr>
              <a:t>i=1</a:t>
            </a:r>
            <a:r>
              <a:rPr sz="1296" b="0" i="0" baseline="30000">
                <a:solidFill>
                  <a:srgbClr val="102A43"/>
                </a:solidFill>
                <a:latin typeface="Aptos"/>
              </a:rPr>
              <a:t>N</a:t>
            </a:r>
            <a:r>
              <a:rPr sz="1800" b="0" i="0">
                <a:solidFill>
                  <a:srgbClr val="102A43"/>
                </a:solidFill>
                <a:latin typeface="Aptos"/>
              </a:rPr>
              <a:t> (</a:t>
            </a:r>
            <a:r>
              <a:rPr sz="1800" b="0" i="0">
                <a:solidFill>
                  <a:srgbClr val="102A43"/>
                </a:solidFill>
                <a:latin typeface="Aptos"/>
              </a:rPr>
              <a:t>v</a:t>
            </a:r>
            <a:r>
              <a:rPr sz="1296" b="0" i="0" baseline="-25000">
                <a:solidFill>
                  <a:srgbClr val="102A43"/>
                </a:solidFill>
                <a:latin typeface="Aptos"/>
              </a:rPr>
              <a:t>i</a:t>
            </a:r>
            <a:r>
              <a:rPr sz="1800" b="0" i="0">
                <a:solidFill>
                  <a:srgbClr val="102A43"/>
                </a:solidFill>
                <a:latin typeface="Aptos"/>
              </a:rPr>
              <a:t> − </a:t>
            </a:r>
            <a:r>
              <a:rPr sz="1800" b="0" i="0">
                <a:solidFill>
                  <a:srgbClr val="102A43"/>
                </a:solidFill>
                <a:latin typeface="Aptos"/>
              </a:rPr>
              <a:t>b</a:t>
            </a:r>
            <a:r>
              <a:rPr sz="1296" b="0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1800" b="0" i="0">
                <a:solidFill>
                  <a:srgbClr val="102A43"/>
                </a:solidFill>
                <a:latin typeface="Aptos"/>
              </a:rPr>
              <a:t>) 1{</a:t>
            </a:r>
            <a:r>
              <a:rPr sz="1800" b="0" i="0">
                <a:solidFill>
                  <a:srgbClr val="102A43"/>
                </a:solidFill>
                <a:latin typeface="Aptos"/>
              </a:rPr>
              <a:t>b</a:t>
            </a:r>
            <a:r>
              <a:rPr sz="1296" b="0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1800" b="0" i="0">
                <a:solidFill>
                  <a:srgbClr val="102A43"/>
                </a:solidFill>
                <a:latin typeface="Aptos"/>
              </a:rPr>
              <a:t> ≥ </a:t>
            </a:r>
            <a:r>
              <a:rPr sz="1800" b="0" i="0">
                <a:solidFill>
                  <a:srgbClr val="102A43"/>
                </a:solidFill>
                <a:latin typeface="Aptos"/>
              </a:rPr>
              <a:t>m</a:t>
            </a:r>
            <a:r>
              <a:rPr sz="1296" b="0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1800" b="0" i="0">
                <a:solidFill>
                  <a:srgbClr val="102A43"/>
                </a:solidFill>
                <a:latin typeface="Aptos"/>
              </a:rPr>
              <a:t>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4187952"/>
            <a:ext cx="443484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ptos"/>
              </a:defRPr>
            </a:pPr>
            <a:r>
              <a:t>Value minus payment, summed over won auctions.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6208" y="3246120"/>
            <a:ext cx="507492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6208" y="3246120"/>
            <a:ext cx="73152" cy="1508760"/>
          </a:xfrm>
          <a:prstGeom prst="rect">
            <a:avLst/>
          </a:prstGeom>
          <a:solidFill>
            <a:srgbClr val="C2413B"/>
          </a:solidFill>
          <a:ln>
            <a:solidFill>
              <a:srgbClr val="C24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392424"/>
            <a:ext cx="463600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730752"/>
            <a:ext cx="4434840" cy="43891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800" b="0" i="0">
                <a:solidFill>
                  <a:srgbClr val="102A43"/>
                </a:solidFill>
                <a:latin typeface="Aptos"/>
              </a:rPr>
              <a:t>c</a:t>
            </a:r>
            <a:r>
              <a:rPr sz="1296" b="0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0" i="0">
                <a:solidFill>
                  <a:srgbClr val="102A43"/>
                </a:solidFill>
                <a:latin typeface="Aptos"/>
              </a:rPr>
              <a:t>(</a:t>
            </a:r>
            <a:r>
              <a:rPr sz="1800" b="0" i="0">
                <a:solidFill>
                  <a:srgbClr val="102A43"/>
                </a:solidFill>
                <a:latin typeface="Aptos"/>
              </a:rPr>
              <a:t>b</a:t>
            </a:r>
            <a:r>
              <a:rPr sz="1296" b="0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0" i="0">
                <a:solidFill>
                  <a:srgbClr val="102A43"/>
                </a:solidFill>
                <a:latin typeface="Aptos"/>
              </a:rPr>
              <a:t>) = Σ</a:t>
            </a:r>
            <a:r>
              <a:rPr sz="1800" b="0" i="0">
                <a:solidFill>
                  <a:srgbClr val="102A43"/>
                </a:solidFill>
                <a:latin typeface="Aptos"/>
              </a:rPr>
              <a:t/>
            </a:r>
            <a:r>
              <a:rPr sz="1296" b="0" i="0" baseline="-25000">
                <a:solidFill>
                  <a:srgbClr val="102A43"/>
                </a:solidFill>
                <a:latin typeface="Aptos"/>
              </a:rPr>
              <a:t>i=1</a:t>
            </a:r>
            <a:r>
              <a:rPr sz="1296" b="0" i="0" baseline="30000">
                <a:solidFill>
                  <a:srgbClr val="102A43"/>
                </a:solidFill>
                <a:latin typeface="Aptos"/>
              </a:rPr>
              <a:t>N</a:t>
            </a:r>
            <a:r>
              <a:rPr sz="1800" b="0" i="0">
                <a:solidFill>
                  <a:srgbClr val="102A43"/>
                </a:solidFill>
                <a:latin typeface="Aptos"/>
              </a:rPr>
              <a:t> </a:t>
            </a:r>
            <a:r>
              <a:rPr sz="1800" b="0" i="0">
                <a:solidFill>
                  <a:srgbClr val="102A43"/>
                </a:solidFill>
                <a:latin typeface="Aptos"/>
              </a:rPr>
              <a:t>b</a:t>
            </a:r>
            <a:r>
              <a:rPr sz="1296" b="0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1800" b="0" i="0">
                <a:solidFill>
                  <a:srgbClr val="102A43"/>
                </a:solidFill>
                <a:latin typeface="Aptos"/>
              </a:rPr>
              <a:t> 1{</a:t>
            </a:r>
            <a:r>
              <a:rPr sz="1800" b="0" i="0">
                <a:solidFill>
                  <a:srgbClr val="102A43"/>
                </a:solidFill>
                <a:latin typeface="Aptos"/>
              </a:rPr>
              <a:t>b</a:t>
            </a:r>
            <a:r>
              <a:rPr sz="1296" b="0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1800" b="0" i="0">
                <a:solidFill>
                  <a:srgbClr val="102A43"/>
                </a:solidFill>
                <a:latin typeface="Aptos"/>
              </a:rPr>
              <a:t> ≥ </a:t>
            </a:r>
            <a:r>
              <a:rPr sz="1800" b="0" i="0">
                <a:solidFill>
                  <a:srgbClr val="102A43"/>
                </a:solidFill>
                <a:latin typeface="Aptos"/>
              </a:rPr>
              <a:t>m</a:t>
            </a:r>
            <a:r>
              <a:rPr sz="1296" b="0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1800" b="0" i="0">
                <a:solidFill>
                  <a:srgbClr val="102A43"/>
                </a:solidFill>
                <a:latin typeface="Aptos"/>
              </a:rPr>
              <a:t>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187952"/>
            <a:ext cx="443484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ptos"/>
              </a:defRPr>
            </a:pPr>
            <a:r>
              <a:t>Only won auctions consume budget.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5230368"/>
            <a:ext cx="10442448" cy="749808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5404104"/>
            <a:ext cx="2971800" cy="34747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102A43"/>
                </a:solidFill>
                <a:latin typeface="Aptos"/>
              </a:rPr>
              <a:t>c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1" i="0">
                <a:solidFill>
                  <a:srgbClr val="102A43"/>
                </a:solidFill>
                <a:latin typeface="Aptos"/>
              </a:rPr>
              <a:t>(</a:t>
            </a:r>
            <a:r>
              <a:rPr sz="1800" b="1" i="0">
                <a:solidFill>
                  <a:srgbClr val="102A43"/>
                </a:solidFill>
                <a:latin typeface="Aptos"/>
              </a:rPr>
              <a:t>b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1" i="0">
                <a:solidFill>
                  <a:srgbClr val="102A43"/>
                </a:solidFill>
                <a:latin typeface="Aptos"/>
              </a:rPr>
              <a:t>) ≤ Σ</a:t>
            </a:r>
            <a:r>
              <a:rPr sz="1800" b="1" i="0">
                <a:solidFill>
                  <a:srgbClr val="102A43"/>
                </a:solidFill>
                <a:latin typeface="Aptos"/>
              </a:rPr>
              <a:t/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i=1</a:t>
            </a:r>
            <a:r>
              <a:rPr sz="1296" b="1" i="0" baseline="30000">
                <a:solidFill>
                  <a:srgbClr val="102A43"/>
                </a:solidFill>
                <a:latin typeface="Aptos"/>
              </a:rPr>
              <a:t>N</a:t>
            </a:r>
            <a:r>
              <a:rPr sz="1800" b="1" i="0">
                <a:solidFill>
                  <a:srgbClr val="102A43"/>
                </a:solidFill>
                <a:latin typeface="Aptos"/>
              </a:rPr>
              <a:t> </a:t>
            </a:r>
            <a:r>
              <a:rPr sz="1800" b="1" i="0">
                <a:solidFill>
                  <a:srgbClr val="102A43"/>
                </a:solidFill>
                <a:latin typeface="Aptos"/>
              </a:rPr>
              <a:t>b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t,i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5349240"/>
            <a:ext cx="6720840" cy="4297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400" b="1">
                <a:solidFill>
                  <a:srgbClr val="2F6DF6"/>
                </a:solidFill>
                <a:latin typeface="Aptos"/>
              </a:defRPr>
            </a:pPr>
            <a:r>
              <a:t>This worst-case upper bound enables a deterministic budget guarantee.</a:t>
            </a:r>
          </a:p>
        </p:txBody>
      </p:sp>
    </p:spTree>
    <p:extLst>
      <p:ext uri="{BB962C8B-B14F-4D97-AF65-F5344CB8AC3E}">
        <p14:creationId xmlns:p14="http://schemas.microsoft.com/office/powerpoint/2010/main" val="215208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20040"/>
            <a:ext cx="10789920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Shared non-stationary market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60704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sKL controls how different regimes are; frequency controls how often the regime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103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98448"/>
            <a:ext cx="5074920" cy="135331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98448"/>
            <a:ext cx="73152" cy="1353312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444751"/>
            <a:ext cx="463600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1. Three Gaussian modes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298448"/>
            <a:ext cx="5074920" cy="135331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298448"/>
            <a:ext cx="73152" cy="13533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444751"/>
            <a:ext cx="463600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2. Separation between modes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999232"/>
            <a:ext cx="5074920" cy="135331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999232"/>
            <a:ext cx="73152" cy="1353312"/>
          </a:xfrm>
          <a:prstGeom prst="rect">
            <a:avLst/>
          </a:prstGeom>
          <a:solidFill>
            <a:srgbClr val="E2741F"/>
          </a:solidFill>
          <a:ln>
            <a:solidFill>
              <a:srgbClr val="E27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145536"/>
            <a:ext cx="463600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3. Stochastic mode switching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2999232"/>
            <a:ext cx="5074920" cy="1353312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2999232"/>
            <a:ext cx="73152" cy="1353312"/>
          </a:xfrm>
          <a:prstGeom prst="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3145536"/>
            <a:ext cx="463600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4. Freeze the realized market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1792224"/>
            <a:ext cx="4343400" cy="36576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102A43"/>
                </a:solidFill>
                <a:latin typeface="Aptos"/>
              </a:rPr>
              <a:t>z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1" i="0">
                <a:solidFill>
                  <a:srgbClr val="102A43"/>
                </a:solidFill>
                <a:latin typeface="Aptos"/>
              </a:rPr>
              <a:t> ∈ {0, 1, 2},    </a:t>
            </a:r>
            <a:r>
              <a:rPr sz="1800" b="1" i="0">
                <a:solidFill>
                  <a:srgbClr val="102A43"/>
                </a:solidFill>
                <a:latin typeface="Aptos"/>
              </a:rPr>
              <a:t>m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1" i="0">
                <a:solidFill>
                  <a:srgbClr val="102A43"/>
                </a:solidFill>
                <a:latin typeface="Aptos"/>
              </a:rPr>
              <a:t> ~ N(</a:t>
            </a:r>
            <a:r>
              <a:rPr sz="1800" b="1" i="0">
                <a:solidFill>
                  <a:srgbClr val="102A43"/>
                </a:solidFill>
                <a:latin typeface="Aptos"/>
              </a:rPr>
              <a:t>μ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zₜ</a:t>
            </a:r>
            <a:r>
              <a:rPr sz="1800" b="1" i="0">
                <a:solidFill>
                  <a:srgbClr val="102A43"/>
                </a:solidFill>
                <a:latin typeface="Aptos"/>
              </a:rPr>
              <a:t>, </a:t>
            </a:r>
            <a:r>
              <a:rPr sz="1800" b="1" i="0">
                <a:solidFill>
                  <a:srgbClr val="102A43"/>
                </a:solidFill>
                <a:latin typeface="Aptos"/>
              </a:rPr>
              <a:t>Σ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zₜ</a:t>
            </a:r>
            <a:r>
              <a:rPr sz="1800" b="1" i="0">
                <a:solidFill>
                  <a:srgbClr val="102A43"/>
                </a:solidFill>
                <a:latin typeface="Aptos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2176272"/>
            <a:ext cx="4343400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Each mode is a 10-dimensional distribution of competing bids.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1792224"/>
            <a:ext cx="4315968" cy="36576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102A43"/>
                </a:solidFill>
                <a:latin typeface="Aptos"/>
              </a:rPr>
              <a:t>sKL(</a:t>
            </a:r>
            <a:r>
              <a:rPr sz="1800" b="1" i="0">
                <a:solidFill>
                  <a:srgbClr val="102A43"/>
                </a:solidFill>
                <a:latin typeface="Aptos"/>
              </a:rPr>
              <a:t>P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a</a:t>
            </a:r>
            <a:r>
              <a:rPr sz="1800" b="1" i="0">
                <a:solidFill>
                  <a:srgbClr val="102A43"/>
                </a:solidFill>
                <a:latin typeface="Aptos"/>
              </a:rPr>
              <a:t>, </a:t>
            </a:r>
            <a:r>
              <a:rPr sz="1800" b="1" i="0">
                <a:solidFill>
                  <a:srgbClr val="102A43"/>
                </a:solidFill>
                <a:latin typeface="Aptos"/>
              </a:rPr>
              <a:t>P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b</a:t>
            </a:r>
            <a:r>
              <a:rPr sz="1800" b="1" i="0">
                <a:solidFill>
                  <a:srgbClr val="102A43"/>
                </a:solidFill>
                <a:latin typeface="Aptos"/>
              </a:rPr>
              <a:t>) ∈ {20, 200, 2000}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176272"/>
            <a:ext cx="431596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Larger sKL means a more visible distribution shift.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3493008"/>
            <a:ext cx="4343400" cy="36576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102A43"/>
                </a:solidFill>
                <a:latin typeface="Aptos"/>
              </a:rPr>
              <a:t>Pr(</a:t>
            </a:r>
            <a:r>
              <a:rPr sz="1800" b="1" i="0">
                <a:solidFill>
                  <a:srgbClr val="102A43"/>
                </a:solidFill>
                <a:latin typeface="Aptos"/>
              </a:rPr>
              <a:t>z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1" i="0">
                <a:solidFill>
                  <a:srgbClr val="102A43"/>
                </a:solidFill>
                <a:latin typeface="Aptos"/>
              </a:rPr>
              <a:t> ≠ </a:t>
            </a:r>
            <a:r>
              <a:rPr sz="1800" b="1" i="0">
                <a:solidFill>
                  <a:srgbClr val="102A43"/>
                </a:solidFill>
                <a:latin typeface="Aptos"/>
              </a:rPr>
              <a:t>z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t−1</a:t>
            </a:r>
            <a:r>
              <a:rPr sz="1800" b="1" i="0">
                <a:solidFill>
                  <a:srgbClr val="102A43"/>
                </a:solidFill>
                <a:latin typeface="Aptos"/>
              </a:rPr>
              <a:t>) = 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3877056"/>
            <a:ext cx="4343400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p = 1/100, 1/50, or 1/25; larger p gives more change points.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493008"/>
            <a:ext cx="4315968" cy="36576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102A43"/>
                </a:solidFill>
                <a:latin typeface="Aptos"/>
              </a:rPr>
              <a:t>M = [</a:t>
            </a:r>
            <a:r>
              <a:rPr sz="1800" b="1" i="0">
                <a:solidFill>
                  <a:srgbClr val="102A43"/>
                </a:solidFill>
                <a:latin typeface="Aptos"/>
              </a:rPr>
              <a:t>m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1</a:t>
            </a:r>
            <a:r>
              <a:rPr sz="1800" b="1" i="0">
                <a:solidFill>
                  <a:srgbClr val="102A43"/>
                </a:solidFill>
                <a:latin typeface="Aptos"/>
              </a:rPr>
              <a:t>, ..., </a:t>
            </a:r>
            <a:r>
              <a:rPr sz="1800" b="1" i="0">
                <a:solidFill>
                  <a:srgbClr val="102A43"/>
                </a:solidFill>
                <a:latin typeface="Aptos"/>
              </a:rPr>
              <a:t>m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1" i="0">
                <a:solidFill>
                  <a:srgbClr val="102A43"/>
                </a:solidFill>
                <a:latin typeface="Aptos"/>
              </a:rPr>
              <a:t>]</a:t>
            </a:r>
            <a:r>
              <a:rPr sz="1800" b="1" i="0">
                <a:solidFill>
                  <a:srgbClr val="102A43"/>
                </a:solidFill>
                <a:latin typeface="Aptos"/>
              </a:rPr>
              <a:t/>
            </a:r>
            <a:r>
              <a:rPr sz="1296" b="1" i="0" baseline="30000">
                <a:solidFill>
                  <a:srgbClr val="102A43"/>
                </a:solidFill>
                <a:latin typeface="Aptos"/>
              </a:rPr>
              <a:t>⊤</a:t>
            </a:r>
            <a:r>
              <a:rPr sz="1800" b="1" i="0">
                <a:solidFill>
                  <a:srgbClr val="102A43"/>
                </a:solidFill>
                <a:latin typeface="Aptos"/>
              </a:rPr>
              <a:t> ∈ [0, 1]</a:t>
            </a:r>
            <a:r>
              <a:rPr sz="1800" b="1" i="0">
                <a:solidFill>
                  <a:srgbClr val="102A43"/>
                </a:solidFill>
                <a:latin typeface="Aptos"/>
              </a:rPr>
              <a:t/>
            </a:r>
            <a:r>
              <a:rPr sz="1296" b="1" i="0" baseline="30000">
                <a:solidFill>
                  <a:srgbClr val="102A43"/>
                </a:solidFill>
                <a:latin typeface="Aptos"/>
              </a:rPr>
              <a:t>3000×10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3877056"/>
            <a:ext cx="431596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Once sampled, this exact matrix is reused by every algorithm.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736592"/>
            <a:ext cx="10561320" cy="1078992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4901184"/>
            <a:ext cx="1234440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ptos"/>
              </a:defRPr>
            </a:pPr>
            <a:r>
              <a:t>EXAMPLE PATH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31720" y="5148072"/>
            <a:ext cx="1874519" cy="384048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31720" y="5157216"/>
            <a:ext cx="1874519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Mode 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15968" y="5148072"/>
            <a:ext cx="1481328" cy="384048"/>
          </a:xfrm>
          <a:prstGeom prst="rect">
            <a:avLst/>
          </a:prstGeom>
          <a:solidFill>
            <a:srgbClr val="E2741F"/>
          </a:solidFill>
          <a:ln>
            <a:solidFill>
              <a:srgbClr val="E27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15968" y="5157216"/>
            <a:ext cx="1481328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Mode 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07024" y="5148072"/>
            <a:ext cx="2057400" cy="384048"/>
          </a:xfrm>
          <a:prstGeom prst="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07024" y="5157216"/>
            <a:ext cx="2057400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Mode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74152" y="5148072"/>
            <a:ext cx="2103120" cy="384048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74152" y="5157216"/>
            <a:ext cx="2103120" cy="34747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Mode 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5184648"/>
            <a:ext cx="640080" cy="25603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round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20040"/>
            <a:ext cx="10789920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Factorized primal-dual bid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60704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One Hedge distribution per campaign; no enumeration of the full joint action 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103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08760"/>
            <a:ext cx="297180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508760"/>
            <a:ext cx="73152" cy="2057400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655063"/>
            <a:ext cx="253288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1. Maintain weights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508760"/>
            <a:ext cx="297180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508760"/>
            <a:ext cx="73152" cy="20574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655063"/>
            <a:ext cx="253288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2. Sample per campaign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07808" y="1508760"/>
            <a:ext cx="297180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07808" y="1508760"/>
            <a:ext cx="73152" cy="2057400"/>
          </a:xfrm>
          <a:prstGeom prst="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655063"/>
            <a:ext cx="253288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3. Assemble the vector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057400"/>
            <a:ext cx="2468880" cy="41148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2200" b="1" i="0">
                <a:solidFill>
                  <a:srgbClr val="102A43"/>
                </a:solidFill>
                <a:latin typeface="Aptos"/>
              </a:rPr>
              <a:t>w</a:t>
            </a:r>
            <a:r>
              <a:rPr sz="1584" b="1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2200" b="1" i="0">
                <a:solidFill>
                  <a:srgbClr val="102A43"/>
                </a:solidFill>
                <a:latin typeface="Aptos"/>
              </a:rPr>
              <a:t>(g),  g ∈ 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542032"/>
            <a:ext cx="2395728" cy="59436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Scores every bid g for campaign 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057400"/>
            <a:ext cx="2468880" cy="41148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2200" b="1" i="0">
                <a:solidFill>
                  <a:srgbClr val="102A43"/>
                </a:solidFill>
                <a:latin typeface="Aptos"/>
              </a:rPr>
              <a:t>b</a:t>
            </a:r>
            <a:r>
              <a:rPr sz="1584" b="1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2200" b="1" i="0">
                <a:solidFill>
                  <a:srgbClr val="102A43"/>
                </a:solidFill>
                <a:latin typeface="Aptos"/>
              </a:rPr>
              <a:t> ~ </a:t>
            </a:r>
            <a:r>
              <a:rPr sz="2200" b="1" i="0">
                <a:solidFill>
                  <a:srgbClr val="102A43"/>
                </a:solidFill>
                <a:latin typeface="Aptos"/>
              </a:rPr>
              <a:t>p</a:t>
            </a:r>
            <a:r>
              <a:rPr sz="1584" b="1" i="0" baseline="-25000">
                <a:solidFill>
                  <a:srgbClr val="102A43"/>
                </a:solidFill>
                <a:latin typeface="Aptos"/>
              </a:rPr>
              <a:t>t,i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542032"/>
            <a:ext cx="2395728" cy="59436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Draw one affordable bid per campaign.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7" y="2057400"/>
            <a:ext cx="2468880" cy="41148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2200" b="1" i="0">
                <a:solidFill>
                  <a:srgbClr val="102A43"/>
                </a:solidFill>
                <a:latin typeface="Aptos"/>
              </a:rPr>
              <a:t>b</a:t>
            </a:r>
            <a:r>
              <a:rPr sz="1584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2200" b="1" i="0">
                <a:solidFill>
                  <a:srgbClr val="102A43"/>
                </a:solidFill>
                <a:latin typeface="Aptos"/>
              </a:rPr>
              <a:t> = (</a:t>
            </a:r>
            <a:r>
              <a:rPr sz="2200" b="1" i="0">
                <a:solidFill>
                  <a:srgbClr val="102A43"/>
                </a:solidFill>
                <a:latin typeface="Aptos"/>
              </a:rPr>
              <a:t>b</a:t>
            </a:r>
            <a:r>
              <a:rPr sz="1584" b="1" i="0" baseline="-25000">
                <a:solidFill>
                  <a:srgbClr val="102A43"/>
                </a:solidFill>
                <a:latin typeface="Aptos"/>
              </a:rPr>
              <a:t>t,1</a:t>
            </a:r>
            <a:r>
              <a:rPr sz="2200" b="1" i="0">
                <a:solidFill>
                  <a:srgbClr val="102A43"/>
                </a:solidFill>
                <a:latin typeface="Aptos"/>
              </a:rPr>
              <a:t>, ..., </a:t>
            </a:r>
            <a:r>
              <a:rPr sz="2200" b="1" i="0">
                <a:solidFill>
                  <a:srgbClr val="102A43"/>
                </a:solidFill>
                <a:latin typeface="Aptos"/>
              </a:rPr>
              <a:t>b</a:t>
            </a:r>
            <a:r>
              <a:rPr sz="1584" b="1" i="0" baseline="-25000">
                <a:solidFill>
                  <a:srgbClr val="102A43"/>
                </a:solidFill>
                <a:latin typeface="Aptos"/>
              </a:rPr>
              <a:t>t,N</a:t>
            </a:r>
            <a:r>
              <a:rPr sz="2200" b="1" i="0">
                <a:solidFill>
                  <a:srgbClr val="102A43"/>
                </a:solidFill>
                <a:latin typeface="Aptos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2542032"/>
            <a:ext cx="2395728" cy="59436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The complete 10-dimensional action.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069080"/>
            <a:ext cx="1056132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297680"/>
            <a:ext cx="214884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400" b="1">
                <a:solidFill>
                  <a:srgbClr val="108477"/>
                </a:solidFill>
                <a:latin typeface="Aptos"/>
              </a:defRPr>
            </a:pPr>
            <a:r>
              <a:t>Current setup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45152"/>
            <a:ext cx="2743200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No conflict edges: all 10 campaigns remain available.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4297680"/>
            <a:ext cx="237744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Aptos"/>
              </a:defRPr>
            </a:pPr>
            <a:r>
              <a:t>Computational benefit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4645152"/>
            <a:ext cx="2788920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10 × 11 arm weights instead of 11^10 joint actions.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4297680"/>
            <a:ext cx="21945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400" b="1">
                <a:solidFill>
                  <a:srgbClr val="16856B"/>
                </a:solidFill>
                <a:latin typeface="Aptos"/>
              </a:defRPr>
            </a:pPr>
            <a:r>
              <a:t>Budget safety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645152"/>
            <a:ext cx="3246120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Sampling is filtered by the remaining budget.</a:t>
            </a:r>
          </a:p>
        </p:txBody>
      </p:sp>
    </p:spTree>
    <p:extLst>
      <p:ext uri="{BB962C8B-B14F-4D97-AF65-F5344CB8AC3E}">
        <p14:creationId xmlns:p14="http://schemas.microsoft.com/office/powerpoint/2010/main" val="333607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20040"/>
            <a:ext cx="10789920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Primal-dual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60704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Primal weights learn useful bids; the dual price reacts to spending pressure.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103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507492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73152" cy="1554480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517904"/>
            <a:ext cx="463600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1. Arm 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371600"/>
            <a:ext cx="507492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71600"/>
            <a:ext cx="73152" cy="15544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517904"/>
            <a:ext cx="463600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2. Hedge update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337560"/>
            <a:ext cx="507492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337560"/>
            <a:ext cx="73152" cy="1554480"/>
          </a:xfrm>
          <a:prstGeom prst="rect">
            <a:avLst/>
          </a:prstGeom>
          <a:solidFill>
            <a:srgbClr val="E2741F"/>
          </a:solidFill>
          <a:ln>
            <a:solidFill>
              <a:srgbClr val="E27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483864"/>
            <a:ext cx="463600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3. Dual update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337560"/>
            <a:ext cx="507492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337560"/>
            <a:ext cx="73152" cy="1554480"/>
          </a:xfrm>
          <a:prstGeom prst="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483864"/>
            <a:ext cx="463600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4. 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1901952"/>
            <a:ext cx="4343400" cy="38404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102A43"/>
                </a:solidFill>
                <a:latin typeface="Aptos"/>
              </a:rPr>
              <a:t>ℓ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1800" b="1" i="0">
                <a:solidFill>
                  <a:srgbClr val="102A43"/>
                </a:solidFill>
                <a:latin typeface="Aptos"/>
              </a:rPr>
              <a:t>(g) = </a:t>
            </a:r>
            <a:r>
              <a:rPr sz="1800" b="1" i="0">
                <a:solidFill>
                  <a:srgbClr val="102A43"/>
                </a:solidFill>
                <a:latin typeface="Aptos"/>
              </a:rPr>
              <a:t>u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1800" b="1" i="0">
                <a:solidFill>
                  <a:srgbClr val="102A43"/>
                </a:solidFill>
                <a:latin typeface="Aptos"/>
              </a:rPr>
              <a:t>(g) − </a:t>
            </a:r>
            <a:r>
              <a:rPr sz="1800" b="1" i="0">
                <a:solidFill>
                  <a:srgbClr val="102A43"/>
                </a:solidFill>
                <a:latin typeface="Aptos"/>
              </a:rPr>
              <a:t>λ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1" i="0">
                <a:solidFill>
                  <a:srgbClr val="102A43"/>
                </a:solidFill>
                <a:latin typeface="Aptos"/>
              </a:rPr>
              <a:t> </a:t>
            </a:r>
            <a:r>
              <a:rPr sz="1800" b="1" i="0">
                <a:solidFill>
                  <a:srgbClr val="102A43"/>
                </a:solidFill>
                <a:latin typeface="Aptos"/>
              </a:rPr>
              <a:t>c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1800" b="1" i="0">
                <a:solidFill>
                  <a:srgbClr val="102A43"/>
                </a:solidFill>
                <a:latin typeface="Aptos"/>
              </a:rPr>
              <a:t>(g)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2313432"/>
            <a:ext cx="4297680" cy="39319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ptos"/>
              </a:defRPr>
            </a:pPr>
            <a:r>
              <a:t>Higher dual prices penalize expensive bids.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1901952"/>
            <a:ext cx="4343400" cy="38404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700" b="1" i="0">
                <a:solidFill>
                  <a:srgbClr val="102A43"/>
                </a:solidFill>
                <a:latin typeface="Aptos"/>
              </a:rPr>
              <a:t>w</a:t>
            </a:r>
            <a:r>
              <a:rPr sz="1224" b="1" i="0" baseline="-25000">
                <a:solidFill>
                  <a:srgbClr val="102A43"/>
                </a:solidFill>
                <a:latin typeface="Aptos"/>
              </a:rPr>
              <a:t>t+1,i</a:t>
            </a:r>
            <a:r>
              <a:rPr sz="1700" b="1" i="0">
                <a:solidFill>
                  <a:srgbClr val="102A43"/>
                </a:solidFill>
                <a:latin typeface="Aptos"/>
              </a:rPr>
              <a:t>(g) = </a:t>
            </a:r>
            <a:r>
              <a:rPr sz="1700" b="1" i="0">
                <a:solidFill>
                  <a:srgbClr val="102A43"/>
                </a:solidFill>
                <a:latin typeface="Aptos"/>
              </a:rPr>
              <a:t>w</a:t>
            </a:r>
            <a:r>
              <a:rPr sz="1224" b="1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1700" b="1" i="0">
                <a:solidFill>
                  <a:srgbClr val="102A43"/>
                </a:solidFill>
                <a:latin typeface="Aptos"/>
              </a:rPr>
              <a:t>(g) exp(η </a:t>
            </a:r>
            <a:r>
              <a:rPr sz="1700" b="1" i="0">
                <a:solidFill>
                  <a:srgbClr val="102A43"/>
                </a:solidFill>
                <a:latin typeface="Aptos"/>
              </a:rPr>
              <a:t>ℓ̃</a:t>
            </a:r>
            <a:r>
              <a:rPr sz="1224" b="1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1700" b="1" i="0">
                <a:solidFill>
                  <a:srgbClr val="102A43"/>
                </a:solidFill>
                <a:latin typeface="Aptos"/>
              </a:rPr>
              <a:t>(g))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313432"/>
            <a:ext cx="4297680" cy="39319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ptos"/>
              </a:defRPr>
            </a:pPr>
            <a:r>
              <a:t>Normalized high-score bids gain multiplicative weight.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3867912"/>
            <a:ext cx="4389120" cy="38404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700" b="1" i="0">
                <a:solidFill>
                  <a:srgbClr val="102A43"/>
                </a:solidFill>
                <a:latin typeface="Aptos"/>
              </a:rPr>
              <a:t>λ</a:t>
            </a:r>
            <a:r>
              <a:rPr sz="1224" b="1" i="0" baseline="-25000">
                <a:solidFill>
                  <a:srgbClr val="102A43"/>
                </a:solidFill>
                <a:latin typeface="Aptos"/>
              </a:rPr>
              <a:t>t+1</a:t>
            </a:r>
            <a:r>
              <a:rPr sz="1700" b="1" i="0">
                <a:solidFill>
                  <a:srgbClr val="102A43"/>
                </a:solidFill>
                <a:latin typeface="Aptos"/>
              </a:rPr>
              <a:t> = Π</a:t>
            </a:r>
            <a:r>
              <a:rPr sz="1700" b="1" i="0">
                <a:solidFill>
                  <a:srgbClr val="102A43"/>
                </a:solidFill>
                <a:latin typeface="Aptos"/>
              </a:rPr>
              <a:t/>
            </a:r>
            <a:r>
              <a:rPr sz="1224" b="1" i="0" baseline="-25000">
                <a:solidFill>
                  <a:srgbClr val="102A43"/>
                </a:solidFill>
                <a:latin typeface="Aptos"/>
              </a:rPr>
              <a:t>[0,1/ρ]</a:t>
            </a:r>
            <a:r>
              <a:rPr sz="1700" b="1" i="0">
                <a:solidFill>
                  <a:srgbClr val="102A43"/>
                </a:solidFill>
                <a:latin typeface="Aptos"/>
              </a:rPr>
              <a:t>(</a:t>
            </a:r>
            <a:r>
              <a:rPr sz="1700" b="1" i="0">
                <a:solidFill>
                  <a:srgbClr val="102A43"/>
                </a:solidFill>
                <a:latin typeface="Aptos"/>
              </a:rPr>
              <a:t>λ</a:t>
            </a:r>
            <a:r>
              <a:rPr sz="1224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700" b="1" i="0">
                <a:solidFill>
                  <a:srgbClr val="102A43"/>
                </a:solidFill>
                <a:latin typeface="Aptos"/>
              </a:rPr>
              <a:t> + </a:t>
            </a:r>
            <a:r>
              <a:rPr sz="1700" b="1" i="0">
                <a:solidFill>
                  <a:srgbClr val="102A43"/>
                </a:solidFill>
                <a:latin typeface="Aptos"/>
              </a:rPr>
              <a:t>η</a:t>
            </a:r>
            <a:r>
              <a:rPr sz="1224" b="1" i="0" baseline="-25000">
                <a:solidFill>
                  <a:srgbClr val="102A43"/>
                </a:solidFill>
                <a:latin typeface="Aptos"/>
              </a:rPr>
              <a:t>λ</a:t>
            </a:r>
            <a:r>
              <a:rPr sz="1700" b="1" i="0">
                <a:solidFill>
                  <a:srgbClr val="102A43"/>
                </a:solidFill>
                <a:latin typeface="Aptos"/>
              </a:rPr>
              <a:t>(</a:t>
            </a:r>
            <a:r>
              <a:rPr sz="1700" b="1" i="0">
                <a:solidFill>
                  <a:srgbClr val="102A43"/>
                </a:solidFill>
                <a:latin typeface="Aptos"/>
              </a:rPr>
              <a:t>c</a:t>
            </a:r>
            <a:r>
              <a:rPr sz="1224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700" b="1" i="0">
                <a:solidFill>
                  <a:srgbClr val="102A43"/>
                </a:solidFill>
                <a:latin typeface="Aptos"/>
              </a:rPr>
              <a:t> − ρ))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297680"/>
            <a:ext cx="4114800" cy="36576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Aptos"/>
              </a:rPr>
              <a:t>ρ = B / 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803904"/>
            <a:ext cx="4343400" cy="6858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Aptos"/>
              </a:defRPr>
            </a:pPr>
            <a:r>
              <a:t>If spending exceeds ρ, λ rises and costly bids become less attractive. Below ρ, the pressure can relax.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498848"/>
            <a:ext cx="4343400" cy="29260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6856B"/>
                </a:solidFill>
                <a:latin typeface="Aptos"/>
              </a:defRPr>
            </a:pPr>
            <a:r>
              <a:t>Projection keeps the multiplier bounded.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8720" y="5349240"/>
            <a:ext cx="9784080" cy="621792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5486400"/>
            <a:ext cx="9235440" cy="29260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1400" b="1" i="0">
                <a:solidFill>
                  <a:srgbClr val="2F6DF6"/>
                </a:solidFill>
                <a:latin typeface="Aptos"/>
              </a:rPr>
              <a:t>Full-information feedback: after observing </a:t>
            </a:r>
            <a:r>
              <a:rPr sz="1400" b="1" i="0">
                <a:solidFill>
                  <a:srgbClr val="2F6DF6"/>
                </a:solidFill>
                <a:latin typeface="Aptos"/>
              </a:rPr>
              <a:t>m</a:t>
            </a:r>
            <a:r>
              <a:rPr sz="1008" b="1" i="0" baseline="-25000">
                <a:solidFill>
                  <a:srgbClr val="2F6DF6"/>
                </a:solidFill>
                <a:latin typeface="Aptos"/>
              </a:rPr>
              <a:t>t</a:t>
            </a:r>
            <a:r>
              <a:rPr sz="1400" b="1" i="0">
                <a:solidFill>
                  <a:srgbClr val="2F6DF6"/>
                </a:solidFill>
                <a:latin typeface="Aptos"/>
              </a:rPr>
              <a:t>, every campaign-bid arm can be evaluated.</a:t>
            </a:r>
          </a:p>
        </p:txBody>
      </p:sp>
    </p:spTree>
    <p:extLst>
      <p:ext uri="{BB962C8B-B14F-4D97-AF65-F5344CB8AC3E}">
        <p14:creationId xmlns:p14="http://schemas.microsoft.com/office/powerpoint/2010/main" val="760265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20040"/>
            <a:ext cx="10789920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Hard budget 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60704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The dual update encourages control; the feasibility filter provides the guarantee.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103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08760"/>
            <a:ext cx="306324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08760"/>
            <a:ext cx="73152" cy="1965960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55063"/>
            <a:ext cx="262432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Before sampling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508760"/>
            <a:ext cx="306324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508760"/>
            <a:ext cx="73152" cy="1965960"/>
          </a:xfrm>
          <a:prstGeom prst="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655063"/>
            <a:ext cx="262432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Why it is safe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62672" y="1508760"/>
            <a:ext cx="306324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62672" y="1508760"/>
            <a:ext cx="73152" cy="1965960"/>
          </a:xfrm>
          <a:prstGeom prst="rect">
            <a:avLst/>
          </a:prstGeom>
          <a:solidFill>
            <a:srgbClr val="E2741F"/>
          </a:solidFill>
          <a:ln>
            <a:solidFill>
              <a:srgbClr val="E27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18704" y="1655063"/>
            <a:ext cx="262432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Fallback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084831"/>
            <a:ext cx="2514600" cy="41148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102A43"/>
                </a:solidFill>
                <a:latin typeface="Aptos"/>
              </a:rPr>
              <a:t>Σ</a:t>
            </a:r>
            <a:r>
              <a:rPr sz="2000" b="1" i="0">
                <a:solidFill>
                  <a:srgbClr val="102A43"/>
                </a:solidFill>
                <a:latin typeface="Aptos"/>
              </a:rPr>
              <a:t/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i=1</a:t>
            </a:r>
            <a:r>
              <a:rPr sz="1439" b="1" i="0" baseline="30000">
                <a:solidFill>
                  <a:srgbClr val="102A43"/>
                </a:solidFill>
                <a:latin typeface="Aptos"/>
              </a:rPr>
              <a:t>N</a:t>
            </a:r>
            <a:r>
              <a:rPr sz="2000" b="1" i="0">
                <a:solidFill>
                  <a:srgbClr val="102A43"/>
                </a:solidFill>
                <a:latin typeface="Aptos"/>
              </a:rPr>
              <a:t> </a:t>
            </a:r>
            <a:r>
              <a:rPr sz="2000" b="1" i="0">
                <a:solidFill>
                  <a:srgbClr val="102A43"/>
                </a:solidFill>
                <a:latin typeface="Aptos"/>
              </a:rPr>
              <a:t>b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t,i</a:t>
            </a:r>
            <a:r>
              <a:rPr sz="2000" b="1" i="0">
                <a:solidFill>
                  <a:srgbClr val="102A43"/>
                </a:solidFill>
                <a:latin typeface="Aptos"/>
              </a:rPr>
              <a:t> ≤ </a:t>
            </a:r>
            <a:r>
              <a:rPr sz="2000" b="1" i="0">
                <a:solidFill>
                  <a:srgbClr val="102A43"/>
                </a:solidFill>
                <a:latin typeface="Aptos"/>
              </a:rPr>
              <a:t>B</a:t>
            </a:r>
            <a:r>
              <a:rPr sz="1439" b="1" i="0" baseline="-25000">
                <a:solidFill>
                  <a:srgbClr val="102A43"/>
                </a:solidFill>
                <a:latin typeface="Aptos"/>
              </a:rPr>
              <a:t>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2560320"/>
            <a:ext cx="2468880" cy="45720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Aptos"/>
              </a:rPr>
              <a:t>Affordable under remaining budget </a:t>
            </a:r>
            <a:r>
              <a:rPr sz="1200" b="0" i="0">
                <a:solidFill>
                  <a:srgbClr val="1F2937"/>
                </a:solidFill>
                <a:latin typeface="Aptos"/>
              </a:rPr>
              <a:t>B</a:t>
            </a:r>
            <a:r>
              <a:rPr sz="864" b="0" i="0" baseline="-25000">
                <a:solidFill>
                  <a:srgbClr val="1F2937"/>
                </a:solidFill>
                <a:latin typeface="Aptos"/>
              </a:rPr>
              <a:t>t</a:t>
            </a:r>
            <a:r>
              <a:rPr sz="1200" b="0" i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4" y="2084831"/>
            <a:ext cx="2542032" cy="41148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102A43"/>
                </a:solidFill>
                <a:latin typeface="Aptos"/>
              </a:rPr>
              <a:t>c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1" i="0">
                <a:solidFill>
                  <a:srgbClr val="102A43"/>
                </a:solidFill>
                <a:latin typeface="Aptos"/>
              </a:rPr>
              <a:t>(</a:t>
            </a:r>
            <a:r>
              <a:rPr sz="1800" b="1" i="0">
                <a:solidFill>
                  <a:srgbClr val="102A43"/>
                </a:solidFill>
                <a:latin typeface="Aptos"/>
              </a:rPr>
              <a:t>b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1800" b="1" i="0">
                <a:solidFill>
                  <a:srgbClr val="102A43"/>
                </a:solidFill>
                <a:latin typeface="Aptos"/>
              </a:rPr>
              <a:t>) ≤ Σ</a:t>
            </a:r>
            <a:r>
              <a:rPr sz="1800" b="1" i="0">
                <a:solidFill>
                  <a:srgbClr val="102A43"/>
                </a:solidFill>
                <a:latin typeface="Aptos"/>
              </a:rPr>
              <a:t/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i=1</a:t>
            </a:r>
            <a:r>
              <a:rPr sz="1296" b="1" i="0" baseline="30000">
                <a:solidFill>
                  <a:srgbClr val="102A43"/>
                </a:solidFill>
                <a:latin typeface="Aptos"/>
              </a:rPr>
              <a:t>N</a:t>
            </a:r>
            <a:r>
              <a:rPr sz="1800" b="1" i="0">
                <a:solidFill>
                  <a:srgbClr val="102A43"/>
                </a:solidFill>
                <a:latin typeface="Aptos"/>
              </a:rPr>
              <a:t> </a:t>
            </a:r>
            <a:r>
              <a:rPr sz="1800" b="1" i="0">
                <a:solidFill>
                  <a:srgbClr val="102A43"/>
                </a:solidFill>
                <a:latin typeface="Aptos"/>
              </a:rPr>
              <a:t>b</a:t>
            </a:r>
            <a:r>
              <a:rPr sz="1296" b="1" i="0" baseline="-25000">
                <a:solidFill>
                  <a:srgbClr val="102A43"/>
                </a:solidFill>
                <a:latin typeface="Aptos"/>
              </a:rPr>
              <a:t>t,i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2560320"/>
            <a:ext cx="2487168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Only winning bids are actually paid.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084831"/>
            <a:ext cx="2468880" cy="41148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2200" b="1" i="0">
                <a:solidFill>
                  <a:srgbClr val="102A43"/>
                </a:solidFill>
                <a:latin typeface="Aptos"/>
              </a:rPr>
              <a:t>b</a:t>
            </a:r>
            <a:r>
              <a:rPr sz="1584" b="1" i="0" baseline="-25000">
                <a:solidFill>
                  <a:srgbClr val="102A43"/>
                </a:solidFill>
                <a:latin typeface="Aptos"/>
              </a:rPr>
              <a:t>t</a:t>
            </a:r>
            <a:r>
              <a:rPr sz="2200" b="1" i="0">
                <a:solidFill>
                  <a:srgbClr val="102A43"/>
                </a:solidFill>
                <a:latin typeface="Aptos"/>
              </a:rPr>
              <a:t> =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560320"/>
            <a:ext cx="2487168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Choose the zero vector if no positive bid is affordable.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977639"/>
            <a:ext cx="10561320" cy="160020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224528"/>
            <a:ext cx="996696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Aptos"/>
              </a:defRPr>
            </a:pPr>
            <a:r>
              <a:t>Deterministic guarantee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4645152"/>
            <a:ext cx="2743200" cy="39319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2000" b="1" i="0">
                <a:solidFill>
                  <a:srgbClr val="2F6DF6"/>
                </a:solidFill>
                <a:latin typeface="Aptos"/>
              </a:rPr>
              <a:t>Σ</a:t>
            </a:r>
            <a:r>
              <a:rPr sz="2000" b="1" i="0">
                <a:solidFill>
                  <a:srgbClr val="2F6DF6"/>
                </a:solidFill>
                <a:latin typeface="Aptos"/>
              </a:rPr>
              <a:t/>
            </a:r>
            <a:r>
              <a:rPr sz="1439" b="1" i="0" baseline="-25000">
                <a:solidFill>
                  <a:srgbClr val="2F6DF6"/>
                </a:solidFill>
                <a:latin typeface="Aptos"/>
              </a:rPr>
              <a:t>t=1</a:t>
            </a:r>
            <a:r>
              <a:rPr sz="1439" b="1" i="0" baseline="30000">
                <a:solidFill>
                  <a:srgbClr val="2F6DF6"/>
                </a:solidFill>
                <a:latin typeface="Aptos"/>
              </a:rPr>
              <a:t>T</a:t>
            </a:r>
            <a:r>
              <a:rPr sz="2000" b="1" i="0">
                <a:solidFill>
                  <a:srgbClr val="2F6DF6"/>
                </a:solidFill>
                <a:latin typeface="Aptos"/>
              </a:rPr>
              <a:t> </a:t>
            </a:r>
            <a:r>
              <a:rPr sz="2000" b="1" i="0">
                <a:solidFill>
                  <a:srgbClr val="2F6DF6"/>
                </a:solidFill>
                <a:latin typeface="Aptos"/>
              </a:rPr>
              <a:t>c</a:t>
            </a:r>
            <a:r>
              <a:rPr sz="1439" b="1" i="0" baseline="-25000">
                <a:solidFill>
                  <a:srgbClr val="2F6DF6"/>
                </a:solidFill>
                <a:latin typeface="Aptos"/>
              </a:rPr>
              <a:t>t</a:t>
            </a:r>
            <a:r>
              <a:rPr sz="2000" b="1" i="0">
                <a:solidFill>
                  <a:srgbClr val="2F6DF6"/>
                </a:solidFill>
                <a:latin typeface="Aptos"/>
              </a:rPr>
              <a:t>(</a:t>
            </a:r>
            <a:r>
              <a:rPr sz="2000" b="1" i="0">
                <a:solidFill>
                  <a:srgbClr val="2F6DF6"/>
                </a:solidFill>
                <a:latin typeface="Aptos"/>
              </a:rPr>
              <a:t>b</a:t>
            </a:r>
            <a:r>
              <a:rPr sz="1439" b="1" i="0" baseline="-25000">
                <a:solidFill>
                  <a:srgbClr val="2F6DF6"/>
                </a:solidFill>
                <a:latin typeface="Aptos"/>
              </a:rPr>
              <a:t>t</a:t>
            </a:r>
            <a:r>
              <a:rPr sz="2000" b="1" i="0">
                <a:solidFill>
                  <a:srgbClr val="2F6DF6"/>
                </a:solidFill>
                <a:latin typeface="Aptos"/>
              </a:rPr>
              <a:t>) ≤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4553712"/>
            <a:ext cx="6766560" cy="5669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The filter is conservative, but cumulative realized spending can never exceed the total budget.</a:t>
            </a:r>
          </a:p>
        </p:txBody>
      </p:sp>
    </p:spTree>
    <p:extLst>
      <p:ext uri="{BB962C8B-B14F-4D97-AF65-F5344CB8AC3E}">
        <p14:creationId xmlns:p14="http://schemas.microsoft.com/office/powerpoint/2010/main" val="3317426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Current experiment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All numerical results from this point use the aligned 9 x 10 experiment grid.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246888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35607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F6DF6"/>
                </a:solidFill>
                <a:latin typeface="Aptos"/>
              </a:defRPr>
            </a:pPr>
            <a:r>
              <a:t>HORIZON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19072"/>
            <a:ext cx="2103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3000 rounds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25880"/>
            <a:ext cx="246888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435607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08477"/>
                </a:solidFill>
                <a:latin typeface="Aptos"/>
              </a:defRPr>
            </a:pPr>
            <a:r>
              <a:t>CAMPAIGNS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719072"/>
            <a:ext cx="2103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246888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435607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2741F"/>
                </a:solidFill>
                <a:latin typeface="Aptos"/>
              </a:defRPr>
            </a:pPr>
            <a:r>
              <a:t>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719072"/>
            <a:ext cx="2103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10000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1325880"/>
            <a:ext cx="2468880" cy="109728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19" y="1435607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6856B"/>
                </a:solidFill>
                <a:latin typeface="Aptos"/>
              </a:defRPr>
            </a:pPr>
            <a:r>
              <a:t>BID GRID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1719072"/>
            <a:ext cx="2103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0.0 to 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9" y="2167128"/>
            <a:ext cx="21031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Step 0.1; 11 bids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743200"/>
            <a:ext cx="1056132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C8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2971800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Aptos"/>
              </a:defRPr>
            </a:pPr>
            <a:r>
              <a:t>Learner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83280"/>
            <a:ext cx="466344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  <a:latin typeface="Aptos"/>
              </a:defRPr>
            </a:pPr>
            <a:r>
              <a:t>Factorized primal-dual Hedge: one distribution over 11 bids per campaign, with a dual price for spending and a hard feasibility filter.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971800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Aptos"/>
              </a:defRPr>
            </a:pPr>
            <a:r>
              <a:t>Reported 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383280"/>
            <a:ext cx="47091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  <a:latin typeface="Aptos"/>
              </a:defRPr>
            </a:pPr>
            <a:r>
              <a:t>Learner and oracle cumulative utility and cost, cumulative regret, dual multiplier, and mean +/- SD across 10 shared realizations.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846320"/>
            <a:ext cx="98755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2F6DF6"/>
                </a:solidFill>
                <a:latin typeface="Aptos"/>
              </a:defRPr>
            </a:pPr>
            <a:r>
              <a:t>Oracle: exact piecewise-static hindsight optimum. It knows the true change points, selects one bid per campaign within each regime, and obeys the same global budget B=10000.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20040"/>
            <a:ext cx="10789920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Shared-realization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60704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Every algorithm is evaluated on the same saved market path for each setting and realization.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103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98448"/>
            <a:ext cx="50749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98448"/>
            <a:ext cx="73152" cy="1417320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444751"/>
            <a:ext cx="463600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1. Generate a market setting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298448"/>
            <a:ext cx="50749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298448"/>
            <a:ext cx="73152" cy="1417320"/>
          </a:xfrm>
          <a:prstGeom prst="rect">
            <a:avLst/>
          </a:prstGeom>
          <a:solidFill>
            <a:srgbClr val="108477"/>
          </a:solidFill>
          <a:ln>
            <a:solidFill>
              <a:srgbClr val="108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444751"/>
            <a:ext cx="463600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2. Freeze one realization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063240"/>
            <a:ext cx="50749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063240"/>
            <a:ext cx="73152" cy="1417320"/>
          </a:xfrm>
          <a:prstGeom prst="rect">
            <a:avLst/>
          </a:prstGeom>
          <a:solidFill>
            <a:srgbClr val="E2741F"/>
          </a:solidFill>
          <a:ln>
            <a:solidFill>
              <a:srgbClr val="E27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209544"/>
            <a:ext cx="463600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3. Reuse the exact matrix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3063240"/>
            <a:ext cx="50749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3063240"/>
            <a:ext cx="73152" cy="1417320"/>
          </a:xfrm>
          <a:prstGeom prst="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3209544"/>
            <a:ext cx="4636008" cy="27432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Aptos"/>
              </a:defRPr>
            </a:pPr>
            <a:r>
              <a:t>4. Align and save 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1810512"/>
            <a:ext cx="4343400" cy="62179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For each sKL-frequency pair, generate the Gaussian constellation, regime-change schedule, and 10 market realizations.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1728216"/>
            <a:ext cx="4251960" cy="36576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102A43"/>
                </a:solidFill>
                <a:latin typeface="Aptos"/>
              </a:rPr>
              <a:t>M</a:t>
            </a:r>
            <a:r>
              <a:rPr sz="1296" b="1" i="0" baseline="30000">
                <a:solidFill>
                  <a:srgbClr val="102A43"/>
                </a:solidFill>
                <a:latin typeface="Aptos"/>
              </a:rPr>
              <a:t>(s,r)</a:t>
            </a:r>
            <a:r>
              <a:rPr sz="1800" b="1" i="0">
                <a:solidFill>
                  <a:srgbClr val="102A43"/>
                </a:solidFill>
                <a:latin typeface="Aptos"/>
              </a:rPr>
              <a:t> ∈ [0, 1]</a:t>
            </a:r>
            <a:r>
              <a:rPr sz="1800" b="1" i="0">
                <a:solidFill>
                  <a:srgbClr val="102A43"/>
                </a:solidFill>
                <a:latin typeface="Aptos"/>
              </a:rPr>
              <a:t/>
            </a:r>
            <a:r>
              <a:rPr sz="1296" b="1" i="0" baseline="30000">
                <a:solidFill>
                  <a:srgbClr val="102A43"/>
                </a:solidFill>
                <a:latin typeface="Aptos"/>
              </a:rPr>
              <a:t>3000×10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139696"/>
            <a:ext cx="4297680" cy="34747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Aptos"/>
              </a:rPr>
              <a:t>row </a:t>
            </a:r>
            <a:r>
              <a:rPr sz="1200" b="0" i="0">
                <a:solidFill>
                  <a:srgbClr val="64748B"/>
                </a:solidFill>
                <a:latin typeface="Aptos"/>
              </a:rPr>
              <a:t>t</a:t>
            </a:r>
            <a:r>
              <a:rPr sz="1200" b="0" i="0">
                <a:solidFill>
                  <a:srgbClr val="64748B"/>
                </a:solidFill>
                <a:latin typeface="Aptos"/>
              </a:rPr>
              <a:t> = one round; column </a:t>
            </a:r>
            <a:r>
              <a:rPr sz="1200" b="0" i="0">
                <a:solidFill>
                  <a:srgbClr val="64748B"/>
                </a:solidFill>
                <a:latin typeface="Aptos"/>
              </a:rPr>
              <a:t>i</a:t>
            </a:r>
            <a:r>
              <a:rPr sz="1200" b="0" i="0">
                <a:solidFill>
                  <a:srgbClr val="64748B"/>
                </a:solidFill>
                <a:latin typeface="Aptos"/>
              </a:rPr>
              <a:t> = one campaign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566160"/>
            <a:ext cx="4389120" cy="6583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Primal-dual, sliding-window CUCB, and change-detector CUCB load the same matrix for setting s and realization r. Only their bid decisions differ.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566160"/>
            <a:ext cx="4389120" cy="6583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Aptos"/>
              </a:defRPr>
            </a:pPr>
            <a:r>
              <a:t>Store per-round bids, utility, cost, and remaining budget; then save one final summary row for each algorithm-realization pair.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828032"/>
            <a:ext cx="10561320" cy="1115568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992624"/>
            <a:ext cx="1417320" cy="29260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000" b="1">
                <a:solidFill>
                  <a:srgbClr val="2F6DF6"/>
                </a:solidFill>
                <a:latin typeface="Aptos"/>
              </a:defRPr>
            </a:pPr>
            <a:r>
              <a:t>WHY THIS IS FAIR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4919472"/>
            <a:ext cx="8366760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400" b="1">
                <a:solidFill>
                  <a:srgbClr val="102A43"/>
                </a:solidFill>
                <a:latin typeface="Aptos"/>
              </a:defRPr>
            </a:pPr>
            <a:r>
              <a:t>Performance differences come from the learning rules, not from different sampled auctions.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385816"/>
            <a:ext cx="9829800" cy="329184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Aptos"/>
              </a:defRPr>
            </a:pPr>
            <a:r>
              <a:t>config.json records sKL, frequency, seeds, change points, and active modes; learner seeds remain algorithm-specific.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Overall primal-dual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Pooled view over all 90 current shared realizations.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251460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35607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F6DF6"/>
                </a:solidFill>
                <a:latin typeface="Aptos"/>
              </a:defRPr>
            </a:pPr>
            <a:r>
              <a:t>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19072"/>
            <a:ext cx="2148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04287"/>
            <a:ext cx="2148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9 settings x 10 matrices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25880"/>
            <a:ext cx="251460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35607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08477"/>
                </a:solidFill>
                <a:latin typeface="Aptos"/>
              </a:defRPr>
            </a:pPr>
            <a:r>
              <a:t>MEAN UTILITY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19072"/>
            <a:ext cx="2148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9,890.2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304287"/>
            <a:ext cx="2148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1,357.8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325880"/>
            <a:ext cx="251460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435607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2741F"/>
                </a:solidFill>
                <a:latin typeface="Aptos"/>
              </a:defRPr>
            </a:pPr>
            <a:r>
              <a:t>MEAN ORACLE UTILITY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719072"/>
            <a:ext cx="2148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11,933.2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04287"/>
            <a:ext cx="2148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984.4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1325880"/>
            <a:ext cx="251460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1435607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Aptos"/>
              </a:defRPr>
            </a:pPr>
            <a:r>
              <a:t>MEAN FINAL REGRET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1719072"/>
            <a:ext cx="2148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2,043.0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304287"/>
            <a:ext cx="21488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394.2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7280" y="2788920"/>
            <a:ext cx="9966960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935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Utility and regret across the full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Each cell is a mean over 10 shared realizations; uncertainty is shown in the detailed diagnostics.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1234440"/>
            <a:ext cx="10835640" cy="516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048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Budget feasibility in every setting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The hard filter keeps realized cumulative cost at or below B=10000 in all 90 runs.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1325880"/>
            <a:ext cx="6949440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66760" y="1508760"/>
            <a:ext cx="292608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61848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6856B"/>
                </a:solidFill>
                <a:latin typeface="Aptos"/>
              </a:defRPr>
            </a:pPr>
            <a:r>
              <a:t>MAXIMUM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901952"/>
            <a:ext cx="2560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10,000.00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2880360"/>
            <a:ext cx="292608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299008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F6DF6"/>
                </a:solidFill>
                <a:latin typeface="Aptos"/>
              </a:defRPr>
            </a:pPr>
            <a:r>
              <a:t>MINIMUM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273552"/>
            <a:ext cx="2560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9,999.90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4251960"/>
            <a:ext cx="292608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4361688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08477"/>
                </a:solidFill>
                <a:latin typeface="Aptos"/>
              </a:defRPr>
            </a:pPr>
            <a:r>
              <a:t>VIOLATIONS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645152"/>
            <a:ext cx="2560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0 / 90</a:t>
            </a:r>
          </a:p>
        </p:txBody>
      </p:sp>
    </p:spTree>
    <p:extLst>
      <p:ext uri="{BB962C8B-B14F-4D97-AF65-F5344CB8AC3E}">
        <p14:creationId xmlns:p14="http://schemas.microsoft.com/office/powerpoint/2010/main" val="2157774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20040"/>
            <a:ext cx="10789920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Final utility distribution across all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607040" cy="32004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Each dot is one realization; black markers show mean +/- 1 SD.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103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7240" y="1234440"/>
            <a:ext cx="10698480" cy="52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934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Representative current run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Medium sKL (200), medium frequency (1/50), mean +/- SD over 10 shared realizations.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1234440"/>
            <a:ext cx="8412480" cy="5166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372600" y="1325880"/>
            <a:ext cx="224028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55480" y="1435607"/>
            <a:ext cx="1874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F6DF6"/>
                </a:solidFill>
                <a:latin typeface="Aptos"/>
              </a:defRPr>
            </a:pPr>
            <a:r>
              <a:t>LEARNER UTILITY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5480" y="1719072"/>
            <a:ext cx="1874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9,931.2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2029967"/>
            <a:ext cx="1874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47.6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2514600"/>
            <a:ext cx="224028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55480" y="2624328"/>
            <a:ext cx="1874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2741F"/>
                </a:solidFill>
                <a:latin typeface="Aptos"/>
              </a:defRPr>
            </a:pPr>
            <a:r>
              <a:t>ORACLE UTILITY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2907792"/>
            <a:ext cx="1874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11,873.7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5480" y="3218687"/>
            <a:ext cx="1874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20.0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3703320"/>
            <a:ext cx="224028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3813048"/>
            <a:ext cx="1874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Aptos"/>
              </a:defRPr>
            </a:pPr>
            <a:r>
              <a:t>FINAL REGRET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4096511"/>
            <a:ext cx="1874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1,942.5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4407407"/>
            <a:ext cx="1874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44.1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4892040"/>
            <a:ext cx="224028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55480" y="5001768"/>
            <a:ext cx="1874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08477"/>
                </a:solidFill>
                <a:latin typeface="Aptos"/>
              </a:defRPr>
            </a:pPr>
            <a:r>
              <a:t>FINAL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5285231"/>
            <a:ext cx="1874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10,000.00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5596127"/>
            <a:ext cx="1874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0.000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Gaussian Constellation setting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Current aligned input family used by every numerical slide that follows.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246888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35607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F6DF6"/>
                </a:solidFill>
                <a:latin typeface="Aptos"/>
              </a:defRPr>
            </a:pPr>
            <a:r>
              <a:t>MODES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19072"/>
            <a:ext cx="2103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3 per setting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25880"/>
            <a:ext cx="246888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435607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08477"/>
                </a:solidFill>
                <a:latin typeface="Aptos"/>
              </a:defRPr>
            </a:pPr>
            <a:r>
              <a:t>SKL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719072"/>
            <a:ext cx="2103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20 / 200 / 2000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246888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435607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2741F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719072"/>
            <a:ext cx="2103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Aptos"/>
              </a:defRPr>
            </a:pPr>
            <a:r>
              <a:t>1/100 / 1/50 / 1/25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1325880"/>
            <a:ext cx="2468880" cy="114300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19" y="1435607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6856B"/>
                </a:solidFill>
                <a:latin typeface="Aptos"/>
              </a:defRPr>
            </a:pPr>
            <a:r>
              <a:t>MATRICES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1719072"/>
            <a:ext cx="2103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90 total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743200"/>
            <a:ext cx="1042416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Current constellation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Gaussian mode means generated by the shared environment at the three requested sKL levels.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16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234440"/>
            <a:ext cx="1078992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High-frequency realized market spectrum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The same realization index is shown for sKL 20, 200, and 2000 at p=1/25.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234440"/>
            <a:ext cx="108356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Low sKL (20)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Medium change frequency (1/50); mean +/- SD over the 10 shared realizations.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18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1234440"/>
            <a:ext cx="8549640" cy="5212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418320" y="128016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138988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F6DF6"/>
                </a:solidFill>
                <a:latin typeface="Aptos"/>
              </a:defRPr>
            </a:pPr>
            <a:r>
              <a:t>LEARNER UTILITY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673351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11,474.5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98424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81.8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246888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257860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2741F"/>
                </a:solidFill>
                <a:latin typeface="Aptos"/>
              </a:defRPr>
            </a:pPr>
            <a:r>
              <a:t>ORACLE UTILITY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86207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13,062.9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17296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20.0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365760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376732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Aptos"/>
              </a:defRPr>
            </a:pPr>
            <a:r>
              <a:t>FINAL REGRET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050791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1,588.5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436168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68.9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484632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495604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08477"/>
                </a:solidFill>
                <a:latin typeface="Aptos"/>
              </a:defRPr>
            </a:pPr>
            <a:r>
              <a:t>FINAL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23951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9,999.90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5550407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0.000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Medium sKL (200)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Medium change frequency (1/50); mean +/- SD over the 10 shared realizations.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19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1234440"/>
            <a:ext cx="8549640" cy="5212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418320" y="128016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138988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F6DF6"/>
                </a:solidFill>
                <a:latin typeface="Aptos"/>
              </a:defRPr>
            </a:pPr>
            <a:r>
              <a:t>LEARNER UTILITY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673351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9,931.2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98424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47.6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246888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257860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2741F"/>
                </a:solidFill>
                <a:latin typeface="Aptos"/>
              </a:defRPr>
            </a:pPr>
            <a:r>
              <a:t>ORACLE UTILITY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86207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11,873.7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17296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20.0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365760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376732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Aptos"/>
              </a:defRPr>
            </a:pPr>
            <a:r>
              <a:t>FINAL REGRET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050791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1,942.5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436168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44.1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484632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495604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08477"/>
                </a:solidFill>
                <a:latin typeface="Aptos"/>
              </a:defRPr>
            </a:pPr>
            <a:r>
              <a:t>FINAL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23951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10,000.00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5550407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0.000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High sKL (2000)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Medium change frequency (1/50); mean +/- SD over the 10 shared realizations.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20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1234440"/>
            <a:ext cx="8549640" cy="5212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418320" y="128016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138988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F6DF6"/>
                </a:solidFill>
                <a:latin typeface="Aptos"/>
              </a:defRPr>
            </a:pPr>
            <a:r>
              <a:t>LEARNER UTILITY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673351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8,017.4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98424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34.9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246888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257860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2741F"/>
                </a:solidFill>
                <a:latin typeface="Aptos"/>
              </a:defRPr>
            </a:pPr>
            <a:r>
              <a:t>ORACLE UTILITY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86207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10,566.2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17296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15.4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365760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376732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Aptos"/>
              </a:defRPr>
            </a:pPr>
            <a:r>
              <a:t>FINAL REGRET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050791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2,548.8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436168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29.7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484632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495604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08477"/>
                </a:solidFill>
                <a:latin typeface="Aptos"/>
              </a:defRPr>
            </a:pPr>
            <a:r>
              <a:t>FINAL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23951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9,999.90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5550407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0.000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sKL summary at medium frequency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Dots are individual shared realizations; black markers show mean +/- SD.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21</a:t>
            </a:r>
          </a:p>
        </p:txBody>
      </p:sp>
      <p:pic>
        <p:nvPicPr>
          <p:cNvPr id="6" name="Picture 5" descr="summary_sk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1234440"/>
            <a:ext cx="106527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Low frequency (1/100)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Medium sKL (200); mean +/- SD over the 10 shared realizations.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22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1234440"/>
            <a:ext cx="8549640" cy="5212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418320" y="128016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138988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F6DF6"/>
                </a:solidFill>
                <a:latin typeface="Aptos"/>
              </a:defRPr>
            </a:pPr>
            <a:r>
              <a:t>LEARNER UTILITY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673351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10,006.8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98424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51.4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246888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257860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2741F"/>
                </a:solidFill>
                <a:latin typeface="Aptos"/>
              </a:defRPr>
            </a:pPr>
            <a:r>
              <a:t>ORACLE UTILITY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86207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11,911.2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17296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15.7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365760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376732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Aptos"/>
              </a:defRPr>
            </a:pPr>
            <a:r>
              <a:t>FINAL REGRET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050791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1,904.4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436168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56.0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484632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495604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08477"/>
                </a:solidFill>
                <a:latin typeface="Aptos"/>
              </a:defRPr>
            </a:pPr>
            <a:r>
              <a:t>FINAL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23951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9,999.90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5550407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0.000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Medium frequency (1/50)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Medium sKL (200); mean +/- SD over the 10 shared realizations.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23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1234440"/>
            <a:ext cx="8549640" cy="5212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418320" y="128016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138988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F6DF6"/>
                </a:solidFill>
                <a:latin typeface="Aptos"/>
              </a:defRPr>
            </a:pPr>
            <a:r>
              <a:t>LEARNER UTILITY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673351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9,931.2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98424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47.6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246888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257860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2741F"/>
                </a:solidFill>
                <a:latin typeface="Aptos"/>
              </a:defRPr>
            </a:pPr>
            <a:r>
              <a:t>ORACLE UTILITY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86207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11,873.7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17296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20.0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365760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376732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Aptos"/>
              </a:defRPr>
            </a:pPr>
            <a:r>
              <a:t>FINAL REGRET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050791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1,942.5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436168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44.1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484632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495604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08477"/>
                </a:solidFill>
                <a:latin typeface="Aptos"/>
              </a:defRPr>
            </a:pPr>
            <a:r>
              <a:t>FINAL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23951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10,000.00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5550407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0.000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High frequency (1/25)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Medium sKL (200); mean +/- SD over the 10 shared realizations.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24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1234440"/>
            <a:ext cx="8549640" cy="5212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418320" y="128016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138988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F6DF6"/>
                </a:solidFill>
                <a:latin typeface="Aptos"/>
              </a:defRPr>
            </a:pPr>
            <a:r>
              <a:t>LEARNER UTILITY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673351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10,193.4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98424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66.9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246888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257860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2741F"/>
                </a:solidFill>
                <a:latin typeface="Aptos"/>
              </a:defRPr>
            </a:pPr>
            <a:r>
              <a:t>ORACLE UTILITY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86207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12,124.7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17296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16.3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365760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376732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Aptos"/>
              </a:defRPr>
            </a:pPr>
            <a:r>
              <a:t>FINAL REGRET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050791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1,931.3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4361688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57.6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4846320"/>
            <a:ext cx="2148840" cy="9601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4956048"/>
            <a:ext cx="1783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08477"/>
                </a:solidFill>
                <a:latin typeface="Aptos"/>
              </a:defRPr>
            </a:pPr>
            <a:r>
              <a:t>FINAL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239512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10,000.00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5550407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SD 0.000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Frequency summary at medium sKL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With shared schedule seed 22000, the schedules change 34, 72, and 131 times at p=1/100, 1/50, and 1/25.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25</a:t>
            </a:r>
          </a:p>
        </p:txBody>
      </p:sp>
      <p:pic>
        <p:nvPicPr>
          <p:cNvPr id="6" name="Picture 5" descr="summary_frequenc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1234440"/>
            <a:ext cx="1065276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5760720"/>
            <a:ext cx="10652760" cy="530352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797296"/>
            <a:ext cx="10287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102A43"/>
                </a:solidFill>
                <a:latin typeface="Aptos"/>
              </a:defRPr>
            </a:pPr>
            <a:r>
              <a:t>Why utility is not monotone: a shared seed does not equalize time spent in each mode. Mode 0/1/2 shares are 27/45/28%, 24/43/33%, and 28/33/38%; more time in a favorable mode can raise utility at 1/25.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DF6"/>
          </a:solidFill>
          <a:ln>
            <a:solidFill>
              <a:srgbClr val="2F6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02A43"/>
                </a:solidFill>
                <a:latin typeface="Aptos"/>
              </a:defRPr>
            </a:pPr>
            <a:r>
              <a:t>Current experimental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95528"/>
            <a:ext cx="10698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Claims below are restricted to the aligned 90-run Req3 experiment.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38328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35607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16856B"/>
                </a:solidFill>
                <a:latin typeface="Aptos"/>
              </a:defRPr>
            </a:pPr>
            <a:r>
              <a:t>BUDGET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19072"/>
            <a:ext cx="3017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0 violations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87168"/>
            <a:ext cx="3017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All final costs &lt;= 10000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38328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35607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F6DF6"/>
                </a:solidFill>
                <a:latin typeface="Aptos"/>
              </a:defRPr>
            </a:pPr>
            <a:r>
              <a:t>MAIN SENSITIVITY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19072"/>
            <a:ext cx="3017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sKL dominates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87168"/>
            <a:ext cx="3017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Utility falls as separation rises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25880"/>
            <a:ext cx="338328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435607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Aptos"/>
              </a:defRPr>
            </a:pPr>
            <a:r>
              <a:t>ORACLE 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1719072"/>
            <a:ext cx="3017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</a:defRPr>
            </a:pPr>
            <a:r>
              <a:t>Regret measured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487168"/>
            <a:ext cx="3017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Piecewise-static, same global budget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154680"/>
            <a:ext cx="10789920" cy="2057400"/>
          </a:xfrm>
          <a:prstGeom prst="roundRect">
            <a:avLst/>
          </a:prstGeom>
          <a:solidFill>
            <a:srgbClr val="F4F7FB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383280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02A43"/>
                </a:solidFill>
                <a:latin typeface="Aptos"/>
              </a:defRPr>
            </a:pPr>
            <a:r>
              <a:t>What the experiment supports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822191"/>
            <a:ext cx="101498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Aptos"/>
              </a:defRPr>
            </a:pPr>
            <a:r>
              <a:t>The factorized primal-dual learner remains budget-feasible on every shared realization. Regret is computed against the exact piecewise-static hindsight oracle under the same B=10000 global budget. Final utility and regret both vary materially with sKL.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10149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2F6DF6"/>
                </a:solidFill>
                <a:latin typeface="Aptos"/>
              </a:defRPr>
            </a:pPr>
            <a:r>
              <a:t>The same oracle definition and matrix files must be used for sliding-window and change-detector comparisons.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947</TotalTime>
  <Words>3042</Words>
  <Application>Microsoft Office PowerPoint</Application>
  <PresentationFormat>Widescreen</PresentationFormat>
  <Paragraphs>292</Paragraphs>
  <Slides>27</Slides>
  <Notes>6</Notes>
  <HiddenSlides>9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Requirement 3 — Primal-Dual Factorized Hedge</dc:title>
  <dc:subject>Readable redesign of Requirement 3 slides</dc:subject>
  <dc:creator>李梦瑶</dc:creator>
  <cp:lastModifiedBy>梦瑶 李</cp:lastModifiedBy>
  <cp:revision>29</cp:revision>
  <dcterms:created xsi:type="dcterms:W3CDTF">2026-05-11T18:20:40Z</dcterms:created>
  <dcterms:modified xsi:type="dcterms:W3CDTF">2026-06-10T21:43:16Z</dcterms:modified>
</cp:coreProperties>
</file>