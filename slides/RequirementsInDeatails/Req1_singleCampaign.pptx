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6170"/>
  </p:normalViewPr>
  <p:slideViewPr>
    <p:cSldViewPr snapToGrid="0" snapToObjects="1">
      <p:cViewPr varScale="1">
        <p:scale>
          <a:sx n="118" d="100"/>
          <a:sy n="118" d="100"/>
        </p:scale>
        <p:origin x="552" y="19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7/10/26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7/10/26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7/10/26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7/10/26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7/10/26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0332720" y="548640"/>
            <a:ext cx="1463040" cy="1463040"/>
          </a:xfrm>
          <a:prstGeom prst="ellipse">
            <a:avLst/>
          </a:prstGeom>
          <a:solidFill>
            <a:srgbClr val="4A5B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11247120" y="1737360"/>
            <a:ext cx="822960" cy="822960"/>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10058400" y="2103120"/>
            <a:ext cx="365760" cy="365760"/>
          </a:xfrm>
          <a:prstGeom prst="ellipse">
            <a:avLst/>
          </a:prstGeom>
          <a:solidFill>
            <a:srgbClr val="F2A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2103120"/>
            <a:ext cx="7315200" cy="457200"/>
          </a:xfrm>
          <a:prstGeom prst="rect">
            <a:avLst/>
          </a:prstGeom>
          <a:noFill/>
        </p:spPr>
        <p:txBody>
          <a:bodyPr wrap="square" lIns="0" tIns="0" rIns="0" bIns="0" anchor="t">
            <a:spAutoFit/>
          </a:bodyPr>
          <a:lstStyle/>
          <a:p>
            <a:pPr algn="l"/>
            <a:r>
              <a:rPr sz="1600" b="1" i="0">
                <a:solidFill>
                  <a:srgbClr val="CADCFC"/>
                </a:solidFill>
                <a:latin typeface="Calibri"/>
              </a:rPr>
              <a:t>REQUIREMENT 1</a:t>
            </a:r>
          </a:p>
        </p:txBody>
      </p:sp>
      <p:sp>
        <p:nvSpPr>
          <p:cNvPr id="7" name="TextBox 6"/>
          <p:cNvSpPr txBox="1"/>
          <p:nvPr/>
        </p:nvSpPr>
        <p:spPr>
          <a:xfrm>
            <a:off x="914400" y="2560320"/>
            <a:ext cx="10058400" cy="1097280"/>
          </a:xfrm>
          <a:prstGeom prst="rect">
            <a:avLst/>
          </a:prstGeom>
          <a:noFill/>
        </p:spPr>
        <p:txBody>
          <a:bodyPr wrap="square" lIns="0" tIns="0" rIns="0" bIns="0" anchor="t">
            <a:spAutoFit/>
          </a:bodyPr>
          <a:lstStyle/>
          <a:p>
            <a:pPr algn="l"/>
            <a:r>
              <a:rPr sz="4000" b="1" i="0">
                <a:solidFill>
                  <a:srgbClr val="FFFFFF"/>
                </a:solidFill>
                <a:latin typeface="Cambria"/>
              </a:rPr>
              <a:t>Single-Campaign Stochastic Bidding</a:t>
            </a:r>
          </a:p>
        </p:txBody>
      </p:sp>
      <p:sp>
        <p:nvSpPr>
          <p:cNvPr id="8" name="TextBox 7"/>
          <p:cNvSpPr txBox="1"/>
          <p:nvPr/>
        </p:nvSpPr>
        <p:spPr>
          <a:xfrm>
            <a:off x="914400" y="3429000"/>
            <a:ext cx="9601200" cy="548640"/>
          </a:xfrm>
          <a:prstGeom prst="rect">
            <a:avLst/>
          </a:prstGeom>
          <a:noFill/>
        </p:spPr>
        <p:txBody>
          <a:bodyPr wrap="square" lIns="0" tIns="0" rIns="0" bIns="0" anchor="t">
            <a:spAutoFit/>
          </a:bodyPr>
          <a:lstStyle/>
          <a:p>
            <a:pPr algn="l"/>
            <a:r>
              <a:rPr sz="1900" b="0" i="0">
                <a:solidFill>
                  <a:srgbClr val="CADCFC"/>
                </a:solidFill>
                <a:latin typeface="Calibri"/>
              </a:rPr>
              <a:t>Algorithms, Environment, and Empirical Results — Detailed Report</a:t>
            </a:r>
          </a:p>
        </p:txBody>
      </p:sp>
      <p:sp>
        <p:nvSpPr>
          <p:cNvPr id="9" name="TextBox 8"/>
          <p:cNvSpPr txBox="1"/>
          <p:nvPr/>
        </p:nvSpPr>
        <p:spPr>
          <a:xfrm>
            <a:off x="914400" y="3977639"/>
            <a:ext cx="7315200" cy="457200"/>
          </a:xfrm>
          <a:prstGeom prst="rect">
            <a:avLst/>
          </a:prstGeom>
          <a:noFill/>
        </p:spPr>
        <p:txBody>
          <a:bodyPr wrap="square" lIns="0" tIns="0" rIns="0" bIns="0" anchor="t">
            <a:spAutoFit/>
          </a:bodyPr>
          <a:lstStyle/>
          <a:p>
            <a:pPr algn="l"/>
            <a:r>
              <a:rPr sz="1400" b="0" i="0">
                <a:solidFill>
                  <a:srgbClr val="6B748E"/>
                </a:solidFill>
                <a:latin typeface="Calibri"/>
              </a:rPr>
              <a:t>Online Learning Applications</a:t>
            </a:r>
          </a:p>
        </p:txBody>
      </p:sp>
      <p:sp>
        <p:nvSpPr>
          <p:cNvPr id="10" name="TextBox 9"/>
          <p:cNvSpPr txBox="1"/>
          <p:nvPr/>
        </p:nvSpPr>
        <p:spPr>
          <a:xfrm>
            <a:off x="914400" y="6035040"/>
            <a:ext cx="5486400" cy="365760"/>
          </a:xfrm>
          <a:prstGeom prst="rect">
            <a:avLst/>
          </a:prstGeom>
          <a:noFill/>
        </p:spPr>
        <p:txBody>
          <a:bodyPr wrap="square" lIns="0" tIns="0" rIns="0" bIns="0" anchor="t">
            <a:spAutoFit/>
          </a:bodyPr>
          <a:lstStyle/>
          <a:p>
            <a:pPr algn="l"/>
            <a:r>
              <a:rPr sz="1400" b="0" i="0">
                <a:solidFill>
                  <a:srgbClr val="FFFFFF"/>
                </a:solidFill>
                <a:latin typeface="Calibri"/>
              </a:rPr>
              <a:t>Foad Zahedi</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640080" y="457200"/>
            <a:ext cx="502920" cy="502920"/>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1024128" y="713232"/>
            <a:ext cx="292608" cy="292608"/>
          </a:xfrm>
          <a:prstGeom prst="ellipse">
            <a:avLst/>
          </a:prstGeom>
          <a:solidFill>
            <a:srgbClr val="4A5B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804672" y="960120"/>
            <a:ext cx="182880" cy="182880"/>
          </a:xfrm>
          <a:prstGeom prst="ellipse">
            <a:avLst/>
          </a:prstGeom>
          <a:solidFill>
            <a:srgbClr val="F2A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737360" y="411480"/>
            <a:ext cx="10058400" cy="822960"/>
          </a:xfrm>
          <a:prstGeom prst="rect">
            <a:avLst/>
          </a:prstGeom>
          <a:noFill/>
        </p:spPr>
        <p:txBody>
          <a:bodyPr wrap="square" lIns="0" tIns="0" rIns="0" bIns="0" anchor="t">
            <a:spAutoFit/>
          </a:bodyPr>
          <a:lstStyle/>
          <a:p>
            <a:pPr algn="l"/>
            <a:r>
              <a:rPr sz="2800" b="1" i="0">
                <a:solidFill>
                  <a:srgbClr val="1E2761"/>
                </a:solidFill>
                <a:latin typeface="Cambria"/>
              </a:rPr>
              <a:t>The Problem We're Solving</a:t>
            </a:r>
          </a:p>
        </p:txBody>
      </p:sp>
      <p:sp>
        <p:nvSpPr>
          <p:cNvPr id="7" name="TextBox 6"/>
          <p:cNvSpPr txBox="1"/>
          <p:nvPr/>
        </p:nvSpPr>
        <p:spPr>
          <a:xfrm>
            <a:off x="914400" y="1600200"/>
            <a:ext cx="10332720" cy="4754880"/>
          </a:xfrm>
          <a:prstGeom prst="rect">
            <a:avLst/>
          </a:prstGeom>
          <a:noFill/>
        </p:spPr>
        <p:txBody>
          <a:bodyPr wrap="square" lIns="0" tIns="0" rIns="0" bIns="0">
            <a:spAutoFit/>
          </a:bodyPr>
          <a:lstStyle/>
          <a:p>
            <a:pPr>
              <a:lnSpc>
                <a:spcPct val="122000"/>
              </a:lnSpc>
              <a:spcAft>
                <a:spcPts val="1600"/>
              </a:spcAft>
            </a:pPr>
            <a:r>
              <a:rPr sz="1600">
                <a:solidFill>
                  <a:srgbClr val="222A3D"/>
                </a:solidFill>
                <a:latin typeface="Calibri"/>
              </a:rPr>
              <a:t>Requirement 1 looks at a single advertising campaign that has to bid in a long sequence of first-price auctions, one after another, against a budget that does not refill. Each round it chooses a bid, a competitor's highest bid is drawn at random, and if the campaign's bid clears that competitor's bid, the campaign wins: it pays exactly what it bid (that's what "first-price" means) and earns value minus bid. If it loses, it pays nothing and earns nothing.</a:t>
            </a:r>
          </a:p>
          <a:p>
            <a:pPr>
              <a:lnSpc>
                <a:spcPct val="122000"/>
              </a:lnSpc>
              <a:spcAft>
                <a:spcPts val="1600"/>
              </a:spcAft>
            </a:pPr>
            <a:r>
              <a:rPr sz="1600">
                <a:solidFill>
                  <a:srgbClr val="222A3D"/>
                </a:solidFill>
                <a:latin typeface="Calibri"/>
              </a:rPr>
              <a:t>The twist that makes this interesting is the budget. Winning costs real money, and once the budget runs out the campaign simply cannot bid anymore for the rest of the horizon — it goes bankrupt. So a good bidding strategy has to do two things at once: learn which bid tends to work well, and not spend so aggressively that it dies before the campaign is supposed to end.</a:t>
            </a:r>
          </a:p>
          <a:p>
            <a:pPr>
              <a:lnSpc>
                <a:spcPct val="122000"/>
              </a:lnSpc>
              <a:spcAft>
                <a:spcPts val="1600"/>
              </a:spcAft>
            </a:pPr>
            <a:r>
              <a:rPr sz="1600">
                <a:solidFill>
                  <a:srgbClr val="222A3D"/>
                </a:solidFill>
                <a:latin typeface="Calibri"/>
              </a:rPr>
              <a:t>We measure performance with regret: the gap between what an algorithm actually earned and what the best possible fixed strategy would have earned over the same horizon. Specifically we use pseudo-regret — at every round we compare against the true expected reward of the bid that was played, computed from the closed-form auction formula, rather than the noisy win/lose outcome of that one round. This removes sampling luck from the comparison and shows convergence much more clearly, which matters a lot over a horizon of only 1,000 rounds.</a:t>
            </a:r>
          </a:p>
        </p:txBody>
      </p:sp>
      <p:sp>
        <p:nvSpPr>
          <p:cNvPr id="8" name="TextBox 7"/>
          <p:cNvSpPr txBox="1"/>
          <p:nvPr/>
        </p:nvSpPr>
        <p:spPr>
          <a:xfrm>
            <a:off x="822960" y="6537960"/>
            <a:ext cx="10515600" cy="274320"/>
          </a:xfrm>
          <a:prstGeom prst="rect">
            <a:avLst/>
          </a:prstGeom>
          <a:noFill/>
        </p:spPr>
        <p:txBody>
          <a:bodyPr wrap="square" lIns="0" tIns="0" rIns="0" bIns="0" anchor="t">
            <a:spAutoFit/>
          </a:bodyPr>
          <a:lstStyle/>
          <a:p>
            <a:pPr algn="l"/>
            <a:r>
              <a:rPr sz="1000" b="0" i="0">
                <a:solidFill>
                  <a:srgbClr val="6B748E"/>
                </a:solidFill>
                <a:latin typeface="Calibri"/>
              </a:rPr>
              <a:t>Requirement 1 — Single-Campaign Stochastic Bidding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640080" y="457200"/>
            <a:ext cx="502920" cy="502920"/>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1024128" y="713232"/>
            <a:ext cx="292608" cy="292608"/>
          </a:xfrm>
          <a:prstGeom prst="ellipse">
            <a:avLst/>
          </a:prstGeom>
          <a:solidFill>
            <a:srgbClr val="4A5B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804672" y="960120"/>
            <a:ext cx="182880" cy="182880"/>
          </a:xfrm>
          <a:prstGeom prst="ellipse">
            <a:avLst/>
          </a:prstGeom>
          <a:solidFill>
            <a:srgbClr val="F2A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737360" y="411480"/>
            <a:ext cx="10058400" cy="822960"/>
          </a:xfrm>
          <a:prstGeom prst="rect">
            <a:avLst/>
          </a:prstGeom>
          <a:noFill/>
        </p:spPr>
        <p:txBody>
          <a:bodyPr wrap="square" lIns="0" tIns="0" rIns="0" bIns="0" anchor="t">
            <a:spAutoFit/>
          </a:bodyPr>
          <a:lstStyle/>
          <a:p>
            <a:pPr algn="l"/>
            <a:r>
              <a:rPr sz="2800" b="1" i="0">
                <a:solidFill>
                  <a:srgbClr val="1E2761"/>
                </a:solidFill>
                <a:latin typeface="Cambria"/>
              </a:rPr>
              <a:t>The Environment, Precisely</a:t>
            </a:r>
          </a:p>
        </p:txBody>
      </p:sp>
      <p:sp>
        <p:nvSpPr>
          <p:cNvPr id="7" name="TextBox 6"/>
          <p:cNvSpPr txBox="1"/>
          <p:nvPr/>
        </p:nvSpPr>
        <p:spPr>
          <a:xfrm>
            <a:off x="822960" y="1600200"/>
            <a:ext cx="4754880" cy="320040"/>
          </a:xfrm>
          <a:prstGeom prst="rect">
            <a:avLst/>
          </a:prstGeom>
          <a:noFill/>
        </p:spPr>
        <p:txBody>
          <a:bodyPr wrap="square" lIns="0" tIns="0" rIns="0" bIns="0" anchor="t">
            <a:spAutoFit/>
          </a:bodyPr>
          <a:lstStyle/>
          <a:p>
            <a:pPr algn="l"/>
            <a:r>
              <a:rPr sz="1300" b="1" i="0">
                <a:solidFill>
                  <a:srgbClr val="6B748E"/>
                </a:solidFill>
                <a:latin typeface="Calibri"/>
              </a:rPr>
              <a:t>PARAMETERS</a:t>
            </a:r>
          </a:p>
        </p:txBody>
      </p:sp>
      <p:sp>
        <p:nvSpPr>
          <p:cNvPr id="8" name="TextBox 7"/>
          <p:cNvSpPr txBox="1"/>
          <p:nvPr/>
        </p:nvSpPr>
        <p:spPr>
          <a:xfrm>
            <a:off x="822960" y="1920240"/>
            <a:ext cx="2377440" cy="292608"/>
          </a:xfrm>
          <a:prstGeom prst="rect">
            <a:avLst/>
          </a:prstGeom>
          <a:noFill/>
        </p:spPr>
        <p:txBody>
          <a:bodyPr wrap="square" lIns="0" tIns="0" rIns="0" bIns="0" anchor="t">
            <a:spAutoFit/>
          </a:bodyPr>
          <a:lstStyle/>
          <a:p>
            <a:pPr algn="l"/>
            <a:r>
              <a:rPr sz="1350" b="0" i="0">
                <a:solidFill>
                  <a:srgbClr val="6B748E"/>
                </a:solidFill>
                <a:latin typeface="Calibri"/>
              </a:rPr>
              <a:t>Campaign value</a:t>
            </a:r>
          </a:p>
        </p:txBody>
      </p:sp>
      <p:sp>
        <p:nvSpPr>
          <p:cNvPr id="9" name="TextBox 8"/>
          <p:cNvSpPr txBox="1"/>
          <p:nvPr/>
        </p:nvSpPr>
        <p:spPr>
          <a:xfrm>
            <a:off x="3246120" y="1920240"/>
            <a:ext cx="2651760" cy="292608"/>
          </a:xfrm>
          <a:prstGeom prst="rect">
            <a:avLst/>
          </a:prstGeom>
          <a:noFill/>
        </p:spPr>
        <p:txBody>
          <a:bodyPr wrap="square" lIns="0" tIns="0" rIns="0" bIns="0" anchor="t">
            <a:spAutoFit/>
          </a:bodyPr>
          <a:lstStyle/>
          <a:p>
            <a:pPr algn="l"/>
            <a:r>
              <a:rPr sz="1350" b="1" i="0">
                <a:solidFill>
                  <a:srgbClr val="222A3D"/>
                </a:solidFill>
                <a:latin typeface="Calibri"/>
              </a:rPr>
              <a:t>1.0</a:t>
            </a:r>
          </a:p>
        </p:txBody>
      </p:sp>
      <p:sp>
        <p:nvSpPr>
          <p:cNvPr id="10" name="TextBox 9"/>
          <p:cNvSpPr txBox="1"/>
          <p:nvPr/>
        </p:nvSpPr>
        <p:spPr>
          <a:xfrm>
            <a:off x="822960" y="2304288"/>
            <a:ext cx="2377440" cy="292608"/>
          </a:xfrm>
          <a:prstGeom prst="rect">
            <a:avLst/>
          </a:prstGeom>
          <a:noFill/>
        </p:spPr>
        <p:txBody>
          <a:bodyPr wrap="square" lIns="0" tIns="0" rIns="0" bIns="0" anchor="t">
            <a:spAutoFit/>
          </a:bodyPr>
          <a:lstStyle/>
          <a:p>
            <a:pPr algn="l"/>
            <a:r>
              <a:rPr sz="1350" b="0" i="0">
                <a:solidFill>
                  <a:srgbClr val="6B748E"/>
                </a:solidFill>
                <a:latin typeface="Calibri"/>
              </a:rPr>
              <a:t>Horizon</a:t>
            </a:r>
          </a:p>
        </p:txBody>
      </p:sp>
      <p:sp>
        <p:nvSpPr>
          <p:cNvPr id="11" name="TextBox 10"/>
          <p:cNvSpPr txBox="1"/>
          <p:nvPr/>
        </p:nvSpPr>
        <p:spPr>
          <a:xfrm>
            <a:off x="3246120" y="2304288"/>
            <a:ext cx="2651760" cy="292608"/>
          </a:xfrm>
          <a:prstGeom prst="rect">
            <a:avLst/>
          </a:prstGeom>
          <a:noFill/>
        </p:spPr>
        <p:txBody>
          <a:bodyPr wrap="square" lIns="0" tIns="0" rIns="0" bIns="0" anchor="t">
            <a:spAutoFit/>
          </a:bodyPr>
          <a:lstStyle/>
          <a:p>
            <a:pPr algn="l"/>
            <a:r>
              <a:rPr sz="1350" b="1" i="0">
                <a:solidFill>
                  <a:srgbClr val="222A3D"/>
                </a:solidFill>
                <a:latin typeface="Calibri"/>
              </a:rPr>
              <a:t>1,000 rounds</a:t>
            </a:r>
          </a:p>
        </p:txBody>
      </p:sp>
      <p:sp>
        <p:nvSpPr>
          <p:cNvPr id="12" name="TextBox 11"/>
          <p:cNvSpPr txBox="1"/>
          <p:nvPr/>
        </p:nvSpPr>
        <p:spPr>
          <a:xfrm>
            <a:off x="822960" y="2688336"/>
            <a:ext cx="2377440" cy="292608"/>
          </a:xfrm>
          <a:prstGeom prst="rect">
            <a:avLst/>
          </a:prstGeom>
          <a:noFill/>
        </p:spPr>
        <p:txBody>
          <a:bodyPr wrap="square" lIns="0" tIns="0" rIns="0" bIns="0" anchor="t">
            <a:spAutoFit/>
          </a:bodyPr>
          <a:lstStyle/>
          <a:p>
            <a:pPr algn="l"/>
            <a:r>
              <a:rPr sz="1350" b="0" i="0">
                <a:solidFill>
                  <a:srgbClr val="6B748E"/>
                </a:solidFill>
                <a:latin typeface="Calibri"/>
              </a:rPr>
              <a:t>Budget</a:t>
            </a:r>
          </a:p>
        </p:txBody>
      </p:sp>
      <p:sp>
        <p:nvSpPr>
          <p:cNvPr id="13" name="TextBox 12"/>
          <p:cNvSpPr txBox="1"/>
          <p:nvPr/>
        </p:nvSpPr>
        <p:spPr>
          <a:xfrm>
            <a:off x="3246120" y="2688336"/>
            <a:ext cx="2651760" cy="292608"/>
          </a:xfrm>
          <a:prstGeom prst="rect">
            <a:avLst/>
          </a:prstGeom>
          <a:noFill/>
        </p:spPr>
        <p:txBody>
          <a:bodyPr wrap="square" lIns="0" tIns="0" rIns="0" bIns="0" anchor="t">
            <a:spAutoFit/>
          </a:bodyPr>
          <a:lstStyle/>
          <a:p>
            <a:pPr algn="l"/>
            <a:r>
              <a:rPr sz="1350" b="1" i="0">
                <a:solidFill>
                  <a:srgbClr val="222A3D"/>
                </a:solidFill>
                <a:latin typeface="Calibri"/>
              </a:rPr>
              <a:t>300</a:t>
            </a:r>
          </a:p>
        </p:txBody>
      </p:sp>
      <p:sp>
        <p:nvSpPr>
          <p:cNvPr id="14" name="TextBox 13"/>
          <p:cNvSpPr txBox="1"/>
          <p:nvPr/>
        </p:nvSpPr>
        <p:spPr>
          <a:xfrm>
            <a:off x="822960" y="3072384"/>
            <a:ext cx="2377440" cy="292608"/>
          </a:xfrm>
          <a:prstGeom prst="rect">
            <a:avLst/>
          </a:prstGeom>
          <a:noFill/>
        </p:spPr>
        <p:txBody>
          <a:bodyPr wrap="square" lIns="0" tIns="0" rIns="0" bIns="0" anchor="t">
            <a:spAutoFit/>
          </a:bodyPr>
          <a:lstStyle/>
          <a:p>
            <a:pPr algn="l"/>
            <a:r>
              <a:rPr sz="1350" b="0" i="0">
                <a:solidFill>
                  <a:srgbClr val="6B748E"/>
                </a:solidFill>
                <a:latin typeface="Calibri"/>
              </a:rPr>
              <a:t>Competing bid</a:t>
            </a:r>
          </a:p>
        </p:txBody>
      </p:sp>
      <p:sp>
        <p:nvSpPr>
          <p:cNvPr id="15" name="TextBox 14"/>
          <p:cNvSpPr txBox="1"/>
          <p:nvPr/>
        </p:nvSpPr>
        <p:spPr>
          <a:xfrm>
            <a:off x="3246120" y="3072384"/>
            <a:ext cx="2651760" cy="292608"/>
          </a:xfrm>
          <a:prstGeom prst="rect">
            <a:avLst/>
          </a:prstGeom>
          <a:noFill/>
        </p:spPr>
        <p:txBody>
          <a:bodyPr wrap="square" lIns="0" tIns="0" rIns="0" bIns="0" anchor="t">
            <a:spAutoFit/>
          </a:bodyPr>
          <a:lstStyle/>
          <a:p>
            <a:pPr algn="l"/>
            <a:r>
              <a:rPr sz="1350" b="1" i="0">
                <a:solidFill>
                  <a:srgbClr val="222A3D"/>
                </a:solidFill>
                <a:latin typeface="Calibri"/>
              </a:rPr>
              <a:t>Uniform(0.1, 0.7)</a:t>
            </a:r>
          </a:p>
        </p:txBody>
      </p:sp>
      <p:sp>
        <p:nvSpPr>
          <p:cNvPr id="16" name="TextBox 15"/>
          <p:cNvSpPr txBox="1"/>
          <p:nvPr/>
        </p:nvSpPr>
        <p:spPr>
          <a:xfrm>
            <a:off x="822960" y="3456432"/>
            <a:ext cx="2377440" cy="292608"/>
          </a:xfrm>
          <a:prstGeom prst="rect">
            <a:avLst/>
          </a:prstGeom>
          <a:noFill/>
        </p:spPr>
        <p:txBody>
          <a:bodyPr wrap="square" lIns="0" tIns="0" rIns="0" bIns="0" anchor="t">
            <a:spAutoFit/>
          </a:bodyPr>
          <a:lstStyle/>
          <a:p>
            <a:pPr algn="l"/>
            <a:r>
              <a:rPr sz="1350" b="0" i="0">
                <a:solidFill>
                  <a:srgbClr val="6B748E"/>
                </a:solidFill>
                <a:latin typeface="Calibri"/>
              </a:rPr>
              <a:t>Competitors per round</a:t>
            </a:r>
          </a:p>
        </p:txBody>
      </p:sp>
      <p:sp>
        <p:nvSpPr>
          <p:cNvPr id="17" name="TextBox 16"/>
          <p:cNvSpPr txBox="1"/>
          <p:nvPr/>
        </p:nvSpPr>
        <p:spPr>
          <a:xfrm>
            <a:off x="3246120" y="3456432"/>
            <a:ext cx="2651760" cy="292608"/>
          </a:xfrm>
          <a:prstGeom prst="rect">
            <a:avLst/>
          </a:prstGeom>
          <a:noFill/>
        </p:spPr>
        <p:txBody>
          <a:bodyPr wrap="square" lIns="0" tIns="0" rIns="0" bIns="0" anchor="t">
            <a:spAutoFit/>
          </a:bodyPr>
          <a:lstStyle/>
          <a:p>
            <a:pPr algn="l"/>
            <a:r>
              <a:rPr sz="1350" b="1" i="0">
                <a:solidFill>
                  <a:srgbClr val="222A3D"/>
                </a:solidFill>
                <a:latin typeface="Calibri"/>
              </a:rPr>
              <a:t>2 (highest one counts)</a:t>
            </a:r>
          </a:p>
        </p:txBody>
      </p:sp>
      <p:sp>
        <p:nvSpPr>
          <p:cNvPr id="18" name="TextBox 17"/>
          <p:cNvSpPr txBox="1"/>
          <p:nvPr/>
        </p:nvSpPr>
        <p:spPr>
          <a:xfrm>
            <a:off x="822960" y="3840480"/>
            <a:ext cx="2377440" cy="292608"/>
          </a:xfrm>
          <a:prstGeom prst="rect">
            <a:avLst/>
          </a:prstGeom>
          <a:noFill/>
        </p:spPr>
        <p:txBody>
          <a:bodyPr wrap="square" lIns="0" tIns="0" rIns="0" bIns="0" anchor="t">
            <a:spAutoFit/>
          </a:bodyPr>
          <a:lstStyle/>
          <a:p>
            <a:pPr algn="l"/>
            <a:r>
              <a:rPr sz="1350" b="0" i="0">
                <a:solidFill>
                  <a:srgbClr val="6B748E"/>
                </a:solidFill>
                <a:latin typeface="Calibri"/>
              </a:rPr>
              <a:t>Candidate bids</a:t>
            </a:r>
          </a:p>
        </p:txBody>
      </p:sp>
      <p:sp>
        <p:nvSpPr>
          <p:cNvPr id="19" name="TextBox 18"/>
          <p:cNvSpPr txBox="1"/>
          <p:nvPr/>
        </p:nvSpPr>
        <p:spPr>
          <a:xfrm>
            <a:off x="3246120" y="3840480"/>
            <a:ext cx="2651760" cy="292608"/>
          </a:xfrm>
          <a:prstGeom prst="rect">
            <a:avLst/>
          </a:prstGeom>
          <a:noFill/>
        </p:spPr>
        <p:txBody>
          <a:bodyPr wrap="square" lIns="0" tIns="0" rIns="0" bIns="0" anchor="t">
            <a:spAutoFit/>
          </a:bodyPr>
          <a:lstStyle/>
          <a:p>
            <a:pPr algn="l"/>
            <a:r>
              <a:rPr sz="1350" b="1" i="0">
                <a:solidFill>
                  <a:srgbClr val="222A3D"/>
                </a:solidFill>
                <a:latin typeface="Calibri"/>
              </a:rPr>
              <a:t>11 values, 0.0 to 1.0, step 0.1</a:t>
            </a:r>
          </a:p>
        </p:txBody>
      </p:sp>
      <p:sp>
        <p:nvSpPr>
          <p:cNvPr id="20" name="TextBox 19"/>
          <p:cNvSpPr txBox="1"/>
          <p:nvPr/>
        </p:nvSpPr>
        <p:spPr>
          <a:xfrm>
            <a:off x="822960" y="4224528"/>
            <a:ext cx="2377440" cy="292608"/>
          </a:xfrm>
          <a:prstGeom prst="rect">
            <a:avLst/>
          </a:prstGeom>
          <a:noFill/>
        </p:spPr>
        <p:txBody>
          <a:bodyPr wrap="square" lIns="0" tIns="0" rIns="0" bIns="0" anchor="t">
            <a:spAutoFit/>
          </a:bodyPr>
          <a:lstStyle/>
          <a:p>
            <a:pPr algn="l"/>
            <a:r>
              <a:rPr sz="1350" b="0" i="0">
                <a:solidFill>
                  <a:srgbClr val="6B748E"/>
                </a:solidFill>
                <a:latin typeface="Calibri"/>
              </a:rPr>
              <a:t>Config file</a:t>
            </a:r>
          </a:p>
        </p:txBody>
      </p:sp>
      <p:sp>
        <p:nvSpPr>
          <p:cNvPr id="21" name="TextBox 20"/>
          <p:cNvSpPr txBox="1"/>
          <p:nvPr/>
        </p:nvSpPr>
        <p:spPr>
          <a:xfrm>
            <a:off x="3246120" y="4224528"/>
            <a:ext cx="2651760" cy="292608"/>
          </a:xfrm>
          <a:prstGeom prst="rect">
            <a:avLst/>
          </a:prstGeom>
          <a:noFill/>
        </p:spPr>
        <p:txBody>
          <a:bodyPr wrap="square" lIns="0" tIns="0" rIns="0" bIns="0" anchor="t">
            <a:spAutoFit/>
          </a:bodyPr>
          <a:lstStyle/>
          <a:p>
            <a:pPr algn="l"/>
            <a:r>
              <a:rPr sz="1350" b="1" i="0">
                <a:solidFill>
                  <a:srgbClr val="222A3D"/>
                </a:solidFill>
                <a:latin typeface="Calibri"/>
              </a:rPr>
              <a:t>configs/req1.yaml</a:t>
            </a:r>
          </a:p>
        </p:txBody>
      </p:sp>
      <p:sp>
        <p:nvSpPr>
          <p:cNvPr id="22" name="TextBox 21"/>
          <p:cNvSpPr txBox="1"/>
          <p:nvPr/>
        </p:nvSpPr>
        <p:spPr>
          <a:xfrm>
            <a:off x="822960" y="4791456"/>
            <a:ext cx="4937760" cy="1463040"/>
          </a:xfrm>
          <a:prstGeom prst="rect">
            <a:avLst/>
          </a:prstGeom>
          <a:noFill/>
        </p:spPr>
        <p:txBody>
          <a:bodyPr wrap="square" lIns="0" tIns="0" rIns="0" bIns="0">
            <a:spAutoFit/>
          </a:bodyPr>
          <a:lstStyle/>
          <a:p>
            <a:pPr>
              <a:lnSpc>
                <a:spcPct val="122000"/>
              </a:lnSpc>
              <a:spcAft>
                <a:spcPts val="0"/>
              </a:spcAft>
            </a:pPr>
            <a:r>
              <a:rPr sz="1300">
                <a:solidFill>
                  <a:srgbClr val="222A3D"/>
                </a:solidFill>
                <a:latin typeface="Calibri"/>
              </a:rPr>
              <a:t>The win rule is simple: the campaign wins a round if its bid is at least as high as the highest competing bid for that round, which is drawn uniformly between 0.1 and 0.7. That gives a closed-form expected reward for every candidate bid, so we can compute the true best bid exactly instead of estimating it — no simulation needed.</a:t>
            </a:r>
          </a:p>
        </p:txBody>
      </p:sp>
      <p:pic>
        <p:nvPicPr>
          <p:cNvPr id="23" name="Picture 22" descr="slide_oracle_standalone.png"/>
          <p:cNvPicPr>
            <a:picLocks noChangeAspect="1"/>
          </p:cNvPicPr>
          <p:nvPr/>
        </p:nvPicPr>
        <p:blipFill>
          <a:blip r:embed="rId2"/>
          <a:stretch>
            <a:fillRect/>
          </a:stretch>
        </p:blipFill>
        <p:spPr>
          <a:xfrm>
            <a:off x="6035040" y="2253082"/>
            <a:ext cx="5669280" cy="3174796"/>
          </a:xfrm>
          <a:prstGeom prst="rect">
            <a:avLst/>
          </a:prstGeom>
        </p:spPr>
      </p:pic>
      <p:sp>
        <p:nvSpPr>
          <p:cNvPr id="24" name="TextBox 23"/>
          <p:cNvSpPr txBox="1"/>
          <p:nvPr/>
        </p:nvSpPr>
        <p:spPr>
          <a:xfrm>
            <a:off x="822960" y="6537960"/>
            <a:ext cx="10515600" cy="274320"/>
          </a:xfrm>
          <a:prstGeom prst="rect">
            <a:avLst/>
          </a:prstGeom>
          <a:noFill/>
        </p:spPr>
        <p:txBody>
          <a:bodyPr wrap="square" lIns="0" tIns="0" rIns="0" bIns="0" anchor="t">
            <a:spAutoFit/>
          </a:bodyPr>
          <a:lstStyle/>
          <a:p>
            <a:pPr algn="l"/>
            <a:r>
              <a:rPr sz="1000" b="0" i="0">
                <a:solidFill>
                  <a:srgbClr val="6B748E"/>
                </a:solidFill>
                <a:latin typeface="Calibri"/>
              </a:rPr>
              <a:t>Requirement 1 — Single-Campaign Stochastic Bidding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640080" y="457200"/>
            <a:ext cx="502920" cy="502920"/>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1024128" y="713232"/>
            <a:ext cx="292608" cy="292608"/>
          </a:xfrm>
          <a:prstGeom prst="ellipse">
            <a:avLst/>
          </a:prstGeom>
          <a:solidFill>
            <a:srgbClr val="4A5B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804672" y="960120"/>
            <a:ext cx="182880" cy="182880"/>
          </a:xfrm>
          <a:prstGeom prst="ellipse">
            <a:avLst/>
          </a:prstGeom>
          <a:solidFill>
            <a:srgbClr val="F2A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737360" y="411480"/>
            <a:ext cx="10058400" cy="822960"/>
          </a:xfrm>
          <a:prstGeom prst="rect">
            <a:avLst/>
          </a:prstGeom>
          <a:noFill/>
        </p:spPr>
        <p:txBody>
          <a:bodyPr wrap="square" lIns="0" tIns="0" rIns="0" bIns="0" anchor="t">
            <a:spAutoFit/>
          </a:bodyPr>
          <a:lstStyle/>
          <a:p>
            <a:pPr algn="l"/>
            <a:r>
              <a:rPr sz="2800" b="1" i="0">
                <a:solidFill>
                  <a:srgbClr val="1E2761"/>
                </a:solidFill>
                <a:latin typeface="Cambria"/>
              </a:rPr>
              <a:t>Six Algorithms, Three Ideas</a:t>
            </a:r>
          </a:p>
        </p:txBody>
      </p:sp>
      <p:sp>
        <p:nvSpPr>
          <p:cNvPr id="7" name="TextBox 6"/>
          <p:cNvSpPr txBox="1"/>
          <p:nvPr/>
        </p:nvSpPr>
        <p:spPr>
          <a:xfrm>
            <a:off x="822960" y="1554480"/>
            <a:ext cx="10332720" cy="822960"/>
          </a:xfrm>
          <a:prstGeom prst="rect">
            <a:avLst/>
          </a:prstGeom>
          <a:noFill/>
        </p:spPr>
        <p:txBody>
          <a:bodyPr wrap="square" lIns="0" tIns="0" rIns="0" bIns="0">
            <a:spAutoFit/>
          </a:bodyPr>
          <a:lstStyle/>
          <a:p>
            <a:pPr>
              <a:lnSpc>
                <a:spcPct val="122000"/>
              </a:lnSpc>
              <a:spcAft>
                <a:spcPts val="0"/>
              </a:spcAft>
            </a:pPr>
            <a:r>
              <a:rPr sz="1550">
                <a:solidFill>
                  <a:srgbClr val="222A3D"/>
                </a:solidFill>
                <a:latin typeface="Calibri"/>
              </a:rPr>
              <a:t>We implemented three different ways of choosing how much to explore, and ran each one both without and with budget pacing — six algorithms in total, but really only three ideas.</a:t>
            </a:r>
          </a:p>
        </p:txBody>
      </p:sp>
      <p:graphicFrame>
        <p:nvGraphicFramePr>
          <p:cNvPr id="8" name="Table 7"/>
          <p:cNvGraphicFramePr>
            <a:graphicFrameLocks noGrp="1"/>
          </p:cNvGraphicFramePr>
          <p:nvPr>
            <p:extLst>
              <p:ext uri="{D42A27DB-BD31-4B8C-83A1-F6EECF244321}">
                <p14:modId xmlns:p14="http://schemas.microsoft.com/office/powerpoint/2010/main" val="8182808"/>
              </p:ext>
            </p:extLst>
          </p:nvPr>
        </p:nvGraphicFramePr>
        <p:xfrm>
          <a:off x="822960" y="2514600"/>
          <a:ext cx="10515600" cy="2651760"/>
        </p:xfrm>
        <a:graphic>
          <a:graphicData uri="http://schemas.openxmlformats.org/drawingml/2006/table">
            <a:tbl>
              <a:tblPr firstRow="1" bandRow="1">
                <a:tableStyleId>{5C22544A-7EE6-4342-B048-85BDC9FD1C3A}</a:tableStyleId>
              </a:tblPr>
              <a:tblGrid>
                <a:gridCol w="4389120">
                  <a:extLst>
                    <a:ext uri="{9D8B030D-6E8A-4147-A177-3AD203B41FA5}">
                      <a16:colId xmlns:a16="http://schemas.microsoft.com/office/drawing/2014/main" val="20000"/>
                    </a:ext>
                  </a:extLst>
                </a:gridCol>
                <a:gridCol w="3063240">
                  <a:extLst>
                    <a:ext uri="{9D8B030D-6E8A-4147-A177-3AD203B41FA5}">
                      <a16:colId xmlns:a16="http://schemas.microsoft.com/office/drawing/2014/main" val="20001"/>
                    </a:ext>
                  </a:extLst>
                </a:gridCol>
                <a:gridCol w="3063240">
                  <a:extLst>
                    <a:ext uri="{9D8B030D-6E8A-4147-A177-3AD203B41FA5}">
                      <a16:colId xmlns:a16="http://schemas.microsoft.com/office/drawing/2014/main" val="20002"/>
                    </a:ext>
                  </a:extLst>
                </a:gridCol>
              </a:tblGrid>
              <a:tr h="662940">
                <a:tc>
                  <a:txBody>
                    <a:bodyPr/>
                    <a:lstStyle/>
                    <a:p>
                      <a:pPr algn="l"/>
                      <a:r>
                        <a:rPr sz="1400" b="1">
                          <a:solidFill>
                            <a:srgbClr val="FFFFFF"/>
                          </a:solidFill>
                          <a:latin typeface="Calibri"/>
                        </a:rPr>
                        <a:t>Exploration idea</a:t>
                      </a:r>
                    </a:p>
                  </a:txBody>
                  <a:tcPr anchor="ctr">
                    <a:solidFill>
                      <a:srgbClr val="1E2761"/>
                    </a:solidFill>
                  </a:tcPr>
                </a:tc>
                <a:tc>
                  <a:txBody>
                    <a:bodyPr/>
                    <a:lstStyle/>
                    <a:p>
                      <a:pPr algn="ctr"/>
                      <a:r>
                        <a:rPr sz="1400" b="1">
                          <a:solidFill>
                            <a:srgbClr val="FFFFFF"/>
                          </a:solidFill>
                          <a:latin typeface="Calibri"/>
                        </a:rPr>
                        <a:t>Budget-free version</a:t>
                      </a:r>
                    </a:p>
                  </a:txBody>
                  <a:tcPr anchor="ctr">
                    <a:solidFill>
                      <a:srgbClr val="1E2761"/>
                    </a:solidFill>
                  </a:tcPr>
                </a:tc>
                <a:tc>
                  <a:txBody>
                    <a:bodyPr/>
                    <a:lstStyle/>
                    <a:p>
                      <a:pPr algn="ctr"/>
                      <a:r>
                        <a:rPr sz="1400" b="1">
                          <a:solidFill>
                            <a:srgbClr val="FFFFFF"/>
                          </a:solidFill>
                          <a:latin typeface="Calibri"/>
                        </a:rPr>
                        <a:t>Budget-aware version</a:t>
                      </a:r>
                    </a:p>
                  </a:txBody>
                  <a:tcPr anchor="ctr">
                    <a:solidFill>
                      <a:srgbClr val="1E2761"/>
                    </a:solidFill>
                  </a:tcPr>
                </a:tc>
                <a:extLst>
                  <a:ext uri="{0D108BD9-81ED-4DB2-BD59-A6C34878D82A}">
                    <a16:rowId xmlns:a16="http://schemas.microsoft.com/office/drawing/2014/main" val="10000"/>
                  </a:ext>
                </a:extLst>
              </a:tr>
              <a:tr h="662940">
                <a:tc>
                  <a:txBody>
                    <a:bodyPr/>
                    <a:lstStyle/>
                    <a:p>
                      <a:pPr algn="l"/>
                      <a:r>
                        <a:rPr sz="1350" dirty="0">
                          <a:solidFill>
                            <a:srgbClr val="222A3D"/>
                          </a:solidFill>
                          <a:latin typeface="Calibri"/>
                        </a:rPr>
                        <a:t>Fixed confidence bound</a:t>
                      </a:r>
                    </a:p>
                  </a:txBody>
                  <a:tcPr anchor="ctr">
                    <a:solidFill>
                      <a:srgbClr val="F3F6FC"/>
                    </a:solidFill>
                  </a:tcPr>
                </a:tc>
                <a:tc>
                  <a:txBody>
                    <a:bodyPr/>
                    <a:lstStyle/>
                    <a:p>
                      <a:pPr algn="ctr"/>
                      <a:r>
                        <a:rPr sz="1350">
                          <a:solidFill>
                            <a:srgbClr val="222A3D"/>
                          </a:solidFill>
                          <a:latin typeface="Calibri"/>
                        </a:rPr>
                        <a:t>UCB1</a:t>
                      </a:r>
                    </a:p>
                  </a:txBody>
                  <a:tcPr anchor="ctr">
                    <a:solidFill>
                      <a:srgbClr val="F3F6FC"/>
                    </a:solidFill>
                  </a:tcPr>
                </a:tc>
                <a:tc>
                  <a:txBody>
                    <a:bodyPr/>
                    <a:lstStyle/>
                    <a:p>
                      <a:pPr algn="ctr"/>
                      <a:r>
                        <a:rPr sz="1350">
                          <a:solidFill>
                            <a:srgbClr val="222A3D"/>
                          </a:solidFill>
                          <a:latin typeface="Calibri"/>
                        </a:rPr>
                        <a:t>Budgeted UCB</a:t>
                      </a:r>
                    </a:p>
                  </a:txBody>
                  <a:tcPr anchor="ctr">
                    <a:solidFill>
                      <a:srgbClr val="F3F6FC"/>
                    </a:solidFill>
                  </a:tcPr>
                </a:tc>
                <a:extLst>
                  <a:ext uri="{0D108BD9-81ED-4DB2-BD59-A6C34878D82A}">
                    <a16:rowId xmlns:a16="http://schemas.microsoft.com/office/drawing/2014/main" val="10001"/>
                  </a:ext>
                </a:extLst>
              </a:tr>
              <a:tr h="662940">
                <a:tc>
                  <a:txBody>
                    <a:bodyPr/>
                    <a:lstStyle/>
                    <a:p>
                      <a:pPr algn="l"/>
                      <a:r>
                        <a:rPr sz="1350">
                          <a:solidFill>
                            <a:srgbClr val="222A3D"/>
                          </a:solidFill>
                          <a:latin typeface="Calibri"/>
                        </a:rPr>
                        <a:t>Variance-adaptive confidence bound</a:t>
                      </a:r>
                    </a:p>
                    <a:p>
                      <a:pPr algn="l"/>
                      <a:r>
                        <a:rPr sz="1350">
                          <a:solidFill>
                            <a:srgbClr val="222A3D"/>
                          </a:solidFill>
                          <a:latin typeface="Calibri"/>
                        </a:rPr>
                        <a:t>(UCB1-Tuned, Auer et al. 2002)</a:t>
                      </a:r>
                    </a:p>
                  </a:txBody>
                  <a:tcPr anchor="ctr">
                    <a:solidFill>
                      <a:srgbClr val="FFFFFF"/>
                    </a:solidFill>
                  </a:tcPr>
                </a:tc>
                <a:tc>
                  <a:txBody>
                    <a:bodyPr/>
                    <a:lstStyle/>
                    <a:p>
                      <a:pPr algn="ctr"/>
                      <a:r>
                        <a:rPr sz="1350">
                          <a:solidFill>
                            <a:srgbClr val="222A3D"/>
                          </a:solidFill>
                          <a:latin typeface="Calibri"/>
                        </a:rPr>
                        <a:t>UCB1-Tuned</a:t>
                      </a:r>
                    </a:p>
                  </a:txBody>
                  <a:tcPr anchor="ctr">
                    <a:solidFill>
                      <a:srgbClr val="FFFFFF"/>
                    </a:solidFill>
                  </a:tcPr>
                </a:tc>
                <a:tc>
                  <a:txBody>
                    <a:bodyPr/>
                    <a:lstStyle/>
                    <a:p>
                      <a:pPr algn="ctr"/>
                      <a:r>
                        <a:rPr sz="1350">
                          <a:solidFill>
                            <a:srgbClr val="222A3D"/>
                          </a:solidFill>
                          <a:latin typeface="Calibri"/>
                        </a:rPr>
                        <a:t>Budgeted UCB1-Tuned</a:t>
                      </a:r>
                    </a:p>
                  </a:txBody>
                  <a:tcPr anchor="ctr">
                    <a:solidFill>
                      <a:srgbClr val="FFFFFF"/>
                    </a:solidFill>
                  </a:tcPr>
                </a:tc>
                <a:extLst>
                  <a:ext uri="{0D108BD9-81ED-4DB2-BD59-A6C34878D82A}">
                    <a16:rowId xmlns:a16="http://schemas.microsoft.com/office/drawing/2014/main" val="10002"/>
                  </a:ext>
                </a:extLst>
              </a:tr>
              <a:tr h="662940">
                <a:tc>
                  <a:txBody>
                    <a:bodyPr/>
                    <a:lstStyle/>
                    <a:p>
                      <a:pPr algn="l"/>
                      <a:r>
                        <a:rPr sz="1350">
                          <a:solidFill>
                            <a:srgbClr val="222A3D"/>
                          </a:solidFill>
                          <a:latin typeface="Calibri"/>
                        </a:rPr>
                        <a:t>Constant rescaled to this environment's</a:t>
                      </a:r>
                    </a:p>
                    <a:p>
                      <a:pPr algn="l"/>
                      <a:r>
                        <a:rPr sz="1350">
                          <a:solidFill>
                            <a:srgbClr val="222A3D"/>
                          </a:solidFill>
                          <a:latin typeface="Calibri"/>
                        </a:rPr>
                        <a:t>best achievable reward</a:t>
                      </a:r>
                    </a:p>
                  </a:txBody>
                  <a:tcPr anchor="ctr">
                    <a:solidFill>
                      <a:srgbClr val="F3F6FC"/>
                    </a:solidFill>
                  </a:tcPr>
                </a:tc>
                <a:tc>
                  <a:txBody>
                    <a:bodyPr/>
                    <a:lstStyle/>
                    <a:p>
                      <a:pPr algn="ctr"/>
                      <a:r>
                        <a:rPr sz="1350">
                          <a:solidFill>
                            <a:srgbClr val="222A3D"/>
                          </a:solidFill>
                          <a:latin typeface="Calibri"/>
                        </a:rPr>
                        <a:t>Rescaled-Constant UCB</a:t>
                      </a:r>
                    </a:p>
                  </a:txBody>
                  <a:tcPr anchor="ctr">
                    <a:solidFill>
                      <a:srgbClr val="F3F6FC"/>
                    </a:solidFill>
                  </a:tcPr>
                </a:tc>
                <a:tc>
                  <a:txBody>
                    <a:bodyPr/>
                    <a:lstStyle/>
                    <a:p>
                      <a:pPr algn="ctr"/>
                      <a:r>
                        <a:rPr sz="1350" dirty="0">
                          <a:solidFill>
                            <a:srgbClr val="222A3D"/>
                          </a:solidFill>
                          <a:latin typeface="Calibri"/>
                        </a:rPr>
                        <a:t>Budgeted Rescaled-Constant UCB</a:t>
                      </a:r>
                    </a:p>
                  </a:txBody>
                  <a:tcPr anchor="ctr">
                    <a:solidFill>
                      <a:srgbClr val="F3F6FC"/>
                    </a:solidFill>
                  </a:tcPr>
                </a:tc>
                <a:extLst>
                  <a:ext uri="{0D108BD9-81ED-4DB2-BD59-A6C34878D82A}">
                    <a16:rowId xmlns:a16="http://schemas.microsoft.com/office/drawing/2014/main" val="10003"/>
                  </a:ext>
                </a:extLst>
              </a:tr>
            </a:tbl>
          </a:graphicData>
        </a:graphic>
      </p:graphicFrame>
      <p:sp>
        <p:nvSpPr>
          <p:cNvPr id="9" name="TextBox 8"/>
          <p:cNvSpPr txBox="1"/>
          <p:nvPr/>
        </p:nvSpPr>
        <p:spPr>
          <a:xfrm>
            <a:off x="822960" y="5440680"/>
            <a:ext cx="10332720" cy="822960"/>
          </a:xfrm>
          <a:prstGeom prst="rect">
            <a:avLst/>
          </a:prstGeom>
          <a:noFill/>
        </p:spPr>
        <p:txBody>
          <a:bodyPr wrap="square" lIns="0" tIns="0" rIns="0" bIns="0">
            <a:spAutoFit/>
          </a:bodyPr>
          <a:lstStyle/>
          <a:p>
            <a:pPr>
              <a:lnSpc>
                <a:spcPct val="122000"/>
              </a:lnSpc>
              <a:spcAft>
                <a:spcPts val="0"/>
              </a:spcAft>
            </a:pPr>
            <a:r>
              <a:rPr sz="1400">
                <a:solidFill>
                  <a:srgbClr val="6B748E"/>
                </a:solidFill>
                <a:latin typeface="Calibri"/>
              </a:rPr>
              <a:t>The budget-aware column isn't a different exploration rule — it's the same confidence bound, with a linear-programming pacing layer added on top (see the next slide) so the campaign spends at a sustainable rate instead of front-loading its budget.</a:t>
            </a:r>
          </a:p>
        </p:txBody>
      </p:sp>
      <p:sp>
        <p:nvSpPr>
          <p:cNvPr id="10" name="TextBox 9"/>
          <p:cNvSpPr txBox="1"/>
          <p:nvPr/>
        </p:nvSpPr>
        <p:spPr>
          <a:xfrm>
            <a:off x="822960" y="6537960"/>
            <a:ext cx="10515600" cy="274320"/>
          </a:xfrm>
          <a:prstGeom prst="rect">
            <a:avLst/>
          </a:prstGeom>
          <a:noFill/>
        </p:spPr>
        <p:txBody>
          <a:bodyPr wrap="square" lIns="0" tIns="0" rIns="0" bIns="0" anchor="t">
            <a:spAutoFit/>
          </a:bodyPr>
          <a:lstStyle/>
          <a:p>
            <a:pPr algn="l"/>
            <a:r>
              <a:rPr sz="1000" b="0" i="0">
                <a:solidFill>
                  <a:srgbClr val="6B748E"/>
                </a:solidFill>
                <a:latin typeface="Calibri"/>
              </a:rPr>
              <a:t>Requirement 1 — Single-Campaign Stochastic Bidding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640080" y="457200"/>
            <a:ext cx="502920" cy="502920"/>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1024128" y="713232"/>
            <a:ext cx="292608" cy="292608"/>
          </a:xfrm>
          <a:prstGeom prst="ellipse">
            <a:avLst/>
          </a:prstGeom>
          <a:solidFill>
            <a:srgbClr val="4A5B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804672" y="960120"/>
            <a:ext cx="182880" cy="182880"/>
          </a:xfrm>
          <a:prstGeom prst="ellipse">
            <a:avLst/>
          </a:prstGeom>
          <a:solidFill>
            <a:srgbClr val="F2A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737360" y="411480"/>
            <a:ext cx="10058400" cy="822960"/>
          </a:xfrm>
          <a:prstGeom prst="rect">
            <a:avLst/>
          </a:prstGeom>
          <a:noFill/>
        </p:spPr>
        <p:txBody>
          <a:bodyPr wrap="square" lIns="0" tIns="0" rIns="0" bIns="0" anchor="t">
            <a:spAutoFit/>
          </a:bodyPr>
          <a:lstStyle/>
          <a:p>
            <a:pPr algn="l"/>
            <a:r>
              <a:rPr sz="2800" b="1" i="0">
                <a:solidFill>
                  <a:srgbClr val="1E2761"/>
                </a:solidFill>
                <a:latin typeface="Cambria"/>
              </a:rPr>
              <a:t>The Three Exploration Rules, in Full</a:t>
            </a:r>
          </a:p>
        </p:txBody>
      </p:sp>
      <p:sp>
        <p:nvSpPr>
          <p:cNvPr id="7" name="TextBox 6"/>
          <p:cNvSpPr txBox="1"/>
          <p:nvPr/>
        </p:nvSpPr>
        <p:spPr>
          <a:xfrm>
            <a:off x="1737360" y="987552"/>
            <a:ext cx="10058400" cy="365760"/>
          </a:xfrm>
          <a:prstGeom prst="rect">
            <a:avLst/>
          </a:prstGeom>
          <a:noFill/>
        </p:spPr>
        <p:txBody>
          <a:bodyPr wrap="square" lIns="0" tIns="0" rIns="0" bIns="0" anchor="t">
            <a:spAutoFit/>
          </a:bodyPr>
          <a:lstStyle/>
          <a:p>
            <a:pPr algn="l"/>
            <a:r>
              <a:rPr sz="1400" b="0" i="0">
                <a:solidFill>
                  <a:srgbClr val="6B748E"/>
                </a:solidFill>
                <a:latin typeface="Calibri"/>
              </a:rPr>
              <a:t>Each rule picks the bid maximizing Q_t(a) + an exploration bonus that shrinks as a bid gets played more</a:t>
            </a:r>
          </a:p>
        </p:txBody>
      </p:sp>
      <p:pic>
        <p:nvPicPr>
          <p:cNvPr id="8" name="Picture 7" descr="slide_formulas.png"/>
          <p:cNvPicPr>
            <a:picLocks noChangeAspect="1"/>
          </p:cNvPicPr>
          <p:nvPr/>
        </p:nvPicPr>
        <p:blipFill>
          <a:blip r:embed="rId2"/>
          <a:stretch>
            <a:fillRect/>
          </a:stretch>
        </p:blipFill>
        <p:spPr>
          <a:xfrm>
            <a:off x="4391263" y="1463040"/>
            <a:ext cx="3378993" cy="5029200"/>
          </a:xfrm>
          <a:prstGeom prst="rect">
            <a:avLst/>
          </a:prstGeom>
        </p:spPr>
      </p:pic>
      <p:sp>
        <p:nvSpPr>
          <p:cNvPr id="9" name="TextBox 8"/>
          <p:cNvSpPr txBox="1"/>
          <p:nvPr/>
        </p:nvSpPr>
        <p:spPr>
          <a:xfrm>
            <a:off x="822960" y="6537960"/>
            <a:ext cx="10515600" cy="274320"/>
          </a:xfrm>
          <a:prstGeom prst="rect">
            <a:avLst/>
          </a:prstGeom>
          <a:noFill/>
        </p:spPr>
        <p:txBody>
          <a:bodyPr wrap="square" lIns="0" tIns="0" rIns="0" bIns="0" anchor="t">
            <a:spAutoFit/>
          </a:bodyPr>
          <a:lstStyle/>
          <a:p>
            <a:pPr algn="l"/>
            <a:r>
              <a:rPr sz="1000" b="0" i="0">
                <a:solidFill>
                  <a:srgbClr val="6B748E"/>
                </a:solidFill>
                <a:latin typeface="Calibri"/>
              </a:rPr>
              <a:t>Requirement 1 — Single-Campaign Stochastic Bidding</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640080" y="457200"/>
            <a:ext cx="502920" cy="502920"/>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1024128" y="713232"/>
            <a:ext cx="292608" cy="292608"/>
          </a:xfrm>
          <a:prstGeom prst="ellipse">
            <a:avLst/>
          </a:prstGeom>
          <a:solidFill>
            <a:srgbClr val="4A5B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804672" y="960120"/>
            <a:ext cx="182880" cy="182880"/>
          </a:xfrm>
          <a:prstGeom prst="ellipse">
            <a:avLst/>
          </a:prstGeom>
          <a:solidFill>
            <a:srgbClr val="F2A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737360" y="411480"/>
            <a:ext cx="10058400" cy="822960"/>
          </a:xfrm>
          <a:prstGeom prst="rect">
            <a:avLst/>
          </a:prstGeom>
          <a:noFill/>
        </p:spPr>
        <p:txBody>
          <a:bodyPr wrap="square" lIns="0" tIns="0" rIns="0" bIns="0" anchor="t">
            <a:spAutoFit/>
          </a:bodyPr>
          <a:lstStyle/>
          <a:p>
            <a:pPr algn="l"/>
            <a:r>
              <a:rPr sz="2800" b="1" i="0">
                <a:solidFill>
                  <a:srgbClr val="1E2761"/>
                </a:solidFill>
                <a:latin typeface="Cambria"/>
              </a:rPr>
              <a:t>How Budget Pacing Actually Works</a:t>
            </a:r>
          </a:p>
        </p:txBody>
      </p:sp>
      <p:sp>
        <p:nvSpPr>
          <p:cNvPr id="7" name="TextBox 6"/>
          <p:cNvSpPr txBox="1"/>
          <p:nvPr/>
        </p:nvSpPr>
        <p:spPr>
          <a:xfrm>
            <a:off x="822960" y="1600200"/>
            <a:ext cx="10332720" cy="777240"/>
          </a:xfrm>
          <a:prstGeom prst="rect">
            <a:avLst/>
          </a:prstGeom>
          <a:noFill/>
        </p:spPr>
        <p:txBody>
          <a:bodyPr wrap="square" lIns="0" tIns="0" rIns="0" bIns="0">
            <a:spAutoFit/>
          </a:bodyPr>
          <a:lstStyle/>
          <a:p>
            <a:pPr>
              <a:lnSpc>
                <a:spcPct val="122000"/>
              </a:lnSpc>
              <a:spcAft>
                <a:spcPts val="0"/>
              </a:spcAft>
            </a:pPr>
            <a:r>
              <a:rPr sz="1550">
                <a:solidFill>
                  <a:srgbClr val="222A3D"/>
                </a:solidFill>
                <a:latin typeface="Calibri"/>
              </a:rPr>
              <a:t>Every budget-aware algorithm uses the exact same trick on top of its exploration rule: instead of just playing the bid with the highest confidence-bound score, it solves a small linear program each round over the reachable bid mixtures, and samples its next bid from that distribution.</a:t>
            </a:r>
          </a:p>
        </p:txBody>
      </p:sp>
      <p:sp>
        <p:nvSpPr>
          <p:cNvPr id="8" name="Rounded Rectangle 7"/>
          <p:cNvSpPr/>
          <p:nvPr/>
        </p:nvSpPr>
        <p:spPr>
          <a:xfrm>
            <a:off x="822960" y="2514600"/>
            <a:ext cx="10515600" cy="3520440"/>
          </a:xfrm>
          <a:prstGeom prst="roundRect">
            <a:avLst>
              <a:gd name="adj" fmla="val 3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88720" y="2788920"/>
            <a:ext cx="5486400" cy="320040"/>
          </a:xfrm>
          <a:prstGeom prst="rect">
            <a:avLst/>
          </a:prstGeom>
          <a:noFill/>
        </p:spPr>
        <p:txBody>
          <a:bodyPr wrap="square" lIns="0" tIns="0" rIns="0" bIns="0" anchor="t">
            <a:spAutoFit/>
          </a:bodyPr>
          <a:lstStyle/>
          <a:p>
            <a:pPr algn="l"/>
            <a:r>
              <a:rPr sz="1300" b="1" i="0">
                <a:solidFill>
                  <a:srgbClr val="6B748E"/>
                </a:solidFill>
                <a:latin typeface="Calibri"/>
              </a:rPr>
              <a:t>THE LP, EVERY ROUND</a:t>
            </a:r>
          </a:p>
        </p:txBody>
      </p:sp>
      <p:sp>
        <p:nvSpPr>
          <p:cNvPr id="10" name="TextBox 9"/>
          <p:cNvSpPr txBox="1"/>
          <p:nvPr/>
        </p:nvSpPr>
        <p:spPr>
          <a:xfrm>
            <a:off x="1188720" y="3200400"/>
            <a:ext cx="9601200" cy="1188720"/>
          </a:xfrm>
          <a:prstGeom prst="rect">
            <a:avLst/>
          </a:prstGeom>
          <a:noFill/>
        </p:spPr>
        <p:txBody>
          <a:bodyPr wrap="square" lIns="0" tIns="0" rIns="0" bIns="0" anchor="t">
            <a:spAutoFit/>
          </a:bodyPr>
          <a:lstStyle/>
          <a:p>
            <a:pPr algn="l">
              <a:lnSpc>
                <a:spcPct val="140000"/>
              </a:lnSpc>
            </a:pPr>
            <a:r>
              <a:rPr sz="1600" b="0" i="0">
                <a:solidFill>
                  <a:srgbClr val="1E2761"/>
                </a:solidFill>
                <a:latin typeface="Cambria"/>
              </a:rPr>
              <a:t>maximize    Σ γ_b · reward_ucb(b)</a:t>
            </a:r>
          </a:p>
          <a:p>
            <a:pPr algn="l">
              <a:lnSpc>
                <a:spcPct val="140000"/>
              </a:lnSpc>
            </a:pPr>
            <a:r>
              <a:rPr sz="1600" b="0" i="0">
                <a:solidFill>
                  <a:srgbClr val="1E2761"/>
                </a:solidFill>
                <a:latin typeface="Cambria"/>
              </a:rPr>
              <a:t>subject to  Σ γ_b · cost_estimate(b)  ≤  budget_left / rounds_remaining</a:t>
            </a:r>
          </a:p>
          <a:p>
            <a:pPr algn="l">
              <a:lnSpc>
                <a:spcPct val="140000"/>
              </a:lnSpc>
            </a:pPr>
            <a:r>
              <a:rPr sz="1600" b="0" i="0">
                <a:solidFill>
                  <a:srgbClr val="1E2761"/>
                </a:solidFill>
                <a:latin typeface="Cambria"/>
              </a:rPr>
              <a:t>            Σ γ_b = 1,   γ_b ≥ 0</a:t>
            </a:r>
          </a:p>
        </p:txBody>
      </p:sp>
      <p:sp>
        <p:nvSpPr>
          <p:cNvPr id="11" name="TextBox 10"/>
          <p:cNvSpPr txBox="1"/>
          <p:nvPr/>
        </p:nvSpPr>
        <p:spPr>
          <a:xfrm>
            <a:off x="1188720" y="4480560"/>
            <a:ext cx="9784080" cy="1417320"/>
          </a:xfrm>
          <a:prstGeom prst="rect">
            <a:avLst/>
          </a:prstGeom>
          <a:noFill/>
        </p:spPr>
        <p:txBody>
          <a:bodyPr wrap="square" lIns="0" tIns="0" rIns="0" bIns="0">
            <a:spAutoFit/>
          </a:bodyPr>
          <a:lstStyle/>
          <a:p>
            <a:pPr>
              <a:lnSpc>
                <a:spcPct val="122000"/>
              </a:lnSpc>
              <a:spcAft>
                <a:spcPts val="800"/>
              </a:spcAft>
            </a:pPr>
            <a:r>
              <a:rPr sz="1300">
                <a:solidFill>
                  <a:srgbClr val="222A3D"/>
                </a:solidFill>
                <a:latin typeface="Calibri"/>
              </a:rPr>
              <a:t>With only one budget constraint, the optimal solution never needs more than two bids mixed together, so the implementation just enumerates every affordable single bid and every two-bid mixture and keeps the best one — no external solver needed.</a:t>
            </a:r>
          </a:p>
          <a:p>
            <a:pPr>
              <a:lnSpc>
                <a:spcPct val="122000"/>
              </a:lnSpc>
              <a:spcAft>
                <a:spcPts val="800"/>
              </a:spcAft>
            </a:pPr>
            <a:r>
              <a:rPr sz="1300">
                <a:solidFill>
                  <a:srgbClr val="222A3D"/>
                </a:solidFill>
                <a:latin typeface="Calibri"/>
              </a:rPr>
              <a:t>The right-hand side of the constraint, budget left divided by rounds remaining, is what actually does the pacing: it re-solves every round for a smaller allowance as the campaign progresses, which is exactly why the budget-aware algorithms glide their spending down to zero right around the final round instead of running out early.</a:t>
            </a:r>
          </a:p>
        </p:txBody>
      </p:sp>
      <p:sp>
        <p:nvSpPr>
          <p:cNvPr id="12" name="TextBox 11"/>
          <p:cNvSpPr txBox="1"/>
          <p:nvPr/>
        </p:nvSpPr>
        <p:spPr>
          <a:xfrm>
            <a:off x="822960" y="6537960"/>
            <a:ext cx="10515600" cy="274320"/>
          </a:xfrm>
          <a:prstGeom prst="rect">
            <a:avLst/>
          </a:prstGeom>
          <a:noFill/>
        </p:spPr>
        <p:txBody>
          <a:bodyPr wrap="square" lIns="0" tIns="0" rIns="0" bIns="0" anchor="t">
            <a:spAutoFit/>
          </a:bodyPr>
          <a:lstStyle/>
          <a:p>
            <a:pPr algn="l"/>
            <a:r>
              <a:rPr sz="1000" b="0" i="0">
                <a:solidFill>
                  <a:srgbClr val="6B748E"/>
                </a:solidFill>
                <a:latin typeface="Calibri"/>
              </a:rPr>
              <a:t>Requirement 1 — Single-Campaign Stochastic Bidding</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640080" y="457200"/>
            <a:ext cx="502920" cy="502920"/>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1024128" y="713232"/>
            <a:ext cx="292608" cy="292608"/>
          </a:xfrm>
          <a:prstGeom prst="ellipse">
            <a:avLst/>
          </a:prstGeom>
          <a:solidFill>
            <a:srgbClr val="4A5B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804672" y="960120"/>
            <a:ext cx="182880" cy="182880"/>
          </a:xfrm>
          <a:prstGeom prst="ellipse">
            <a:avLst/>
          </a:prstGeom>
          <a:solidFill>
            <a:srgbClr val="F2A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737360" y="411480"/>
            <a:ext cx="10058400" cy="822960"/>
          </a:xfrm>
          <a:prstGeom prst="rect">
            <a:avLst/>
          </a:prstGeom>
          <a:noFill/>
        </p:spPr>
        <p:txBody>
          <a:bodyPr wrap="square" lIns="0" tIns="0" rIns="0" bIns="0" anchor="t">
            <a:spAutoFit/>
          </a:bodyPr>
          <a:lstStyle/>
          <a:p>
            <a:pPr algn="l"/>
            <a:r>
              <a:rPr sz="2800" b="1" i="0">
                <a:solidFill>
                  <a:srgbClr val="1E2761"/>
                </a:solidFill>
                <a:latin typeface="Cambria"/>
              </a:rPr>
              <a:t>Experiment 1 — Does Budget Pacing Matter?</a:t>
            </a:r>
          </a:p>
        </p:txBody>
      </p:sp>
      <p:sp>
        <p:nvSpPr>
          <p:cNvPr id="7" name="TextBox 6"/>
          <p:cNvSpPr txBox="1"/>
          <p:nvPr/>
        </p:nvSpPr>
        <p:spPr>
          <a:xfrm>
            <a:off x="1737360" y="987552"/>
            <a:ext cx="10058400" cy="365760"/>
          </a:xfrm>
          <a:prstGeom prst="rect">
            <a:avLst/>
          </a:prstGeom>
          <a:noFill/>
        </p:spPr>
        <p:txBody>
          <a:bodyPr wrap="square" lIns="0" tIns="0" rIns="0" bIns="0" anchor="t">
            <a:spAutoFit/>
          </a:bodyPr>
          <a:lstStyle/>
          <a:p>
            <a:pPr algn="l"/>
            <a:r>
              <a:rPr sz="1400" b="0" i="0">
                <a:solidFill>
                  <a:srgbClr val="6B748E"/>
                </a:solidFill>
                <a:latin typeface="Calibri"/>
              </a:rPr>
              <a:t>T = 1,000, B = 300, UCB1 vs. Budgeted UCB, averaged over 30 seeds</a:t>
            </a:r>
          </a:p>
        </p:txBody>
      </p:sp>
      <p:pic>
        <p:nvPicPr>
          <p:cNvPr id="8" name="Picture 7" descr="slide_exp1_regret.png"/>
          <p:cNvPicPr>
            <a:picLocks noChangeAspect="1"/>
          </p:cNvPicPr>
          <p:nvPr/>
        </p:nvPicPr>
        <p:blipFill>
          <a:blip r:embed="rId2"/>
          <a:stretch>
            <a:fillRect/>
          </a:stretch>
        </p:blipFill>
        <p:spPr>
          <a:xfrm>
            <a:off x="640080" y="1828800"/>
            <a:ext cx="6400800" cy="3840480"/>
          </a:xfrm>
          <a:prstGeom prst="rect">
            <a:avLst/>
          </a:prstGeom>
        </p:spPr>
      </p:pic>
      <p:sp>
        <p:nvSpPr>
          <p:cNvPr id="9" name="TextBox 8"/>
          <p:cNvSpPr txBox="1"/>
          <p:nvPr/>
        </p:nvSpPr>
        <p:spPr>
          <a:xfrm>
            <a:off x="7315200" y="2011680"/>
            <a:ext cx="4206240" cy="731520"/>
          </a:xfrm>
          <a:prstGeom prst="rect">
            <a:avLst/>
          </a:prstGeom>
          <a:noFill/>
        </p:spPr>
        <p:txBody>
          <a:bodyPr wrap="square" lIns="0" tIns="0" rIns="0" bIns="0" anchor="t">
            <a:spAutoFit/>
          </a:bodyPr>
          <a:lstStyle/>
          <a:p>
            <a:pPr algn="l"/>
            <a:r>
              <a:rPr sz="3200" b="1" i="0">
                <a:solidFill>
                  <a:srgbClr val="F2A950"/>
                </a:solidFill>
                <a:latin typeface="Cambria"/>
              </a:rPr>
              <a:t>163.4  →  91.1</a:t>
            </a:r>
          </a:p>
        </p:txBody>
      </p:sp>
      <p:sp>
        <p:nvSpPr>
          <p:cNvPr id="10" name="TextBox 9"/>
          <p:cNvSpPr txBox="1"/>
          <p:nvPr/>
        </p:nvSpPr>
        <p:spPr>
          <a:xfrm>
            <a:off x="7315200" y="2788920"/>
            <a:ext cx="4023360" cy="822960"/>
          </a:xfrm>
          <a:prstGeom prst="rect">
            <a:avLst/>
          </a:prstGeom>
          <a:noFill/>
        </p:spPr>
        <p:txBody>
          <a:bodyPr wrap="square" lIns="0" tIns="0" rIns="0" bIns="0" anchor="t">
            <a:spAutoFit/>
          </a:bodyPr>
          <a:lstStyle/>
          <a:p>
            <a:pPr algn="l">
              <a:lnSpc>
                <a:spcPct val="125000"/>
              </a:lnSpc>
            </a:pPr>
            <a:r>
              <a:rPr sz="1400" b="0" i="0">
                <a:solidFill>
                  <a:srgbClr val="222A3D"/>
                </a:solidFill>
                <a:latin typeface="Calibri"/>
              </a:rPr>
              <a:t>mean full-horizon regret</a:t>
            </a:r>
          </a:p>
          <a:p>
            <a:pPr algn="l">
              <a:lnSpc>
                <a:spcPct val="125000"/>
              </a:lnSpc>
            </a:pPr>
            <a:r>
              <a:rPr sz="1400" b="0" i="0">
                <a:solidFill>
                  <a:srgbClr val="222A3D"/>
                </a:solidFill>
                <a:latin typeface="Calibri"/>
              </a:rPr>
              <a:t>UCB1 vs. Budgeted UCB</a:t>
            </a:r>
          </a:p>
        </p:txBody>
      </p:sp>
      <p:sp>
        <p:nvSpPr>
          <p:cNvPr id="11" name="TextBox 10"/>
          <p:cNvSpPr txBox="1"/>
          <p:nvPr/>
        </p:nvSpPr>
        <p:spPr>
          <a:xfrm>
            <a:off x="7315200" y="3703320"/>
            <a:ext cx="4206240" cy="2651760"/>
          </a:xfrm>
          <a:prstGeom prst="rect">
            <a:avLst/>
          </a:prstGeom>
          <a:noFill/>
        </p:spPr>
        <p:txBody>
          <a:bodyPr wrap="square" lIns="0" tIns="0" rIns="0" bIns="0">
            <a:spAutoFit/>
          </a:bodyPr>
          <a:lstStyle/>
          <a:p>
            <a:pPr>
              <a:lnSpc>
                <a:spcPct val="122000"/>
              </a:lnSpc>
              <a:spcAft>
                <a:spcPts val="1200"/>
              </a:spcAft>
            </a:pPr>
            <a:r>
              <a:rPr sz="1250">
                <a:solidFill>
                  <a:srgbClr val="222A3D"/>
                </a:solidFill>
                <a:latin typeface="Calibri"/>
              </a:rPr>
              <a:t>UCB1 goes bankrupt at round 716 on average, having already committed 99.90% of its budget by then — it just isn't thinking about the budget at all. Budgeted UCB uses 99.95% of its budget too, but spreads it across the full 1,000 rounds instead of front-loading it, so it never stops playing.</a:t>
            </a:r>
          </a:p>
          <a:p>
            <a:pPr>
              <a:lnSpc>
                <a:spcPct val="122000"/>
              </a:lnSpc>
              <a:spcAft>
                <a:spcPts val="1200"/>
              </a:spcAft>
            </a:pPr>
            <a:r>
              <a:rPr sz="1250">
                <a:solidFill>
                  <a:srgbClr val="222A3D"/>
                </a:solidFill>
                <a:latin typeface="Calibri"/>
              </a:rPr>
              <a:t>Once every missed round is fairly charged at the full benchmark rate, that difference alone roughly halves total regret — and it isn't because Budgeted UCB is smarter about which bid is best. It's the same exploration rule; it just doesn't die halfway through the campaign.</a:t>
            </a:r>
          </a:p>
        </p:txBody>
      </p:sp>
      <p:sp>
        <p:nvSpPr>
          <p:cNvPr id="12" name="TextBox 11"/>
          <p:cNvSpPr txBox="1"/>
          <p:nvPr/>
        </p:nvSpPr>
        <p:spPr>
          <a:xfrm>
            <a:off x="822960" y="6537960"/>
            <a:ext cx="10515600" cy="274320"/>
          </a:xfrm>
          <a:prstGeom prst="rect">
            <a:avLst/>
          </a:prstGeom>
          <a:noFill/>
        </p:spPr>
        <p:txBody>
          <a:bodyPr wrap="square" lIns="0" tIns="0" rIns="0" bIns="0" anchor="t">
            <a:spAutoFit/>
          </a:bodyPr>
          <a:lstStyle/>
          <a:p>
            <a:pPr algn="l"/>
            <a:r>
              <a:rPr sz="1000" b="0" i="0">
                <a:solidFill>
                  <a:srgbClr val="6B748E"/>
                </a:solidFill>
                <a:latin typeface="Calibri"/>
              </a:rPr>
              <a:t>Requirement 1 — Single-Campaign Stochastic Bidding</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640080" y="457200"/>
            <a:ext cx="502920" cy="502920"/>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1024128" y="713232"/>
            <a:ext cx="292608" cy="292608"/>
          </a:xfrm>
          <a:prstGeom prst="ellipse">
            <a:avLst/>
          </a:prstGeom>
          <a:solidFill>
            <a:srgbClr val="4A5B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804672" y="960120"/>
            <a:ext cx="182880" cy="182880"/>
          </a:xfrm>
          <a:prstGeom prst="ellipse">
            <a:avLst/>
          </a:prstGeom>
          <a:solidFill>
            <a:srgbClr val="F2A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737360" y="411480"/>
            <a:ext cx="10058400" cy="822960"/>
          </a:xfrm>
          <a:prstGeom prst="rect">
            <a:avLst/>
          </a:prstGeom>
          <a:noFill/>
        </p:spPr>
        <p:txBody>
          <a:bodyPr wrap="square" lIns="0" tIns="0" rIns="0" bIns="0" anchor="t">
            <a:spAutoFit/>
          </a:bodyPr>
          <a:lstStyle/>
          <a:p>
            <a:pPr algn="l"/>
            <a:r>
              <a:rPr sz="2800" b="1" i="0">
                <a:solidFill>
                  <a:srgbClr val="1E2761"/>
                </a:solidFill>
                <a:latin typeface="Cambria"/>
              </a:rPr>
              <a:t>Experiment 2 — What Happens When Money Is Tighter?</a:t>
            </a:r>
          </a:p>
        </p:txBody>
      </p:sp>
      <p:sp>
        <p:nvSpPr>
          <p:cNvPr id="7" name="TextBox 6"/>
          <p:cNvSpPr txBox="1"/>
          <p:nvPr/>
        </p:nvSpPr>
        <p:spPr>
          <a:xfrm>
            <a:off x="1737360" y="987552"/>
            <a:ext cx="10058400" cy="365760"/>
          </a:xfrm>
          <a:prstGeom prst="rect">
            <a:avLst/>
          </a:prstGeom>
          <a:noFill/>
        </p:spPr>
        <p:txBody>
          <a:bodyPr wrap="square" lIns="0" tIns="0" rIns="0" bIns="0" anchor="t">
            <a:spAutoFit/>
          </a:bodyPr>
          <a:lstStyle/>
          <a:p>
            <a:pPr algn="l"/>
            <a:r>
              <a:rPr sz="1400" b="0" i="0">
                <a:solidFill>
                  <a:srgbClr val="6B748E"/>
                </a:solidFill>
                <a:latin typeface="Calibri"/>
              </a:rPr>
              <a:t>Same setup, budget cut from 300 to 150</a:t>
            </a:r>
          </a:p>
        </p:txBody>
      </p:sp>
      <p:pic>
        <p:nvPicPr>
          <p:cNvPr id="8" name="Picture 7" descr="slide_exp2_budget_compare.png"/>
          <p:cNvPicPr>
            <a:picLocks noChangeAspect="1"/>
          </p:cNvPicPr>
          <p:nvPr/>
        </p:nvPicPr>
        <p:blipFill>
          <a:blip r:embed="rId2"/>
          <a:stretch>
            <a:fillRect/>
          </a:stretch>
        </p:blipFill>
        <p:spPr>
          <a:xfrm>
            <a:off x="640080" y="1828800"/>
            <a:ext cx="6400800" cy="3840480"/>
          </a:xfrm>
          <a:prstGeom prst="rect">
            <a:avLst/>
          </a:prstGeom>
        </p:spPr>
      </p:pic>
      <p:sp>
        <p:nvSpPr>
          <p:cNvPr id="9" name="TextBox 8"/>
          <p:cNvSpPr txBox="1"/>
          <p:nvPr/>
        </p:nvSpPr>
        <p:spPr>
          <a:xfrm>
            <a:off x="7315200" y="2011680"/>
            <a:ext cx="4206240" cy="731520"/>
          </a:xfrm>
          <a:prstGeom prst="rect">
            <a:avLst/>
          </a:prstGeom>
          <a:noFill/>
        </p:spPr>
        <p:txBody>
          <a:bodyPr wrap="square" lIns="0" tIns="0" rIns="0" bIns="0" anchor="t">
            <a:spAutoFit/>
          </a:bodyPr>
          <a:lstStyle/>
          <a:p>
            <a:pPr algn="l"/>
            <a:r>
              <a:rPr sz="4000" b="1" i="0">
                <a:solidFill>
                  <a:srgbClr val="F2A950"/>
                </a:solidFill>
                <a:latin typeface="Cambria"/>
              </a:rPr>
              <a:t>+55%</a:t>
            </a:r>
          </a:p>
        </p:txBody>
      </p:sp>
      <p:sp>
        <p:nvSpPr>
          <p:cNvPr id="10" name="TextBox 9"/>
          <p:cNvSpPr txBox="1"/>
          <p:nvPr/>
        </p:nvSpPr>
        <p:spPr>
          <a:xfrm>
            <a:off x="7315200" y="2834640"/>
            <a:ext cx="4023360" cy="822960"/>
          </a:xfrm>
          <a:prstGeom prst="rect">
            <a:avLst/>
          </a:prstGeom>
          <a:noFill/>
        </p:spPr>
        <p:txBody>
          <a:bodyPr wrap="square" lIns="0" tIns="0" rIns="0" bIns="0" anchor="t">
            <a:spAutoFit/>
          </a:bodyPr>
          <a:lstStyle/>
          <a:p>
            <a:pPr algn="l">
              <a:lnSpc>
                <a:spcPct val="125000"/>
              </a:lnSpc>
            </a:pPr>
            <a:r>
              <a:rPr sz="1400" b="0" i="0">
                <a:solidFill>
                  <a:srgbClr val="222A3D"/>
                </a:solidFill>
                <a:latin typeface="Calibri"/>
              </a:rPr>
              <a:t>more regret for UCB1</a:t>
            </a:r>
          </a:p>
          <a:p>
            <a:pPr algn="l">
              <a:lnSpc>
                <a:spcPct val="125000"/>
              </a:lnSpc>
            </a:pPr>
            <a:r>
              <a:rPr sz="1400" b="0" i="0">
                <a:solidFill>
                  <a:srgbClr val="222A3D"/>
                </a:solidFill>
                <a:latin typeface="Calibri"/>
              </a:rPr>
              <a:t>when the budget is cut in half</a:t>
            </a:r>
          </a:p>
        </p:txBody>
      </p:sp>
      <p:sp>
        <p:nvSpPr>
          <p:cNvPr id="11" name="TextBox 10"/>
          <p:cNvSpPr txBox="1"/>
          <p:nvPr/>
        </p:nvSpPr>
        <p:spPr>
          <a:xfrm>
            <a:off x="7315200" y="3749039"/>
            <a:ext cx="4206240" cy="2651760"/>
          </a:xfrm>
          <a:prstGeom prst="rect">
            <a:avLst/>
          </a:prstGeom>
          <a:noFill/>
        </p:spPr>
        <p:txBody>
          <a:bodyPr wrap="square" lIns="0" tIns="0" rIns="0" bIns="0">
            <a:spAutoFit/>
          </a:bodyPr>
          <a:lstStyle/>
          <a:p>
            <a:pPr>
              <a:lnSpc>
                <a:spcPct val="122000"/>
              </a:lnSpc>
              <a:spcAft>
                <a:spcPts val="1000"/>
              </a:spcAft>
            </a:pPr>
            <a:r>
              <a:rPr sz="1200">
                <a:solidFill>
                  <a:srgbClr val="222A3D"/>
                </a:solidFill>
                <a:latin typeface="Calibri"/>
              </a:rPr>
              <a:t>Cutting the budget in half roughly halves how long UCB1 survives — bankruptcy now hits around round 357 on average instead of 716, and its full-horizon regret climbs to 253.3.</a:t>
            </a:r>
          </a:p>
          <a:p>
            <a:pPr>
              <a:lnSpc>
                <a:spcPct val="122000"/>
              </a:lnSpc>
              <a:spcAft>
                <a:spcPts val="1000"/>
              </a:spcAft>
            </a:pPr>
            <a:r>
              <a:rPr sz="1200">
                <a:solidFill>
                  <a:srgbClr val="222A3D"/>
                </a:solidFill>
                <a:latin typeface="Calibri"/>
              </a:rPr>
              <a:t>Budgeted UCB still finishes all 1,000 rounds, and its regret actually comes out a touch lower here (83.6 vs. 91.1) — not because it performs better in absolute terms, but because the achievable benchmark itself is lower under a tighter budget (0.267 vs. 0.325 reward per round), so there's simply less regret left on the table to accumulate against a weaker target.</a:t>
            </a:r>
          </a:p>
          <a:p>
            <a:pPr>
              <a:lnSpc>
                <a:spcPct val="122000"/>
              </a:lnSpc>
              <a:spcAft>
                <a:spcPts val="1000"/>
              </a:spcAft>
            </a:pPr>
            <a:r>
              <a:rPr sz="1200">
                <a:solidFill>
                  <a:srgbClr val="222A3D"/>
                </a:solidFill>
                <a:latin typeface="Calibri"/>
              </a:rPr>
              <a:t>The bottom line: UCB1's blindness to the budget gets punished harder exactly when the budget is tight, while Budgeted UCB's LP pacing just re-solves for a smaller rate and keeps going.</a:t>
            </a:r>
          </a:p>
        </p:txBody>
      </p:sp>
      <p:sp>
        <p:nvSpPr>
          <p:cNvPr id="12" name="TextBox 11"/>
          <p:cNvSpPr txBox="1"/>
          <p:nvPr/>
        </p:nvSpPr>
        <p:spPr>
          <a:xfrm>
            <a:off x="822960" y="6537960"/>
            <a:ext cx="10515600" cy="274320"/>
          </a:xfrm>
          <a:prstGeom prst="rect">
            <a:avLst/>
          </a:prstGeom>
          <a:noFill/>
        </p:spPr>
        <p:txBody>
          <a:bodyPr wrap="square" lIns="0" tIns="0" rIns="0" bIns="0" anchor="t">
            <a:spAutoFit/>
          </a:bodyPr>
          <a:lstStyle/>
          <a:p>
            <a:pPr algn="l"/>
            <a:r>
              <a:rPr sz="1000" b="0" i="0">
                <a:solidFill>
                  <a:srgbClr val="6B748E"/>
                </a:solidFill>
                <a:latin typeface="Calibri"/>
              </a:rPr>
              <a:t>Requirement 1 — Single-Campaign Stochastic Bidding</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640080" y="457200"/>
            <a:ext cx="502920" cy="502920"/>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1024128" y="713232"/>
            <a:ext cx="292608" cy="292608"/>
          </a:xfrm>
          <a:prstGeom prst="ellipse">
            <a:avLst/>
          </a:prstGeom>
          <a:solidFill>
            <a:srgbClr val="4A5B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804672" y="960120"/>
            <a:ext cx="182880" cy="182880"/>
          </a:xfrm>
          <a:prstGeom prst="ellipse">
            <a:avLst/>
          </a:prstGeom>
          <a:solidFill>
            <a:srgbClr val="F2A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737360" y="411480"/>
            <a:ext cx="10058400" cy="822960"/>
          </a:xfrm>
          <a:prstGeom prst="rect">
            <a:avLst/>
          </a:prstGeom>
          <a:noFill/>
        </p:spPr>
        <p:txBody>
          <a:bodyPr wrap="square" lIns="0" tIns="0" rIns="0" bIns="0" anchor="t">
            <a:spAutoFit/>
          </a:bodyPr>
          <a:lstStyle/>
          <a:p>
            <a:pPr algn="l"/>
            <a:r>
              <a:rPr sz="2800" b="1" i="0">
                <a:solidFill>
                  <a:srgbClr val="1E2761"/>
                </a:solidFill>
                <a:latin typeface="Cambria"/>
              </a:rPr>
              <a:t>Experiment 3 — Does Smarter Exploration Help Too?</a:t>
            </a:r>
          </a:p>
        </p:txBody>
      </p:sp>
      <p:sp>
        <p:nvSpPr>
          <p:cNvPr id="7" name="TextBox 6"/>
          <p:cNvSpPr txBox="1"/>
          <p:nvPr/>
        </p:nvSpPr>
        <p:spPr>
          <a:xfrm>
            <a:off x="1737360" y="987552"/>
            <a:ext cx="10058400" cy="365760"/>
          </a:xfrm>
          <a:prstGeom prst="rect">
            <a:avLst/>
          </a:prstGeom>
          <a:noFill/>
        </p:spPr>
        <p:txBody>
          <a:bodyPr wrap="square" lIns="0" tIns="0" rIns="0" bIns="0" anchor="t">
            <a:spAutoFit/>
          </a:bodyPr>
          <a:lstStyle/>
          <a:p>
            <a:pPr algn="l"/>
            <a:r>
              <a:rPr sz="1400" b="0" i="0">
                <a:solidFill>
                  <a:srgbClr val="6B748E"/>
                </a:solidFill>
                <a:latin typeface="Calibri"/>
              </a:rPr>
              <a:t>T = 1,000, B = 300, UCB1-Tuned and Rescaled-Constant UCB vs. their plain counterparts</a:t>
            </a:r>
          </a:p>
        </p:txBody>
      </p:sp>
      <p:pic>
        <p:nvPicPr>
          <p:cNvPr id="8" name="Picture 7" descr="slide_exp3_variants.png"/>
          <p:cNvPicPr>
            <a:picLocks noChangeAspect="1"/>
          </p:cNvPicPr>
          <p:nvPr/>
        </p:nvPicPr>
        <p:blipFill>
          <a:blip r:embed="rId2"/>
          <a:stretch>
            <a:fillRect/>
          </a:stretch>
        </p:blipFill>
        <p:spPr>
          <a:xfrm>
            <a:off x="3040380" y="1371600"/>
            <a:ext cx="6080760" cy="2606040"/>
          </a:xfrm>
          <a:prstGeom prst="rect">
            <a:avLst/>
          </a:prstGeom>
        </p:spPr>
      </p:pic>
      <p:graphicFrame>
        <p:nvGraphicFramePr>
          <p:cNvPr id="9" name="Table 8"/>
          <p:cNvGraphicFramePr>
            <a:graphicFrameLocks noGrp="1"/>
          </p:cNvGraphicFramePr>
          <p:nvPr/>
        </p:nvGraphicFramePr>
        <p:xfrm>
          <a:off x="1280160" y="4160520"/>
          <a:ext cx="9601200" cy="1920240"/>
        </p:xfrm>
        <a:graphic>
          <a:graphicData uri="http://schemas.openxmlformats.org/drawingml/2006/table">
            <a:tbl>
              <a:tblPr firstRow="1" bandRow="1">
                <a:tableStyleId>{5C22544A-7EE6-4342-B048-85BDC9FD1C3A}</a:tableStyleId>
              </a:tblPr>
              <a:tblGrid>
                <a:gridCol w="475488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274320">
                <a:tc>
                  <a:txBody>
                    <a:bodyPr/>
                    <a:lstStyle/>
                    <a:p>
                      <a:pPr algn="l"/>
                      <a:r>
                        <a:rPr sz="1150" b="1">
                          <a:solidFill>
                            <a:srgbClr val="FFFFFF"/>
                          </a:solidFill>
                          <a:latin typeface="Calibri"/>
                        </a:rPr>
                        <a:t>Algorithm</a:t>
                      </a:r>
                    </a:p>
                  </a:txBody>
                  <a:tcPr anchor="ctr">
                    <a:solidFill>
                      <a:srgbClr val="1E2761"/>
                    </a:solidFill>
                  </a:tcPr>
                </a:tc>
                <a:tc>
                  <a:txBody>
                    <a:bodyPr/>
                    <a:lstStyle/>
                    <a:p>
                      <a:pPr algn="ctr"/>
                      <a:r>
                        <a:rPr sz="1150" b="1">
                          <a:solidFill>
                            <a:srgbClr val="FFFFFF"/>
                          </a:solidFill>
                          <a:latin typeface="Calibri"/>
                        </a:rPr>
                        <a:t>Budget-aware?</a:t>
                      </a:r>
                    </a:p>
                  </a:txBody>
                  <a:tcPr anchor="ctr">
                    <a:solidFill>
                      <a:srgbClr val="1E2761"/>
                    </a:solidFill>
                  </a:tcPr>
                </a:tc>
                <a:tc>
                  <a:txBody>
                    <a:bodyPr/>
                    <a:lstStyle/>
                    <a:p>
                      <a:pPr algn="ctr"/>
                      <a:r>
                        <a:rPr sz="1150" b="1">
                          <a:solidFill>
                            <a:srgbClr val="FFFFFF"/>
                          </a:solidFill>
                          <a:latin typeface="Calibri"/>
                        </a:rPr>
                        <a:t>Mean full-horizon regret</a:t>
                      </a:r>
                    </a:p>
                  </a:txBody>
                  <a:tcPr anchor="ctr">
                    <a:solidFill>
                      <a:srgbClr val="1E2761"/>
                    </a:solidFill>
                  </a:tcPr>
                </a:tc>
                <a:extLst>
                  <a:ext uri="{0D108BD9-81ED-4DB2-BD59-A6C34878D82A}">
                    <a16:rowId xmlns:a16="http://schemas.microsoft.com/office/drawing/2014/main" val="10000"/>
                  </a:ext>
                </a:extLst>
              </a:tr>
              <a:tr h="274320">
                <a:tc>
                  <a:txBody>
                    <a:bodyPr/>
                    <a:lstStyle/>
                    <a:p>
                      <a:pPr algn="l"/>
                      <a:r>
                        <a:rPr sz="1100">
                          <a:solidFill>
                            <a:srgbClr val="222A3D"/>
                          </a:solidFill>
                          <a:latin typeface="Calibri"/>
                        </a:rPr>
                        <a:t>UCB1</a:t>
                      </a:r>
                    </a:p>
                  </a:txBody>
                  <a:tcPr anchor="ctr">
                    <a:solidFill>
                      <a:srgbClr val="F3F6FC"/>
                    </a:solidFill>
                  </a:tcPr>
                </a:tc>
                <a:tc>
                  <a:txBody>
                    <a:bodyPr/>
                    <a:lstStyle/>
                    <a:p>
                      <a:pPr algn="ctr"/>
                      <a:r>
                        <a:rPr sz="1100">
                          <a:solidFill>
                            <a:srgbClr val="222A3D"/>
                          </a:solidFill>
                          <a:latin typeface="Calibri"/>
                        </a:rPr>
                        <a:t>No</a:t>
                      </a:r>
                    </a:p>
                  </a:txBody>
                  <a:tcPr anchor="ctr">
                    <a:solidFill>
                      <a:srgbClr val="F3F6FC"/>
                    </a:solidFill>
                  </a:tcPr>
                </a:tc>
                <a:tc>
                  <a:txBody>
                    <a:bodyPr/>
                    <a:lstStyle/>
                    <a:p>
                      <a:pPr algn="ctr"/>
                      <a:r>
                        <a:rPr sz="1100">
                          <a:solidFill>
                            <a:srgbClr val="222A3D"/>
                          </a:solidFill>
                          <a:latin typeface="Calibri"/>
                        </a:rPr>
                        <a:t>163.4</a:t>
                      </a:r>
                    </a:p>
                  </a:txBody>
                  <a:tcPr anchor="ctr">
                    <a:solidFill>
                      <a:srgbClr val="F3F6FC"/>
                    </a:solidFill>
                  </a:tcPr>
                </a:tc>
                <a:extLst>
                  <a:ext uri="{0D108BD9-81ED-4DB2-BD59-A6C34878D82A}">
                    <a16:rowId xmlns:a16="http://schemas.microsoft.com/office/drawing/2014/main" val="10001"/>
                  </a:ext>
                </a:extLst>
              </a:tr>
              <a:tr h="274320">
                <a:tc>
                  <a:txBody>
                    <a:bodyPr/>
                    <a:lstStyle/>
                    <a:p>
                      <a:pPr algn="l"/>
                      <a:r>
                        <a:rPr sz="1100">
                          <a:solidFill>
                            <a:srgbClr val="222A3D"/>
                          </a:solidFill>
                          <a:latin typeface="Calibri"/>
                        </a:rPr>
                        <a:t>UCB1-Tuned</a:t>
                      </a:r>
                    </a:p>
                  </a:txBody>
                  <a:tcPr anchor="ctr">
                    <a:solidFill>
                      <a:srgbClr val="FFFFFF"/>
                    </a:solidFill>
                  </a:tcPr>
                </a:tc>
                <a:tc>
                  <a:txBody>
                    <a:bodyPr/>
                    <a:lstStyle/>
                    <a:p>
                      <a:pPr algn="ctr"/>
                      <a:r>
                        <a:rPr sz="1100">
                          <a:solidFill>
                            <a:srgbClr val="222A3D"/>
                          </a:solidFill>
                          <a:latin typeface="Calibri"/>
                        </a:rPr>
                        <a:t>No</a:t>
                      </a:r>
                    </a:p>
                  </a:txBody>
                  <a:tcPr anchor="ctr">
                    <a:solidFill>
                      <a:srgbClr val="FFFFFF"/>
                    </a:solidFill>
                  </a:tcPr>
                </a:tc>
                <a:tc>
                  <a:txBody>
                    <a:bodyPr/>
                    <a:lstStyle/>
                    <a:p>
                      <a:pPr algn="ctr"/>
                      <a:r>
                        <a:rPr sz="1100">
                          <a:solidFill>
                            <a:srgbClr val="222A3D"/>
                          </a:solidFill>
                          <a:latin typeface="Calibri"/>
                        </a:rPr>
                        <a:t>131.9</a:t>
                      </a:r>
                    </a:p>
                  </a:txBody>
                  <a:tcPr anchor="ctr">
                    <a:solidFill>
                      <a:srgbClr val="FFFFFF"/>
                    </a:solidFill>
                  </a:tcPr>
                </a:tc>
                <a:extLst>
                  <a:ext uri="{0D108BD9-81ED-4DB2-BD59-A6C34878D82A}">
                    <a16:rowId xmlns:a16="http://schemas.microsoft.com/office/drawing/2014/main" val="10002"/>
                  </a:ext>
                </a:extLst>
              </a:tr>
              <a:tr h="274320">
                <a:tc>
                  <a:txBody>
                    <a:bodyPr/>
                    <a:lstStyle/>
                    <a:p>
                      <a:pPr algn="l"/>
                      <a:r>
                        <a:rPr sz="1100">
                          <a:solidFill>
                            <a:srgbClr val="222A3D"/>
                          </a:solidFill>
                          <a:latin typeface="Calibri"/>
                        </a:rPr>
                        <a:t>Rescaled-Constant UCB</a:t>
                      </a:r>
                    </a:p>
                  </a:txBody>
                  <a:tcPr anchor="ctr">
                    <a:solidFill>
                      <a:srgbClr val="F3F6FC"/>
                    </a:solidFill>
                  </a:tcPr>
                </a:tc>
                <a:tc>
                  <a:txBody>
                    <a:bodyPr/>
                    <a:lstStyle/>
                    <a:p>
                      <a:pPr algn="ctr"/>
                      <a:r>
                        <a:rPr sz="1100">
                          <a:solidFill>
                            <a:srgbClr val="222A3D"/>
                          </a:solidFill>
                          <a:latin typeface="Calibri"/>
                        </a:rPr>
                        <a:t>No</a:t>
                      </a:r>
                    </a:p>
                  </a:txBody>
                  <a:tcPr anchor="ctr">
                    <a:solidFill>
                      <a:srgbClr val="F3F6FC"/>
                    </a:solidFill>
                  </a:tcPr>
                </a:tc>
                <a:tc>
                  <a:txBody>
                    <a:bodyPr/>
                    <a:lstStyle/>
                    <a:p>
                      <a:pPr algn="ctr"/>
                      <a:r>
                        <a:rPr sz="1100">
                          <a:solidFill>
                            <a:srgbClr val="222A3D"/>
                          </a:solidFill>
                          <a:latin typeface="Calibri"/>
                        </a:rPr>
                        <a:t>126.6</a:t>
                      </a:r>
                    </a:p>
                  </a:txBody>
                  <a:tcPr anchor="ctr">
                    <a:solidFill>
                      <a:srgbClr val="F3F6FC"/>
                    </a:solidFill>
                  </a:tcPr>
                </a:tc>
                <a:extLst>
                  <a:ext uri="{0D108BD9-81ED-4DB2-BD59-A6C34878D82A}">
                    <a16:rowId xmlns:a16="http://schemas.microsoft.com/office/drawing/2014/main" val="10003"/>
                  </a:ext>
                </a:extLst>
              </a:tr>
              <a:tr h="274320">
                <a:tc>
                  <a:txBody>
                    <a:bodyPr/>
                    <a:lstStyle/>
                    <a:p>
                      <a:pPr algn="l"/>
                      <a:r>
                        <a:rPr sz="1100">
                          <a:solidFill>
                            <a:srgbClr val="222A3D"/>
                          </a:solidFill>
                          <a:latin typeface="Calibri"/>
                        </a:rPr>
                        <a:t>Budgeted UCB</a:t>
                      </a:r>
                    </a:p>
                  </a:txBody>
                  <a:tcPr anchor="ctr">
                    <a:solidFill>
                      <a:srgbClr val="FFFFFF"/>
                    </a:solidFill>
                  </a:tcPr>
                </a:tc>
                <a:tc>
                  <a:txBody>
                    <a:bodyPr/>
                    <a:lstStyle/>
                    <a:p>
                      <a:pPr algn="ctr"/>
                      <a:r>
                        <a:rPr sz="1100">
                          <a:solidFill>
                            <a:srgbClr val="222A3D"/>
                          </a:solidFill>
                          <a:latin typeface="Calibri"/>
                        </a:rPr>
                        <a:t>Yes</a:t>
                      </a:r>
                    </a:p>
                  </a:txBody>
                  <a:tcPr anchor="ctr">
                    <a:solidFill>
                      <a:srgbClr val="FFFFFF"/>
                    </a:solidFill>
                  </a:tcPr>
                </a:tc>
                <a:tc>
                  <a:txBody>
                    <a:bodyPr/>
                    <a:lstStyle/>
                    <a:p>
                      <a:pPr algn="ctr"/>
                      <a:r>
                        <a:rPr sz="1100">
                          <a:solidFill>
                            <a:srgbClr val="222A3D"/>
                          </a:solidFill>
                          <a:latin typeface="Calibri"/>
                        </a:rPr>
                        <a:t>91.1</a:t>
                      </a:r>
                    </a:p>
                  </a:txBody>
                  <a:tcPr anchor="ctr">
                    <a:solidFill>
                      <a:srgbClr val="FFFFFF"/>
                    </a:solidFill>
                  </a:tcPr>
                </a:tc>
                <a:extLst>
                  <a:ext uri="{0D108BD9-81ED-4DB2-BD59-A6C34878D82A}">
                    <a16:rowId xmlns:a16="http://schemas.microsoft.com/office/drawing/2014/main" val="10004"/>
                  </a:ext>
                </a:extLst>
              </a:tr>
              <a:tr h="274320">
                <a:tc>
                  <a:txBody>
                    <a:bodyPr/>
                    <a:lstStyle/>
                    <a:p>
                      <a:pPr algn="l"/>
                      <a:r>
                        <a:rPr sz="1100">
                          <a:solidFill>
                            <a:srgbClr val="222A3D"/>
                          </a:solidFill>
                          <a:latin typeface="Calibri"/>
                        </a:rPr>
                        <a:t>Budgeted UCB1-Tuned</a:t>
                      </a:r>
                    </a:p>
                  </a:txBody>
                  <a:tcPr anchor="ctr">
                    <a:solidFill>
                      <a:srgbClr val="F3F6FC"/>
                    </a:solidFill>
                  </a:tcPr>
                </a:tc>
                <a:tc>
                  <a:txBody>
                    <a:bodyPr/>
                    <a:lstStyle/>
                    <a:p>
                      <a:pPr algn="ctr"/>
                      <a:r>
                        <a:rPr sz="1100">
                          <a:solidFill>
                            <a:srgbClr val="222A3D"/>
                          </a:solidFill>
                          <a:latin typeface="Calibri"/>
                        </a:rPr>
                        <a:t>Yes</a:t>
                      </a:r>
                    </a:p>
                  </a:txBody>
                  <a:tcPr anchor="ctr">
                    <a:solidFill>
                      <a:srgbClr val="F3F6FC"/>
                    </a:solidFill>
                  </a:tcPr>
                </a:tc>
                <a:tc>
                  <a:txBody>
                    <a:bodyPr/>
                    <a:lstStyle/>
                    <a:p>
                      <a:pPr algn="ctr"/>
                      <a:r>
                        <a:rPr sz="1100">
                          <a:solidFill>
                            <a:srgbClr val="222A3D"/>
                          </a:solidFill>
                          <a:latin typeface="Calibri"/>
                        </a:rPr>
                        <a:t>41.9</a:t>
                      </a:r>
                    </a:p>
                  </a:txBody>
                  <a:tcPr anchor="ctr">
                    <a:solidFill>
                      <a:srgbClr val="F3F6FC"/>
                    </a:solidFill>
                  </a:tcPr>
                </a:tc>
                <a:extLst>
                  <a:ext uri="{0D108BD9-81ED-4DB2-BD59-A6C34878D82A}">
                    <a16:rowId xmlns:a16="http://schemas.microsoft.com/office/drawing/2014/main" val="10005"/>
                  </a:ext>
                </a:extLst>
              </a:tr>
              <a:tr h="274320">
                <a:tc>
                  <a:txBody>
                    <a:bodyPr/>
                    <a:lstStyle/>
                    <a:p>
                      <a:pPr algn="l"/>
                      <a:r>
                        <a:rPr sz="1100">
                          <a:solidFill>
                            <a:srgbClr val="222A3D"/>
                          </a:solidFill>
                          <a:latin typeface="Calibri"/>
                        </a:rPr>
                        <a:t>Budgeted Rescaled-Constant UCB</a:t>
                      </a:r>
                    </a:p>
                  </a:txBody>
                  <a:tcPr anchor="ctr">
                    <a:solidFill>
                      <a:srgbClr val="FFFFFF"/>
                    </a:solidFill>
                  </a:tcPr>
                </a:tc>
                <a:tc>
                  <a:txBody>
                    <a:bodyPr/>
                    <a:lstStyle/>
                    <a:p>
                      <a:pPr algn="ctr"/>
                      <a:r>
                        <a:rPr sz="1100">
                          <a:solidFill>
                            <a:srgbClr val="222A3D"/>
                          </a:solidFill>
                          <a:latin typeface="Calibri"/>
                        </a:rPr>
                        <a:t>Yes</a:t>
                      </a:r>
                    </a:p>
                  </a:txBody>
                  <a:tcPr anchor="ctr">
                    <a:solidFill>
                      <a:srgbClr val="FFFFFF"/>
                    </a:solidFill>
                  </a:tcPr>
                </a:tc>
                <a:tc>
                  <a:txBody>
                    <a:bodyPr/>
                    <a:lstStyle/>
                    <a:p>
                      <a:pPr algn="ctr"/>
                      <a:r>
                        <a:rPr sz="1100">
                          <a:solidFill>
                            <a:srgbClr val="222A3D"/>
                          </a:solidFill>
                          <a:latin typeface="Calibri"/>
                        </a:rPr>
                        <a:t>39.8</a:t>
                      </a:r>
                    </a:p>
                  </a:txBody>
                  <a:tcPr anchor="ctr">
                    <a:solidFill>
                      <a:srgbClr val="FFFFFF"/>
                    </a:solidFill>
                  </a:tcPr>
                </a:tc>
                <a:extLst>
                  <a:ext uri="{0D108BD9-81ED-4DB2-BD59-A6C34878D82A}">
                    <a16:rowId xmlns:a16="http://schemas.microsoft.com/office/drawing/2014/main" val="10006"/>
                  </a:ext>
                </a:extLst>
              </a:tr>
            </a:tbl>
          </a:graphicData>
        </a:graphic>
      </p:graphicFrame>
      <p:sp>
        <p:nvSpPr>
          <p:cNvPr id="10" name="TextBox 9"/>
          <p:cNvSpPr txBox="1"/>
          <p:nvPr/>
        </p:nvSpPr>
        <p:spPr>
          <a:xfrm>
            <a:off x="822960" y="6537960"/>
            <a:ext cx="10515600" cy="274320"/>
          </a:xfrm>
          <a:prstGeom prst="rect">
            <a:avLst/>
          </a:prstGeom>
          <a:noFill/>
        </p:spPr>
        <p:txBody>
          <a:bodyPr wrap="square" lIns="0" tIns="0" rIns="0" bIns="0" anchor="t">
            <a:spAutoFit/>
          </a:bodyPr>
          <a:lstStyle/>
          <a:p>
            <a:pPr algn="l"/>
            <a:r>
              <a:rPr sz="1000" b="0" i="0">
                <a:solidFill>
                  <a:srgbClr val="6B748E"/>
                </a:solidFill>
                <a:latin typeface="Calibri"/>
              </a:rPr>
              <a:t>Requirement 1 — Single-Campaign Stochastic Bidding</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640080" y="457200"/>
            <a:ext cx="502920" cy="502920"/>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1024128" y="713232"/>
            <a:ext cx="292608" cy="292608"/>
          </a:xfrm>
          <a:prstGeom prst="ellipse">
            <a:avLst/>
          </a:prstGeom>
          <a:solidFill>
            <a:srgbClr val="4A5B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804672" y="960120"/>
            <a:ext cx="182880" cy="182880"/>
          </a:xfrm>
          <a:prstGeom prst="ellipse">
            <a:avLst/>
          </a:prstGeom>
          <a:solidFill>
            <a:srgbClr val="F2A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737360" y="411480"/>
            <a:ext cx="10058400" cy="822960"/>
          </a:xfrm>
          <a:prstGeom prst="rect">
            <a:avLst/>
          </a:prstGeom>
          <a:noFill/>
        </p:spPr>
        <p:txBody>
          <a:bodyPr wrap="square" lIns="0" tIns="0" rIns="0" bIns="0" anchor="t">
            <a:spAutoFit/>
          </a:bodyPr>
          <a:lstStyle/>
          <a:p>
            <a:pPr algn="l"/>
            <a:r>
              <a:rPr sz="2800" b="1" i="0">
                <a:solidFill>
                  <a:srgbClr val="1E2761"/>
                </a:solidFill>
                <a:latin typeface="Cambria"/>
              </a:rPr>
              <a:t>What Bid Does Each Algorithm Actually Learn?</a:t>
            </a:r>
          </a:p>
        </p:txBody>
      </p:sp>
      <p:sp>
        <p:nvSpPr>
          <p:cNvPr id="7" name="TextBox 6"/>
          <p:cNvSpPr txBox="1"/>
          <p:nvPr/>
        </p:nvSpPr>
        <p:spPr>
          <a:xfrm>
            <a:off x="1737360" y="987552"/>
            <a:ext cx="10058400" cy="365760"/>
          </a:xfrm>
          <a:prstGeom prst="rect">
            <a:avLst/>
          </a:prstGeom>
          <a:noFill/>
        </p:spPr>
        <p:txBody>
          <a:bodyPr wrap="square" lIns="0" tIns="0" rIns="0" bIns="0" anchor="t">
            <a:spAutoFit/>
          </a:bodyPr>
          <a:lstStyle/>
          <a:p>
            <a:pPr algn="l"/>
            <a:r>
              <a:rPr sz="1400" b="0" i="0">
                <a:solidFill>
                  <a:srgbClr val="6B748E"/>
                </a:solidFill>
                <a:latin typeface="Calibri"/>
              </a:rPr>
              <a:t>1,000 rounds, budget = 300, all six algorithms, averaged over 30 runs</a:t>
            </a:r>
          </a:p>
        </p:txBody>
      </p:sp>
      <p:pic>
        <p:nvPicPr>
          <p:cNvPr id="8" name="Picture 7" descr="slide_arm_distribution.png"/>
          <p:cNvPicPr>
            <a:picLocks noChangeAspect="1"/>
          </p:cNvPicPr>
          <p:nvPr/>
        </p:nvPicPr>
        <p:blipFill>
          <a:blip r:embed="rId2"/>
          <a:stretch>
            <a:fillRect/>
          </a:stretch>
        </p:blipFill>
        <p:spPr>
          <a:xfrm>
            <a:off x="365760" y="1520189"/>
            <a:ext cx="11430000" cy="3543300"/>
          </a:xfrm>
          <a:prstGeom prst="rect">
            <a:avLst/>
          </a:prstGeom>
        </p:spPr>
      </p:pic>
      <p:sp>
        <p:nvSpPr>
          <p:cNvPr id="9" name="TextBox 8"/>
          <p:cNvSpPr txBox="1"/>
          <p:nvPr/>
        </p:nvSpPr>
        <p:spPr>
          <a:xfrm>
            <a:off x="914400" y="5486400"/>
            <a:ext cx="10332720" cy="1234440"/>
          </a:xfrm>
          <a:prstGeom prst="rect">
            <a:avLst/>
          </a:prstGeom>
          <a:noFill/>
        </p:spPr>
        <p:txBody>
          <a:bodyPr wrap="square" lIns="0" tIns="0" rIns="0" bIns="0">
            <a:spAutoFit/>
          </a:bodyPr>
          <a:lstStyle/>
          <a:p>
            <a:pPr>
              <a:lnSpc>
                <a:spcPct val="122000"/>
              </a:lnSpc>
              <a:spcAft>
                <a:spcPts val="0"/>
              </a:spcAft>
            </a:pPr>
            <a:r>
              <a:rPr sz="1250">
                <a:solidFill>
                  <a:srgbClr val="222A3D"/>
                </a:solidFill>
                <a:latin typeface="Calibri"/>
              </a:rPr>
              <a:t>The true best bid is 0.5, tied exactly with 0.6 (both give expected reward 1/3 on this discrete grid). Without budget pacing, UCB1-Tuned and Rescaled-Constant UCB land on that tied-optimal set about 51.7% of the time, versus 31.6% for plain UCB1; the same gap shows up with budget pacing too (42.8% and 43.6% vs. 28.7%). A uniform-random bidder would land on it only 9.1% of the time, so all six algorithms are clearly learning — the tuned and rescaled variants are just converging on the same answer with a tighter, more confident distribution, which is the direct mechanism behind their lower regret.</a:t>
            </a:r>
          </a:p>
        </p:txBody>
      </p:sp>
      <p:sp>
        <p:nvSpPr>
          <p:cNvPr id="10" name="TextBox 9"/>
          <p:cNvSpPr txBox="1"/>
          <p:nvPr/>
        </p:nvSpPr>
        <p:spPr>
          <a:xfrm>
            <a:off x="822960" y="6537960"/>
            <a:ext cx="10515600" cy="274320"/>
          </a:xfrm>
          <a:prstGeom prst="rect">
            <a:avLst/>
          </a:prstGeom>
          <a:noFill/>
        </p:spPr>
        <p:txBody>
          <a:bodyPr wrap="square" lIns="0" tIns="0" rIns="0" bIns="0" anchor="t">
            <a:spAutoFit/>
          </a:bodyPr>
          <a:lstStyle/>
          <a:p>
            <a:pPr algn="l"/>
            <a:r>
              <a:rPr sz="1000" b="0" i="0">
                <a:solidFill>
                  <a:srgbClr val="6B748E"/>
                </a:solidFill>
                <a:latin typeface="Calibri"/>
              </a:rPr>
              <a:t>Requirement 1 — Single-Campaign Stochastic Bidding</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640080" y="457200"/>
            <a:ext cx="502920" cy="502920"/>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1024128" y="713232"/>
            <a:ext cx="292608" cy="292608"/>
          </a:xfrm>
          <a:prstGeom prst="ellipse">
            <a:avLst/>
          </a:prstGeom>
          <a:solidFill>
            <a:srgbClr val="4A5B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804672" y="960120"/>
            <a:ext cx="182880" cy="182880"/>
          </a:xfrm>
          <a:prstGeom prst="ellipse">
            <a:avLst/>
          </a:prstGeom>
          <a:solidFill>
            <a:srgbClr val="F2A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737360" y="411480"/>
            <a:ext cx="10058400" cy="822960"/>
          </a:xfrm>
          <a:prstGeom prst="rect">
            <a:avLst/>
          </a:prstGeom>
          <a:noFill/>
        </p:spPr>
        <p:txBody>
          <a:bodyPr wrap="square" lIns="0" tIns="0" rIns="0" bIns="0" anchor="t">
            <a:spAutoFit/>
          </a:bodyPr>
          <a:lstStyle/>
          <a:p>
            <a:pPr algn="l"/>
            <a:r>
              <a:rPr sz="2800" b="1" i="0">
                <a:solidFill>
                  <a:srgbClr val="1E2761"/>
                </a:solidFill>
                <a:latin typeface="Cambria"/>
              </a:rPr>
              <a:t>Extended Check — Is Regret Actually Sublinear?</a:t>
            </a:r>
          </a:p>
        </p:txBody>
      </p:sp>
      <p:sp>
        <p:nvSpPr>
          <p:cNvPr id="7" name="TextBox 6"/>
          <p:cNvSpPr txBox="1"/>
          <p:nvPr/>
        </p:nvSpPr>
        <p:spPr>
          <a:xfrm>
            <a:off x="1737360" y="987552"/>
            <a:ext cx="10058400" cy="365760"/>
          </a:xfrm>
          <a:prstGeom prst="rect">
            <a:avLst/>
          </a:prstGeom>
          <a:noFill/>
        </p:spPr>
        <p:txBody>
          <a:bodyPr wrap="square" lIns="0" tIns="0" rIns="0" bIns="0" anchor="t">
            <a:spAutoFit/>
          </a:bodyPr>
          <a:lstStyle/>
          <a:p>
            <a:pPr algn="l"/>
            <a:r>
              <a:rPr sz="1400" b="0" i="0">
                <a:solidFill>
                  <a:srgbClr val="6B748E"/>
                </a:solidFill>
                <a:latin typeface="Calibri"/>
              </a:rPr>
              <a:t>Same ratio (B/T = 0.3), scaled 10x: T = 10,000, B = 3,000, 8 seeds</a:t>
            </a:r>
          </a:p>
        </p:txBody>
      </p:sp>
      <p:pic>
        <p:nvPicPr>
          <p:cNvPr id="8" name="Picture 7" descr="slide_exp4_extended.png"/>
          <p:cNvPicPr>
            <a:picLocks noChangeAspect="1"/>
          </p:cNvPicPr>
          <p:nvPr/>
        </p:nvPicPr>
        <p:blipFill>
          <a:blip r:embed="rId2"/>
          <a:stretch>
            <a:fillRect/>
          </a:stretch>
        </p:blipFill>
        <p:spPr>
          <a:xfrm>
            <a:off x="1240483" y="1417320"/>
            <a:ext cx="9680553" cy="3566160"/>
          </a:xfrm>
          <a:prstGeom prst="rect">
            <a:avLst/>
          </a:prstGeom>
        </p:spPr>
      </p:pic>
      <p:sp>
        <p:nvSpPr>
          <p:cNvPr id="9" name="TextBox 8"/>
          <p:cNvSpPr txBox="1"/>
          <p:nvPr/>
        </p:nvSpPr>
        <p:spPr>
          <a:xfrm>
            <a:off x="914400" y="5166360"/>
            <a:ext cx="10332720" cy="1325880"/>
          </a:xfrm>
          <a:prstGeom prst="rect">
            <a:avLst/>
          </a:prstGeom>
          <a:noFill/>
        </p:spPr>
        <p:txBody>
          <a:bodyPr wrap="square" lIns="0" tIns="0" rIns="0" bIns="0">
            <a:spAutoFit/>
          </a:bodyPr>
          <a:lstStyle/>
          <a:p>
            <a:pPr>
              <a:lnSpc>
                <a:spcPct val="122000"/>
              </a:lnSpc>
              <a:spcAft>
                <a:spcPts val="0"/>
              </a:spcAft>
            </a:pPr>
            <a:r>
              <a:rPr sz="1200">
                <a:solidFill>
                  <a:srgbClr val="222A3D"/>
                </a:solidFill>
                <a:latin typeface="Calibri"/>
              </a:rPr>
              <a:t>At T = 1,000 it's genuinely hard to tell by eye whether regret is growing sublinearly. Scaled up 10x, the budget-free algorithms trace a clearly concave, flattening curve for about the first 7,100 rounds before kinking into a straight-line ramp once they run out of budget — the same fair full-horizon accounting used everywhere else, not a sign they stopped learning. The budget-aware algorithms never hit that wall: their curves stay concave the entire way to round 10,000, ending around 417 (Budgeted UCB), 131 (Budgeted UCB1-Tuned), and 112 (Budgeted Rescaled-Constant UCB) — a much smaller regret per round than at T = 1,000, which is exactly the sublinear signature we were looking for.</a:t>
            </a:r>
          </a:p>
        </p:txBody>
      </p:sp>
      <p:sp>
        <p:nvSpPr>
          <p:cNvPr id="10" name="TextBox 9"/>
          <p:cNvSpPr txBox="1"/>
          <p:nvPr/>
        </p:nvSpPr>
        <p:spPr>
          <a:xfrm>
            <a:off x="822960" y="6537960"/>
            <a:ext cx="10515600" cy="274320"/>
          </a:xfrm>
          <a:prstGeom prst="rect">
            <a:avLst/>
          </a:prstGeom>
          <a:noFill/>
        </p:spPr>
        <p:txBody>
          <a:bodyPr wrap="square" lIns="0" tIns="0" rIns="0" bIns="0" anchor="t">
            <a:spAutoFit/>
          </a:bodyPr>
          <a:lstStyle/>
          <a:p>
            <a:pPr algn="l"/>
            <a:r>
              <a:rPr sz="1000" b="0" i="0">
                <a:solidFill>
                  <a:srgbClr val="6B748E"/>
                </a:solidFill>
                <a:latin typeface="Calibri"/>
              </a:rPr>
              <a:t>Requirement 1 — Single-Campaign Stochastic Bidding</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640080" y="457200"/>
            <a:ext cx="502920" cy="502920"/>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1024128" y="713232"/>
            <a:ext cx="292608" cy="292608"/>
          </a:xfrm>
          <a:prstGeom prst="ellipse">
            <a:avLst/>
          </a:prstGeom>
          <a:solidFill>
            <a:srgbClr val="4A5B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804672" y="960120"/>
            <a:ext cx="182880" cy="182880"/>
          </a:xfrm>
          <a:prstGeom prst="ellipse">
            <a:avLst/>
          </a:prstGeom>
          <a:solidFill>
            <a:srgbClr val="F2A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737360" y="411480"/>
            <a:ext cx="10058400" cy="822960"/>
          </a:xfrm>
          <a:prstGeom prst="rect">
            <a:avLst/>
          </a:prstGeom>
          <a:noFill/>
        </p:spPr>
        <p:txBody>
          <a:bodyPr wrap="square" lIns="0" tIns="0" rIns="0" bIns="0" anchor="t">
            <a:spAutoFit/>
          </a:bodyPr>
          <a:lstStyle/>
          <a:p>
            <a:pPr algn="l"/>
            <a:r>
              <a:rPr sz="2800" b="1" i="0">
                <a:solidFill>
                  <a:srgbClr val="1E2761"/>
                </a:solidFill>
                <a:latin typeface="Cambria"/>
              </a:rPr>
              <a:t>All Six Algorithms, Side by Side</a:t>
            </a:r>
          </a:p>
        </p:txBody>
      </p:sp>
      <p:graphicFrame>
        <p:nvGraphicFramePr>
          <p:cNvPr id="7" name="Table 6"/>
          <p:cNvGraphicFramePr>
            <a:graphicFrameLocks noGrp="1"/>
          </p:cNvGraphicFramePr>
          <p:nvPr/>
        </p:nvGraphicFramePr>
        <p:xfrm>
          <a:off x="640080" y="1600200"/>
          <a:ext cx="10972800" cy="4023360"/>
        </p:xfrm>
        <a:graphic>
          <a:graphicData uri="http://schemas.openxmlformats.org/drawingml/2006/table">
            <a:tbl>
              <a:tblPr firstRow="1" bandRow="1">
                <a:tableStyleId>{5C22544A-7EE6-4342-B048-85BDC9FD1C3A}</a:tableStyleId>
              </a:tblPr>
              <a:tblGrid>
                <a:gridCol w="365760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2011680">
                  <a:extLst>
                    <a:ext uri="{9D8B030D-6E8A-4147-A177-3AD203B41FA5}">
                      <a16:colId xmlns:a16="http://schemas.microsoft.com/office/drawing/2014/main" val="20003"/>
                    </a:ext>
                  </a:extLst>
                </a:gridCol>
                <a:gridCol w="2286000">
                  <a:extLst>
                    <a:ext uri="{9D8B030D-6E8A-4147-A177-3AD203B41FA5}">
                      <a16:colId xmlns:a16="http://schemas.microsoft.com/office/drawing/2014/main" val="20004"/>
                    </a:ext>
                  </a:extLst>
                </a:gridCol>
              </a:tblGrid>
              <a:tr h="447040">
                <a:tc>
                  <a:txBody>
                    <a:bodyPr/>
                    <a:lstStyle/>
                    <a:p>
                      <a:pPr algn="l"/>
                      <a:r>
                        <a:rPr sz="1250" b="1">
                          <a:solidFill>
                            <a:srgbClr val="FFFFFF"/>
                          </a:solidFill>
                          <a:latin typeface="Calibri"/>
                        </a:rPr>
                        <a:t>Algorithm</a:t>
                      </a:r>
                    </a:p>
                  </a:txBody>
                  <a:tcPr anchor="ctr">
                    <a:solidFill>
                      <a:srgbClr val="1E2761"/>
                    </a:solidFill>
                  </a:tcPr>
                </a:tc>
                <a:tc>
                  <a:txBody>
                    <a:bodyPr/>
                    <a:lstStyle/>
                    <a:p>
                      <a:pPr algn="ctr"/>
                      <a:r>
                        <a:rPr sz="1250" b="1">
                          <a:solidFill>
                            <a:srgbClr val="FFFFFF"/>
                          </a:solidFill>
                          <a:latin typeface="Calibri"/>
                        </a:rPr>
                        <a:t>Budget</a:t>
                      </a:r>
                    </a:p>
                  </a:txBody>
                  <a:tcPr anchor="ctr">
                    <a:solidFill>
                      <a:srgbClr val="1E2761"/>
                    </a:solidFill>
                  </a:tcPr>
                </a:tc>
                <a:tc>
                  <a:txBody>
                    <a:bodyPr/>
                    <a:lstStyle/>
                    <a:p>
                      <a:pPr algn="ctr"/>
                      <a:r>
                        <a:rPr sz="1250" b="1">
                          <a:solidFill>
                            <a:srgbClr val="FFFFFF"/>
                          </a:solidFill>
                          <a:latin typeface="Calibri"/>
                        </a:rPr>
                        <a:t>Stopped early</a:t>
                      </a:r>
                    </a:p>
                  </a:txBody>
                  <a:tcPr anchor="ctr">
                    <a:solidFill>
                      <a:srgbClr val="1E2761"/>
                    </a:solidFill>
                  </a:tcPr>
                </a:tc>
                <a:tc>
                  <a:txBody>
                    <a:bodyPr/>
                    <a:lstStyle/>
                    <a:p>
                      <a:pPr algn="ctr"/>
                      <a:r>
                        <a:rPr sz="1250" b="1">
                          <a:solidFill>
                            <a:srgbClr val="FFFFFF"/>
                          </a:solidFill>
                          <a:latin typeface="Calibri"/>
                        </a:rPr>
                        <a:t>Mean rounds played</a:t>
                      </a:r>
                    </a:p>
                  </a:txBody>
                  <a:tcPr anchor="ctr">
                    <a:solidFill>
                      <a:srgbClr val="1E2761"/>
                    </a:solidFill>
                  </a:tcPr>
                </a:tc>
                <a:tc>
                  <a:txBody>
                    <a:bodyPr/>
                    <a:lstStyle/>
                    <a:p>
                      <a:pPr algn="ctr"/>
                      <a:r>
                        <a:rPr sz="1250" b="1">
                          <a:solidFill>
                            <a:srgbClr val="FFFFFF"/>
                          </a:solidFill>
                          <a:latin typeface="Calibri"/>
                        </a:rPr>
                        <a:t>Mean full-horizon regret (± std)</a:t>
                      </a:r>
                    </a:p>
                  </a:txBody>
                  <a:tcPr anchor="ctr">
                    <a:solidFill>
                      <a:srgbClr val="1E2761"/>
                    </a:solidFill>
                  </a:tcPr>
                </a:tc>
                <a:extLst>
                  <a:ext uri="{0D108BD9-81ED-4DB2-BD59-A6C34878D82A}">
                    <a16:rowId xmlns:a16="http://schemas.microsoft.com/office/drawing/2014/main" val="10000"/>
                  </a:ext>
                </a:extLst>
              </a:tr>
              <a:tr h="447040">
                <a:tc>
                  <a:txBody>
                    <a:bodyPr/>
                    <a:lstStyle/>
                    <a:p>
                      <a:pPr algn="l"/>
                      <a:r>
                        <a:rPr sz="1200">
                          <a:solidFill>
                            <a:srgbClr val="222A3D"/>
                          </a:solidFill>
                          <a:latin typeface="Calibri"/>
                        </a:rPr>
                        <a:t>UCB1</a:t>
                      </a:r>
                    </a:p>
                  </a:txBody>
                  <a:tcPr anchor="ctr">
                    <a:solidFill>
                      <a:srgbClr val="F3F6FC"/>
                    </a:solidFill>
                  </a:tcPr>
                </a:tc>
                <a:tc>
                  <a:txBody>
                    <a:bodyPr/>
                    <a:lstStyle/>
                    <a:p>
                      <a:pPr algn="ctr"/>
                      <a:r>
                        <a:rPr sz="1200">
                          <a:solidFill>
                            <a:srgbClr val="222A3D"/>
                          </a:solidFill>
                          <a:latin typeface="Calibri"/>
                        </a:rPr>
                        <a:t>300</a:t>
                      </a:r>
                    </a:p>
                  </a:txBody>
                  <a:tcPr anchor="ctr">
                    <a:solidFill>
                      <a:srgbClr val="F3F6FC"/>
                    </a:solidFill>
                  </a:tcPr>
                </a:tc>
                <a:tc>
                  <a:txBody>
                    <a:bodyPr/>
                    <a:lstStyle/>
                    <a:p>
                      <a:pPr algn="ctr"/>
                      <a:r>
                        <a:rPr sz="1200">
                          <a:solidFill>
                            <a:srgbClr val="222A3D"/>
                          </a:solidFill>
                          <a:latin typeface="Calibri"/>
                        </a:rPr>
                        <a:t>30 / 30</a:t>
                      </a:r>
                    </a:p>
                  </a:txBody>
                  <a:tcPr anchor="ctr">
                    <a:solidFill>
                      <a:srgbClr val="F3F6FC"/>
                    </a:solidFill>
                  </a:tcPr>
                </a:tc>
                <a:tc>
                  <a:txBody>
                    <a:bodyPr/>
                    <a:lstStyle/>
                    <a:p>
                      <a:pPr algn="ctr"/>
                      <a:r>
                        <a:rPr sz="1200">
                          <a:solidFill>
                            <a:srgbClr val="222A3D"/>
                          </a:solidFill>
                          <a:latin typeface="Calibri"/>
                        </a:rPr>
                        <a:t>716.1</a:t>
                      </a:r>
                    </a:p>
                  </a:txBody>
                  <a:tcPr anchor="ctr">
                    <a:solidFill>
                      <a:srgbClr val="F3F6FC"/>
                    </a:solidFill>
                  </a:tcPr>
                </a:tc>
                <a:tc>
                  <a:txBody>
                    <a:bodyPr/>
                    <a:lstStyle/>
                    <a:p>
                      <a:pPr algn="ctr"/>
                      <a:r>
                        <a:rPr sz="1200">
                          <a:solidFill>
                            <a:srgbClr val="222A3D"/>
                          </a:solidFill>
                          <a:latin typeface="Calibri"/>
                        </a:rPr>
                        <a:t>163.4  (± 2.32)</a:t>
                      </a:r>
                    </a:p>
                  </a:txBody>
                  <a:tcPr anchor="ctr">
                    <a:solidFill>
                      <a:srgbClr val="F3F6FC"/>
                    </a:solidFill>
                  </a:tcPr>
                </a:tc>
                <a:extLst>
                  <a:ext uri="{0D108BD9-81ED-4DB2-BD59-A6C34878D82A}">
                    <a16:rowId xmlns:a16="http://schemas.microsoft.com/office/drawing/2014/main" val="10001"/>
                  </a:ext>
                </a:extLst>
              </a:tr>
              <a:tr h="447040">
                <a:tc>
                  <a:txBody>
                    <a:bodyPr/>
                    <a:lstStyle/>
                    <a:p>
                      <a:pPr algn="l"/>
                      <a:r>
                        <a:rPr sz="1200">
                          <a:solidFill>
                            <a:srgbClr val="222A3D"/>
                          </a:solidFill>
                          <a:latin typeface="Calibri"/>
                        </a:rPr>
                        <a:t>Budgeted UCB</a:t>
                      </a:r>
                    </a:p>
                  </a:txBody>
                  <a:tcPr anchor="ctr">
                    <a:solidFill>
                      <a:srgbClr val="FFFFFF"/>
                    </a:solidFill>
                  </a:tcPr>
                </a:tc>
                <a:tc>
                  <a:txBody>
                    <a:bodyPr/>
                    <a:lstStyle/>
                    <a:p>
                      <a:pPr algn="ctr"/>
                      <a:r>
                        <a:rPr sz="1200">
                          <a:solidFill>
                            <a:srgbClr val="222A3D"/>
                          </a:solidFill>
                          <a:latin typeface="Calibri"/>
                        </a:rPr>
                        <a:t>300</a:t>
                      </a:r>
                    </a:p>
                  </a:txBody>
                  <a:tcPr anchor="ctr">
                    <a:solidFill>
                      <a:srgbClr val="FFFFFF"/>
                    </a:solidFill>
                  </a:tcPr>
                </a:tc>
                <a:tc>
                  <a:txBody>
                    <a:bodyPr/>
                    <a:lstStyle/>
                    <a:p>
                      <a:pPr algn="ctr"/>
                      <a:r>
                        <a:rPr sz="1200">
                          <a:solidFill>
                            <a:srgbClr val="222A3D"/>
                          </a:solidFill>
                          <a:latin typeface="Calibri"/>
                        </a:rPr>
                        <a:t>0 / 30</a:t>
                      </a:r>
                    </a:p>
                  </a:txBody>
                  <a:tcPr anchor="ctr">
                    <a:solidFill>
                      <a:srgbClr val="FFFFFF"/>
                    </a:solidFill>
                  </a:tcPr>
                </a:tc>
                <a:tc>
                  <a:txBody>
                    <a:bodyPr/>
                    <a:lstStyle/>
                    <a:p>
                      <a:pPr algn="ctr"/>
                      <a:r>
                        <a:rPr sz="1200">
                          <a:solidFill>
                            <a:srgbClr val="222A3D"/>
                          </a:solidFill>
                          <a:latin typeface="Calibri"/>
                        </a:rPr>
                        <a:t>1000.0</a:t>
                      </a:r>
                    </a:p>
                  </a:txBody>
                  <a:tcPr anchor="ctr">
                    <a:solidFill>
                      <a:srgbClr val="FFFFFF"/>
                    </a:solidFill>
                  </a:tcPr>
                </a:tc>
                <a:tc>
                  <a:txBody>
                    <a:bodyPr/>
                    <a:lstStyle/>
                    <a:p>
                      <a:pPr algn="ctr"/>
                      <a:r>
                        <a:rPr sz="1200">
                          <a:solidFill>
                            <a:srgbClr val="222A3D"/>
                          </a:solidFill>
                          <a:latin typeface="Calibri"/>
                        </a:rPr>
                        <a:t>91.1  (± 1.54)</a:t>
                      </a:r>
                    </a:p>
                  </a:txBody>
                  <a:tcPr anchor="ctr">
                    <a:solidFill>
                      <a:srgbClr val="FFFFFF"/>
                    </a:solidFill>
                  </a:tcPr>
                </a:tc>
                <a:extLst>
                  <a:ext uri="{0D108BD9-81ED-4DB2-BD59-A6C34878D82A}">
                    <a16:rowId xmlns:a16="http://schemas.microsoft.com/office/drawing/2014/main" val="10002"/>
                  </a:ext>
                </a:extLst>
              </a:tr>
              <a:tr h="447040">
                <a:tc>
                  <a:txBody>
                    <a:bodyPr/>
                    <a:lstStyle/>
                    <a:p>
                      <a:pPr algn="l"/>
                      <a:r>
                        <a:rPr sz="1200">
                          <a:solidFill>
                            <a:srgbClr val="222A3D"/>
                          </a:solidFill>
                          <a:latin typeface="Calibri"/>
                        </a:rPr>
                        <a:t>UCB1-Tuned</a:t>
                      </a:r>
                    </a:p>
                  </a:txBody>
                  <a:tcPr anchor="ctr">
                    <a:solidFill>
                      <a:srgbClr val="F3F6FC"/>
                    </a:solidFill>
                  </a:tcPr>
                </a:tc>
                <a:tc>
                  <a:txBody>
                    <a:bodyPr/>
                    <a:lstStyle/>
                    <a:p>
                      <a:pPr algn="ctr"/>
                      <a:r>
                        <a:rPr sz="1200">
                          <a:solidFill>
                            <a:srgbClr val="222A3D"/>
                          </a:solidFill>
                          <a:latin typeface="Calibri"/>
                        </a:rPr>
                        <a:t>300</a:t>
                      </a:r>
                    </a:p>
                  </a:txBody>
                  <a:tcPr anchor="ctr">
                    <a:solidFill>
                      <a:srgbClr val="F3F6FC"/>
                    </a:solidFill>
                  </a:tcPr>
                </a:tc>
                <a:tc>
                  <a:txBody>
                    <a:bodyPr/>
                    <a:lstStyle/>
                    <a:p>
                      <a:pPr algn="ctr"/>
                      <a:r>
                        <a:rPr sz="1200">
                          <a:solidFill>
                            <a:srgbClr val="222A3D"/>
                          </a:solidFill>
                          <a:latin typeface="Calibri"/>
                        </a:rPr>
                        <a:t>30 / 30</a:t>
                      </a:r>
                    </a:p>
                  </a:txBody>
                  <a:tcPr anchor="ctr">
                    <a:solidFill>
                      <a:srgbClr val="F3F6FC"/>
                    </a:solidFill>
                  </a:tcPr>
                </a:tc>
                <a:tc>
                  <a:txBody>
                    <a:bodyPr/>
                    <a:lstStyle/>
                    <a:p>
                      <a:pPr algn="ctr"/>
                      <a:r>
                        <a:rPr sz="1200">
                          <a:solidFill>
                            <a:srgbClr val="222A3D"/>
                          </a:solidFill>
                          <a:latin typeface="Calibri"/>
                        </a:rPr>
                        <a:t>700.4</a:t>
                      </a:r>
                    </a:p>
                  </a:txBody>
                  <a:tcPr anchor="ctr">
                    <a:solidFill>
                      <a:srgbClr val="F3F6FC"/>
                    </a:solidFill>
                  </a:tcPr>
                </a:tc>
                <a:tc>
                  <a:txBody>
                    <a:bodyPr/>
                    <a:lstStyle/>
                    <a:p>
                      <a:pPr algn="ctr"/>
                      <a:r>
                        <a:rPr sz="1200">
                          <a:solidFill>
                            <a:srgbClr val="222A3D"/>
                          </a:solidFill>
                          <a:latin typeface="Calibri"/>
                        </a:rPr>
                        <a:t>131.9  (± 8.06)</a:t>
                      </a:r>
                    </a:p>
                  </a:txBody>
                  <a:tcPr anchor="ctr">
                    <a:solidFill>
                      <a:srgbClr val="F3F6FC"/>
                    </a:solidFill>
                  </a:tcPr>
                </a:tc>
                <a:extLst>
                  <a:ext uri="{0D108BD9-81ED-4DB2-BD59-A6C34878D82A}">
                    <a16:rowId xmlns:a16="http://schemas.microsoft.com/office/drawing/2014/main" val="10003"/>
                  </a:ext>
                </a:extLst>
              </a:tr>
              <a:tr h="447040">
                <a:tc>
                  <a:txBody>
                    <a:bodyPr/>
                    <a:lstStyle/>
                    <a:p>
                      <a:pPr algn="l"/>
                      <a:r>
                        <a:rPr sz="1200">
                          <a:solidFill>
                            <a:srgbClr val="222A3D"/>
                          </a:solidFill>
                          <a:latin typeface="Calibri"/>
                        </a:rPr>
                        <a:t>Rescaled-Constant UCB</a:t>
                      </a:r>
                    </a:p>
                  </a:txBody>
                  <a:tcPr anchor="ctr">
                    <a:solidFill>
                      <a:srgbClr val="FFFFFF"/>
                    </a:solidFill>
                  </a:tcPr>
                </a:tc>
                <a:tc>
                  <a:txBody>
                    <a:bodyPr/>
                    <a:lstStyle/>
                    <a:p>
                      <a:pPr algn="ctr"/>
                      <a:r>
                        <a:rPr sz="1200">
                          <a:solidFill>
                            <a:srgbClr val="222A3D"/>
                          </a:solidFill>
                          <a:latin typeface="Calibri"/>
                        </a:rPr>
                        <a:t>300</a:t>
                      </a:r>
                    </a:p>
                  </a:txBody>
                  <a:tcPr anchor="ctr">
                    <a:solidFill>
                      <a:srgbClr val="FFFFFF"/>
                    </a:solidFill>
                  </a:tcPr>
                </a:tc>
                <a:tc>
                  <a:txBody>
                    <a:bodyPr/>
                    <a:lstStyle/>
                    <a:p>
                      <a:pPr algn="ctr"/>
                      <a:r>
                        <a:rPr sz="1200">
                          <a:solidFill>
                            <a:srgbClr val="222A3D"/>
                          </a:solidFill>
                          <a:latin typeface="Calibri"/>
                        </a:rPr>
                        <a:t>30 / 30</a:t>
                      </a:r>
                    </a:p>
                  </a:txBody>
                  <a:tcPr anchor="ctr">
                    <a:solidFill>
                      <a:srgbClr val="FFFFFF"/>
                    </a:solidFill>
                  </a:tcPr>
                </a:tc>
                <a:tc>
                  <a:txBody>
                    <a:bodyPr/>
                    <a:lstStyle/>
                    <a:p>
                      <a:pPr algn="ctr"/>
                      <a:r>
                        <a:rPr sz="1200">
                          <a:solidFill>
                            <a:srgbClr val="222A3D"/>
                          </a:solidFill>
                          <a:latin typeface="Calibri"/>
                        </a:rPr>
                        <a:t>713.5</a:t>
                      </a:r>
                    </a:p>
                  </a:txBody>
                  <a:tcPr anchor="ctr">
                    <a:solidFill>
                      <a:srgbClr val="FFFFFF"/>
                    </a:solidFill>
                  </a:tcPr>
                </a:tc>
                <a:tc>
                  <a:txBody>
                    <a:bodyPr/>
                    <a:lstStyle/>
                    <a:p>
                      <a:pPr algn="ctr"/>
                      <a:r>
                        <a:rPr sz="1200">
                          <a:solidFill>
                            <a:srgbClr val="222A3D"/>
                          </a:solidFill>
                          <a:latin typeface="Calibri"/>
                        </a:rPr>
                        <a:t>126.6  (± 8.01)</a:t>
                      </a:r>
                    </a:p>
                  </a:txBody>
                  <a:tcPr anchor="ctr">
                    <a:solidFill>
                      <a:srgbClr val="FFFFFF"/>
                    </a:solidFill>
                  </a:tcPr>
                </a:tc>
                <a:extLst>
                  <a:ext uri="{0D108BD9-81ED-4DB2-BD59-A6C34878D82A}">
                    <a16:rowId xmlns:a16="http://schemas.microsoft.com/office/drawing/2014/main" val="10004"/>
                  </a:ext>
                </a:extLst>
              </a:tr>
              <a:tr h="447040">
                <a:tc>
                  <a:txBody>
                    <a:bodyPr/>
                    <a:lstStyle/>
                    <a:p>
                      <a:pPr algn="l"/>
                      <a:r>
                        <a:rPr sz="1200">
                          <a:solidFill>
                            <a:srgbClr val="222A3D"/>
                          </a:solidFill>
                          <a:latin typeface="Calibri"/>
                        </a:rPr>
                        <a:t>Budgeted UCB1-Tuned</a:t>
                      </a:r>
                    </a:p>
                  </a:txBody>
                  <a:tcPr anchor="ctr">
                    <a:solidFill>
                      <a:srgbClr val="F3F6FC"/>
                    </a:solidFill>
                  </a:tcPr>
                </a:tc>
                <a:tc>
                  <a:txBody>
                    <a:bodyPr/>
                    <a:lstStyle/>
                    <a:p>
                      <a:pPr algn="ctr"/>
                      <a:r>
                        <a:rPr sz="1200">
                          <a:solidFill>
                            <a:srgbClr val="222A3D"/>
                          </a:solidFill>
                          <a:latin typeface="Calibri"/>
                        </a:rPr>
                        <a:t>300</a:t>
                      </a:r>
                    </a:p>
                  </a:txBody>
                  <a:tcPr anchor="ctr">
                    <a:solidFill>
                      <a:srgbClr val="F3F6FC"/>
                    </a:solidFill>
                  </a:tcPr>
                </a:tc>
                <a:tc>
                  <a:txBody>
                    <a:bodyPr/>
                    <a:lstStyle/>
                    <a:p>
                      <a:pPr algn="ctr"/>
                      <a:r>
                        <a:rPr sz="1200">
                          <a:solidFill>
                            <a:srgbClr val="222A3D"/>
                          </a:solidFill>
                          <a:latin typeface="Calibri"/>
                        </a:rPr>
                        <a:t>0 / 30</a:t>
                      </a:r>
                    </a:p>
                  </a:txBody>
                  <a:tcPr anchor="ctr">
                    <a:solidFill>
                      <a:srgbClr val="F3F6FC"/>
                    </a:solidFill>
                  </a:tcPr>
                </a:tc>
                <a:tc>
                  <a:txBody>
                    <a:bodyPr/>
                    <a:lstStyle/>
                    <a:p>
                      <a:pPr algn="ctr"/>
                      <a:r>
                        <a:rPr sz="1200">
                          <a:solidFill>
                            <a:srgbClr val="222A3D"/>
                          </a:solidFill>
                          <a:latin typeface="Calibri"/>
                        </a:rPr>
                        <a:t>1000.0</a:t>
                      </a:r>
                    </a:p>
                  </a:txBody>
                  <a:tcPr anchor="ctr">
                    <a:solidFill>
                      <a:srgbClr val="F3F6FC"/>
                    </a:solidFill>
                  </a:tcPr>
                </a:tc>
                <a:tc>
                  <a:txBody>
                    <a:bodyPr/>
                    <a:lstStyle/>
                    <a:p>
                      <a:pPr algn="ctr"/>
                      <a:r>
                        <a:rPr sz="1200">
                          <a:solidFill>
                            <a:srgbClr val="222A3D"/>
                          </a:solidFill>
                          <a:latin typeface="Calibri"/>
                        </a:rPr>
                        <a:t>41.9  (± 4.05)</a:t>
                      </a:r>
                    </a:p>
                  </a:txBody>
                  <a:tcPr anchor="ctr">
                    <a:solidFill>
                      <a:srgbClr val="F3F6FC"/>
                    </a:solidFill>
                  </a:tcPr>
                </a:tc>
                <a:extLst>
                  <a:ext uri="{0D108BD9-81ED-4DB2-BD59-A6C34878D82A}">
                    <a16:rowId xmlns:a16="http://schemas.microsoft.com/office/drawing/2014/main" val="10005"/>
                  </a:ext>
                </a:extLst>
              </a:tr>
              <a:tr h="447040">
                <a:tc>
                  <a:txBody>
                    <a:bodyPr/>
                    <a:lstStyle/>
                    <a:p>
                      <a:pPr algn="l"/>
                      <a:r>
                        <a:rPr sz="1200">
                          <a:solidFill>
                            <a:srgbClr val="222A3D"/>
                          </a:solidFill>
                          <a:latin typeface="Calibri"/>
                        </a:rPr>
                        <a:t>Budgeted Rescaled-Constant UCB</a:t>
                      </a:r>
                    </a:p>
                  </a:txBody>
                  <a:tcPr anchor="ctr">
                    <a:solidFill>
                      <a:srgbClr val="FFFFFF"/>
                    </a:solidFill>
                  </a:tcPr>
                </a:tc>
                <a:tc>
                  <a:txBody>
                    <a:bodyPr/>
                    <a:lstStyle/>
                    <a:p>
                      <a:pPr algn="ctr"/>
                      <a:r>
                        <a:rPr sz="1200">
                          <a:solidFill>
                            <a:srgbClr val="222A3D"/>
                          </a:solidFill>
                          <a:latin typeface="Calibri"/>
                        </a:rPr>
                        <a:t>300</a:t>
                      </a:r>
                    </a:p>
                  </a:txBody>
                  <a:tcPr anchor="ctr">
                    <a:solidFill>
                      <a:srgbClr val="FFFFFF"/>
                    </a:solidFill>
                  </a:tcPr>
                </a:tc>
                <a:tc>
                  <a:txBody>
                    <a:bodyPr/>
                    <a:lstStyle/>
                    <a:p>
                      <a:pPr algn="ctr"/>
                      <a:r>
                        <a:rPr sz="1200">
                          <a:solidFill>
                            <a:srgbClr val="222A3D"/>
                          </a:solidFill>
                          <a:latin typeface="Calibri"/>
                        </a:rPr>
                        <a:t>0 / 30</a:t>
                      </a:r>
                    </a:p>
                  </a:txBody>
                  <a:tcPr anchor="ctr">
                    <a:solidFill>
                      <a:srgbClr val="FFFFFF"/>
                    </a:solidFill>
                  </a:tcPr>
                </a:tc>
                <a:tc>
                  <a:txBody>
                    <a:bodyPr/>
                    <a:lstStyle/>
                    <a:p>
                      <a:pPr algn="ctr"/>
                      <a:r>
                        <a:rPr sz="1200">
                          <a:solidFill>
                            <a:srgbClr val="222A3D"/>
                          </a:solidFill>
                          <a:latin typeface="Calibri"/>
                        </a:rPr>
                        <a:t>1000.0</a:t>
                      </a:r>
                    </a:p>
                  </a:txBody>
                  <a:tcPr anchor="ctr">
                    <a:solidFill>
                      <a:srgbClr val="FFFFFF"/>
                    </a:solidFill>
                  </a:tcPr>
                </a:tc>
                <a:tc>
                  <a:txBody>
                    <a:bodyPr/>
                    <a:lstStyle/>
                    <a:p>
                      <a:pPr algn="ctr"/>
                      <a:r>
                        <a:rPr sz="1200">
                          <a:solidFill>
                            <a:srgbClr val="222A3D"/>
                          </a:solidFill>
                          <a:latin typeface="Calibri"/>
                        </a:rPr>
                        <a:t>39.8  (± 3.98)</a:t>
                      </a:r>
                    </a:p>
                  </a:txBody>
                  <a:tcPr anchor="ctr">
                    <a:solidFill>
                      <a:srgbClr val="FFFFFF"/>
                    </a:solidFill>
                  </a:tcPr>
                </a:tc>
                <a:extLst>
                  <a:ext uri="{0D108BD9-81ED-4DB2-BD59-A6C34878D82A}">
                    <a16:rowId xmlns:a16="http://schemas.microsoft.com/office/drawing/2014/main" val="10006"/>
                  </a:ext>
                </a:extLst>
              </a:tr>
              <a:tr h="447040">
                <a:tc>
                  <a:txBody>
                    <a:bodyPr/>
                    <a:lstStyle/>
                    <a:p>
                      <a:pPr algn="l"/>
                      <a:r>
                        <a:rPr sz="1200">
                          <a:solidFill>
                            <a:srgbClr val="222A3D"/>
                          </a:solidFill>
                          <a:latin typeface="Calibri"/>
                        </a:rPr>
                        <a:t>UCB1</a:t>
                      </a:r>
                    </a:p>
                  </a:txBody>
                  <a:tcPr anchor="ctr">
                    <a:solidFill>
                      <a:srgbClr val="F3F6FC"/>
                    </a:solidFill>
                  </a:tcPr>
                </a:tc>
                <a:tc>
                  <a:txBody>
                    <a:bodyPr/>
                    <a:lstStyle/>
                    <a:p>
                      <a:pPr algn="ctr"/>
                      <a:r>
                        <a:rPr sz="1200">
                          <a:solidFill>
                            <a:srgbClr val="222A3D"/>
                          </a:solidFill>
                          <a:latin typeface="Calibri"/>
                        </a:rPr>
                        <a:t>150</a:t>
                      </a:r>
                    </a:p>
                  </a:txBody>
                  <a:tcPr anchor="ctr">
                    <a:solidFill>
                      <a:srgbClr val="F3F6FC"/>
                    </a:solidFill>
                  </a:tcPr>
                </a:tc>
                <a:tc>
                  <a:txBody>
                    <a:bodyPr/>
                    <a:lstStyle/>
                    <a:p>
                      <a:pPr algn="ctr"/>
                      <a:r>
                        <a:rPr sz="1200">
                          <a:solidFill>
                            <a:srgbClr val="222A3D"/>
                          </a:solidFill>
                          <a:latin typeface="Calibri"/>
                        </a:rPr>
                        <a:t>30 / 30</a:t>
                      </a:r>
                    </a:p>
                  </a:txBody>
                  <a:tcPr anchor="ctr">
                    <a:solidFill>
                      <a:srgbClr val="F3F6FC"/>
                    </a:solidFill>
                  </a:tcPr>
                </a:tc>
                <a:tc>
                  <a:txBody>
                    <a:bodyPr/>
                    <a:lstStyle/>
                    <a:p>
                      <a:pPr algn="ctr"/>
                      <a:r>
                        <a:rPr sz="1200">
                          <a:solidFill>
                            <a:srgbClr val="222A3D"/>
                          </a:solidFill>
                          <a:latin typeface="Calibri"/>
                        </a:rPr>
                        <a:t>356.8</a:t>
                      </a:r>
                    </a:p>
                  </a:txBody>
                  <a:tcPr anchor="ctr">
                    <a:solidFill>
                      <a:srgbClr val="F3F6FC"/>
                    </a:solidFill>
                  </a:tcPr>
                </a:tc>
                <a:tc>
                  <a:txBody>
                    <a:bodyPr/>
                    <a:lstStyle/>
                    <a:p>
                      <a:pPr algn="ctr"/>
                      <a:r>
                        <a:rPr sz="1200">
                          <a:solidFill>
                            <a:srgbClr val="222A3D"/>
                          </a:solidFill>
                          <a:latin typeface="Calibri"/>
                        </a:rPr>
                        <a:t>253.3  (± 1.22)</a:t>
                      </a:r>
                    </a:p>
                  </a:txBody>
                  <a:tcPr anchor="ctr">
                    <a:solidFill>
                      <a:srgbClr val="F3F6FC"/>
                    </a:solidFill>
                  </a:tcPr>
                </a:tc>
                <a:extLst>
                  <a:ext uri="{0D108BD9-81ED-4DB2-BD59-A6C34878D82A}">
                    <a16:rowId xmlns:a16="http://schemas.microsoft.com/office/drawing/2014/main" val="10007"/>
                  </a:ext>
                </a:extLst>
              </a:tr>
              <a:tr h="447040">
                <a:tc>
                  <a:txBody>
                    <a:bodyPr/>
                    <a:lstStyle/>
                    <a:p>
                      <a:pPr algn="l"/>
                      <a:r>
                        <a:rPr sz="1200">
                          <a:solidFill>
                            <a:srgbClr val="222A3D"/>
                          </a:solidFill>
                          <a:latin typeface="Calibri"/>
                        </a:rPr>
                        <a:t>Budgeted UCB</a:t>
                      </a:r>
                    </a:p>
                  </a:txBody>
                  <a:tcPr anchor="ctr">
                    <a:solidFill>
                      <a:srgbClr val="FFFFFF"/>
                    </a:solidFill>
                  </a:tcPr>
                </a:tc>
                <a:tc>
                  <a:txBody>
                    <a:bodyPr/>
                    <a:lstStyle/>
                    <a:p>
                      <a:pPr algn="ctr"/>
                      <a:r>
                        <a:rPr sz="1200">
                          <a:solidFill>
                            <a:srgbClr val="222A3D"/>
                          </a:solidFill>
                          <a:latin typeface="Calibri"/>
                        </a:rPr>
                        <a:t>150</a:t>
                      </a:r>
                    </a:p>
                  </a:txBody>
                  <a:tcPr anchor="ctr">
                    <a:solidFill>
                      <a:srgbClr val="FFFFFF"/>
                    </a:solidFill>
                  </a:tcPr>
                </a:tc>
                <a:tc>
                  <a:txBody>
                    <a:bodyPr/>
                    <a:lstStyle/>
                    <a:p>
                      <a:pPr algn="ctr"/>
                      <a:r>
                        <a:rPr sz="1200">
                          <a:solidFill>
                            <a:srgbClr val="222A3D"/>
                          </a:solidFill>
                          <a:latin typeface="Calibri"/>
                        </a:rPr>
                        <a:t>0 / 30</a:t>
                      </a:r>
                    </a:p>
                  </a:txBody>
                  <a:tcPr anchor="ctr">
                    <a:solidFill>
                      <a:srgbClr val="FFFFFF"/>
                    </a:solidFill>
                  </a:tcPr>
                </a:tc>
                <a:tc>
                  <a:txBody>
                    <a:bodyPr/>
                    <a:lstStyle/>
                    <a:p>
                      <a:pPr algn="ctr"/>
                      <a:r>
                        <a:rPr sz="1200">
                          <a:solidFill>
                            <a:srgbClr val="222A3D"/>
                          </a:solidFill>
                          <a:latin typeface="Calibri"/>
                        </a:rPr>
                        <a:t>1000.0</a:t>
                      </a:r>
                    </a:p>
                  </a:txBody>
                  <a:tcPr anchor="ctr">
                    <a:solidFill>
                      <a:srgbClr val="FFFFFF"/>
                    </a:solidFill>
                  </a:tcPr>
                </a:tc>
                <a:tc>
                  <a:txBody>
                    <a:bodyPr/>
                    <a:lstStyle/>
                    <a:p>
                      <a:pPr algn="ctr"/>
                      <a:r>
                        <a:rPr sz="1200">
                          <a:solidFill>
                            <a:srgbClr val="222A3D"/>
                          </a:solidFill>
                          <a:latin typeface="Calibri"/>
                        </a:rPr>
                        <a:t>83.6  (± 1.60)</a:t>
                      </a:r>
                    </a:p>
                  </a:txBody>
                  <a:tcPr anchor="ctr">
                    <a:solidFill>
                      <a:srgbClr val="FFFFFF"/>
                    </a:solidFill>
                  </a:tcPr>
                </a:tc>
                <a:extLst>
                  <a:ext uri="{0D108BD9-81ED-4DB2-BD59-A6C34878D82A}">
                    <a16:rowId xmlns:a16="http://schemas.microsoft.com/office/drawing/2014/main" val="10008"/>
                  </a:ext>
                </a:extLst>
              </a:tr>
            </a:tbl>
          </a:graphicData>
        </a:graphic>
      </p:graphicFrame>
      <p:sp>
        <p:nvSpPr>
          <p:cNvPr id="8" name="TextBox 7"/>
          <p:cNvSpPr txBox="1"/>
          <p:nvPr/>
        </p:nvSpPr>
        <p:spPr>
          <a:xfrm>
            <a:off x="640080" y="5760720"/>
            <a:ext cx="10972800" cy="731520"/>
          </a:xfrm>
          <a:prstGeom prst="rect">
            <a:avLst/>
          </a:prstGeom>
          <a:noFill/>
        </p:spPr>
        <p:txBody>
          <a:bodyPr wrap="square" lIns="0" tIns="0" rIns="0" bIns="0">
            <a:spAutoFit/>
          </a:bodyPr>
          <a:lstStyle/>
          <a:p>
            <a:pPr>
              <a:lnSpc>
                <a:spcPct val="122000"/>
              </a:lnSpc>
              <a:spcAft>
                <a:spcPts val="0"/>
              </a:spcAft>
            </a:pPr>
            <a:r>
              <a:rPr sz="1200">
                <a:solidFill>
                  <a:srgbClr val="6B748E"/>
                </a:solidFill>
                <a:latin typeface="Calibri"/>
              </a:rPr>
              <a:t>All budget-free algorithms go bankrupt before round 1,000 despite sharing the same budget and horizon, because each exploration rule bids differently and so spends down its budget at a different rate; every budget-aware algorithm paces itself via the LP each round and reliably reaches round 1,000 with budget to spare. All numbers are averaged over 30 seeds (1,000-round rows) except the extended check on the previous slide, which used 8 seeds at T = 10,000.</a:t>
            </a:r>
          </a:p>
        </p:txBody>
      </p:sp>
      <p:sp>
        <p:nvSpPr>
          <p:cNvPr id="9" name="TextBox 8"/>
          <p:cNvSpPr txBox="1"/>
          <p:nvPr/>
        </p:nvSpPr>
        <p:spPr>
          <a:xfrm>
            <a:off x="822960" y="6537960"/>
            <a:ext cx="10515600" cy="274320"/>
          </a:xfrm>
          <a:prstGeom prst="rect">
            <a:avLst/>
          </a:prstGeom>
          <a:noFill/>
        </p:spPr>
        <p:txBody>
          <a:bodyPr wrap="square" lIns="0" tIns="0" rIns="0" bIns="0" anchor="t">
            <a:spAutoFit/>
          </a:bodyPr>
          <a:lstStyle/>
          <a:p>
            <a:pPr algn="l"/>
            <a:r>
              <a:rPr sz="1000" b="0" i="0">
                <a:solidFill>
                  <a:srgbClr val="6B748E"/>
                </a:solidFill>
                <a:latin typeface="Calibri"/>
              </a:rPr>
              <a:t>Requirement 1 — Single-Campaign Stochastic Bidding</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0332720" y="548640"/>
            <a:ext cx="1463040" cy="1463040"/>
          </a:xfrm>
          <a:prstGeom prst="ellipse">
            <a:avLst/>
          </a:prstGeom>
          <a:solidFill>
            <a:srgbClr val="4A5B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11247120" y="1737360"/>
            <a:ext cx="822960" cy="822960"/>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10058400" y="2103120"/>
            <a:ext cx="365760" cy="365760"/>
          </a:xfrm>
          <a:prstGeom prst="ellipse">
            <a:avLst/>
          </a:prstGeom>
          <a:solidFill>
            <a:srgbClr val="F2A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868680"/>
            <a:ext cx="9144000" cy="822960"/>
          </a:xfrm>
          <a:prstGeom prst="rect">
            <a:avLst/>
          </a:prstGeom>
          <a:noFill/>
        </p:spPr>
        <p:txBody>
          <a:bodyPr wrap="square" lIns="0" tIns="0" rIns="0" bIns="0" anchor="t">
            <a:spAutoFit/>
          </a:bodyPr>
          <a:lstStyle/>
          <a:p>
            <a:pPr algn="l"/>
            <a:r>
              <a:rPr sz="3600" b="1" i="0">
                <a:solidFill>
                  <a:srgbClr val="FFFFFF"/>
                </a:solidFill>
                <a:latin typeface="Cambria"/>
              </a:rPr>
              <a:t>Conclusions</a:t>
            </a:r>
          </a:p>
        </p:txBody>
      </p:sp>
      <p:sp>
        <p:nvSpPr>
          <p:cNvPr id="7" name="Oval 6"/>
          <p:cNvSpPr/>
          <p:nvPr/>
        </p:nvSpPr>
        <p:spPr>
          <a:xfrm>
            <a:off x="914400" y="1828800"/>
            <a:ext cx="457200" cy="457200"/>
          </a:xfrm>
          <a:prstGeom prst="ellipse">
            <a:avLst/>
          </a:prstGeom>
          <a:solidFill>
            <a:srgbClr val="F2A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1874520"/>
            <a:ext cx="457200" cy="365760"/>
          </a:xfrm>
          <a:prstGeom prst="rect">
            <a:avLst/>
          </a:prstGeom>
          <a:noFill/>
        </p:spPr>
        <p:txBody>
          <a:bodyPr wrap="square" lIns="0" tIns="0" rIns="0" bIns="0" anchor="t">
            <a:spAutoFit/>
          </a:bodyPr>
          <a:lstStyle/>
          <a:p>
            <a:pPr algn="ctr"/>
            <a:r>
              <a:rPr sz="1800" b="1" i="0">
                <a:solidFill>
                  <a:srgbClr val="1E2761"/>
                </a:solidFill>
                <a:latin typeface="Calibri"/>
              </a:rPr>
              <a:t>1</a:t>
            </a:r>
          </a:p>
        </p:txBody>
      </p:sp>
      <p:sp>
        <p:nvSpPr>
          <p:cNvPr id="9" name="TextBox 8"/>
          <p:cNvSpPr txBox="1"/>
          <p:nvPr/>
        </p:nvSpPr>
        <p:spPr>
          <a:xfrm>
            <a:off x="1600200" y="1810512"/>
            <a:ext cx="9144000" cy="411480"/>
          </a:xfrm>
          <a:prstGeom prst="rect">
            <a:avLst/>
          </a:prstGeom>
          <a:noFill/>
        </p:spPr>
        <p:txBody>
          <a:bodyPr wrap="square" lIns="0" tIns="0" rIns="0" bIns="0" anchor="t">
            <a:spAutoFit/>
          </a:bodyPr>
          <a:lstStyle/>
          <a:p>
            <a:pPr algn="l"/>
            <a:r>
              <a:rPr sz="1900" b="1" i="0">
                <a:solidFill>
                  <a:srgbClr val="FFFFFF"/>
                </a:solidFill>
                <a:latin typeface="Calibri"/>
              </a:rPr>
              <a:t>Budget awareness matters more than almost anything else</a:t>
            </a:r>
          </a:p>
        </p:txBody>
      </p:sp>
      <p:sp>
        <p:nvSpPr>
          <p:cNvPr id="10" name="TextBox 9"/>
          <p:cNvSpPr txBox="1"/>
          <p:nvPr/>
        </p:nvSpPr>
        <p:spPr>
          <a:xfrm>
            <a:off x="1600200" y="2212848"/>
            <a:ext cx="8321040" cy="1005840"/>
          </a:xfrm>
          <a:prstGeom prst="rect">
            <a:avLst/>
          </a:prstGeom>
          <a:noFill/>
        </p:spPr>
        <p:txBody>
          <a:bodyPr wrap="square" lIns="0" tIns="0" rIns="0" bIns="0" anchor="t">
            <a:spAutoFit/>
          </a:bodyPr>
          <a:lstStyle/>
          <a:p>
            <a:pPr algn="l">
              <a:lnSpc>
                <a:spcPct val="125000"/>
              </a:lnSpc>
            </a:pPr>
            <a:r>
              <a:rPr sz="1300" b="0" i="0">
                <a:solidFill>
                  <a:srgbClr val="CADCFC"/>
                </a:solidFill>
                <a:latin typeface="Calibri"/>
              </a:rPr>
              <a:t>Plain UCB1 loses the vast majority of its full-horizon regret simply to going bankrupt and stopping mid-campaign, not to picking worse bids. Budgeted UCB's LP-based pacing fixes that on its own, before any change to the exploration rule — roughly halving regret at B=300 and keeping it essentially flat as the budget tightens.</a:t>
            </a:r>
          </a:p>
        </p:txBody>
      </p:sp>
      <p:sp>
        <p:nvSpPr>
          <p:cNvPr id="11" name="Oval 10"/>
          <p:cNvSpPr/>
          <p:nvPr/>
        </p:nvSpPr>
        <p:spPr>
          <a:xfrm>
            <a:off x="914400" y="3337560"/>
            <a:ext cx="457200" cy="457200"/>
          </a:xfrm>
          <a:prstGeom prst="ellipse">
            <a:avLst/>
          </a:prstGeom>
          <a:solidFill>
            <a:srgbClr val="F2A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14400" y="3383280"/>
            <a:ext cx="457200" cy="365760"/>
          </a:xfrm>
          <a:prstGeom prst="rect">
            <a:avLst/>
          </a:prstGeom>
          <a:noFill/>
        </p:spPr>
        <p:txBody>
          <a:bodyPr wrap="square" lIns="0" tIns="0" rIns="0" bIns="0" anchor="t">
            <a:spAutoFit/>
          </a:bodyPr>
          <a:lstStyle/>
          <a:p>
            <a:pPr algn="ctr"/>
            <a:r>
              <a:rPr sz="1800" b="1" i="0">
                <a:solidFill>
                  <a:srgbClr val="1E2761"/>
                </a:solidFill>
                <a:latin typeface="Calibri"/>
              </a:rPr>
              <a:t>2</a:t>
            </a:r>
          </a:p>
        </p:txBody>
      </p:sp>
      <p:sp>
        <p:nvSpPr>
          <p:cNvPr id="13" name="TextBox 12"/>
          <p:cNvSpPr txBox="1"/>
          <p:nvPr/>
        </p:nvSpPr>
        <p:spPr>
          <a:xfrm>
            <a:off x="1600200" y="3319272"/>
            <a:ext cx="9144000" cy="411480"/>
          </a:xfrm>
          <a:prstGeom prst="rect">
            <a:avLst/>
          </a:prstGeom>
          <a:noFill/>
        </p:spPr>
        <p:txBody>
          <a:bodyPr wrap="square" lIns="0" tIns="0" rIns="0" bIns="0" anchor="t">
            <a:spAutoFit/>
          </a:bodyPr>
          <a:lstStyle/>
          <a:p>
            <a:pPr algn="l"/>
            <a:r>
              <a:rPr sz="1900" b="1" i="0">
                <a:solidFill>
                  <a:srgbClr val="FFFFFF"/>
                </a:solidFill>
                <a:latin typeface="Calibri"/>
              </a:rPr>
              <a:t>Smarter exploration adds a real, separate improvement</a:t>
            </a:r>
          </a:p>
        </p:txBody>
      </p:sp>
      <p:sp>
        <p:nvSpPr>
          <p:cNvPr id="14" name="TextBox 13"/>
          <p:cNvSpPr txBox="1"/>
          <p:nvPr/>
        </p:nvSpPr>
        <p:spPr>
          <a:xfrm>
            <a:off x="1600200" y="3721608"/>
            <a:ext cx="8321040" cy="1005840"/>
          </a:xfrm>
          <a:prstGeom prst="rect">
            <a:avLst/>
          </a:prstGeom>
          <a:noFill/>
        </p:spPr>
        <p:txBody>
          <a:bodyPr wrap="square" lIns="0" tIns="0" rIns="0" bIns="0" anchor="t">
            <a:spAutoFit/>
          </a:bodyPr>
          <a:lstStyle/>
          <a:p>
            <a:pPr algn="l">
              <a:lnSpc>
                <a:spcPct val="125000"/>
              </a:lnSpc>
            </a:pPr>
            <a:r>
              <a:rPr sz="1300" b="0" i="0">
                <a:solidFill>
                  <a:srgbClr val="CADCFC"/>
                </a:solidFill>
                <a:latin typeface="Calibri"/>
              </a:rPr>
              <a:t>UCB1-Tuned and Rescaled-Constant UCB both converge to the tied-optimal bid {0.5, 0.6} faster than canonical UCB1, cutting regret by roughly 20% without budget pacing and by more once pacing is added — the two improvements stack because they solve different problems.</a:t>
            </a:r>
          </a:p>
        </p:txBody>
      </p:sp>
      <p:sp>
        <p:nvSpPr>
          <p:cNvPr id="15" name="Oval 14"/>
          <p:cNvSpPr/>
          <p:nvPr/>
        </p:nvSpPr>
        <p:spPr>
          <a:xfrm>
            <a:off x="914400" y="4846320"/>
            <a:ext cx="457200" cy="457200"/>
          </a:xfrm>
          <a:prstGeom prst="ellipse">
            <a:avLst/>
          </a:prstGeom>
          <a:solidFill>
            <a:srgbClr val="F2A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14400" y="4892040"/>
            <a:ext cx="457200" cy="365760"/>
          </a:xfrm>
          <a:prstGeom prst="rect">
            <a:avLst/>
          </a:prstGeom>
          <a:noFill/>
        </p:spPr>
        <p:txBody>
          <a:bodyPr wrap="square" lIns="0" tIns="0" rIns="0" bIns="0" anchor="t">
            <a:spAutoFit/>
          </a:bodyPr>
          <a:lstStyle/>
          <a:p>
            <a:pPr algn="ctr"/>
            <a:r>
              <a:rPr sz="1800" b="1" i="0">
                <a:solidFill>
                  <a:srgbClr val="1E2761"/>
                </a:solidFill>
                <a:latin typeface="Calibri"/>
              </a:rPr>
              <a:t>3</a:t>
            </a:r>
          </a:p>
        </p:txBody>
      </p:sp>
      <p:sp>
        <p:nvSpPr>
          <p:cNvPr id="17" name="TextBox 16"/>
          <p:cNvSpPr txBox="1"/>
          <p:nvPr/>
        </p:nvSpPr>
        <p:spPr>
          <a:xfrm>
            <a:off x="1600200" y="4828032"/>
            <a:ext cx="9144000" cy="411480"/>
          </a:xfrm>
          <a:prstGeom prst="rect">
            <a:avLst/>
          </a:prstGeom>
          <a:noFill/>
        </p:spPr>
        <p:txBody>
          <a:bodyPr wrap="square" lIns="0" tIns="0" rIns="0" bIns="0" anchor="t">
            <a:spAutoFit/>
          </a:bodyPr>
          <a:lstStyle/>
          <a:p>
            <a:pPr algn="l"/>
            <a:r>
              <a:rPr sz="1900" b="1" i="0">
                <a:solidFill>
                  <a:srgbClr val="FFFFFF"/>
                </a:solidFill>
                <a:latin typeface="Calibri"/>
              </a:rPr>
              <a:t>The sublinear-regret story holds up at scale</a:t>
            </a:r>
          </a:p>
        </p:txBody>
      </p:sp>
      <p:sp>
        <p:nvSpPr>
          <p:cNvPr id="18" name="TextBox 17"/>
          <p:cNvSpPr txBox="1"/>
          <p:nvPr/>
        </p:nvSpPr>
        <p:spPr>
          <a:xfrm>
            <a:off x="1600200" y="5230368"/>
            <a:ext cx="8321040" cy="1005840"/>
          </a:xfrm>
          <a:prstGeom prst="rect">
            <a:avLst/>
          </a:prstGeom>
          <a:noFill/>
        </p:spPr>
        <p:txBody>
          <a:bodyPr wrap="square" lIns="0" tIns="0" rIns="0" bIns="0" anchor="t">
            <a:spAutoFit/>
          </a:bodyPr>
          <a:lstStyle/>
          <a:p>
            <a:pPr algn="l">
              <a:lnSpc>
                <a:spcPct val="125000"/>
              </a:lnSpc>
            </a:pPr>
            <a:r>
              <a:rPr sz="1300" b="0" i="0">
                <a:solidFill>
                  <a:srgbClr val="CADCFC"/>
                </a:solidFill>
                <a:latin typeface="Calibri"/>
              </a:rPr>
              <a:t>Scaling the test 10x (T=10,000, B=3,000, same B/T ratio) shows the budget-aware algorithms' regret curves stay concave the entire way, confirming genuine convergence rather than a short-horizon artifact.</a:t>
            </a:r>
          </a:p>
        </p:txBody>
      </p:sp>
      <p:sp>
        <p:nvSpPr>
          <p:cNvPr id="19" name="TextBox 18"/>
          <p:cNvSpPr txBox="1"/>
          <p:nvPr/>
        </p:nvSpPr>
        <p:spPr>
          <a:xfrm>
            <a:off x="914400" y="6537960"/>
            <a:ext cx="7315200" cy="274320"/>
          </a:xfrm>
          <a:prstGeom prst="rect">
            <a:avLst/>
          </a:prstGeom>
          <a:noFill/>
        </p:spPr>
        <p:txBody>
          <a:bodyPr wrap="square" lIns="0" tIns="0" rIns="0" bIns="0" anchor="t">
            <a:spAutoFit/>
          </a:bodyPr>
          <a:lstStyle/>
          <a:p>
            <a:pPr algn="l"/>
            <a:r>
              <a:rPr sz="1000" b="0" i="0">
                <a:solidFill>
                  <a:srgbClr val="4A5B9E"/>
                </a:solidFill>
                <a:latin typeface="Calibri"/>
              </a:rPr>
              <a:t>Requirement 1 — Single-Campaign Stochastic Bidding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4</TotalTime>
  <Words>1868</Words>
  <Application>Microsoft Macintosh PowerPoint</Application>
  <PresentationFormat>Widescreen</PresentationFormat>
  <Paragraphs>166</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Requirement 1 -- Single-Campaign Stochastic Bidding: Detailed Report</dc:title>
  <dc:subject/>
  <dc:creator>Foad Zahedi</dc:creator>
  <cp:keywords/>
  <dc:description/>
  <cp:lastModifiedBy>Foad Zahedi Labaf</cp:lastModifiedBy>
  <cp:revision>2</cp:revision>
  <dcterms:created xsi:type="dcterms:W3CDTF">2026-07-10T11:59:40Z</dcterms:created>
  <dcterms:modified xsi:type="dcterms:W3CDTF">2026-07-10T12:35:59Z</dcterms:modified>
  <cp:category/>
</cp:coreProperties>
</file>