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1" r:id="rId2"/>
    <p:sldId id="258" r:id="rId3"/>
    <p:sldId id="301" r:id="rId4"/>
    <p:sldId id="270" r:id="rId5"/>
    <p:sldId id="281" r:id="rId6"/>
    <p:sldId id="272" r:id="rId7"/>
    <p:sldId id="273" r:id="rId8"/>
    <p:sldId id="274" r:id="rId9"/>
    <p:sldId id="305" r:id="rId10"/>
    <p:sldId id="263" r:id="rId11"/>
    <p:sldId id="300" r:id="rId12"/>
    <p:sldId id="275" r:id="rId13"/>
    <p:sldId id="303" r:id="rId14"/>
    <p:sldId id="276" r:id="rId15"/>
    <p:sldId id="277" r:id="rId16"/>
    <p:sldId id="280" r:id="rId17"/>
    <p:sldId id="267" r:id="rId18"/>
    <p:sldId id="288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302" r:id="rId28"/>
    <p:sldId id="29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B8216C-6208-FD08-832B-180FD7718023}" name="Mengyao Li" initials="ML" userId="S::11024864@polimi.it::f6e95dda-dfd9-43da-a11e-e8698766ffeb" providerId="AD"/>
  <p188:author id="{2D283EC7-5112-183D-959D-A20AA12CA895}" name="梦瑶 李" initials="梦李" userId="6230b2ca144a9234" providerId="Windows Live"/>
  <p188:author id="{71C6AFD9-62BD-8B0A-2A62-89E107C76DE9}" name="Simone Mauro" initials="SM" userId="S::10767574@polimi.it::12f8f890-be46-467a-a1bb-941f5f0f4e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915" autoAdjust="0"/>
  </p:normalViewPr>
  <p:slideViewPr>
    <p:cSldViewPr snapToGrid="0">
      <p:cViewPr varScale="1">
        <p:scale>
          <a:sx n="87" d="100"/>
          <a:sy n="87" d="100"/>
        </p:scale>
        <p:origin x="48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5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67160-03C3-4181-AF58-8E65F31339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8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906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61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49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370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2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5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766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766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Symbols are formatted exactly as they appear in the model and update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444751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463039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1444751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horizon; T = 3000 rounds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298448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91072" y="1298448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444751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463039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1444751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number of campaigns; N =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468880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2468880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2615184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2633472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2615184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finite bid grid: {0.0, 0.1, ..., 1.0}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468880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91072" y="2468880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2615184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633472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|G|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2615184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number of bid levels; |G| = 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639312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3639312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" y="3785615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3803904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2224" y="3785615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bid vector selected at round 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3639312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91072" y="3639312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47104" y="3785615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3803904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4" y="3785615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highest-competing-bid vector at round 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809744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3232" y="4809744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264" y="4956048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4974336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v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2224" y="4956048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campaign i value; normalized to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4809744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91072" y="4809744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47104" y="4956048"/>
            <a:ext cx="47731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4974336"/>
            <a:ext cx="7772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λ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0064" y="4956048"/>
            <a:ext cx="384048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dual price controlling expenditure at round t</a:t>
            </a:r>
          </a:p>
        </p:txBody>
      </p:sp>
    </p:spTree>
    <p:extLst>
      <p:ext uri="{BB962C8B-B14F-4D97-AF65-F5344CB8AC3E}">
        <p14:creationId xmlns:p14="http://schemas.microsoft.com/office/powerpoint/2010/main" val="251689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Shared non-stationary market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sKL controls how different regimes are; frequency controls how often the regime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73152" cy="13533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44751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Three Gaussian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98448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298448"/>
            <a:ext cx="73152" cy="13533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444751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Separation between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99232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999232"/>
            <a:ext cx="73152" cy="1353312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145536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Stochastic mode switching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999232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2999232"/>
            <a:ext cx="73152" cy="13533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145536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Freeze the realized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792224"/>
            <a:ext cx="4343400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{0, 1, 2},    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~ N(μ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zₜ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Σ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zₜ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176272"/>
            <a:ext cx="43434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mode is a 5-dimensional distribution of competing bids.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92224"/>
            <a:ext cx="4315968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sKL(P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a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P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b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∈ {20, 200, 500}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76272"/>
            <a:ext cx="43159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Larger sKL means a more visible distribution shift.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93008"/>
            <a:ext cx="4343400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Pr(z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≠ 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t−1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= 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877056"/>
            <a:ext cx="434340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 = 1/1500, 1/200, or 1/25; larger p gives more change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493008"/>
            <a:ext cx="4315968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M = [m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1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..., 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]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⊤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[0, 1]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3000×5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877056"/>
            <a:ext cx="431596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Once sampled, this exact matrix is reused by every algorithm.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36592"/>
            <a:ext cx="10561320" cy="107899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4901184"/>
            <a:ext cx="123444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EXAMPLE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148072"/>
            <a:ext cx="1874519" cy="384048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31720" y="5157216"/>
            <a:ext cx="1874519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5148072"/>
            <a:ext cx="1481328" cy="384048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15968" y="5157216"/>
            <a:ext cx="1481328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7024" y="5148072"/>
            <a:ext cx="2057400" cy="384048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07024" y="5157216"/>
            <a:ext cx="205740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5148072"/>
            <a:ext cx="2103120" cy="384048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74152" y="5157216"/>
            <a:ext cx="210312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184648"/>
            <a:ext cx="64008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161288" y="4643812"/>
                <a:ext cx="1024128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defRPr sz="1200" b="1">
                    <a:solidFill>
                      <a:srgbClr val="2F6DF6"/>
                    </a:solidFill>
                    <a:latin typeface="Aptos"/>
                  </a:defRPr>
                </a:pPr>
                <a:r>
                  <a:rPr lang="en-US" dirty="0"/>
                  <a:t>The learner receives the precomputed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sequence; learner randomness does not regenerate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or the market stream.</a:t>
                </a:r>
                <a:endParaRPr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88" y="4643812"/>
                <a:ext cx="10241280" cy="276999"/>
              </a:xfrm>
              <a:prstGeom prst="rect">
                <a:avLst/>
              </a:prstGeom>
              <a:blipFill>
                <a:blip r:embed="rId3"/>
                <a:stretch>
                  <a:fillRect l="-60" t="-4444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D273F"/>
                </a:solidFill>
                <a:latin typeface="Aptos"/>
              </a:rPr>
              <a:t>Experiment setting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93268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5F7089"/>
                </a:solidFill>
                <a:latin typeface="Aptos"/>
              </a:rPr>
              <a:t>Fixed parameters and the 3 x 3 grid used for the Req3 empirical evaluation.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06DF6"/>
                </a:solidFill>
                <a:latin typeface="Aptos"/>
              </a:rPr>
              <a:t>SHARED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T=3000, N=5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B=2500; 11 bid levels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027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2896E"/>
                </a:solidFill>
                <a:latin typeface="Aptos"/>
              </a:rPr>
              <a:t>SEPARATION SKL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7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D273F"/>
                </a:solidFill>
                <a:latin typeface="Aptos"/>
              </a:rPr>
              <a:t>20 / 200 / 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27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low, medium, high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59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EB6F14"/>
                </a:solidFill>
                <a:latin typeface="Aptos"/>
              </a:rPr>
              <a:t>CHANGE PROB. 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D273F"/>
                </a:solidFill>
                <a:latin typeface="Aptos"/>
              </a:rPr>
              <a:t>1/1500 / 1/200 / 1/25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low, medium, high frequency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7968" y="1417320"/>
            <a:ext cx="2514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89136" y="1600200"/>
            <a:ext cx="21122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2896E"/>
                </a:solidFill>
                <a:latin typeface="Aptos"/>
              </a:rPr>
              <a:t>REPLICATIONS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1892808"/>
            <a:ext cx="21122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D273F"/>
                </a:solidFill>
                <a:latin typeface="Aptos"/>
              </a:rPr>
              <a:t>R=10 per cell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9136" y="2350008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9" b="0">
                <a:solidFill>
                  <a:srgbClr val="5F7089"/>
                </a:solidFill>
                <a:latin typeface="Aptos"/>
              </a:rPr>
              <a:t>90 runs in total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" y="2788920"/>
            <a:ext cx="9996856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9576" y="30632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D273F"/>
                </a:solidFill>
                <a:latin typeface="Aptos"/>
              </a:rPr>
              <a:t>3 x 3 experimental grid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308152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0">
                <a:solidFill>
                  <a:srgbClr val="5F7089"/>
                </a:solidFill>
                <a:latin typeface="Aptos"/>
              </a:rPr>
              <a:t>One cell = one setting with 10 shared realizations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05456" y="3200400"/>
            <a:ext cx="589787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2896E"/>
                </a:solidFill>
                <a:latin typeface="Aptos"/>
              </a:rPr>
              <a:t>Symmetric KL separation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05456" y="3584448"/>
            <a:ext cx="1911095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05456" y="3730752"/>
            <a:ext cx="1911095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D273F"/>
                </a:solidFill>
                <a:latin typeface="Aptos"/>
              </a:rPr>
              <a:t>sKL 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71416" y="3584448"/>
            <a:ext cx="1911095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71416" y="3730752"/>
            <a:ext cx="1911095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D273F"/>
                </a:solidFill>
                <a:latin typeface="Aptos"/>
              </a:rPr>
              <a:t>sKL 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37376" y="3584448"/>
            <a:ext cx="1911095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37376" y="3730752"/>
            <a:ext cx="1911095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0D273F"/>
                </a:solidFill>
                <a:latin typeface="Aptos"/>
              </a:rPr>
              <a:t>sKL 500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71016" y="4078224"/>
            <a:ext cx="1179576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44168" y="4169664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0D273F"/>
                </a:solidFill>
                <a:latin typeface="Aptos"/>
              </a:rPr>
              <a:t>p = 1/1500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4168" y="4352544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5F7089"/>
                </a:solidFill>
                <a:latin typeface="Aptos"/>
              </a:rPr>
              <a:t>low frequency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05456" y="4078224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505456" y="4224528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71416" y="4078224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71416" y="4224528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37376" y="4078224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37376" y="4224528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71016" y="4572000"/>
            <a:ext cx="1179576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344168" y="4663440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0D273F"/>
                </a:solidFill>
                <a:latin typeface="Aptos"/>
              </a:rPr>
              <a:t>p = 1/200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4168" y="484632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5F7089"/>
                </a:solidFill>
                <a:latin typeface="Aptos"/>
              </a:rPr>
              <a:t>medium frequency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05456" y="4572000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505456" y="4718304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71416" y="4572000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471416" y="4718304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7376" y="4572000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37376" y="4718304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271016" y="5065776"/>
            <a:ext cx="1179576" cy="493776"/>
          </a:xfrm>
          <a:prstGeom prst="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344168" y="51572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0D273F"/>
                </a:solidFill>
                <a:latin typeface="Aptos"/>
              </a:rPr>
              <a:t>p = 1/25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44168" y="5340096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0">
                <a:solidFill>
                  <a:srgbClr val="5F7089"/>
                </a:solidFill>
                <a:latin typeface="Aptos"/>
              </a:rPr>
              <a:t>high frequency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05456" y="5065776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505456" y="5212080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71416" y="5065776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71416" y="5212080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37376" y="5065776"/>
            <a:ext cx="1911095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37376" y="5212080"/>
            <a:ext cx="1911095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2A38"/>
                </a:solidFill>
                <a:latin typeface="Aptos"/>
              </a:rPr>
              <a:t>10 realizations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8368" y="6053328"/>
            <a:ext cx="10744200" cy="411480"/>
          </a:xfrm>
          <a:prstGeom prst="round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6112" y="6144768"/>
            <a:ext cx="10287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306DF6"/>
                </a:solidFill>
                <a:latin typeface="Aptos"/>
              </a:rPr>
              <a:t>The grid is designed to separate the effect of regime separation from the effect of change frequency.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F708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One round of the auction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A compact view of the action, feedback, utility, and cost at round 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3063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72184"/>
            <a:ext cx="262432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Choose bids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3063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73152" cy="150876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472184"/>
            <a:ext cx="262432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Observe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325880"/>
            <a:ext cx="3063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1325880"/>
            <a:ext cx="73152" cy="150876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1" y="1472184"/>
            <a:ext cx="262432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Determine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28800"/>
            <a:ext cx="2514600" cy="34747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= (b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t,1</a:t>
            </a:r>
            <a:r>
              <a:rPr sz="2000" b="1" i="0">
                <a:solidFill>
                  <a:srgbClr val="102A43"/>
                </a:solidFill>
                <a:latin typeface="Aptos"/>
              </a:rPr>
              <a:t>, ..., 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t,N</a:t>
            </a:r>
            <a:r>
              <a:rPr sz="20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12848"/>
            <a:ext cx="251460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One bid for every campaign.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2514600" cy="34747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= (m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t,1</a:t>
            </a:r>
            <a:r>
              <a:rPr sz="2000" b="1" i="0">
                <a:solidFill>
                  <a:srgbClr val="102A43"/>
                </a:solidFill>
                <a:latin typeface="Aptos"/>
              </a:rPr>
              <a:t>, ..., 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t,N</a:t>
            </a:r>
            <a:r>
              <a:rPr sz="20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256032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Highest competing bids.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810512"/>
            <a:ext cx="260604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≥ 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12848"/>
            <a:ext cx="251460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Campaign i is won iff this holds.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46120"/>
            <a:ext cx="50749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3246120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39242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Utility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730752"/>
            <a:ext cx="4434840" cy="43891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0" i="0">
                <a:solidFill>
                  <a:srgbClr val="102A43"/>
                </a:solidFill>
                <a:latin typeface="Aptos"/>
              </a:rPr>
              <a:t>u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(b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) = Σ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0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(v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− 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) 1{b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≥ m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187952"/>
            <a:ext cx="44348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Value minus payment, summed over won auctions.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3246120"/>
            <a:ext cx="50749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36208" y="3246120"/>
            <a:ext cx="73152" cy="1508760"/>
          </a:xfrm>
          <a:prstGeom prst="rect">
            <a:avLst/>
          </a:prstGeom>
          <a:solidFill>
            <a:srgbClr val="C2413B"/>
          </a:solidFill>
          <a:ln>
            <a:solidFill>
              <a:srgbClr val="C2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39242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30752"/>
            <a:ext cx="4434840" cy="43891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0" i="0">
                <a:solidFill>
                  <a:srgbClr val="102A43"/>
                </a:solidFill>
                <a:latin typeface="Aptos"/>
              </a:rPr>
              <a:t>c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(b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) = Σ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0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1{b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≥ m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87952"/>
            <a:ext cx="44348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Only won auctions consume budget.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230368"/>
            <a:ext cx="10442448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5404104"/>
            <a:ext cx="2971800" cy="34747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c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≤ Σ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5349240"/>
            <a:ext cx="6720840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1">
                <a:solidFill>
                  <a:srgbClr val="2F6DF6"/>
                </a:solidFill>
                <a:latin typeface="Aptos"/>
              </a:defRPr>
            </a:pPr>
            <a:r>
              <a:t>This worst-case upper bound enables a deterministic budget guarantee.</a:t>
            </a:r>
          </a:p>
        </p:txBody>
      </p:sp>
    </p:spTree>
    <p:extLst>
      <p:ext uri="{BB962C8B-B14F-4D97-AF65-F5344CB8AC3E}">
        <p14:creationId xmlns:p14="http://schemas.microsoft.com/office/powerpoint/2010/main" val="21520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Conflict graph and feasible super-arms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Edges are incompatible campaign pairs; a super-arm is feasible only if it contains no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07208" y="1645920"/>
            <a:ext cx="1280160" cy="914400"/>
          </a:xfrm>
          <a:prstGeom prst="line">
            <a:avLst/>
          </a:prstGeom>
          <a:ln w="114300">
            <a:solidFill>
              <a:srgbClr val="8A4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88920" y="1627632"/>
            <a:ext cx="1280160" cy="914400"/>
          </a:xfrm>
          <a:prstGeom prst="line">
            <a:avLst/>
          </a:prstGeom>
          <a:ln w="88900">
            <a:solidFill>
              <a:srgbClr val="D99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584448" y="2560320"/>
            <a:ext cx="502920" cy="1499615"/>
          </a:xfrm>
          <a:prstGeom prst="line">
            <a:avLst/>
          </a:prstGeom>
          <a:ln w="114300">
            <a:solidFill>
              <a:srgbClr val="8A4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66160" y="2542032"/>
            <a:ext cx="502920" cy="1499616"/>
          </a:xfrm>
          <a:prstGeom prst="line">
            <a:avLst/>
          </a:prstGeom>
          <a:ln w="88900">
            <a:solidFill>
              <a:srgbClr val="D99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029968" y="4059935"/>
            <a:ext cx="1554480" cy="0"/>
          </a:xfrm>
          <a:prstGeom prst="line">
            <a:avLst/>
          </a:prstGeom>
          <a:ln w="114300">
            <a:solidFill>
              <a:srgbClr val="8A4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11680" y="4041648"/>
            <a:ext cx="1554480" cy="0"/>
          </a:xfrm>
          <a:prstGeom prst="line">
            <a:avLst/>
          </a:prstGeom>
          <a:ln w="88900">
            <a:solidFill>
              <a:srgbClr val="D99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527048" y="2560320"/>
            <a:ext cx="502920" cy="1499615"/>
          </a:xfrm>
          <a:prstGeom prst="line">
            <a:avLst/>
          </a:prstGeom>
          <a:ln w="114300">
            <a:solidFill>
              <a:srgbClr val="8A4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508760" y="2542032"/>
            <a:ext cx="502920" cy="1499616"/>
          </a:xfrm>
          <a:prstGeom prst="line">
            <a:avLst/>
          </a:prstGeom>
          <a:ln w="88900">
            <a:solidFill>
              <a:srgbClr val="D99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27048" y="1645920"/>
            <a:ext cx="1280160" cy="914400"/>
          </a:xfrm>
          <a:prstGeom prst="line">
            <a:avLst/>
          </a:prstGeom>
          <a:ln w="114300">
            <a:solidFill>
              <a:srgbClr val="8A4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08760" y="1627632"/>
            <a:ext cx="1280160" cy="914400"/>
          </a:xfrm>
          <a:prstGeom prst="line">
            <a:avLst/>
          </a:prstGeom>
          <a:ln w="88900">
            <a:solidFill>
              <a:srgbClr val="D99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24327" y="1463040"/>
            <a:ext cx="329184" cy="329184"/>
          </a:xfrm>
          <a:prstGeom prst="ellipse">
            <a:avLst/>
          </a:prstGeom>
          <a:solidFill>
            <a:srgbClr val="102A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1" y="1522476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Oval 17"/>
          <p:cNvSpPr/>
          <p:nvPr/>
        </p:nvSpPr>
        <p:spPr>
          <a:xfrm>
            <a:off x="3904488" y="2377439"/>
            <a:ext cx="329184" cy="329184"/>
          </a:xfrm>
          <a:prstGeom prst="ellipse">
            <a:avLst/>
          </a:prstGeom>
          <a:solidFill>
            <a:srgbClr val="102A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2436875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3401568" y="3877056"/>
            <a:ext cx="329184" cy="329184"/>
          </a:xfrm>
          <a:prstGeom prst="ellipse">
            <a:avLst/>
          </a:prstGeom>
          <a:solidFill>
            <a:srgbClr val="102A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3936491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1847088" y="3877056"/>
            <a:ext cx="329184" cy="329184"/>
          </a:xfrm>
          <a:prstGeom prst="ellipse">
            <a:avLst/>
          </a:prstGeom>
          <a:solidFill>
            <a:srgbClr val="102A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01952" y="3936491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1344168" y="2377439"/>
            <a:ext cx="329184" cy="329184"/>
          </a:xfrm>
          <a:prstGeom prst="ellipse">
            <a:avLst/>
          </a:prstGeom>
          <a:solidFill>
            <a:srgbClr val="102A4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99031" y="2436875"/>
            <a:ext cx="21945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C2413B"/>
                </a:solidFill>
                <a:latin typeface="Aptos"/>
              </a:defRPr>
            </a:pPr>
            <a:r>
              <a:t>Forbidden pairs are the five cycle edges.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1261872"/>
            <a:ext cx="6126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94960" y="146304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C2413B"/>
                </a:solidFill>
                <a:latin typeface="Aptos"/>
              </a:defRPr>
            </a:pPr>
            <a:r>
              <a:t>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1828800"/>
            <a:ext cx="5394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  <a:latin typeface="Aptos"/>
              </a:defRPr>
            </a:pPr>
            <a:r>
              <a:t>{0,1}, {1,2}, {2,3}, {3,4}, {4,0}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212848"/>
            <a:ext cx="5440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Adjacent campaigns cannot run in the same round.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2816352"/>
            <a:ext cx="612648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94960" y="30175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6856B"/>
                </a:solidFill>
                <a:latin typeface="Aptos"/>
              </a:defRPr>
            </a:pPr>
            <a:r>
              <a:t>Feasible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401568"/>
            <a:ext cx="5440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</a:defRPr>
            </a:pPr>
            <a:r>
              <a:t>Singletons: {0}, {1}, {2}, {3}, {4}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785615"/>
            <a:ext cx="5440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</a:defRPr>
            </a:pPr>
            <a:r>
              <a:t>Non-adjacent pairs: {0,2}, {0,3}, {1,3}, {1,4}, {2,4}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315968"/>
            <a:ext cx="5440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These 10 sets are the super-arms learned by the Req3 policy.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15000"/>
            <a:ext cx="10469880" cy="5029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5797296"/>
            <a:ext cx="10104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20" b="1">
                <a:solidFill>
                  <a:srgbClr val="2F6DF6"/>
                </a:solidFill>
                <a:latin typeface="Aptos"/>
              </a:defRPr>
            </a:pPr>
            <a:r>
              <a:t>The learner and the oracle use the same feasible super-arm set, so regret is measured on the same action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Factorized primal-dual bid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One Hedge distribution over feasible super-arms plus one bid distribution per campaign.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2971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73152" cy="205740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655063"/>
            <a:ext cx="253288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Learn super-arms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08760"/>
            <a:ext cx="2971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73152" cy="2057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655063"/>
            <a:ext cx="253288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Sample active bids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7808" y="1508760"/>
            <a:ext cx="2971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07808" y="1508760"/>
            <a:ext cx="73152" cy="205740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655063"/>
            <a:ext cx="253288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Build feasible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57400"/>
            <a:ext cx="2468880" cy="4114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Aptos"/>
              </a:rPr>
              <a:t>S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200" b="1" i="0">
                <a:solidFill>
                  <a:srgbClr val="102A43"/>
                </a:solidFill>
                <a:latin typeface="Aptos"/>
              </a:rPr>
              <a:t> ~ q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542032"/>
            <a:ext cx="2395728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Choose one feasible singleton or non-adjacent pair.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57400"/>
            <a:ext cx="2697480" cy="4114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~ p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, i in S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42032"/>
            <a:ext cx="2395728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Draw affordable bids only for active campaigns.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057400"/>
            <a:ext cx="2697480" cy="4114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= 0 for i not in S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2542032"/>
            <a:ext cx="2395728" cy="5943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Inactive or conflicting campaigns are not served.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1056132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261104"/>
            <a:ext cx="21488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1">
                <a:solidFill>
                  <a:srgbClr val="108477"/>
                </a:solidFill>
                <a:latin typeface="Aptos"/>
              </a:defRPr>
            </a:pPr>
            <a:r>
              <a:t>Super-arm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274320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Hedge increases weight on campaign sets with higher penalized payoff.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297680"/>
            <a:ext cx="23774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ptos"/>
              </a:defRPr>
            </a:pPr>
            <a:r>
              <a:t>Bid 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645152"/>
            <a:ext cx="2788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Each campaign keeps its own distribution over the 11 bid levels.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297680"/>
            <a:ext cx="219456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1">
                <a:solidFill>
                  <a:srgbClr val="16856B"/>
                </a:solidFill>
                <a:latin typeface="Aptos"/>
              </a:defRPr>
            </a:pPr>
            <a:r>
              <a:t>Budget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645152"/>
            <a:ext cx="32461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Sampling is filtered by the remaining budget.</a:t>
            </a:r>
          </a:p>
        </p:txBody>
      </p:sp>
    </p:spTree>
    <p:extLst>
      <p:ext uri="{BB962C8B-B14F-4D97-AF65-F5344CB8AC3E}">
        <p14:creationId xmlns:p14="http://schemas.microsoft.com/office/powerpoint/2010/main" val="33360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Primal-dual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Primal weights learn useful bids; the dual price reacts to spending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55448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1790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Arm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1554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51790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Hedge 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3756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337560"/>
            <a:ext cx="73152" cy="155448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48386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Dual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33756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337560"/>
            <a:ext cx="73152" cy="155448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348386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901952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ℓ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(g) = u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(g) − λ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c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313432"/>
            <a:ext cx="4297680" cy="3931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Higher dual prices penalize expensive bids.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901952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Aptos"/>
              </a:rPr>
              <a:t>w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t+1,i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(g) = w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(g) exp(η ℓ̃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(g))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221992"/>
            <a:ext cx="4617720" cy="23774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150" b="0" i="0">
                <a:solidFill>
                  <a:srgbClr val="102A43"/>
                </a:solidFill>
                <a:latin typeface="Aptos"/>
              </a:rPr>
              <a:t>ℓ</a:t>
            </a:r>
            <a:r>
              <a:rPr sz="827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827" b="0" i="0" baseline="30000">
                <a:solidFill>
                  <a:srgbClr val="102A43"/>
                </a:solidFill>
                <a:latin typeface="Aptos"/>
              </a:rPr>
              <a:t>min</a:t>
            </a:r>
            <a:r>
              <a:rPr sz="1150" b="0" i="0">
                <a:solidFill>
                  <a:srgbClr val="102A43"/>
                </a:solidFill>
                <a:latin typeface="Aptos"/>
              </a:rPr>
              <a:t> = min over h in G ℓ</a:t>
            </a:r>
            <a:r>
              <a:rPr sz="827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150" b="0" i="0">
                <a:solidFill>
                  <a:srgbClr val="102A43"/>
                </a:solidFill>
                <a:latin typeface="Aptos"/>
              </a:rPr>
              <a:t>(h),  ℓ</a:t>
            </a:r>
            <a:r>
              <a:rPr sz="827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827" b="0" i="0" baseline="30000">
                <a:solidFill>
                  <a:srgbClr val="102A43"/>
                </a:solidFill>
                <a:latin typeface="Aptos"/>
              </a:rPr>
              <a:t>max</a:t>
            </a:r>
            <a:r>
              <a:rPr sz="1150" b="0" i="0">
                <a:solidFill>
                  <a:srgbClr val="102A43"/>
                </a:solidFill>
                <a:latin typeface="Aptos"/>
              </a:rPr>
              <a:t> = max over h in G ℓ</a:t>
            </a:r>
            <a:r>
              <a:rPr sz="827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150" b="0" i="0">
                <a:solidFill>
                  <a:srgbClr val="102A43"/>
                </a:solidFill>
                <a:latin typeface="Aptos"/>
              </a:rPr>
              <a:t>(h)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487168"/>
            <a:ext cx="4480560" cy="27432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50" b="1" i="0">
                <a:solidFill>
                  <a:srgbClr val="102A43"/>
                </a:solidFill>
                <a:latin typeface="Aptos"/>
              </a:rPr>
              <a:t>ℓ̃</a:t>
            </a:r>
            <a:r>
              <a:rPr sz="900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250" b="1" i="0">
                <a:solidFill>
                  <a:srgbClr val="102A43"/>
                </a:solidFill>
                <a:latin typeface="Aptos"/>
              </a:rPr>
              <a:t>(g) = (ℓ</a:t>
            </a:r>
            <a:r>
              <a:rPr sz="900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250" b="1" i="0">
                <a:solidFill>
                  <a:srgbClr val="102A43"/>
                </a:solidFill>
                <a:latin typeface="Aptos"/>
              </a:rPr>
              <a:t>(g) - ℓ</a:t>
            </a:r>
            <a:r>
              <a:rPr sz="900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900" b="1" i="0" baseline="30000">
                <a:solidFill>
                  <a:srgbClr val="102A43"/>
                </a:solidFill>
                <a:latin typeface="Aptos"/>
              </a:rPr>
              <a:t>min</a:t>
            </a:r>
            <a:r>
              <a:rPr sz="1250" b="1" i="0">
                <a:solidFill>
                  <a:srgbClr val="102A43"/>
                </a:solidFill>
                <a:latin typeface="Aptos"/>
              </a:rPr>
              <a:t>) / (ℓ</a:t>
            </a:r>
            <a:r>
              <a:rPr sz="900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900" b="1" i="0" baseline="30000">
                <a:solidFill>
                  <a:srgbClr val="102A43"/>
                </a:solidFill>
                <a:latin typeface="Aptos"/>
              </a:rPr>
              <a:t>max</a:t>
            </a:r>
            <a:r>
              <a:rPr sz="1250" b="1" i="0">
                <a:solidFill>
                  <a:srgbClr val="102A43"/>
                </a:solidFill>
                <a:latin typeface="Aptos"/>
              </a:rPr>
              <a:t> - ℓ</a:t>
            </a:r>
            <a:r>
              <a:rPr sz="900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900" b="1" i="0" baseline="30000">
                <a:solidFill>
                  <a:srgbClr val="102A43"/>
                </a:solidFill>
                <a:latin typeface="Aptos"/>
              </a:rPr>
              <a:t>min</a:t>
            </a:r>
            <a:r>
              <a:rPr sz="125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761488"/>
            <a:ext cx="4297680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Normalized high-score bids gain multiplicative weight.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867912"/>
            <a:ext cx="4389120" cy="38404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Aptos"/>
              </a:rPr>
              <a:t>λ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t+1</a:t>
            </a:r>
            <a:r>
              <a:rPr sz="1700" b="1" i="0">
                <a:solidFill>
                  <a:srgbClr val="102A43"/>
                </a:solidFill>
                <a:latin typeface="Aptos"/>
              </a:rPr>
              <a:t> = Π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[0,1/ρ]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(λ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700" b="1" i="0">
                <a:solidFill>
                  <a:srgbClr val="102A43"/>
                </a:solidFill>
                <a:latin typeface="Aptos"/>
              </a:rPr>
              <a:t> + η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λ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(c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700" b="1" i="0">
                <a:solidFill>
                  <a:srgbClr val="102A43"/>
                </a:solidFill>
                <a:latin typeface="Aptos"/>
              </a:rPr>
              <a:t> − ρ))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297680"/>
            <a:ext cx="4114800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ρ = B / 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03904"/>
            <a:ext cx="43434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If spending exceeds ρ, λ rises and costly bids become less attractive. Below ρ, the pressure can relax.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98848"/>
            <a:ext cx="434340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6856B"/>
                </a:solidFill>
                <a:latin typeface="Aptos"/>
              </a:defRPr>
            </a:pPr>
            <a:r>
              <a:t>Projection keeps the multiplier bounded.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5349240"/>
            <a:ext cx="97840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63040" y="5486400"/>
            <a:ext cx="9235440" cy="29260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400" b="1" i="0">
                <a:solidFill>
                  <a:srgbClr val="2F6DF6"/>
                </a:solidFill>
                <a:latin typeface="Aptos"/>
              </a:rPr>
              <a:t>Full-information feedback: after observing m</a:t>
            </a:r>
            <a:r>
              <a:rPr sz="1008" b="1" i="0" baseline="-25000">
                <a:solidFill>
                  <a:srgbClr val="2F6DF6"/>
                </a:solidFill>
                <a:latin typeface="Aptos"/>
              </a:rPr>
              <a:t>t</a:t>
            </a:r>
            <a:r>
              <a:rPr sz="1400" b="1" i="0">
                <a:solidFill>
                  <a:srgbClr val="2F6DF6"/>
                </a:solidFill>
                <a:latin typeface="Aptos"/>
              </a:rPr>
              <a:t>, every campaign-bid arm can be evaluated.</a:t>
            </a:r>
          </a:p>
        </p:txBody>
      </p:sp>
    </p:spTree>
    <p:extLst>
      <p:ext uri="{BB962C8B-B14F-4D97-AF65-F5344CB8AC3E}">
        <p14:creationId xmlns:p14="http://schemas.microsoft.com/office/powerpoint/2010/main" val="76026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Hard budget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dual update encourages control; the feasibility filter provides the guarantee.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306324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96596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55063"/>
            <a:ext cx="262432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Before sampling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08760"/>
            <a:ext cx="306324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73152" cy="196596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655063"/>
            <a:ext cx="262432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Why it is safe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672" y="1508760"/>
            <a:ext cx="306324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62672" y="1508760"/>
            <a:ext cx="73152" cy="196596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18704" y="1655063"/>
            <a:ext cx="262432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Fallback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084831"/>
            <a:ext cx="2514600" cy="4114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Σ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439" b="1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≤ 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560320"/>
            <a:ext cx="2468880" cy="45720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Affordable under remaining budget B</a:t>
            </a:r>
            <a:r>
              <a:rPr sz="864" b="0" i="0" baseline="-25000">
                <a:solidFill>
                  <a:srgbClr val="1F2937"/>
                </a:solidFill>
                <a:latin typeface="Aptos"/>
              </a:rPr>
              <a:t>t</a:t>
            </a:r>
            <a:r>
              <a:rPr sz="1200" b="0" i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2084831"/>
            <a:ext cx="2542032" cy="4114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c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≤ Σ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60320"/>
            <a:ext cx="2487168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Only winning bids are actually paid.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084831"/>
            <a:ext cx="2468880" cy="41148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Aptos"/>
              </a:rPr>
              <a:t>b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200" b="1" i="0">
                <a:solidFill>
                  <a:srgbClr val="102A43"/>
                </a:solidFill>
                <a:latin typeface="Aptos"/>
              </a:rPr>
              <a:t>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560320"/>
            <a:ext cx="2487168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Choose the zero vector if no positive bid is affordable.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105613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224528"/>
            <a:ext cx="996696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Deterministic guarantee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645152"/>
            <a:ext cx="2743200" cy="39319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2000" b="1" i="0">
                <a:solidFill>
                  <a:srgbClr val="2F6DF6"/>
                </a:solidFill>
                <a:latin typeface="Aptos"/>
              </a:rPr>
              <a:t>Σ</a:t>
            </a:r>
            <a:r>
              <a:rPr sz="1439" b="1" i="0" baseline="-25000">
                <a:solidFill>
                  <a:srgbClr val="2F6DF6"/>
                </a:solidFill>
                <a:latin typeface="Aptos"/>
              </a:rPr>
              <a:t>t=1</a:t>
            </a:r>
            <a:r>
              <a:rPr sz="1439" b="1" i="0" baseline="30000">
                <a:solidFill>
                  <a:srgbClr val="2F6DF6"/>
                </a:solidFill>
                <a:latin typeface="Aptos"/>
              </a:rPr>
              <a:t>T</a:t>
            </a:r>
            <a:r>
              <a:rPr sz="2000" b="1" i="0">
                <a:solidFill>
                  <a:srgbClr val="2F6DF6"/>
                </a:solidFill>
                <a:latin typeface="Aptos"/>
              </a:rPr>
              <a:t> c</a:t>
            </a:r>
            <a:r>
              <a:rPr sz="1439" b="1" i="0" baseline="-25000">
                <a:solidFill>
                  <a:srgbClr val="2F6DF6"/>
                </a:solidFill>
                <a:latin typeface="Aptos"/>
              </a:rPr>
              <a:t>t</a:t>
            </a:r>
            <a:r>
              <a:rPr sz="2000" b="1" i="0">
                <a:solidFill>
                  <a:srgbClr val="2F6DF6"/>
                </a:solidFill>
                <a:latin typeface="Aptos"/>
              </a:rPr>
              <a:t>(b</a:t>
            </a:r>
            <a:r>
              <a:rPr sz="1439" b="1" i="0" baseline="-25000">
                <a:solidFill>
                  <a:srgbClr val="2F6DF6"/>
                </a:solidFill>
                <a:latin typeface="Aptos"/>
              </a:rPr>
              <a:t>t</a:t>
            </a:r>
            <a:r>
              <a:rPr sz="2000" b="1" i="0">
                <a:solidFill>
                  <a:srgbClr val="2F6DF6"/>
                </a:solidFill>
                <a:latin typeface="Aptos"/>
              </a:rPr>
              <a:t>) ≤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553712"/>
            <a:ext cx="6766560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The filter is conservative, but cumulative realized spending can never exceed the total budget.</a:t>
            </a:r>
          </a:p>
        </p:txBody>
      </p:sp>
    </p:spTree>
    <p:extLst>
      <p:ext uri="{BB962C8B-B14F-4D97-AF65-F5344CB8AC3E}">
        <p14:creationId xmlns:p14="http://schemas.microsoft.com/office/powerpoint/2010/main" val="331742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273F"/>
                </a:solidFill>
                <a:latin typeface="Aptos"/>
              </a:rPr>
              <a:t>Algorithm: factorized primal-dual Hedge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7089"/>
                </a:solidFill>
                <a:latin typeface="Aptos"/>
              </a:rPr>
              <a:t>Hedge-style primal update with a projected dual price for the budget constraint.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7452360" cy="5074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1115568" cy="274320"/>
          </a:xfrm>
          <a:prstGeom prst="roundRect">
            <a:avLst/>
          </a:prstGeom>
          <a:solidFill>
            <a:srgbClr val="306DF6"/>
          </a:solidFill>
          <a:ln w="17780">
            <a:solidFill>
              <a:srgbClr val="30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11155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499616"/>
            <a:ext cx="5349240" cy="166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 dirty="0">
                <a:solidFill>
                  <a:srgbClr val="5F7089"/>
                </a:solidFill>
                <a:latin typeface="Aptos"/>
              </a:rPr>
              <a:t>Input: feasible super-arms</a:t>
            </a:r>
            <a:r>
              <a:rPr lang="en-US" sz="1080" b="0" dirty="0">
                <a:solidFill>
                  <a:srgbClr val="5F7089"/>
                </a:solidFill>
                <a:latin typeface="Aptos"/>
              </a:rPr>
              <a:t> set</a:t>
            </a:r>
            <a:r>
              <a:rPr sz="1080" b="0" dirty="0">
                <a:solidFill>
                  <a:srgbClr val="5F7089"/>
                </a:solidFill>
                <a:latin typeface="Aptos"/>
              </a:rPr>
              <a:t> 𝒜, bid grid 𝒢, budget B, rates η and </a:t>
            </a:r>
            <a:r>
              <a:rPr sz="1080" b="0" dirty="0" err="1">
                <a:solidFill>
                  <a:srgbClr val="5F7089"/>
                </a:solidFill>
                <a:latin typeface="Aptos"/>
              </a:rPr>
              <a:t>ηλ</a:t>
            </a:r>
            <a:endParaRPr sz="1080" b="0" dirty="0">
              <a:solidFill>
                <a:srgbClr val="5F7089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77824" y="1911096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3" y="1961388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93852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dirty="0">
                <a:solidFill>
                  <a:srgbClr val="202A38"/>
                </a:solidFill>
                <a:latin typeface="Aptos"/>
              </a:rPr>
              <a:t>Initialize q₁(S)=1/|𝒜|, p₁,ᵢ(g)=1/|𝒢|, and λ₁=0.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331720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403" y="2382012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359152"/>
            <a:ext cx="6172200" cy="1723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dirty="0">
                <a:solidFill>
                  <a:srgbClr val="0D273F"/>
                </a:solidFill>
                <a:latin typeface="Aptos"/>
              </a:rPr>
              <a:t>For each round t = 1 to T: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2752344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3" y="2802636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779776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02A38"/>
                </a:solidFill>
                <a:latin typeface="Aptos"/>
              </a:rPr>
              <a:t>Draw Sₜ ~ qₜ and bids gₜ,ᵢ ~ pₜ,ᵢ for active campaigns i ∈ Sₜ.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3172968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3" y="3223260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00400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202A38"/>
                </a:solidFill>
                <a:latin typeface="Aptos"/>
              </a:rPr>
              <a:t>Observe the full market vector mₜ and evaluate every campaign-bid arm.</a:t>
            </a:r>
          </a:p>
        </p:txBody>
      </p:sp>
      <p:sp>
        <p:nvSpPr>
          <p:cNvPr id="21" name="Oval 20"/>
          <p:cNvSpPr/>
          <p:nvPr/>
        </p:nvSpPr>
        <p:spPr>
          <a:xfrm>
            <a:off x="877824" y="3593592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3" y="3643884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62102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0D273F"/>
                </a:solidFill>
                <a:latin typeface="Aptos"/>
              </a:rPr>
              <a:t>Compute Lagrangian scores:  zₜ,ᵢ(g) = uₜ,ᵢ(g) − λₜ cₜ,ᵢ(g).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" y="4014215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3" y="4064508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404164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0D273F"/>
                </a:solidFill>
                <a:latin typeface="Aptos"/>
              </a:rPr>
              <a:t>Aggregate super-arm score:  Zₜ(S) = ∑ᵢ∈S z̄ₜ,ᵢ.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" y="4434840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3" y="4485132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4462272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06DF6"/>
                </a:solidFill>
                <a:latin typeface="Aptos"/>
              </a:rPr>
              <a:t>Hedge update:  qₜ₊₁(S) ∝ qₜ(S) exp(η Zₜ(S)).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" y="4855464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6403" y="4905756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584" y="4882896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306DF6"/>
                </a:solidFill>
                <a:latin typeface="Aptos"/>
              </a:rPr>
              <a:t>Bid update:  pₜ₊₁,ᵢ(g) ∝ pₜ,ᵢ(g) exp(η zₜ,ᵢ(g)).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" y="5276088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6403" y="5326380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3584" y="5303520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EB6F14"/>
                </a:solidFill>
                <a:latin typeface="Aptos"/>
              </a:rPr>
              <a:t>Dual update:  λₜ₊₁ = Π[0,1/ρ](λₜ + ηλ(Cₜ − ρ)), with ρ=B/T.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" y="5696712"/>
            <a:ext cx="256032" cy="256032"/>
          </a:xfrm>
          <a:prstGeom prst="ellipse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3" y="5747004"/>
            <a:ext cx="118872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3584" y="572414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7C3AED"/>
                </a:solidFill>
                <a:latin typeface="Aptos"/>
              </a:rPr>
              <a:t>Apply the remaining-budget filter before the next draw.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1298448"/>
            <a:ext cx="315468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149047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6DF6"/>
                </a:solidFill>
                <a:latin typeface="Aptos"/>
              </a:rPr>
              <a:t>Primal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182880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02A38"/>
                </a:solidFill>
                <a:latin typeface="Aptos"/>
              </a:rPr>
              <a:t>Same idea as Hedge in the lectures: normalize weights, then multiply by an exponential score factor.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2" y="2578608"/>
            <a:ext cx="3154680" cy="12252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277063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B6F14"/>
                </a:solidFill>
                <a:latin typeface="Aptos"/>
              </a:rPr>
              <a:t>Dual 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108960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02A38"/>
                </a:solidFill>
                <a:latin typeface="Aptos"/>
              </a:rPr>
              <a:t>Projected gradient step on the budget multiplier. If spending exceeds the target pace ρ, λ increases.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005072"/>
            <a:ext cx="3154680" cy="12252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419709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896E"/>
                </a:solidFill>
                <a:latin typeface="Aptos"/>
              </a:rPr>
              <a:t>Full 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535424"/>
            <a:ext cx="2697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02A38"/>
                </a:solidFill>
                <a:latin typeface="Aptos"/>
              </a:rPr>
              <a:t>Because mₜ is observed, all campaign-bid scores are available. No EXP3 importance-weighted estimator is needed.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02752" y="5431536"/>
            <a:ext cx="3154680" cy="6400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0" y="555955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5F7089"/>
                </a:solidFill>
                <a:latin typeface="Aptos"/>
              </a:rPr>
              <a:t>z̄ₜ,ᵢ is the bid-level score summarized for campaign i when updating the super-arm distribution.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6437376"/>
            <a:ext cx="10863072" cy="246888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2" y="6487668"/>
            <a:ext cx="1045159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10" b="1">
                <a:solidFill>
                  <a:srgbClr val="7C3AED"/>
                </a:solidFill>
                <a:latin typeface="Aptos"/>
              </a:rPr>
              <a:t>The hard filter is a safety layer; the learning rule is the Hedge primal update plus projected dual update.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>
                <a:solidFill>
                  <a:srgbClr val="5F708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Current 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All numerical results from this point use the 3 x 3 grid with 10 realizations per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3000 rounds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CAMPAIGNS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19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BID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0.0 to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167128"/>
            <a:ext cx="2103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Step 0.1; 11 bids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105613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97180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Learner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83280"/>
            <a:ext cx="4663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Factorized primal-dual Hedge: one distribution over feasible super-arms and one bid distribution per campaign, with a dual price for spending.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97180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Reported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383280"/>
            <a:ext cx="4709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Learner and oracle cumulative utility and cost, cumulative regret, dual multiplier, and mean +/- SD across 10 shared realizations.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102A43"/>
                </a:solidFill>
                <a:latin typeface="Aptos"/>
              </a:defRPr>
            </a:pPr>
            <a:r>
              <a:t>Conflict graph: edges (0,1), (1,2), (2,3), (3,4), (4,0) cannot run together; feasible super-arms are 5 singletons plus 5 non-adjacent pairs.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F6DF6"/>
                </a:solidFill>
                <a:latin typeface="Aptos"/>
              </a:defRPr>
            </a:pPr>
            <a:r>
              <a:t>Oracle: exact piecewise-static hindsight optimum. It knows the true change points, selects one feasible super-arm action within each regime, and obeys the same global budget B=2500.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Shared-realization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Every algorithm is evaluated on the same saved market path for each setting and realization.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73152" cy="141732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44751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Generate a market 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98448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298448"/>
            <a:ext cx="73152" cy="1417320"/>
          </a:xfrm>
          <a:prstGeom prst="rect">
            <a:avLst/>
          </a:prstGeom>
          <a:solidFill>
            <a:srgbClr val="108477"/>
          </a:solidFill>
          <a:ln>
            <a:solidFill>
              <a:srgbClr val="10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444751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Freeze one realization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20954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Reuse the exact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063240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3063240"/>
            <a:ext cx="73152" cy="141732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209544"/>
            <a:ext cx="46360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Align and save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810512"/>
            <a:ext cx="4343400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For each sKL-frequency pair, generate the Gaussian constellation, regime-change schedule, and 10 market realizations.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728216"/>
            <a:ext cx="4251960" cy="36576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M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(s,r)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[0, 1]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3000×5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39696"/>
            <a:ext cx="4297680" cy="347472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tos"/>
              </a:rPr>
              <a:t>Rows: rounds t    Columns: campaigns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566160"/>
            <a:ext cx="438912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Primal-dual, sliding-window CUCB, and change-detector CUCB load the same matrix for setting s and realization r. Only their bid decisions differ.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566160"/>
            <a:ext cx="4389120" cy="6583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Store per-round bids, utility, cost, and remaining budget; then save one final summary row for each algorithm-realization pair.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28032"/>
            <a:ext cx="10561320" cy="1115568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992624"/>
            <a:ext cx="141732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1">
                <a:solidFill>
                  <a:srgbClr val="2F6DF6"/>
                </a:solidFill>
                <a:latin typeface="Aptos"/>
              </a:defRPr>
            </a:pPr>
            <a:r>
              <a:t>WHY THIS IS FAIR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919472"/>
            <a:ext cx="836676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400" b="1">
                <a:solidFill>
                  <a:srgbClr val="102A43"/>
                </a:solidFill>
                <a:latin typeface="Aptos"/>
              </a:defRPr>
            </a:pPr>
            <a:r>
              <a:t>Performance differences come from the learning rules, not from different sampled auctions.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85816"/>
            <a:ext cx="982980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ptos"/>
              </a:defRPr>
            </a:pPr>
            <a:r>
              <a:t>config.json records sKL, frequency, seeds, change points, and active modes; learner seeds remain algorithm-specific.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Overall primal-dual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Pooled view over all 90 current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9 settings x 10 matrices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MEAN UTILITY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2,350.3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542.3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MEAN ORACLE UTILITY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3,394.0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109.0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MEAN FINAL REGRET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1,043.7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547.5</a:t>
            </a:r>
          </a:p>
        </p:txBody>
      </p:sp>
      <p:pic>
        <p:nvPicPr>
          <p:cNvPr id="22" name="Picture 21" descr="all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88920"/>
            <a:ext cx="996696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35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D273F"/>
                </a:solidFill>
                <a:latin typeface="Aptos"/>
              </a:rPr>
              <a:t>High frequency / high sKL: OPT-A regret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F7089"/>
                </a:solidFill>
                <a:latin typeface="Aptos"/>
              </a:rPr>
              <a:t>Same setting as diagnostic plot; piecewise is the main benchmark and OPT-A is a small theory check.</a:t>
            </a:r>
          </a:p>
        </p:txBody>
      </p:sp>
      <p:pic>
        <p:nvPicPr>
          <p:cNvPr id="5" name="Picture 4" descr="high_frequency_high_skl_opt_a_reg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498079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35331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31352" y="148132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EB6F14"/>
                </a:solidFill>
                <a:latin typeface="Aptos"/>
              </a:rPr>
              <a:t>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1352" y="177393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1352" y="2176272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short regimes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35331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31552" y="148132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7C3AED"/>
                </a:solidFill>
                <a:latin typeface="Aptos"/>
              </a:rPr>
              <a:t>PIECEWISE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177393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1,603.3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1552" y="2176272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final regret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54203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267004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306DF6"/>
                </a:solidFill>
                <a:latin typeface="Aptos"/>
              </a:rPr>
              <a:t>OPT-A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96265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187.9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364991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final regret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542032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31552" y="2670048"/>
            <a:ext cx="1088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1">
                <a:solidFill>
                  <a:srgbClr val="12896E"/>
                </a:solidFill>
                <a:latin typeface="Aptos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1552" y="2962656"/>
            <a:ext cx="10881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D273F"/>
                </a:solidFill>
                <a:latin typeface="Aptos"/>
              </a:rPr>
              <a:t>1,865.0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3364991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5F7089"/>
                </a:solidFill>
                <a:latin typeface="Aptos"/>
              </a:rPr>
              <a:t>below B=2500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822191"/>
            <a:ext cx="301752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4005072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273F"/>
                </a:solidFill>
                <a:latin typeface="Aptos"/>
              </a:rPr>
              <a:t>Benchmark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3603" y="4343399"/>
            <a:ext cx="26517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 dirty="0">
                <a:solidFill>
                  <a:srgbClr val="202A38"/>
                </a:solidFill>
                <a:latin typeface="Aptos"/>
              </a:rPr>
              <a:t>Piecewise can switch to the best feasible super-arm in each regime. OPT-A chooses one fixed randomized action after the full sequence, so it cannot switch across regimes.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13248"/>
            <a:ext cx="10744200" cy="713232"/>
          </a:xfrm>
          <a:prstGeom prst="roundRect">
            <a:avLst/>
          </a:prstGeom>
          <a:solidFill>
            <a:srgbClr val="EEF3F9"/>
          </a:solidFill>
          <a:ln w="19050">
            <a:solidFill>
              <a:srgbClr val="D6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532120"/>
            <a:ext cx="10314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306DF6"/>
                </a:solidFill>
                <a:latin typeface="Aptos"/>
              </a:rPr>
              <a:t>Large piecewise regret comes from chasing many short-regime optima, not from budget violation; OPT-A is smaller because its comparator is fixed.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7089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Utility and regret across the full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cell is a mean over 10 shared realizations; uncertainty is shown in the detailed diagnostics.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sensitivit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3564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4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Budget feasibility in every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hard filter keeps realized cumulative cost at or below B=2500 in all 90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14</a:t>
            </a:r>
          </a:p>
        </p:txBody>
      </p:sp>
      <p:pic>
        <p:nvPicPr>
          <p:cNvPr id="6" name="Picture 5" descr="budget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5880"/>
            <a:ext cx="69494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5087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6184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MAXIMUM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9019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2,499.90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8803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29900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MINIMUM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735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1,283.10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2519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43616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VIOLATIONS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6451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0 / 90</a:t>
            </a:r>
          </a:p>
        </p:txBody>
      </p:sp>
    </p:spTree>
    <p:extLst>
      <p:ext uri="{BB962C8B-B14F-4D97-AF65-F5344CB8AC3E}">
        <p14:creationId xmlns:p14="http://schemas.microsoft.com/office/powerpoint/2010/main" val="2157774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Final utility distribution across all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dot is one realization; black markers show mean +/- 1 SD.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15</a:t>
            </a:r>
          </a:p>
        </p:txBody>
      </p:sp>
      <p:pic>
        <p:nvPicPr>
          <p:cNvPr id="6" name="Picture 5" descr="all_setting_final_util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1069848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34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Representative current run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(200), medium frequency (1/200), mean +/- SD over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16</a:t>
            </a:r>
          </a:p>
        </p:txBody>
      </p:sp>
      <p:pic>
        <p:nvPicPr>
          <p:cNvPr id="6" name="Picture 5" descr="diagnostic_medium_frequency_medium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8412480" cy="5166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72600" y="132588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55480" y="1435607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719072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2,034.3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202996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38.5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251460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55480" y="2624328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907792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3,196.8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21868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9.3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370332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55480" y="3813048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096511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1,162.5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440740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41.2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489204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5001768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285231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2,206.39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559612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34.570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Constellation profiles by sKL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Gaussian mode means generated by the shared environment at the three requested sKL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17</a:t>
            </a:r>
          </a:p>
        </p:txBody>
      </p:sp>
      <p:pic>
        <p:nvPicPr>
          <p:cNvPr id="6" name="Picture 5" descr="constellation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Low sKL (20)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change frequency (1/200);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19</a:t>
            </a:r>
          </a:p>
        </p:txBody>
      </p:sp>
      <p:pic>
        <p:nvPicPr>
          <p:cNvPr id="6" name="Picture 5" descr="diagnostic_medium_frequency_low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3,088.0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11.3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3,365.4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277.4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11.8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2,350.46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6.675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Medium sKL (200)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change frequency (1/200);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20</a:t>
            </a:r>
          </a:p>
        </p:txBody>
      </p:sp>
      <p:pic>
        <p:nvPicPr>
          <p:cNvPr id="6" name="Picture 5" descr="diagnostic_medium_frequency_medium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2,034.3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38.5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3,196.8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9.3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1,162.5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41.2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2,206.39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34.570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High sKL (500)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change frequency (1/200);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21</a:t>
            </a:r>
          </a:p>
        </p:txBody>
      </p:sp>
      <p:pic>
        <p:nvPicPr>
          <p:cNvPr id="6" name="Picture 5" descr="diagnostic_medium_frequency_high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1,892.9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8.2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3,376.8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10.5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1,483.9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13.9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1,349.58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50.299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sKL summary at medium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Dots are individual shared realizations; black markers show mean +/- SD.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22</a:t>
            </a:r>
          </a:p>
        </p:txBody>
      </p:sp>
      <p:pic>
        <p:nvPicPr>
          <p:cNvPr id="6" name="Picture 5" descr="summary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527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Low frequency (1/1500)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23</a:t>
            </a:r>
          </a:p>
        </p:txBody>
      </p:sp>
      <p:pic>
        <p:nvPicPr>
          <p:cNvPr id="6" name="Picture 5" descr="diagnostic_low_frequency_medium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2,132.2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47.9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3,318.0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8.5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1,185.7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47.8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1,624.26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25.974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Medium frequency (1/200)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24</a:t>
            </a:r>
          </a:p>
        </p:txBody>
      </p:sp>
      <p:pic>
        <p:nvPicPr>
          <p:cNvPr id="6" name="Picture 5" descr="diagnostic_medium_frequency_medium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2,034.3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38.5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3,196.8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9.3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1,162.5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41.2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2,206.39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34.570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High frequency (1/25)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25</a:t>
            </a:r>
          </a:p>
        </p:txBody>
      </p:sp>
      <p:pic>
        <p:nvPicPr>
          <p:cNvPr id="6" name="Picture 5" descr="diagnostic_high_frequency_medium_s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2,033.0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16.6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3,310.9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13.0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1,277.8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21.4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2,430.55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33.378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Frequency summary at medium sKL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schedules change 2, 12, and 131 times at p=1/1500, 1/200, and 1/25.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26</a:t>
            </a:r>
          </a:p>
        </p:txBody>
      </p:sp>
      <p:pic>
        <p:nvPicPr>
          <p:cNvPr id="6" name="Picture 5" descr="summary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52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760720"/>
            <a:ext cx="1065276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87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102A43"/>
                </a:solidFill>
                <a:latin typeface="Aptos"/>
              </a:defRPr>
            </a:pPr>
            <a:r>
              <a:t>Why utility is not monotone: schedule seeds do not equalize time spent in each mode. Mode 0/1/2 shares are 27/40/34%, 23/32/45%, and 28/33/38% for p=1/1500, 1/200, and 1/25.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Hidden: high-frequency realized market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Kept for reference, hidden from the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27</a:t>
            </a:r>
          </a:p>
        </p:txBody>
      </p:sp>
      <p:pic>
        <p:nvPicPr>
          <p:cNvPr id="6" name="Picture 5" descr="high_frequency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35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Two clairvoyant regret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Piecewise hindsight remains the main comparison; OPT-A is the fixed-mixture adversarial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rPr sz="800">
                <a:solidFill>
                  <a:srgbClr val="5F7089"/>
                </a:solidFill>
                <a:latin typeface="Aptos"/>
              </a:rPr>
              <a:t>18</a:t>
            </a:r>
          </a:p>
        </p:txBody>
      </p:sp>
      <p:pic>
        <p:nvPicPr>
          <p:cNvPr id="6" name="Picture 5" descr="opt_a_regre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1065276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715000"/>
            <a:ext cx="1065276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87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F6DF6"/>
                </a:solidFill>
                <a:latin typeface="Aptos"/>
              </a:defRPr>
            </a:pPr>
            <a:r>
              <a:t>OPT-A solves one LP after observing the full sequence: maximize average reward under average cost &lt;= B/T, then evaluates that fixed randomized action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2500</Words>
  <Application>Microsoft Office PowerPoint</Application>
  <PresentationFormat>Widescreen</PresentationFormat>
  <Paragraphs>405</Paragraphs>
  <Slides>28</Slides>
  <Notes>8</Notes>
  <HiddenSlides>20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3 — Primal-Dual Factorized Hedge</dc:title>
  <dc:subject>Readable redesign of Requirement 3 slides</dc:subject>
  <dc:creator>李梦瑶</dc:creator>
  <cp:lastModifiedBy>梦瑶 李</cp:lastModifiedBy>
  <cp:revision>38</cp:revision>
  <dcterms:created xsi:type="dcterms:W3CDTF">2026-05-11T18:20:40Z</dcterms:created>
  <dcterms:modified xsi:type="dcterms:W3CDTF">2026-07-09T16:45:42Z</dcterms:modified>
</cp:coreProperties>
</file>