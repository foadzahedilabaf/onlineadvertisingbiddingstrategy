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303" r:id="rId3"/>
    <p:sldId id="257" r:id="rId4"/>
    <p:sldId id="297" r:id="rId5"/>
    <p:sldId id="298" r:id="rId6"/>
    <p:sldId id="258" r:id="rId7"/>
    <p:sldId id="299" r:id="rId8"/>
    <p:sldId id="300" r:id="rId9"/>
    <p:sldId id="259" r:id="rId10"/>
    <p:sldId id="301" r:id="rId11"/>
    <p:sldId id="302" r:id="rId12"/>
    <p:sldId id="260" r:id="rId13"/>
    <p:sldId id="296"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304" r:id="rId50"/>
    <p:sldId id="305"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7" autoAdjust="0"/>
    <p:restoredTop sz="94660"/>
  </p:normalViewPr>
  <p:slideViewPr>
    <p:cSldViewPr snapToGrid="0" snapToObjects="1">
      <p:cViewPr varScale="1">
        <p:scale>
          <a:sx n="83" d="100"/>
          <a:sy n="83" d="100"/>
        </p:scale>
        <p:origin x="543"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1880A4-8A0B-4EF0-BC40-DF5B9DDCC914}" type="datetimeFigureOut">
              <a:rPr lang="en-GB" smtClean="0"/>
              <a:t>09/07/2026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098711-1B02-45A1-A531-47AC4B5A952E}" type="slidenum">
              <a:rPr lang="en-GB" smtClean="0"/>
              <a:t>‹#›</a:t>
            </a:fld>
            <a:endParaRPr lang="en-GB"/>
          </a:p>
        </p:txBody>
      </p:sp>
    </p:spTree>
    <p:extLst>
      <p:ext uri="{BB962C8B-B14F-4D97-AF65-F5344CB8AC3E}">
        <p14:creationId xmlns:p14="http://schemas.microsoft.com/office/powerpoint/2010/main" val="1465735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detection rate for high SKL values can be explained through the fact that to cross the threshold of 50, the algorithm needs to pull the arm a sufficient number of times; but at the same time, the UCB algorithm can start to abandon the arms that show the change because of the sudden drop of its UCB value, driven by the collapse of its reward estimate (from clearly the best arm before, now it becomes clearly the worst arm). The change of the UCB arm selection can happen before the detection algorithm fires a change in the distribution, so the change remains undetected.</a:t>
            </a:r>
          </a:p>
          <a:p>
            <a:r>
              <a:t>This can't happen using the ND approach since the algorithm uses full feedback: every arm is observed at each round, independently of the chosen arm.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SLIGHTLY NON-STATIONARY ENVIRONMENT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Combinatorial-UCB with Sliding Window</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64208"/>
            <a:ext cx="10972800" cy="822960"/>
          </a:xfrm>
          <a:prstGeom prst="rect">
            <a:avLst/>
          </a:prstGeom>
          <a:noFill/>
        </p:spPr>
        <p:txBody>
          <a:bodyPr wrap="square" lIns="0" tIns="0" rIns="0" bIns="0" anchor="t">
            <a:spAutoFit/>
          </a:bodyPr>
          <a:lstStyle/>
          <a:p>
            <a:pPr>
              <a:lnSpc>
                <a:spcPct val="112000"/>
              </a:lnSpc>
            </a:pPr>
            <a:r>
              <a:rPr sz="1500" b="1" i="0">
                <a:solidFill>
                  <a:srgbClr val="E87A2B"/>
                </a:solidFill>
                <a:latin typeface="Calibri"/>
              </a:rPr>
              <a:t>The idea.  </a:t>
            </a:r>
            <a:r>
              <a:rPr sz="1500" b="0" i="0">
                <a:solidFill>
                  <a:srgbClr val="333A42"/>
                </a:solidFill>
                <a:latin typeface="Calibri"/>
              </a:rPr>
              <a:t>When the distribution of competing bids changes over time, old observations describe a regime that no longer holds. Standard Combinatorial-UCB averages over the whole history and adapts too slowly. SW-CUCB keeps the CUCB machinery but trusts only the most recent </a:t>
            </a:r>
            <a:r>
              <a:rPr sz="1500" b="1" i="1">
                <a:solidFill>
                  <a:srgbClr val="1B2A4A"/>
                </a:solidFill>
                <a:latin typeface="Consolas"/>
              </a:rPr>
              <a:t>W</a:t>
            </a:r>
            <a:r>
              <a:rPr sz="1500" b="0" i="0">
                <a:solidFill>
                  <a:srgbClr val="333A42"/>
                </a:solidFill>
                <a:latin typeface="Calibri"/>
              </a:rPr>
              <a:t> rounds.</a:t>
            </a:r>
          </a:p>
        </p:txBody>
      </p:sp>
      <p:sp>
        <p:nvSpPr>
          <p:cNvPr id="8" name="TextBox 7"/>
          <p:cNvSpPr txBox="1"/>
          <p:nvPr/>
        </p:nvSpPr>
        <p:spPr>
          <a:xfrm>
            <a:off x="658368" y="2578608"/>
            <a:ext cx="6492240" cy="320040"/>
          </a:xfrm>
          <a:prstGeom prst="rect">
            <a:avLst/>
          </a:prstGeom>
          <a:noFill/>
        </p:spPr>
        <p:txBody>
          <a:bodyPr wrap="square" lIns="0" tIns="0" rIns="0" bIns="0" anchor="t">
            <a:spAutoFit/>
          </a:bodyPr>
          <a:lstStyle/>
          <a:p>
            <a:r>
              <a:rPr sz="1700" b="1" i="0">
                <a:solidFill>
                  <a:srgbClr val="1B2A4A"/>
                </a:solidFill>
                <a:latin typeface="Calibri"/>
              </a:rPr>
              <a:t>How it works</a:t>
            </a:r>
          </a:p>
        </p:txBody>
      </p:sp>
      <p:sp>
        <p:nvSpPr>
          <p:cNvPr id="9" name="TextBox 8"/>
          <p:cNvSpPr txBox="1"/>
          <p:nvPr/>
        </p:nvSpPr>
        <p:spPr>
          <a:xfrm>
            <a:off x="658368" y="2880360"/>
            <a:ext cx="6446520" cy="3474720"/>
          </a:xfrm>
          <a:prstGeom prst="rect">
            <a:avLst/>
          </a:prstGeom>
          <a:noFill/>
        </p:spPr>
        <p:txBody>
          <a:bodyPr wrap="square" lIns="0" tIns="0" rIns="0" bIns="0" anchor="t">
            <a:spAutoFit/>
          </a:bodyPr>
          <a:lstStyle/>
          <a:p>
            <a:pPr>
              <a:lnSpc>
                <a:spcPct val="106000"/>
              </a:lnSpc>
              <a:spcBef>
                <a:spcPts val="0"/>
              </a:spcBef>
              <a:spcAft>
                <a:spcPts val="800"/>
              </a:spcAft>
            </a:pPr>
            <a:r>
              <a:rPr sz="1450" b="1" i="0">
                <a:solidFill>
                  <a:srgbClr val="2E86AB"/>
                </a:solidFill>
                <a:latin typeface="Calibri"/>
              </a:rPr>
              <a:t>▪  </a:t>
            </a:r>
            <a:r>
              <a:rPr sz="1450" b="1" i="0">
                <a:solidFill>
                  <a:srgbClr val="1B2A4A"/>
                </a:solidFill>
                <a:latin typeface="Calibri"/>
              </a:rPr>
              <a:t>Windowed estimates:  </a:t>
            </a:r>
            <a:r>
              <a:rPr sz="1450" b="0" i="0">
                <a:solidFill>
                  <a:srgbClr val="333A42"/>
                </a:solidFill>
                <a:latin typeface="Calibri"/>
              </a:rPr>
              <a:t>reward mean, cost mean and pull counts are computed from the last W rounds only; older observations are evicted as the window slides.</a:t>
            </a:r>
          </a:p>
          <a:p>
            <a:pPr>
              <a:lnSpc>
                <a:spcPct val="106000"/>
              </a:lnSpc>
              <a:spcBef>
                <a:spcPts val="0"/>
              </a:spcBef>
              <a:spcAft>
                <a:spcPts val="800"/>
              </a:spcAft>
            </a:pPr>
            <a:r>
              <a:rPr sz="1450" b="1" i="0">
                <a:solidFill>
                  <a:srgbClr val="2E86AB"/>
                </a:solidFill>
                <a:latin typeface="Calibri"/>
              </a:rPr>
              <a:t>▪  </a:t>
            </a:r>
            <a:r>
              <a:rPr sz="1450" b="1" i="0">
                <a:solidFill>
                  <a:srgbClr val="1B2A4A"/>
                </a:solidFill>
                <a:latin typeface="Calibri"/>
              </a:rPr>
              <a:t>Windowed bonus:  </a:t>
            </a:r>
            <a:r>
              <a:rPr sz="1450" b="0" i="0">
                <a:solidFill>
                  <a:srgbClr val="333A42"/>
                </a:solidFill>
                <a:latin typeface="Calibri"/>
              </a:rPr>
              <a:t>the confidence width uses log(min(t, W)) instead of log(T) — exploration is calibrated to the data the window can hold.</a:t>
            </a:r>
          </a:p>
          <a:p>
            <a:pPr>
              <a:lnSpc>
                <a:spcPct val="106000"/>
              </a:lnSpc>
              <a:spcBef>
                <a:spcPts val="0"/>
              </a:spcBef>
              <a:spcAft>
                <a:spcPts val="800"/>
              </a:spcAft>
            </a:pPr>
            <a:r>
              <a:rPr sz="1450" b="1" i="0">
                <a:solidFill>
                  <a:srgbClr val="2E86AB"/>
                </a:solidFill>
                <a:latin typeface="Calibri"/>
              </a:rPr>
              <a:t>▪  </a:t>
            </a:r>
            <a:r>
              <a:rPr sz="1450" b="1" i="0">
                <a:solidFill>
                  <a:srgbClr val="1B2A4A"/>
                </a:solidFill>
                <a:latin typeface="Calibri"/>
              </a:rPr>
              <a:t>Low exploration coefficient c:  </a:t>
            </a:r>
            <a:r>
              <a:rPr sz="1450" b="0" i="0">
                <a:solidFill>
                  <a:srgbClr val="333A42"/>
                </a:solidFill>
                <a:latin typeface="Calibri"/>
              </a:rPr>
              <a:t>set well below the classical 2.0. Campaign values lie in [0, 1], so the standard bonus would dwarf the estimated means; a smaller c keeps the exploration term from always dominating the UCB, so the learner genuinely exploits — not only explores.</a:t>
            </a:r>
          </a:p>
          <a:p>
            <a:pPr>
              <a:lnSpc>
                <a:spcPct val="106000"/>
              </a:lnSpc>
              <a:spcBef>
                <a:spcPts val="0"/>
              </a:spcBef>
              <a:spcAft>
                <a:spcPts val="800"/>
              </a:spcAft>
            </a:pPr>
            <a:r>
              <a:rPr sz="1450" b="1" i="0">
                <a:solidFill>
                  <a:srgbClr val="2E86AB"/>
                </a:solidFill>
                <a:latin typeface="Calibri"/>
              </a:rPr>
              <a:t>▪  </a:t>
            </a:r>
            <a:r>
              <a:rPr sz="1450" b="1" i="0">
                <a:solidFill>
                  <a:srgbClr val="1B2A4A"/>
                </a:solidFill>
                <a:latin typeface="Calibri"/>
              </a:rPr>
              <a:t>Passive adaptation to changes:  </a:t>
            </a:r>
            <a:r>
              <a:rPr sz="1450" b="0" i="0">
                <a:solidFill>
                  <a:srgbClr val="333A42"/>
                </a:solidFill>
                <a:latin typeface="Calibri"/>
              </a:rPr>
              <a:t>after a change, arms whose window empties get a wide optimistic bonus and are re-explored automatically — no explicit reset needed.</a:t>
            </a:r>
          </a:p>
        </p:txBody>
      </p:sp>
      <p:sp>
        <p:nvSpPr>
          <p:cNvPr id="10" name="Rounded Rectangle 9"/>
          <p:cNvSpPr/>
          <p:nvPr/>
        </p:nvSpPr>
        <p:spPr>
          <a:xfrm>
            <a:off x="7360920" y="2578608"/>
            <a:ext cx="4160520" cy="21488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0376" y="2578608"/>
            <a:ext cx="3721608" cy="2148840"/>
          </a:xfrm>
          <a:prstGeom prst="rect">
            <a:avLst/>
          </a:prstGeom>
          <a:noFill/>
        </p:spPr>
        <p:txBody>
          <a:bodyPr wrap="square" lIns="0" tIns="0" rIns="0" bIns="0" anchor="ctr">
            <a:spAutoFit/>
          </a:bodyPr>
          <a:lstStyle/>
          <a:p>
            <a:r>
              <a:rPr sz="1500" b="1" i="0">
                <a:solidFill>
                  <a:srgbClr val="2E86AB"/>
                </a:solidFill>
                <a:latin typeface="Calibri"/>
              </a:rPr>
              <a:t>Windowed exploration</a:t>
            </a:r>
          </a:p>
          <a:p>
            <a:pPr>
              <a:lnSpc>
                <a:spcPct val="118000"/>
              </a:lnSpc>
              <a:spcBef>
                <a:spcPts val="800"/>
              </a:spcBef>
            </a:pPr>
            <a:r>
              <a:rPr sz="1350" b="0" i="0">
                <a:solidFill>
                  <a:srgbClr val="333A42"/>
                </a:solidFill>
                <a:latin typeface="Calibri"/>
              </a:rPr>
              <a:t>The exploration term of each arm's UCB estimate now uses only its last </a:t>
            </a:r>
            <a:r>
              <a:rPr sz="1350" b="1" i="1">
                <a:solidFill>
                  <a:srgbClr val="1B2A4A"/>
                </a:solidFill>
                <a:latin typeface="Consolas"/>
              </a:rPr>
              <a:t>W</a:t>
            </a:r>
            <a:r>
              <a:rPr sz="1350" b="0" i="0">
                <a:solidFill>
                  <a:srgbClr val="333A42"/>
                </a:solidFill>
                <a:latin typeface="Calibri"/>
              </a:rPr>
              <a:t> samples, not its full history:</a:t>
            </a:r>
          </a:p>
          <a:p>
            <a:pPr>
              <a:lnSpc>
                <a:spcPct val="110000"/>
              </a:lnSpc>
              <a:spcBef>
                <a:spcPts val="1000"/>
              </a:spcBef>
            </a:pPr>
            <a:r>
              <a:rPr sz="1250" b="1" i="0">
                <a:solidFill>
                  <a:srgbClr val="1B2A4A"/>
                </a:solidFill>
                <a:latin typeface="Consolas"/>
              </a:rPr>
              <a:t>UCB = μ̂ + √( c·log(min(t,W)) / n )</a:t>
            </a:r>
          </a:p>
          <a:p>
            <a:pPr>
              <a:lnSpc>
                <a:spcPct val="110000"/>
              </a:lnSpc>
              <a:spcBef>
                <a:spcPts val="700"/>
              </a:spcBef>
            </a:pPr>
            <a:r>
              <a:rPr sz="1100" b="0" i="1">
                <a:solidFill>
                  <a:srgbClr val="6B7480"/>
                </a:solidFill>
                <a:latin typeface="Calibri"/>
              </a:rPr>
              <a:t>μ̂, n : mean &amp; pull count over the last W rounds     c : exploration coeff.</a:t>
            </a:r>
          </a:p>
        </p:txBody>
      </p:sp>
      <p:sp>
        <p:nvSpPr>
          <p:cNvPr id="12" name="Rounded Rectangle 11"/>
          <p:cNvSpPr/>
          <p:nvPr/>
        </p:nvSpPr>
        <p:spPr>
          <a:xfrm>
            <a:off x="7360920" y="4773168"/>
            <a:ext cx="4160520" cy="1481328"/>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35240" y="4837176"/>
            <a:ext cx="3611880" cy="274320"/>
          </a:xfrm>
          <a:prstGeom prst="rect">
            <a:avLst/>
          </a:prstGeom>
          <a:noFill/>
        </p:spPr>
        <p:txBody>
          <a:bodyPr wrap="square" lIns="0" tIns="0" rIns="0" bIns="0" anchor="t">
            <a:spAutoFit/>
          </a:bodyPr>
          <a:lstStyle/>
          <a:p>
            <a:r>
              <a:rPr sz="1400" b="1" i="0">
                <a:solidFill>
                  <a:srgbClr val="E87A2B"/>
                </a:solidFill>
                <a:latin typeface="Calibri"/>
              </a:rPr>
              <a:t>window size</a:t>
            </a:r>
          </a:p>
        </p:txBody>
      </p:sp>
      <p:sp>
        <p:nvSpPr>
          <p:cNvPr id="14" name="TextBox 13"/>
          <p:cNvSpPr txBox="1"/>
          <p:nvPr/>
        </p:nvSpPr>
        <p:spPr>
          <a:xfrm>
            <a:off x="7635240" y="5102352"/>
            <a:ext cx="3611880" cy="256032"/>
          </a:xfrm>
          <a:prstGeom prst="rect">
            <a:avLst/>
          </a:prstGeom>
          <a:noFill/>
        </p:spPr>
        <p:txBody>
          <a:bodyPr wrap="square" lIns="0" tIns="0" rIns="0" bIns="0" anchor="t">
            <a:spAutoFit/>
          </a:bodyPr>
          <a:lstStyle/>
          <a:p>
            <a:r>
              <a:rPr sz="1300" b="1" i="0">
                <a:solidFill>
                  <a:srgbClr val="1B2A4A"/>
                </a:solidFill>
                <a:latin typeface="Consolas"/>
              </a:rPr>
              <a:t>W ≈ √T</a:t>
            </a:r>
            <a:r>
              <a:rPr sz="950" b="0" i="1">
                <a:solidFill>
                  <a:srgbClr val="6B7480"/>
                </a:solidFill>
                <a:latin typeface="Calibri"/>
              </a:rPr>
              <a:t>   default, number of changes unknown</a:t>
            </a:r>
          </a:p>
        </p:txBody>
      </p:sp>
      <p:pic>
        <p:nvPicPr>
          <p:cNvPr id="15" name="Picture 14" descr="win_formula.png"/>
          <p:cNvPicPr>
            <a:picLocks noChangeAspect="1"/>
          </p:cNvPicPr>
          <p:nvPr/>
        </p:nvPicPr>
        <p:blipFill>
          <a:blip r:embed="rId2"/>
          <a:stretch>
            <a:fillRect/>
          </a:stretch>
        </p:blipFill>
        <p:spPr>
          <a:xfrm>
            <a:off x="7635240" y="5413248"/>
            <a:ext cx="1691640" cy="258971"/>
          </a:xfrm>
          <a:prstGeom prst="rect">
            <a:avLst/>
          </a:prstGeom>
        </p:spPr>
      </p:pic>
      <p:sp>
        <p:nvSpPr>
          <p:cNvPr id="16" name="TextBox 15"/>
          <p:cNvSpPr txBox="1"/>
          <p:nvPr/>
        </p:nvSpPr>
        <p:spPr>
          <a:xfrm>
            <a:off x="9464040" y="5449824"/>
            <a:ext cx="1874520" cy="256032"/>
          </a:xfrm>
          <a:prstGeom prst="rect">
            <a:avLst/>
          </a:prstGeom>
          <a:noFill/>
        </p:spPr>
        <p:txBody>
          <a:bodyPr wrap="square" lIns="0" tIns="0" rIns="0" bIns="0" anchor="t">
            <a:spAutoFit/>
          </a:bodyPr>
          <a:lstStyle/>
          <a:p>
            <a:r>
              <a:rPr sz="950" b="0" i="1">
                <a:solidFill>
                  <a:srgbClr val="6B7480"/>
                </a:solidFill>
                <a:latin typeface="Calibri"/>
              </a:rPr>
              <a:t>from B, T, Υ_T</a:t>
            </a:r>
          </a:p>
        </p:txBody>
      </p:sp>
      <p:sp>
        <p:nvSpPr>
          <p:cNvPr id="17" name="TextBox 16"/>
          <p:cNvSpPr txBox="1"/>
          <p:nvPr/>
        </p:nvSpPr>
        <p:spPr>
          <a:xfrm>
            <a:off x="7635240" y="5870448"/>
            <a:ext cx="3611880" cy="274320"/>
          </a:xfrm>
          <a:prstGeom prst="rect">
            <a:avLst/>
          </a:prstGeom>
          <a:noFill/>
        </p:spPr>
        <p:txBody>
          <a:bodyPr wrap="square" lIns="0" tIns="0" rIns="0" bIns="0" anchor="t">
            <a:spAutoFit/>
          </a:bodyPr>
          <a:lstStyle/>
          <a:p>
            <a:r>
              <a:rPr sz="950" b="0" i="1">
                <a:solidFill>
                  <a:srgbClr val="6B7480"/>
                </a:solidFill>
                <a:latin typeface="Calibri"/>
              </a:rPr>
              <a:t>too large → slow adaptation · too small → noisy estimates</a:t>
            </a:r>
          </a:p>
        </p:txBody>
      </p:sp>
      <p:sp>
        <p:nvSpPr>
          <p:cNvPr id="18" name="TextBox 17"/>
          <p:cNvSpPr txBox="1"/>
          <p:nvPr/>
        </p:nvSpPr>
        <p:spPr>
          <a:xfrm>
            <a:off x="658368" y="6419088"/>
            <a:ext cx="10881360" cy="320040"/>
          </a:xfrm>
          <a:prstGeom prst="rect">
            <a:avLst/>
          </a:prstGeom>
          <a:noFill/>
        </p:spPr>
        <p:txBody>
          <a:bodyPr wrap="square" lIns="0" tIns="0" rIns="0" bIns="0" anchor="t">
            <a:spAutoFit/>
          </a:bodyPr>
          <a:lstStyle/>
          <a:p>
            <a:r>
              <a:rPr sz="1000" b="0" i="1">
                <a:solidFill>
                  <a:srgbClr val="6B7480"/>
                </a:solidFill>
                <a:latin typeface="Consolas"/>
              </a:rPr>
              <a:t>ola/algorithms/sw_cucb.py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5424A-C1E7-E3D1-ABE6-97EC740A325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DB0886-10C9-DF88-6F85-8CC8FFDE8A9E}"/>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877A001-827F-E873-F600-942E05236D2D}"/>
              </a:ext>
            </a:extLst>
          </p:cNvPr>
          <p:cNvSpPr txBox="1"/>
          <p:nvPr/>
        </p:nvSpPr>
        <p:spPr>
          <a:xfrm>
            <a:off x="640080" y="411480"/>
            <a:ext cx="10881360" cy="320040"/>
          </a:xfrm>
          <a:prstGeom prst="rect">
            <a:avLst/>
          </a:prstGeom>
          <a:noFill/>
        </p:spPr>
        <p:txBody>
          <a:bodyPr wrap="square" lIns="0" tIns="0" rIns="0" bIns="0" anchor="t">
            <a:spAutoFit/>
          </a:bodyPr>
          <a:lstStyle/>
          <a:p>
            <a:r>
              <a:rPr sz="1300" b="1" i="0" dirty="0">
                <a:solidFill>
                  <a:srgbClr val="2E86AB"/>
                </a:solidFill>
                <a:latin typeface="Calibri"/>
              </a:rPr>
              <a:t>REQUIREMENT 4  ·  SLIGHTLY NON-STATIONARY ENVIRONMENT</a:t>
            </a:r>
          </a:p>
        </p:txBody>
      </p:sp>
      <p:sp>
        <p:nvSpPr>
          <p:cNvPr id="5" name="TextBox 4">
            <a:extLst>
              <a:ext uri="{FF2B5EF4-FFF2-40B4-BE49-F238E27FC236}">
                <a16:creationId xmlns:a16="http://schemas.microsoft.com/office/drawing/2014/main" id="{2D48A0C9-C7A1-093A-5C22-444231C2505B}"/>
              </a:ext>
            </a:extLst>
          </p:cNvPr>
          <p:cNvSpPr txBox="1"/>
          <p:nvPr/>
        </p:nvSpPr>
        <p:spPr>
          <a:xfrm>
            <a:off x="640080" y="713232"/>
            <a:ext cx="10972800" cy="461665"/>
          </a:xfrm>
          <a:prstGeom prst="rect">
            <a:avLst/>
          </a:prstGeom>
          <a:noFill/>
        </p:spPr>
        <p:txBody>
          <a:bodyPr wrap="square" lIns="0" tIns="0" rIns="0" bIns="0" anchor="t">
            <a:spAutoFit/>
          </a:bodyPr>
          <a:lstStyle/>
          <a:p>
            <a:r>
              <a:rPr lang="en-GB" sz="3000" b="1" i="0" dirty="0">
                <a:solidFill>
                  <a:srgbClr val="1B2A4A"/>
                </a:solidFill>
                <a:latin typeface="Calibri"/>
              </a:rPr>
              <a:t>Experiments Environments</a:t>
            </a:r>
            <a:endParaRPr sz="3000" b="1" i="0" dirty="0">
              <a:solidFill>
                <a:srgbClr val="1B2A4A"/>
              </a:solidFill>
              <a:latin typeface="Calibri"/>
            </a:endParaRPr>
          </a:p>
        </p:txBody>
      </p:sp>
      <p:sp>
        <p:nvSpPr>
          <p:cNvPr id="6" name="Rectangle 5">
            <a:extLst>
              <a:ext uri="{FF2B5EF4-FFF2-40B4-BE49-F238E27FC236}">
                <a16:creationId xmlns:a16="http://schemas.microsoft.com/office/drawing/2014/main" id="{39EF1B88-7570-5EF3-3372-72BB3F8F3E64}"/>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020C8E6-DD03-E26A-B066-A01210A63AED}"/>
              </a:ext>
            </a:extLst>
          </p:cNvPr>
          <p:cNvSpPr txBox="1"/>
          <p:nvPr/>
        </p:nvSpPr>
        <p:spPr>
          <a:xfrm>
            <a:off x="658368" y="1684020"/>
            <a:ext cx="6492240" cy="261610"/>
          </a:xfrm>
          <a:prstGeom prst="rect">
            <a:avLst/>
          </a:prstGeom>
          <a:noFill/>
        </p:spPr>
        <p:txBody>
          <a:bodyPr wrap="square" lIns="0" tIns="0" rIns="0" bIns="0" anchor="t">
            <a:spAutoFit/>
          </a:bodyPr>
          <a:lstStyle/>
          <a:p>
            <a:r>
              <a:rPr lang="en-GB" sz="1700" b="1" dirty="0">
                <a:solidFill>
                  <a:srgbClr val="1B2A4A"/>
                </a:solidFill>
                <a:latin typeface="Calibri"/>
              </a:rPr>
              <a:t>Disclaimer for the Considered Cases for the Experiments</a:t>
            </a:r>
            <a:endParaRPr sz="1700" b="1" i="0" dirty="0">
              <a:solidFill>
                <a:srgbClr val="1B2A4A"/>
              </a:solidFill>
              <a:latin typeface="Calibri"/>
            </a:endParaRPr>
          </a:p>
        </p:txBody>
      </p:sp>
      <p:sp>
        <p:nvSpPr>
          <p:cNvPr id="9" name="TextBox 8">
            <a:extLst>
              <a:ext uri="{FF2B5EF4-FFF2-40B4-BE49-F238E27FC236}">
                <a16:creationId xmlns:a16="http://schemas.microsoft.com/office/drawing/2014/main" id="{BBC3AB3B-36F7-E9B5-26B0-05010805BAAC}"/>
              </a:ext>
            </a:extLst>
          </p:cNvPr>
          <p:cNvSpPr txBox="1"/>
          <p:nvPr/>
        </p:nvSpPr>
        <p:spPr>
          <a:xfrm>
            <a:off x="640079" y="2070271"/>
            <a:ext cx="11264373" cy="1614416"/>
          </a:xfrm>
          <a:prstGeom prst="rect">
            <a:avLst/>
          </a:prstGeom>
          <a:noFill/>
        </p:spPr>
        <p:txBody>
          <a:bodyPr wrap="square" lIns="0" tIns="0" rIns="0" bIns="0" anchor="t">
            <a:spAutoFit/>
          </a:bodyPr>
          <a:lstStyle/>
          <a:p>
            <a:pPr>
              <a:lnSpc>
                <a:spcPct val="106000"/>
              </a:lnSpc>
              <a:spcBef>
                <a:spcPts val="0"/>
              </a:spcBef>
              <a:spcAft>
                <a:spcPts val="800"/>
              </a:spcAft>
            </a:pPr>
            <a:r>
              <a:rPr lang="en-GB" sz="1450" b="0" i="0" dirty="0">
                <a:solidFill>
                  <a:srgbClr val="333A42"/>
                </a:solidFill>
                <a:latin typeface="Calibri"/>
              </a:rPr>
              <a:t>Since the specification required a slightly non-stationary environment for the requirement 4 assignment, we decided to test, firstly, the sliding window and change detection algorithms in ideal scenarios, in order to show the desired, sub-linear, behaviour of the many approaches.</a:t>
            </a:r>
          </a:p>
          <a:p>
            <a:pPr>
              <a:lnSpc>
                <a:spcPct val="106000"/>
              </a:lnSpc>
              <a:spcBef>
                <a:spcPts val="0"/>
              </a:spcBef>
              <a:spcAft>
                <a:spcPts val="800"/>
              </a:spcAft>
            </a:pPr>
            <a:endParaRPr lang="en-GB" sz="1450" dirty="0">
              <a:solidFill>
                <a:srgbClr val="333A42"/>
              </a:solidFill>
              <a:latin typeface="Calibri"/>
            </a:endParaRPr>
          </a:p>
          <a:p>
            <a:pPr>
              <a:lnSpc>
                <a:spcPct val="106000"/>
              </a:lnSpc>
              <a:spcBef>
                <a:spcPts val="0"/>
              </a:spcBef>
              <a:spcAft>
                <a:spcPts val="800"/>
              </a:spcAft>
            </a:pPr>
            <a:r>
              <a:rPr lang="en-GB" sz="1450" b="0" i="0" dirty="0">
                <a:solidFill>
                  <a:srgbClr val="333A42"/>
                </a:solidFill>
                <a:latin typeface="Calibri"/>
              </a:rPr>
              <a:t>Then, the same algorithms have been tested also in more highly non-stationary environments, used at the same time for the comparison between requirement 4 and requirement 3 different algorithms. In the final cases shown, the environment exhibits a much higher frequency for the highest competing bids Gaussian distributions.</a:t>
            </a:r>
            <a:endParaRPr sz="1450" b="0" i="0" dirty="0">
              <a:solidFill>
                <a:srgbClr val="333A42"/>
              </a:solidFill>
              <a:latin typeface="Calibri"/>
            </a:endParaRPr>
          </a:p>
        </p:txBody>
      </p:sp>
      <p:sp>
        <p:nvSpPr>
          <p:cNvPr id="10" name="Rounded Rectangle 9">
            <a:extLst>
              <a:ext uri="{FF2B5EF4-FFF2-40B4-BE49-F238E27FC236}">
                <a16:creationId xmlns:a16="http://schemas.microsoft.com/office/drawing/2014/main" id="{EF8D6418-520E-ABAB-D473-9E17E708530A}"/>
              </a:ext>
            </a:extLst>
          </p:cNvPr>
          <p:cNvSpPr/>
          <p:nvPr/>
        </p:nvSpPr>
        <p:spPr>
          <a:xfrm>
            <a:off x="853440" y="4105656"/>
            <a:ext cx="4160520" cy="1886827"/>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a:extLst>
              <a:ext uri="{FF2B5EF4-FFF2-40B4-BE49-F238E27FC236}">
                <a16:creationId xmlns:a16="http://schemas.microsoft.com/office/drawing/2014/main" id="{5F119DA7-B32E-88E6-EB5B-D6451238DF49}"/>
              </a:ext>
            </a:extLst>
          </p:cNvPr>
          <p:cNvSpPr txBox="1"/>
          <p:nvPr/>
        </p:nvSpPr>
        <p:spPr>
          <a:xfrm>
            <a:off x="1072896" y="4273852"/>
            <a:ext cx="3721608" cy="520527"/>
          </a:xfrm>
          <a:prstGeom prst="rect">
            <a:avLst/>
          </a:prstGeom>
          <a:noFill/>
        </p:spPr>
        <p:txBody>
          <a:bodyPr wrap="square" lIns="0" tIns="0" rIns="0" bIns="0" anchor="ctr">
            <a:spAutoFit/>
          </a:bodyPr>
          <a:lstStyle/>
          <a:p>
            <a:r>
              <a:rPr lang="en-GB" sz="1500" b="1" i="0" dirty="0">
                <a:solidFill>
                  <a:srgbClr val="2E86AB"/>
                </a:solidFill>
                <a:latin typeface="Calibri"/>
              </a:rPr>
              <a:t>Slightly non-Stationary Environment</a:t>
            </a:r>
            <a:endParaRPr sz="1500" b="1" i="0" dirty="0">
              <a:solidFill>
                <a:srgbClr val="2E86AB"/>
              </a:solidFill>
              <a:latin typeface="Calibri"/>
            </a:endParaRPr>
          </a:p>
          <a:p>
            <a:pPr>
              <a:lnSpc>
                <a:spcPct val="118000"/>
              </a:lnSpc>
              <a:spcBef>
                <a:spcPts val="800"/>
              </a:spcBef>
            </a:pPr>
            <a:endParaRPr sz="1100" b="0" i="1" dirty="0">
              <a:solidFill>
                <a:srgbClr val="6B7480"/>
              </a:solidFill>
              <a:latin typeface="Calibri"/>
            </a:endParaRPr>
          </a:p>
        </p:txBody>
      </p:sp>
      <p:sp>
        <p:nvSpPr>
          <p:cNvPr id="18" name="TextBox 17">
            <a:extLst>
              <a:ext uri="{FF2B5EF4-FFF2-40B4-BE49-F238E27FC236}">
                <a16:creationId xmlns:a16="http://schemas.microsoft.com/office/drawing/2014/main" id="{7C73D952-A135-D529-C9CC-3DA55EBA1243}"/>
              </a:ext>
            </a:extLst>
          </p:cNvPr>
          <p:cNvSpPr txBox="1"/>
          <p:nvPr/>
        </p:nvSpPr>
        <p:spPr>
          <a:xfrm>
            <a:off x="658368" y="6419088"/>
            <a:ext cx="10881360" cy="320040"/>
          </a:xfrm>
          <a:prstGeom prst="rect">
            <a:avLst/>
          </a:prstGeom>
          <a:noFill/>
        </p:spPr>
        <p:txBody>
          <a:bodyPr wrap="square" lIns="0" tIns="0" rIns="0" bIns="0" anchor="t">
            <a:spAutoFit/>
          </a:bodyPr>
          <a:lstStyle/>
          <a:p>
            <a:r>
              <a:rPr sz="1000" b="0" i="1">
                <a:solidFill>
                  <a:srgbClr val="6B7480"/>
                </a:solidFill>
                <a:latin typeface="Consolas"/>
              </a:rPr>
              <a:t>ola/algorithms/sw_cucb.py</a:t>
            </a:r>
          </a:p>
        </p:txBody>
      </p:sp>
      <p:sp>
        <p:nvSpPr>
          <p:cNvPr id="20" name="TextBox 19">
            <a:extLst>
              <a:ext uri="{FF2B5EF4-FFF2-40B4-BE49-F238E27FC236}">
                <a16:creationId xmlns:a16="http://schemas.microsoft.com/office/drawing/2014/main" id="{58733093-7975-CFDA-6FDC-451A97393765}"/>
              </a:ext>
            </a:extLst>
          </p:cNvPr>
          <p:cNvSpPr txBox="1"/>
          <p:nvPr/>
        </p:nvSpPr>
        <p:spPr>
          <a:xfrm>
            <a:off x="1072896" y="4729127"/>
            <a:ext cx="2331720" cy="1069524"/>
          </a:xfrm>
          <a:prstGeom prst="rect">
            <a:avLst/>
          </a:prstGeom>
          <a:noFill/>
        </p:spPr>
        <p:txBody>
          <a:bodyPr wrap="square" lIns="0" tIns="0" rIns="0" bIns="0" anchor="t">
            <a:spAutoFit/>
          </a:bodyPr>
          <a:lstStyle/>
          <a:p>
            <a:pPr>
              <a:lnSpc>
                <a:spcPct val="100000"/>
              </a:lnSpc>
              <a:spcAft>
                <a:spcPts val="700"/>
              </a:spcAft>
            </a:pPr>
            <a:r>
              <a:rPr sz="1300" b="0" i="0" dirty="0">
                <a:solidFill>
                  <a:srgbClr val="333A42"/>
                </a:solidFill>
                <a:latin typeface="Calibri"/>
              </a:rPr>
              <a:t>Time horizon</a:t>
            </a:r>
            <a:r>
              <a:rPr sz="1300" b="0" i="1" dirty="0">
                <a:solidFill>
                  <a:srgbClr val="6B7480"/>
                </a:solidFill>
                <a:latin typeface="Consolas"/>
              </a:rPr>
              <a:t>  T</a:t>
            </a:r>
          </a:p>
          <a:p>
            <a:pPr>
              <a:lnSpc>
                <a:spcPct val="100000"/>
              </a:lnSpc>
              <a:spcAft>
                <a:spcPts val="700"/>
              </a:spcAft>
            </a:pPr>
            <a:r>
              <a:rPr sz="1300" b="0" i="0" dirty="0">
                <a:solidFill>
                  <a:srgbClr val="333A42"/>
                </a:solidFill>
                <a:latin typeface="Calibri"/>
              </a:rPr>
              <a:t>Intervals</a:t>
            </a:r>
          </a:p>
          <a:p>
            <a:pPr>
              <a:lnSpc>
                <a:spcPct val="100000"/>
              </a:lnSpc>
              <a:spcAft>
                <a:spcPts val="700"/>
              </a:spcAft>
            </a:pPr>
            <a:r>
              <a:rPr sz="1300" b="0" i="0" dirty="0">
                <a:solidFill>
                  <a:srgbClr val="333A42"/>
                </a:solidFill>
                <a:latin typeface="Calibri"/>
              </a:rPr>
              <a:t>Budget</a:t>
            </a:r>
            <a:r>
              <a:rPr sz="1300" b="0" i="1" dirty="0">
                <a:solidFill>
                  <a:srgbClr val="6B7480"/>
                </a:solidFill>
                <a:latin typeface="Consolas"/>
              </a:rPr>
              <a:t>  B</a:t>
            </a:r>
          </a:p>
          <a:p>
            <a:pPr>
              <a:lnSpc>
                <a:spcPct val="100000"/>
              </a:lnSpc>
              <a:spcAft>
                <a:spcPts val="700"/>
              </a:spcAft>
            </a:pPr>
            <a:r>
              <a:rPr sz="1300" b="0" i="0" dirty="0">
                <a:solidFill>
                  <a:srgbClr val="333A42"/>
                </a:solidFill>
                <a:latin typeface="Calibri"/>
              </a:rPr>
              <a:t>Per-round budget</a:t>
            </a:r>
            <a:r>
              <a:rPr sz="1300" b="0" i="1" dirty="0">
                <a:solidFill>
                  <a:srgbClr val="6B7480"/>
                </a:solidFill>
                <a:latin typeface="Consolas"/>
              </a:rPr>
              <a:t>  ρ = B / T</a:t>
            </a:r>
          </a:p>
        </p:txBody>
      </p:sp>
      <p:sp>
        <p:nvSpPr>
          <p:cNvPr id="22" name="TextBox 21">
            <a:extLst>
              <a:ext uri="{FF2B5EF4-FFF2-40B4-BE49-F238E27FC236}">
                <a16:creationId xmlns:a16="http://schemas.microsoft.com/office/drawing/2014/main" id="{1E73D142-537A-0A33-0D9F-AA52A8EDF476}"/>
              </a:ext>
            </a:extLst>
          </p:cNvPr>
          <p:cNvSpPr txBox="1"/>
          <p:nvPr/>
        </p:nvSpPr>
        <p:spPr>
          <a:xfrm>
            <a:off x="3938654" y="4713738"/>
            <a:ext cx="914400" cy="1100301"/>
          </a:xfrm>
          <a:prstGeom prst="rect">
            <a:avLst/>
          </a:prstGeom>
          <a:noFill/>
        </p:spPr>
        <p:txBody>
          <a:bodyPr wrap="square" lIns="0" tIns="0" rIns="0" bIns="0" anchor="t">
            <a:spAutoFit/>
          </a:bodyPr>
          <a:lstStyle/>
          <a:p>
            <a:pPr algn="r">
              <a:lnSpc>
                <a:spcPct val="100000"/>
              </a:lnSpc>
              <a:spcAft>
                <a:spcPts val="700"/>
              </a:spcAft>
            </a:pPr>
            <a:r>
              <a:rPr sz="1350" b="1" i="0" dirty="0">
                <a:solidFill>
                  <a:srgbClr val="1B2A4A"/>
                </a:solidFill>
                <a:latin typeface="Consolas"/>
              </a:rPr>
              <a:t>4000</a:t>
            </a:r>
          </a:p>
          <a:p>
            <a:pPr algn="r">
              <a:lnSpc>
                <a:spcPct val="100000"/>
              </a:lnSpc>
              <a:spcAft>
                <a:spcPts val="700"/>
              </a:spcAft>
            </a:pPr>
            <a:r>
              <a:rPr sz="1350" b="1" i="0" dirty="0">
                <a:solidFill>
                  <a:srgbClr val="1B2A4A"/>
                </a:solidFill>
                <a:latin typeface="Consolas"/>
              </a:rPr>
              <a:t>3</a:t>
            </a:r>
          </a:p>
          <a:p>
            <a:pPr algn="r">
              <a:lnSpc>
                <a:spcPct val="100000"/>
              </a:lnSpc>
              <a:spcAft>
                <a:spcPts val="700"/>
              </a:spcAft>
            </a:pPr>
            <a:r>
              <a:rPr sz="1350" b="1" i="0" dirty="0">
                <a:solidFill>
                  <a:srgbClr val="1B2A4A"/>
                </a:solidFill>
                <a:latin typeface="Consolas"/>
              </a:rPr>
              <a:t>8000</a:t>
            </a:r>
          </a:p>
          <a:p>
            <a:pPr algn="r">
              <a:lnSpc>
                <a:spcPct val="100000"/>
              </a:lnSpc>
              <a:spcAft>
                <a:spcPts val="700"/>
              </a:spcAft>
            </a:pPr>
            <a:r>
              <a:rPr sz="1350" b="1" i="0" dirty="0">
                <a:solidFill>
                  <a:srgbClr val="1B2A4A"/>
                </a:solidFill>
                <a:latin typeface="Consolas"/>
              </a:rPr>
              <a:t>2.0</a:t>
            </a:r>
          </a:p>
        </p:txBody>
      </p:sp>
      <p:sp>
        <p:nvSpPr>
          <p:cNvPr id="24" name="TextBox 23">
            <a:extLst>
              <a:ext uri="{FF2B5EF4-FFF2-40B4-BE49-F238E27FC236}">
                <a16:creationId xmlns:a16="http://schemas.microsoft.com/office/drawing/2014/main" id="{C5A80FA7-66A1-963C-70AF-DFF167CEC1EB}"/>
              </a:ext>
            </a:extLst>
          </p:cNvPr>
          <p:cNvSpPr txBox="1"/>
          <p:nvPr/>
        </p:nvSpPr>
        <p:spPr>
          <a:xfrm>
            <a:off x="5139799" y="4820350"/>
            <a:ext cx="6764653" cy="463075"/>
          </a:xfrm>
          <a:prstGeom prst="rect">
            <a:avLst/>
          </a:prstGeom>
          <a:noFill/>
        </p:spPr>
        <p:txBody>
          <a:bodyPr wrap="square" lIns="0" tIns="0" rIns="0" bIns="0" anchor="t">
            <a:spAutoFit/>
          </a:bodyPr>
          <a:lstStyle/>
          <a:p>
            <a:pPr>
              <a:lnSpc>
                <a:spcPct val="106000"/>
              </a:lnSpc>
              <a:spcAft>
                <a:spcPts val="800"/>
              </a:spcAft>
            </a:pPr>
            <a:r>
              <a:rPr lang="en-GB" sz="1450" dirty="0">
                <a:solidFill>
                  <a:srgbClr val="333A42"/>
                </a:solidFill>
                <a:latin typeface="Calibri"/>
              </a:rPr>
              <a:t>In particular, the time horizon is divided into 3 equal intervals; and the related change points occur at round 1333 and 2666.</a:t>
            </a:r>
            <a:endParaRPr sz="1450" dirty="0">
              <a:solidFill>
                <a:srgbClr val="333A42"/>
              </a:solidFill>
              <a:latin typeface="Calibri"/>
            </a:endParaRPr>
          </a:p>
        </p:txBody>
      </p:sp>
    </p:spTree>
    <p:extLst>
      <p:ext uri="{BB962C8B-B14F-4D97-AF65-F5344CB8AC3E}">
        <p14:creationId xmlns:p14="http://schemas.microsoft.com/office/powerpoint/2010/main" val="240075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6"/>
          </a:xfrm>
          <a:prstGeom prst="rect">
            <a:avLst/>
          </a:prstGeom>
          <a:ln w="12700">
            <a:solidFill>
              <a:srgbClr val="D8E1E8"/>
            </a:solidFill>
          </a:ln>
        </p:spPr>
      </p:pic>
      <p:sp>
        <p:nvSpPr>
          <p:cNvPr id="8" name="Rounded Rectangle 7"/>
          <p:cNvSpPr/>
          <p:nvPr/>
        </p:nvSpPr>
        <p:spPr>
          <a:xfrm>
            <a:off x="8229600" y="1828800"/>
            <a:ext cx="3611880" cy="30632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48256"/>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87168"/>
            <a:ext cx="2331720" cy="2286000"/>
          </a:xfrm>
          <a:prstGeom prst="rect">
            <a:avLst/>
          </a:prstGeom>
          <a:noFill/>
        </p:spPr>
        <p:txBody>
          <a:bodyPr wrap="square" lIns="0" tIns="0" rIns="0" bIns="0" anchor="t">
            <a:spAutoFit/>
          </a:bodyPr>
          <a:lstStyle/>
          <a:p>
            <a:pPr>
              <a:lnSpc>
                <a:spcPct val="100000"/>
              </a:lnSpc>
              <a:spcAft>
                <a:spcPts val="700"/>
              </a:spcAft>
            </a:pPr>
            <a:r>
              <a:rPr sz="1300" b="0" i="0" dirty="0">
                <a:solidFill>
                  <a:srgbClr val="333A42"/>
                </a:solidFill>
                <a:latin typeface="Calibri"/>
              </a:rPr>
              <a:t>Time horizon</a:t>
            </a:r>
            <a:r>
              <a:rPr sz="1300" b="0" i="1" dirty="0">
                <a:solidFill>
                  <a:srgbClr val="6B7480"/>
                </a:solidFill>
                <a:latin typeface="Consolas"/>
              </a:rPr>
              <a:t>  T</a:t>
            </a:r>
          </a:p>
          <a:p>
            <a:pPr>
              <a:lnSpc>
                <a:spcPct val="100000"/>
              </a:lnSpc>
              <a:spcAft>
                <a:spcPts val="700"/>
              </a:spcAft>
            </a:pPr>
            <a:r>
              <a:rPr sz="1300" b="0" i="0" dirty="0">
                <a:solidFill>
                  <a:srgbClr val="333A42"/>
                </a:solidFill>
                <a:latin typeface="Calibri"/>
              </a:rPr>
              <a:t>Intervals</a:t>
            </a:r>
          </a:p>
          <a:p>
            <a:pPr>
              <a:lnSpc>
                <a:spcPct val="100000"/>
              </a:lnSpc>
              <a:spcAft>
                <a:spcPts val="700"/>
              </a:spcAft>
            </a:pPr>
            <a:r>
              <a:rPr sz="1300" b="0" i="0" dirty="0">
                <a:solidFill>
                  <a:srgbClr val="333A42"/>
                </a:solidFill>
                <a:latin typeface="Calibri"/>
              </a:rPr>
              <a:t>Budget</a:t>
            </a:r>
            <a:r>
              <a:rPr sz="1300" b="0" i="1" dirty="0">
                <a:solidFill>
                  <a:srgbClr val="6B7480"/>
                </a:solidFill>
                <a:latin typeface="Consolas"/>
              </a:rPr>
              <a:t>  B</a:t>
            </a:r>
          </a:p>
          <a:p>
            <a:pPr>
              <a:lnSpc>
                <a:spcPct val="100000"/>
              </a:lnSpc>
              <a:spcAft>
                <a:spcPts val="700"/>
              </a:spcAft>
            </a:pPr>
            <a:r>
              <a:rPr sz="1300" b="0" i="0" dirty="0">
                <a:solidFill>
                  <a:srgbClr val="333A42"/>
                </a:solidFill>
                <a:latin typeface="Calibri"/>
              </a:rPr>
              <a:t>Per-round budget</a:t>
            </a:r>
            <a:r>
              <a:rPr sz="1300" b="0" i="1" dirty="0">
                <a:solidFill>
                  <a:srgbClr val="6B7480"/>
                </a:solidFill>
                <a:latin typeface="Consolas"/>
              </a:rPr>
              <a:t>  ρ = B / T</a:t>
            </a:r>
          </a:p>
          <a:p>
            <a:pPr>
              <a:lnSpc>
                <a:spcPct val="100000"/>
              </a:lnSpc>
              <a:spcAft>
                <a:spcPts val="700"/>
              </a:spcAft>
            </a:pPr>
            <a:r>
              <a:rPr sz="1300" b="0" i="0" dirty="0">
                <a:solidFill>
                  <a:srgbClr val="333A42"/>
                </a:solidFill>
                <a:latin typeface="Calibri"/>
              </a:rPr>
              <a:t>Exploration </a:t>
            </a:r>
            <a:r>
              <a:rPr sz="1300" b="0" i="0" dirty="0" err="1">
                <a:solidFill>
                  <a:srgbClr val="333A42"/>
                </a:solidFill>
                <a:latin typeface="Calibri"/>
              </a:rPr>
              <a:t>coeff</a:t>
            </a:r>
            <a:r>
              <a:rPr sz="1300" b="0" i="0" dirty="0">
                <a:solidFill>
                  <a:srgbClr val="333A42"/>
                </a:solidFill>
                <a:latin typeface="Calibri"/>
              </a:rPr>
              <a:t>.</a:t>
            </a:r>
            <a:r>
              <a:rPr sz="1300" b="0" i="1" dirty="0">
                <a:solidFill>
                  <a:srgbClr val="6B7480"/>
                </a:solidFill>
                <a:latin typeface="Consolas"/>
              </a:rPr>
              <a:t>  c</a:t>
            </a:r>
          </a:p>
          <a:p>
            <a:pPr>
              <a:lnSpc>
                <a:spcPct val="100000"/>
              </a:lnSpc>
              <a:spcAft>
                <a:spcPts val="700"/>
              </a:spcAft>
            </a:pPr>
            <a:r>
              <a:rPr sz="1300" b="0" i="0" dirty="0">
                <a:solidFill>
                  <a:srgbClr val="333A42"/>
                </a:solidFill>
                <a:latin typeface="Calibri"/>
              </a:rPr>
              <a:t>Window size</a:t>
            </a:r>
            <a:r>
              <a:rPr sz="1300" b="0" i="1" dirty="0">
                <a:solidFill>
                  <a:srgbClr val="6B7480"/>
                </a:solidFill>
                <a:latin typeface="Consolas"/>
              </a:rPr>
              <a:t>  W = √T</a:t>
            </a:r>
          </a:p>
        </p:txBody>
      </p:sp>
      <p:sp>
        <p:nvSpPr>
          <p:cNvPr id="11" name="TextBox 10"/>
          <p:cNvSpPr txBox="1"/>
          <p:nvPr/>
        </p:nvSpPr>
        <p:spPr>
          <a:xfrm>
            <a:off x="10744200" y="2487168"/>
            <a:ext cx="914400" cy="2286000"/>
          </a:xfrm>
          <a:prstGeom prst="rect">
            <a:avLst/>
          </a:prstGeom>
          <a:noFill/>
        </p:spPr>
        <p:txBody>
          <a:bodyPr wrap="square" lIns="0" tIns="0" rIns="0" bIns="0" anchor="t">
            <a:spAutoFit/>
          </a:bodyPr>
          <a:lstStyle/>
          <a:p>
            <a:pPr algn="r">
              <a:lnSpc>
                <a:spcPct val="100000"/>
              </a:lnSpc>
              <a:spcAft>
                <a:spcPts val="700"/>
              </a:spcAft>
            </a:pPr>
            <a:r>
              <a:rPr sz="1350" b="1" i="0" dirty="0">
                <a:solidFill>
                  <a:srgbClr val="1B2A4A"/>
                </a:solidFill>
                <a:latin typeface="Consolas"/>
              </a:rPr>
              <a:t>4000</a:t>
            </a:r>
          </a:p>
          <a:p>
            <a:pPr algn="r">
              <a:lnSpc>
                <a:spcPct val="100000"/>
              </a:lnSpc>
              <a:spcAft>
                <a:spcPts val="700"/>
              </a:spcAft>
            </a:pPr>
            <a:r>
              <a:rPr sz="1350" b="1" i="0" dirty="0">
                <a:solidFill>
                  <a:srgbClr val="1B2A4A"/>
                </a:solidFill>
                <a:latin typeface="Consolas"/>
              </a:rPr>
              <a:t>3</a:t>
            </a:r>
          </a:p>
          <a:p>
            <a:pPr algn="r">
              <a:lnSpc>
                <a:spcPct val="100000"/>
              </a:lnSpc>
              <a:spcAft>
                <a:spcPts val="700"/>
              </a:spcAft>
            </a:pPr>
            <a:r>
              <a:rPr sz="1350" b="1" i="0" dirty="0">
                <a:solidFill>
                  <a:srgbClr val="1B2A4A"/>
                </a:solidFill>
                <a:latin typeface="Consolas"/>
              </a:rPr>
              <a:t>8000</a:t>
            </a:r>
          </a:p>
          <a:p>
            <a:pPr algn="r">
              <a:lnSpc>
                <a:spcPct val="100000"/>
              </a:lnSpc>
              <a:spcAft>
                <a:spcPts val="700"/>
              </a:spcAft>
            </a:pPr>
            <a:r>
              <a:rPr sz="1350" b="1" i="0" dirty="0">
                <a:solidFill>
                  <a:srgbClr val="1B2A4A"/>
                </a:solidFill>
                <a:latin typeface="Consolas"/>
              </a:rPr>
              <a:t>2.0</a:t>
            </a:r>
          </a:p>
          <a:p>
            <a:pPr algn="r">
              <a:lnSpc>
                <a:spcPct val="100000"/>
              </a:lnSpc>
              <a:spcAft>
                <a:spcPts val="700"/>
              </a:spcAft>
            </a:pPr>
            <a:r>
              <a:rPr sz="1350" b="1" i="0" dirty="0">
                <a:solidFill>
                  <a:srgbClr val="1B2A4A"/>
                </a:solidFill>
                <a:latin typeface="Consolas"/>
              </a:rPr>
              <a:t>0.1</a:t>
            </a:r>
          </a:p>
          <a:p>
            <a:pPr algn="r">
              <a:lnSpc>
                <a:spcPct val="100000"/>
              </a:lnSpc>
              <a:spcAft>
                <a:spcPts val="700"/>
              </a:spcAft>
            </a:pPr>
            <a:r>
              <a:rPr sz="1350" b="1" i="0" dirty="0">
                <a:solidFill>
                  <a:srgbClr val="1B2A4A"/>
                </a:solidFill>
                <a:latin typeface="Consolas"/>
              </a:rPr>
              <a:t>63</a:t>
            </a:r>
          </a:p>
        </p:txBody>
      </p:sp>
      <p:sp>
        <p:nvSpPr>
          <p:cNvPr id="12" name="TextBox 11"/>
          <p:cNvSpPr txBox="1"/>
          <p:nvPr/>
        </p:nvSpPr>
        <p:spPr>
          <a:xfrm>
            <a:off x="8485632" y="4261104"/>
            <a:ext cx="3099816" cy="207749"/>
          </a:xfrm>
          <a:prstGeom prst="rect">
            <a:avLst/>
          </a:prstGeom>
          <a:noFill/>
        </p:spPr>
        <p:txBody>
          <a:bodyPr wrap="square" lIns="0" tIns="0" rIns="0" bIns="0" anchor="t">
            <a:spAutoFit/>
          </a:bodyPr>
          <a:lstStyle/>
          <a:p>
            <a:pPr>
              <a:lnSpc>
                <a:spcPct val="100000"/>
              </a:lnSpc>
            </a:pPr>
            <a:r>
              <a:rPr sz="1300" b="0" i="0" dirty="0">
                <a:solidFill>
                  <a:srgbClr val="333A42"/>
                </a:solidFill>
                <a:latin typeface="Calibri"/>
              </a:rPr>
              <a:t>SKL levels</a:t>
            </a:r>
            <a:r>
              <a:rPr sz="1150" b="0" i="1" dirty="0">
                <a:solidFill>
                  <a:srgbClr val="6B7480"/>
                </a:solidFill>
                <a:latin typeface="Calibri"/>
              </a:rPr>
              <a:t>  (curves)</a:t>
            </a:r>
            <a:r>
              <a:rPr sz="1350" b="1" i="0" dirty="0">
                <a:solidFill>
                  <a:srgbClr val="1B2A4A"/>
                </a:solidFill>
                <a:latin typeface="Consolas"/>
              </a:rPr>
              <a:t>     20 / 200 / </a:t>
            </a:r>
            <a:r>
              <a:rPr lang="en-GB" sz="1350" b="1" i="0" dirty="0">
                <a:solidFill>
                  <a:srgbClr val="1B2A4A"/>
                </a:solidFill>
                <a:latin typeface="Consolas"/>
              </a:rPr>
              <a:t>500</a:t>
            </a:r>
            <a:endParaRPr sz="1350" b="1" i="0" dirty="0">
              <a:solidFill>
                <a:srgbClr val="1B2A4A"/>
              </a:solidFill>
              <a:latin typeface="Consolas"/>
            </a:endParaRPr>
          </a:p>
        </p:txBody>
      </p:sp>
      <p:sp>
        <p:nvSpPr>
          <p:cNvPr id="13" name="TextBox 12"/>
          <p:cNvSpPr txBox="1"/>
          <p:nvPr/>
        </p:nvSpPr>
        <p:spPr>
          <a:xfrm>
            <a:off x="8247888" y="5074920"/>
            <a:ext cx="3611880" cy="1188720"/>
          </a:xfrm>
          <a:prstGeom prst="rect">
            <a:avLst/>
          </a:prstGeom>
          <a:noFill/>
        </p:spPr>
        <p:txBody>
          <a:bodyPr wrap="square" lIns="0" tIns="0" rIns="0" bIns="0" anchor="t">
            <a:spAutoFit/>
          </a:bodyPr>
          <a:lstStyle/>
          <a:p>
            <a:pPr>
              <a:lnSpc>
                <a:spcPct val="118000"/>
              </a:lnSpc>
            </a:pPr>
            <a:r>
              <a:rPr sz="1250" b="0" i="1">
                <a:solidFill>
                  <a:srgbClr val="6B7480"/>
                </a:solidFill>
                <a:latin typeface="Calibri"/>
              </a:rPr>
              <a:t>Shaded bands: mean ± std across 20 repeated runs.</a:t>
            </a:r>
          </a:p>
        </p:txBody>
      </p:sp>
      <p:sp>
        <p:nvSpPr>
          <p:cNvPr id="14" name="TextBox 13"/>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D65BED-3985-6D80-5256-50D63E4F883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10214A2-8682-1E51-E463-C620919B9746}"/>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37CAF12-3B18-9034-E9D0-9BD61004C7B2}"/>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1C9D539D-CA80-BC6E-88DC-1C28DD1BA9E2}"/>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766D9668-3395-AD2B-6033-D2D244B8A5A6}"/>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14887889-4CF1-4842-1146-1C993650B0D7}"/>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C017200B-6490-87DC-5682-32848DBC1BFE}"/>
              </a:ext>
            </a:extLst>
          </p:cNvPr>
          <p:cNvPicPr>
            <a:picLocks noChangeAspect="1"/>
          </p:cNvPicPr>
          <p:nvPr/>
        </p:nvPicPr>
        <p:blipFill>
          <a:blip r:embed="rId2"/>
          <a:stretch>
            <a:fillRect/>
          </a:stretch>
        </p:blipFill>
        <p:spPr>
          <a:xfrm>
            <a:off x="2248619" y="1674381"/>
            <a:ext cx="7953564" cy="4772139"/>
          </a:xfrm>
          <a:prstGeom prst="rect">
            <a:avLst/>
          </a:prstGeom>
        </p:spPr>
      </p:pic>
    </p:spTree>
    <p:extLst>
      <p:ext uri="{BB962C8B-B14F-4D97-AF65-F5344CB8AC3E}">
        <p14:creationId xmlns:p14="http://schemas.microsoft.com/office/powerpoint/2010/main" val="1920463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FEA05F-4725-C562-E9DF-F51C0E52B1E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3693D9-1D56-BD69-43A6-64B87A5E93BB}"/>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394C86F-D975-0F31-4214-F801A6AF35F4}"/>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5448837B-98ED-C09E-56B8-65A7E4474E65}"/>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2E621970-A39D-F72C-3D7C-FCFAA6238298}"/>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70559C7-25DC-EFFD-5ACC-10668595CF28}"/>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1011BBBF-2787-D113-1799-D5036EC7409D}"/>
              </a:ext>
            </a:extLst>
          </p:cNvPr>
          <p:cNvPicPr>
            <a:picLocks noChangeAspect="1"/>
          </p:cNvPicPr>
          <p:nvPr/>
        </p:nvPicPr>
        <p:blipFill>
          <a:blip r:embed="rId2"/>
          <a:srcRect/>
          <a:stretch/>
        </p:blipFill>
        <p:spPr>
          <a:xfrm>
            <a:off x="2248619" y="1674381"/>
            <a:ext cx="7953564" cy="4772138"/>
          </a:xfrm>
          <a:prstGeom prst="rect">
            <a:avLst/>
          </a:prstGeom>
        </p:spPr>
      </p:pic>
    </p:spTree>
    <p:extLst>
      <p:ext uri="{BB962C8B-B14F-4D97-AF65-F5344CB8AC3E}">
        <p14:creationId xmlns:p14="http://schemas.microsoft.com/office/powerpoint/2010/main" val="2522603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6"/>
          </a:xfrm>
          <a:prstGeom prst="rect">
            <a:avLst/>
          </a:prstGeom>
          <a:ln w="12700">
            <a:solidFill>
              <a:srgbClr val="D8E1E8"/>
            </a:solidFill>
          </a:ln>
        </p:spPr>
      </p:pic>
      <p:sp>
        <p:nvSpPr>
          <p:cNvPr id="8" name="Rounded Rectangle 7"/>
          <p:cNvSpPr/>
          <p:nvPr/>
        </p:nvSpPr>
        <p:spPr>
          <a:xfrm>
            <a:off x="8229600" y="1828800"/>
            <a:ext cx="3611880" cy="30632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48256"/>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87168"/>
            <a:ext cx="2331720" cy="2286000"/>
          </a:xfrm>
          <a:prstGeom prst="rect">
            <a:avLst/>
          </a:prstGeom>
          <a:noFill/>
        </p:spPr>
        <p:txBody>
          <a:bodyPr wrap="square" lIns="0" tIns="0" rIns="0" bIns="0" anchor="t">
            <a:spAutoFit/>
          </a:bodyPr>
          <a:lstStyle/>
          <a:p>
            <a:pPr>
              <a:lnSpc>
                <a:spcPct val="100000"/>
              </a:lnSpc>
              <a:spcAft>
                <a:spcPts val="700"/>
              </a:spcAft>
            </a:pPr>
            <a:r>
              <a:rPr sz="1300" b="0" i="0">
                <a:solidFill>
                  <a:srgbClr val="333A42"/>
                </a:solidFill>
                <a:latin typeface="Calibri"/>
              </a:rPr>
              <a:t>Time horizon</a:t>
            </a:r>
            <a:r>
              <a:rPr sz="1300" b="0" i="1">
                <a:solidFill>
                  <a:srgbClr val="6B7480"/>
                </a:solidFill>
                <a:latin typeface="Consolas"/>
              </a:rPr>
              <a:t>  T</a:t>
            </a:r>
          </a:p>
          <a:p>
            <a:pPr>
              <a:lnSpc>
                <a:spcPct val="100000"/>
              </a:lnSpc>
              <a:spcAft>
                <a:spcPts val="700"/>
              </a:spcAft>
            </a:pPr>
            <a:r>
              <a:rPr sz="1300" b="0" i="0">
                <a:solidFill>
                  <a:srgbClr val="333A42"/>
                </a:solidFill>
                <a:latin typeface="Calibri"/>
              </a:rPr>
              <a:t>Intervals</a:t>
            </a:r>
          </a:p>
          <a:p>
            <a:pPr>
              <a:lnSpc>
                <a:spcPct val="100000"/>
              </a:lnSpc>
              <a:spcAft>
                <a:spcPts val="700"/>
              </a:spcAft>
            </a:pPr>
            <a:r>
              <a:rPr sz="1300" b="0" i="0">
                <a:solidFill>
                  <a:srgbClr val="333A42"/>
                </a:solidFill>
                <a:latin typeface="Calibri"/>
              </a:rPr>
              <a:t>Budget</a:t>
            </a:r>
            <a:r>
              <a:rPr sz="1300" b="0" i="1">
                <a:solidFill>
                  <a:srgbClr val="6B7480"/>
                </a:solidFill>
                <a:latin typeface="Consolas"/>
              </a:rPr>
              <a:t>  B</a:t>
            </a:r>
          </a:p>
          <a:p>
            <a:pPr>
              <a:lnSpc>
                <a:spcPct val="100000"/>
              </a:lnSpc>
              <a:spcAft>
                <a:spcPts val="700"/>
              </a:spcAft>
            </a:pPr>
            <a:r>
              <a:rPr sz="1300" b="0" i="0">
                <a:solidFill>
                  <a:srgbClr val="333A42"/>
                </a:solidFill>
                <a:latin typeface="Calibri"/>
              </a:rPr>
              <a:t>Per-round budget</a:t>
            </a:r>
            <a:r>
              <a:rPr sz="1300" b="0" i="1">
                <a:solidFill>
                  <a:srgbClr val="6B7480"/>
                </a:solidFill>
                <a:latin typeface="Consolas"/>
              </a:rPr>
              <a:t>  ρ = B / T</a:t>
            </a:r>
          </a:p>
          <a:p>
            <a:pPr>
              <a:lnSpc>
                <a:spcPct val="100000"/>
              </a:lnSpc>
              <a:spcAft>
                <a:spcPts val="700"/>
              </a:spcAft>
            </a:pPr>
            <a:r>
              <a:rPr sz="1300" b="0" i="0">
                <a:solidFill>
                  <a:srgbClr val="333A42"/>
                </a:solidFill>
                <a:latin typeface="Calibri"/>
              </a:rPr>
              <a:t>Exploration coeff.</a:t>
            </a:r>
            <a:r>
              <a:rPr sz="1300" b="0" i="1">
                <a:solidFill>
                  <a:srgbClr val="6B7480"/>
                </a:solidFill>
                <a:latin typeface="Consolas"/>
              </a:rPr>
              <a:t>  c</a:t>
            </a:r>
          </a:p>
        </p:txBody>
      </p:sp>
      <p:sp>
        <p:nvSpPr>
          <p:cNvPr id="11" name="TextBox 10"/>
          <p:cNvSpPr txBox="1"/>
          <p:nvPr/>
        </p:nvSpPr>
        <p:spPr>
          <a:xfrm>
            <a:off x="10744200" y="2487168"/>
            <a:ext cx="914400" cy="2286000"/>
          </a:xfrm>
          <a:prstGeom prst="rect">
            <a:avLst/>
          </a:prstGeom>
          <a:noFill/>
        </p:spPr>
        <p:txBody>
          <a:bodyPr wrap="square" lIns="0" tIns="0" rIns="0" bIns="0" anchor="t">
            <a:spAutoFit/>
          </a:bodyPr>
          <a:lstStyle/>
          <a:p>
            <a:pPr algn="r">
              <a:lnSpc>
                <a:spcPct val="100000"/>
              </a:lnSpc>
              <a:spcAft>
                <a:spcPts val="700"/>
              </a:spcAft>
            </a:pPr>
            <a:r>
              <a:rPr sz="1350" b="1" i="0">
                <a:solidFill>
                  <a:srgbClr val="1B2A4A"/>
                </a:solidFill>
                <a:latin typeface="Consolas"/>
              </a:rPr>
              <a:t>4000</a:t>
            </a:r>
          </a:p>
          <a:p>
            <a:pPr algn="r">
              <a:lnSpc>
                <a:spcPct val="100000"/>
              </a:lnSpc>
              <a:spcAft>
                <a:spcPts val="700"/>
              </a:spcAft>
            </a:pPr>
            <a:r>
              <a:rPr sz="1350" b="1" i="0">
                <a:solidFill>
                  <a:srgbClr val="1B2A4A"/>
                </a:solidFill>
                <a:latin typeface="Consolas"/>
              </a:rPr>
              <a:t>3</a:t>
            </a:r>
          </a:p>
          <a:p>
            <a:pPr algn="r">
              <a:lnSpc>
                <a:spcPct val="100000"/>
              </a:lnSpc>
              <a:spcAft>
                <a:spcPts val="700"/>
              </a:spcAft>
            </a:pPr>
            <a:r>
              <a:rPr sz="1350" b="1" i="0">
                <a:solidFill>
                  <a:srgbClr val="1B2A4A"/>
                </a:solidFill>
                <a:latin typeface="Consolas"/>
              </a:rPr>
              <a:t>8000</a:t>
            </a:r>
          </a:p>
          <a:p>
            <a:pPr algn="r">
              <a:lnSpc>
                <a:spcPct val="100000"/>
              </a:lnSpc>
              <a:spcAft>
                <a:spcPts val="700"/>
              </a:spcAft>
            </a:pPr>
            <a:r>
              <a:rPr sz="1350" b="1" i="0">
                <a:solidFill>
                  <a:srgbClr val="1B2A4A"/>
                </a:solidFill>
                <a:latin typeface="Consolas"/>
              </a:rPr>
              <a:t>2.0</a:t>
            </a:r>
          </a:p>
          <a:p>
            <a:pPr algn="r">
              <a:lnSpc>
                <a:spcPct val="100000"/>
              </a:lnSpc>
              <a:spcAft>
                <a:spcPts val="700"/>
              </a:spcAft>
            </a:pPr>
            <a:r>
              <a:rPr sz="1350" b="1" i="0">
                <a:solidFill>
                  <a:srgbClr val="1B2A4A"/>
                </a:solidFill>
                <a:latin typeface="Consolas"/>
              </a:rPr>
              <a:t>0.1</a:t>
            </a:r>
          </a:p>
        </p:txBody>
      </p:sp>
      <p:sp>
        <p:nvSpPr>
          <p:cNvPr id="12" name="TextBox 11"/>
          <p:cNvSpPr txBox="1"/>
          <p:nvPr/>
        </p:nvSpPr>
        <p:spPr>
          <a:xfrm>
            <a:off x="10744200" y="3931920"/>
            <a:ext cx="914400" cy="320040"/>
          </a:xfrm>
          <a:prstGeom prst="rect">
            <a:avLst/>
          </a:prstGeom>
          <a:noFill/>
        </p:spPr>
        <p:txBody>
          <a:bodyPr wrap="square" lIns="0" tIns="0" rIns="0" bIns="0" anchor="t">
            <a:spAutoFit/>
          </a:bodyPr>
          <a:lstStyle/>
          <a:p>
            <a:pPr algn="r"/>
            <a:r>
              <a:rPr sz="1350" b="1" i="0">
                <a:solidFill>
                  <a:srgbClr val="1B2A4A"/>
                </a:solidFill>
                <a:latin typeface="Consolas"/>
              </a:rPr>
              <a:t>257</a:t>
            </a:r>
          </a:p>
        </p:txBody>
      </p:sp>
      <p:pic>
        <p:nvPicPr>
          <p:cNvPr id="13" name="Picture 12" descr="win_formula.png"/>
          <p:cNvPicPr>
            <a:picLocks noChangeAspect="1"/>
          </p:cNvPicPr>
          <p:nvPr/>
        </p:nvPicPr>
        <p:blipFill>
          <a:blip r:embed="rId3"/>
          <a:stretch>
            <a:fillRect/>
          </a:stretch>
        </p:blipFill>
        <p:spPr>
          <a:xfrm>
            <a:off x="8485632" y="3867912"/>
            <a:ext cx="2011680" cy="307965"/>
          </a:xfrm>
          <a:prstGeom prst="rect">
            <a:avLst/>
          </a:prstGeom>
        </p:spPr>
      </p:pic>
      <p:sp>
        <p:nvSpPr>
          <p:cNvPr id="14" name="TextBox 13"/>
          <p:cNvSpPr txBox="1"/>
          <p:nvPr/>
        </p:nvSpPr>
        <p:spPr>
          <a:xfrm>
            <a:off x="8485632" y="4261104"/>
            <a:ext cx="3099816" cy="207749"/>
          </a:xfrm>
          <a:prstGeom prst="rect">
            <a:avLst/>
          </a:prstGeom>
          <a:noFill/>
        </p:spPr>
        <p:txBody>
          <a:bodyPr wrap="square" lIns="0" tIns="0" rIns="0" bIns="0" anchor="t">
            <a:spAutoFit/>
          </a:bodyPr>
          <a:lstStyle/>
          <a:p>
            <a:pPr>
              <a:lnSpc>
                <a:spcPct val="100000"/>
              </a:lnSpc>
            </a:pPr>
            <a:r>
              <a:rPr sz="1300" b="0" i="0" dirty="0">
                <a:solidFill>
                  <a:srgbClr val="333A42"/>
                </a:solidFill>
                <a:latin typeface="Calibri"/>
              </a:rPr>
              <a:t>SKL levels</a:t>
            </a:r>
            <a:r>
              <a:rPr sz="1150" b="0" i="1" dirty="0">
                <a:solidFill>
                  <a:srgbClr val="6B7480"/>
                </a:solidFill>
                <a:latin typeface="Calibri"/>
              </a:rPr>
              <a:t>  (curves)</a:t>
            </a:r>
            <a:r>
              <a:rPr sz="1350" b="1" i="0" dirty="0">
                <a:solidFill>
                  <a:srgbClr val="1B2A4A"/>
                </a:solidFill>
                <a:latin typeface="Consolas"/>
              </a:rPr>
              <a:t>     20 / 200 </a:t>
            </a:r>
            <a:r>
              <a:rPr sz="1350" b="1" i="0">
                <a:solidFill>
                  <a:srgbClr val="1B2A4A"/>
                </a:solidFill>
                <a:latin typeface="Consolas"/>
              </a:rPr>
              <a:t>/ </a:t>
            </a:r>
            <a:r>
              <a:rPr lang="en-GB" sz="1350" b="1" i="0" dirty="0">
                <a:solidFill>
                  <a:srgbClr val="1B2A4A"/>
                </a:solidFill>
                <a:latin typeface="Consolas"/>
              </a:rPr>
              <a:t>500</a:t>
            </a:r>
            <a:endParaRPr sz="1350" b="1" i="0" dirty="0">
              <a:solidFill>
                <a:srgbClr val="1B2A4A"/>
              </a:solidFill>
              <a:latin typeface="Consolas"/>
            </a:endParaRPr>
          </a:p>
        </p:txBody>
      </p:sp>
      <p:sp>
        <p:nvSpPr>
          <p:cNvPr id="15" name="TextBox 14"/>
          <p:cNvSpPr txBox="1"/>
          <p:nvPr/>
        </p:nvSpPr>
        <p:spPr>
          <a:xfrm>
            <a:off x="8247888" y="5074920"/>
            <a:ext cx="3611880" cy="1188720"/>
          </a:xfrm>
          <a:prstGeom prst="rect">
            <a:avLst/>
          </a:prstGeom>
          <a:noFill/>
        </p:spPr>
        <p:txBody>
          <a:bodyPr wrap="square" lIns="0" tIns="0" rIns="0" bIns="0" anchor="t">
            <a:spAutoFit/>
          </a:bodyPr>
          <a:lstStyle/>
          <a:p>
            <a:pPr>
              <a:lnSpc>
                <a:spcPct val="118000"/>
              </a:lnSpc>
            </a:pPr>
            <a:r>
              <a:rPr sz="1250" b="0" i="1">
                <a:solidFill>
                  <a:srgbClr val="6B7480"/>
                </a:solidFill>
                <a:latin typeface="Calibri"/>
              </a:rPr>
              <a:t>Shaded bands: mean ± std across 20 repeated runs.</a:t>
            </a:r>
          </a:p>
        </p:txBody>
      </p:sp>
      <p:sp>
        <p:nvSpPr>
          <p:cNvPr id="16" name="TextBox 15"/>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cumReg_3int_257win_0.1ec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613CE4-884A-270C-B768-70213D7A120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07235A5-5D1D-5F1D-58E3-7FE580D5305B}"/>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909A8E6-E447-5523-6A77-E8E4D7D3DA6C}"/>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C82B710C-424F-2074-FDE3-57347A687575}"/>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D5B2485F-1439-F673-107A-4F215DB589EF}"/>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A1FBD2F-101C-7A0C-A8B0-E3F1EC03427F}"/>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64437C84-5D78-1DE1-42AE-24985DBEF06B}"/>
              </a:ext>
            </a:extLst>
          </p:cNvPr>
          <p:cNvPicPr>
            <a:picLocks noChangeAspect="1"/>
          </p:cNvPicPr>
          <p:nvPr/>
        </p:nvPicPr>
        <p:blipFill>
          <a:blip r:embed="rId2"/>
          <a:srcRect/>
          <a:stretch/>
        </p:blipFill>
        <p:spPr>
          <a:xfrm>
            <a:off x="2248619" y="1674381"/>
            <a:ext cx="7953564" cy="4772138"/>
          </a:xfrm>
          <a:prstGeom prst="rect">
            <a:avLst/>
          </a:prstGeom>
        </p:spPr>
      </p:pic>
    </p:spTree>
    <p:extLst>
      <p:ext uri="{BB962C8B-B14F-4D97-AF65-F5344CB8AC3E}">
        <p14:creationId xmlns:p14="http://schemas.microsoft.com/office/powerpoint/2010/main" val="1241090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570D93-173E-D77E-8800-B47257546CF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510965A-AA68-409B-07E8-0D160123FC73}"/>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F9CF29B-50E0-5F49-A704-CC3600940FF4}"/>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A202A956-0F8E-55BE-C9B9-7339F78D586C}"/>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FA1832DE-9072-F1CC-A9AD-053659709326}"/>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46F41BB7-AE20-6F80-40FB-80F894FC7285}"/>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1511F921-52E9-A6AA-D4F7-3D8C2C99B3AA}"/>
              </a:ext>
            </a:extLst>
          </p:cNvPr>
          <p:cNvPicPr>
            <a:picLocks noChangeAspect="1"/>
          </p:cNvPicPr>
          <p:nvPr/>
        </p:nvPicPr>
        <p:blipFill>
          <a:blip r:embed="rId2"/>
          <a:srcRect/>
          <a:stretch/>
        </p:blipFill>
        <p:spPr>
          <a:xfrm>
            <a:off x="2248619" y="1674381"/>
            <a:ext cx="7953563" cy="4772138"/>
          </a:xfrm>
          <a:prstGeom prst="rect">
            <a:avLst/>
          </a:prstGeom>
        </p:spPr>
      </p:pic>
    </p:spTree>
    <p:extLst>
      <p:ext uri="{BB962C8B-B14F-4D97-AF65-F5344CB8AC3E}">
        <p14:creationId xmlns:p14="http://schemas.microsoft.com/office/powerpoint/2010/main" val="3364331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6"/>
          </a:xfrm>
          <a:prstGeom prst="rect">
            <a:avLst/>
          </a:prstGeom>
          <a:ln w="12700">
            <a:solidFill>
              <a:srgbClr val="D8E1E8"/>
            </a:solidFill>
          </a:ln>
        </p:spPr>
      </p:pic>
      <p:sp>
        <p:nvSpPr>
          <p:cNvPr id="8" name="Rounded Rectangle 7"/>
          <p:cNvSpPr/>
          <p:nvPr/>
        </p:nvSpPr>
        <p:spPr>
          <a:xfrm>
            <a:off x="8229600" y="1828800"/>
            <a:ext cx="3611880" cy="30632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48256"/>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87168"/>
            <a:ext cx="2331720" cy="2286000"/>
          </a:xfrm>
          <a:prstGeom prst="rect">
            <a:avLst/>
          </a:prstGeom>
          <a:noFill/>
        </p:spPr>
        <p:txBody>
          <a:bodyPr wrap="square" lIns="0" tIns="0" rIns="0" bIns="0" anchor="t">
            <a:spAutoFit/>
          </a:bodyPr>
          <a:lstStyle/>
          <a:p>
            <a:pPr>
              <a:lnSpc>
                <a:spcPct val="100000"/>
              </a:lnSpc>
              <a:spcAft>
                <a:spcPts val="700"/>
              </a:spcAft>
            </a:pPr>
            <a:r>
              <a:rPr sz="1300" b="0" i="0">
                <a:solidFill>
                  <a:srgbClr val="333A42"/>
                </a:solidFill>
                <a:latin typeface="Calibri"/>
              </a:rPr>
              <a:t>Time horizon</a:t>
            </a:r>
            <a:r>
              <a:rPr sz="1300" b="0" i="1">
                <a:solidFill>
                  <a:srgbClr val="6B7480"/>
                </a:solidFill>
                <a:latin typeface="Consolas"/>
              </a:rPr>
              <a:t>  T</a:t>
            </a:r>
          </a:p>
          <a:p>
            <a:pPr>
              <a:lnSpc>
                <a:spcPct val="100000"/>
              </a:lnSpc>
              <a:spcAft>
                <a:spcPts val="700"/>
              </a:spcAft>
            </a:pPr>
            <a:r>
              <a:rPr sz="1300" b="0" i="0">
                <a:solidFill>
                  <a:srgbClr val="333A42"/>
                </a:solidFill>
                <a:latin typeface="Calibri"/>
              </a:rPr>
              <a:t>Intervals</a:t>
            </a:r>
          </a:p>
          <a:p>
            <a:pPr>
              <a:lnSpc>
                <a:spcPct val="100000"/>
              </a:lnSpc>
              <a:spcAft>
                <a:spcPts val="700"/>
              </a:spcAft>
            </a:pPr>
            <a:r>
              <a:rPr sz="1300" b="0" i="0">
                <a:solidFill>
                  <a:srgbClr val="333A42"/>
                </a:solidFill>
                <a:latin typeface="Calibri"/>
              </a:rPr>
              <a:t>Budget</a:t>
            </a:r>
            <a:r>
              <a:rPr sz="1300" b="0" i="1">
                <a:solidFill>
                  <a:srgbClr val="6B7480"/>
                </a:solidFill>
                <a:latin typeface="Consolas"/>
              </a:rPr>
              <a:t>  B</a:t>
            </a:r>
          </a:p>
          <a:p>
            <a:pPr>
              <a:lnSpc>
                <a:spcPct val="100000"/>
              </a:lnSpc>
              <a:spcAft>
                <a:spcPts val="700"/>
              </a:spcAft>
            </a:pPr>
            <a:r>
              <a:rPr sz="1300" b="0" i="0">
                <a:solidFill>
                  <a:srgbClr val="333A42"/>
                </a:solidFill>
                <a:latin typeface="Calibri"/>
              </a:rPr>
              <a:t>Per-round budget</a:t>
            </a:r>
            <a:r>
              <a:rPr sz="1300" b="0" i="1">
                <a:solidFill>
                  <a:srgbClr val="6B7480"/>
                </a:solidFill>
                <a:latin typeface="Consolas"/>
              </a:rPr>
              <a:t>  ρ = B / T</a:t>
            </a:r>
          </a:p>
          <a:p>
            <a:pPr>
              <a:lnSpc>
                <a:spcPct val="100000"/>
              </a:lnSpc>
              <a:spcAft>
                <a:spcPts val="700"/>
              </a:spcAft>
            </a:pPr>
            <a:r>
              <a:rPr sz="1300" b="0" i="0">
                <a:solidFill>
                  <a:srgbClr val="333A42"/>
                </a:solidFill>
                <a:latin typeface="Calibri"/>
              </a:rPr>
              <a:t>Exploration coeff.</a:t>
            </a:r>
            <a:r>
              <a:rPr sz="1300" b="0" i="1">
                <a:solidFill>
                  <a:srgbClr val="6B7480"/>
                </a:solidFill>
                <a:latin typeface="Consolas"/>
              </a:rPr>
              <a:t>  c</a:t>
            </a:r>
          </a:p>
          <a:p>
            <a:pPr>
              <a:lnSpc>
                <a:spcPct val="100000"/>
              </a:lnSpc>
              <a:spcAft>
                <a:spcPts val="700"/>
              </a:spcAft>
            </a:pPr>
            <a:r>
              <a:rPr sz="1300" b="0" i="0">
                <a:solidFill>
                  <a:srgbClr val="333A42"/>
                </a:solidFill>
                <a:latin typeface="Calibri"/>
              </a:rPr>
              <a:t>Window size</a:t>
            </a:r>
            <a:r>
              <a:rPr sz="1300" b="0" i="1">
                <a:solidFill>
                  <a:srgbClr val="6B7480"/>
                </a:solidFill>
                <a:latin typeface="Consolas"/>
              </a:rPr>
              <a:t>  W</a:t>
            </a:r>
          </a:p>
        </p:txBody>
      </p:sp>
      <p:sp>
        <p:nvSpPr>
          <p:cNvPr id="11" name="TextBox 10"/>
          <p:cNvSpPr txBox="1"/>
          <p:nvPr/>
        </p:nvSpPr>
        <p:spPr>
          <a:xfrm>
            <a:off x="10744200" y="2487168"/>
            <a:ext cx="914400" cy="2286000"/>
          </a:xfrm>
          <a:prstGeom prst="rect">
            <a:avLst/>
          </a:prstGeom>
          <a:noFill/>
        </p:spPr>
        <p:txBody>
          <a:bodyPr wrap="square" lIns="0" tIns="0" rIns="0" bIns="0" anchor="t">
            <a:spAutoFit/>
          </a:bodyPr>
          <a:lstStyle/>
          <a:p>
            <a:pPr algn="r">
              <a:lnSpc>
                <a:spcPct val="100000"/>
              </a:lnSpc>
              <a:spcAft>
                <a:spcPts val="700"/>
              </a:spcAft>
            </a:pPr>
            <a:r>
              <a:rPr sz="1350" b="1" i="0">
                <a:solidFill>
                  <a:srgbClr val="1B2A4A"/>
                </a:solidFill>
                <a:latin typeface="Consolas"/>
              </a:rPr>
              <a:t>4000</a:t>
            </a:r>
          </a:p>
          <a:p>
            <a:pPr algn="r">
              <a:lnSpc>
                <a:spcPct val="100000"/>
              </a:lnSpc>
              <a:spcAft>
                <a:spcPts val="700"/>
              </a:spcAft>
            </a:pPr>
            <a:r>
              <a:rPr sz="1350" b="1" i="0">
                <a:solidFill>
                  <a:srgbClr val="1B2A4A"/>
                </a:solidFill>
                <a:latin typeface="Consolas"/>
              </a:rPr>
              <a:t>3</a:t>
            </a:r>
          </a:p>
          <a:p>
            <a:pPr algn="r">
              <a:lnSpc>
                <a:spcPct val="100000"/>
              </a:lnSpc>
              <a:spcAft>
                <a:spcPts val="700"/>
              </a:spcAft>
            </a:pPr>
            <a:r>
              <a:rPr sz="1350" b="1" i="0">
                <a:solidFill>
                  <a:srgbClr val="1B2A4A"/>
                </a:solidFill>
                <a:latin typeface="Consolas"/>
              </a:rPr>
              <a:t>8000</a:t>
            </a:r>
          </a:p>
          <a:p>
            <a:pPr algn="r">
              <a:lnSpc>
                <a:spcPct val="100000"/>
              </a:lnSpc>
              <a:spcAft>
                <a:spcPts val="700"/>
              </a:spcAft>
            </a:pPr>
            <a:r>
              <a:rPr sz="1350" b="1" i="0">
                <a:solidFill>
                  <a:srgbClr val="1B2A4A"/>
                </a:solidFill>
                <a:latin typeface="Consolas"/>
              </a:rPr>
              <a:t>2.0</a:t>
            </a:r>
          </a:p>
          <a:p>
            <a:pPr algn="r">
              <a:lnSpc>
                <a:spcPct val="100000"/>
              </a:lnSpc>
              <a:spcAft>
                <a:spcPts val="700"/>
              </a:spcAft>
            </a:pPr>
            <a:r>
              <a:rPr sz="1350" b="1" i="0">
                <a:solidFill>
                  <a:srgbClr val="1B2A4A"/>
                </a:solidFill>
                <a:latin typeface="Consolas"/>
              </a:rPr>
              <a:t>0.1</a:t>
            </a:r>
          </a:p>
          <a:p>
            <a:pPr algn="r">
              <a:lnSpc>
                <a:spcPct val="100000"/>
              </a:lnSpc>
              <a:spcAft>
                <a:spcPts val="700"/>
              </a:spcAft>
            </a:pPr>
            <a:r>
              <a:rPr sz="1350" b="1" i="0">
                <a:solidFill>
                  <a:srgbClr val="1B2A4A"/>
                </a:solidFill>
                <a:latin typeface="Consolas"/>
              </a:rPr>
              <a:t>700</a:t>
            </a:r>
          </a:p>
        </p:txBody>
      </p:sp>
      <p:sp>
        <p:nvSpPr>
          <p:cNvPr id="12" name="TextBox 11"/>
          <p:cNvSpPr txBox="1"/>
          <p:nvPr/>
        </p:nvSpPr>
        <p:spPr>
          <a:xfrm>
            <a:off x="8485632" y="4261104"/>
            <a:ext cx="3099816" cy="207749"/>
          </a:xfrm>
          <a:prstGeom prst="rect">
            <a:avLst/>
          </a:prstGeom>
          <a:noFill/>
        </p:spPr>
        <p:txBody>
          <a:bodyPr wrap="square" lIns="0" tIns="0" rIns="0" bIns="0" anchor="t">
            <a:spAutoFit/>
          </a:bodyPr>
          <a:lstStyle/>
          <a:p>
            <a:pPr>
              <a:lnSpc>
                <a:spcPct val="100000"/>
              </a:lnSpc>
            </a:pPr>
            <a:r>
              <a:rPr sz="1300" b="0" i="0" dirty="0">
                <a:solidFill>
                  <a:srgbClr val="333A42"/>
                </a:solidFill>
                <a:latin typeface="Calibri"/>
              </a:rPr>
              <a:t>SKL levels</a:t>
            </a:r>
            <a:r>
              <a:rPr sz="1150" b="0" i="1" dirty="0">
                <a:solidFill>
                  <a:srgbClr val="6B7480"/>
                </a:solidFill>
                <a:latin typeface="Calibri"/>
              </a:rPr>
              <a:t>  (curves)</a:t>
            </a:r>
            <a:r>
              <a:rPr sz="1350" b="1" i="0" dirty="0">
                <a:solidFill>
                  <a:srgbClr val="1B2A4A"/>
                </a:solidFill>
                <a:latin typeface="Consolas"/>
              </a:rPr>
              <a:t>     20 / 200 / </a:t>
            </a:r>
            <a:r>
              <a:rPr lang="en-GB" sz="1350" b="1" i="0" dirty="0">
                <a:solidFill>
                  <a:srgbClr val="1B2A4A"/>
                </a:solidFill>
                <a:latin typeface="Consolas"/>
              </a:rPr>
              <a:t>500</a:t>
            </a:r>
            <a:endParaRPr sz="1350" b="1" i="0" dirty="0">
              <a:solidFill>
                <a:srgbClr val="1B2A4A"/>
              </a:solidFill>
              <a:latin typeface="Consolas"/>
            </a:endParaRPr>
          </a:p>
        </p:txBody>
      </p:sp>
      <p:sp>
        <p:nvSpPr>
          <p:cNvPr id="13" name="TextBox 12"/>
          <p:cNvSpPr txBox="1"/>
          <p:nvPr/>
        </p:nvSpPr>
        <p:spPr>
          <a:xfrm>
            <a:off x="8247888" y="5074920"/>
            <a:ext cx="3611880" cy="1188720"/>
          </a:xfrm>
          <a:prstGeom prst="rect">
            <a:avLst/>
          </a:prstGeom>
          <a:noFill/>
        </p:spPr>
        <p:txBody>
          <a:bodyPr wrap="square" lIns="0" tIns="0" rIns="0" bIns="0" anchor="t">
            <a:spAutoFit/>
          </a:bodyPr>
          <a:lstStyle/>
          <a:p>
            <a:pPr>
              <a:lnSpc>
                <a:spcPct val="118000"/>
              </a:lnSpc>
            </a:pPr>
            <a:r>
              <a:rPr sz="1250" b="0" i="1">
                <a:solidFill>
                  <a:srgbClr val="6B7480"/>
                </a:solidFill>
                <a:latin typeface="Calibri"/>
              </a:rPr>
              <a:t>Shaded bands: mean ± std across 20 repeated runs.</a:t>
            </a:r>
          </a:p>
        </p:txBody>
      </p:sp>
      <p:sp>
        <p:nvSpPr>
          <p:cNvPr id="14" name="TextBox 13"/>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cumReg_3int_700win_0.1exp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1CD327-97B4-D7F1-A2AC-FC5118712B7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7C3AAEE-D661-A6C1-A494-65BBA96699B0}"/>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71112FB-C226-905A-8A31-CFA8CFE9613D}"/>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1C54229F-9DD2-79DF-F5F9-C3E741DDFDCE}"/>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C7A40FA5-673F-CC2F-9D34-993E34737DE8}"/>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0A0F079-6EA0-810D-73D2-54D50564002B}"/>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176CA6D7-53A0-10E2-2966-21107FE87005}"/>
              </a:ext>
            </a:extLst>
          </p:cNvPr>
          <p:cNvPicPr>
            <a:picLocks noChangeAspect="1"/>
          </p:cNvPicPr>
          <p:nvPr/>
        </p:nvPicPr>
        <p:blipFill>
          <a:blip r:embed="rId2"/>
          <a:srcRect/>
          <a:stretch/>
        </p:blipFill>
        <p:spPr>
          <a:xfrm>
            <a:off x="2248619" y="1674381"/>
            <a:ext cx="7953563" cy="4772138"/>
          </a:xfrm>
          <a:prstGeom prst="rect">
            <a:avLst/>
          </a:prstGeom>
        </p:spPr>
      </p:pic>
    </p:spTree>
    <p:extLst>
      <p:ext uri="{BB962C8B-B14F-4D97-AF65-F5344CB8AC3E}">
        <p14:creationId xmlns:p14="http://schemas.microsoft.com/office/powerpoint/2010/main" val="579153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CBCE2D-464B-0C61-2732-7FAF907EE2B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46EAC8D-FAFB-1F3B-41C7-A76C09A9BEF2}"/>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0F8FCCC-30C3-3B75-E1A6-A3AFDB9EA42A}"/>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SLIDING-WINDOW CUCB  ·  EXPERIMENTS</a:t>
            </a:r>
          </a:p>
        </p:txBody>
      </p:sp>
      <p:sp>
        <p:nvSpPr>
          <p:cNvPr id="5" name="TextBox 4">
            <a:extLst>
              <a:ext uri="{FF2B5EF4-FFF2-40B4-BE49-F238E27FC236}">
                <a16:creationId xmlns:a16="http://schemas.microsoft.com/office/drawing/2014/main" id="{8E3130EA-6D1E-5E41-D41A-C3E2D417506F}"/>
              </a:ext>
            </a:extLst>
          </p:cNvPr>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SW-CUCB — cumulative pseudo-regret</a:t>
            </a:r>
          </a:p>
        </p:txBody>
      </p:sp>
      <p:sp>
        <p:nvSpPr>
          <p:cNvPr id="6" name="Rectangle 5">
            <a:extLst>
              <a:ext uri="{FF2B5EF4-FFF2-40B4-BE49-F238E27FC236}">
                <a16:creationId xmlns:a16="http://schemas.microsoft.com/office/drawing/2014/main" id="{346C8A45-94DF-9645-B19D-79CBA4CF100C}"/>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210D345-F833-8F82-1AF7-671BA73CA50C}"/>
              </a:ext>
            </a:extLst>
          </p:cNvPr>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SW-CUCB  ·  cumReg_3int_DefWin_0.1ec</a:t>
            </a:r>
          </a:p>
        </p:txBody>
      </p:sp>
      <p:pic>
        <p:nvPicPr>
          <p:cNvPr id="16" name="Picture 15">
            <a:extLst>
              <a:ext uri="{FF2B5EF4-FFF2-40B4-BE49-F238E27FC236}">
                <a16:creationId xmlns:a16="http://schemas.microsoft.com/office/drawing/2014/main" id="{CD7BAF2A-8E1A-1DC8-931E-A37E1188A0F2}"/>
              </a:ext>
            </a:extLst>
          </p:cNvPr>
          <p:cNvPicPr>
            <a:picLocks noChangeAspect="1"/>
          </p:cNvPicPr>
          <p:nvPr/>
        </p:nvPicPr>
        <p:blipFill>
          <a:blip r:embed="rId2"/>
          <a:srcRect/>
          <a:stretch/>
        </p:blipFill>
        <p:spPr>
          <a:xfrm>
            <a:off x="2248619" y="1674381"/>
            <a:ext cx="7953563" cy="4772137"/>
          </a:xfrm>
          <a:prstGeom prst="rect">
            <a:avLst/>
          </a:prstGeom>
        </p:spPr>
      </p:pic>
    </p:spTree>
    <p:extLst>
      <p:ext uri="{BB962C8B-B14F-4D97-AF65-F5344CB8AC3E}">
        <p14:creationId xmlns:p14="http://schemas.microsoft.com/office/powerpoint/2010/main" val="3144937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751"/>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SLIGHTLY NON-STATIONARY ENVIRONMENT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Combinatorial-UCB with Change Detector</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64208"/>
            <a:ext cx="10972800" cy="822960"/>
          </a:xfrm>
          <a:prstGeom prst="rect">
            <a:avLst/>
          </a:prstGeom>
          <a:noFill/>
        </p:spPr>
        <p:txBody>
          <a:bodyPr wrap="square" lIns="0" tIns="0" rIns="0" bIns="0" anchor="t">
            <a:spAutoFit/>
          </a:bodyPr>
          <a:lstStyle/>
          <a:p>
            <a:pPr>
              <a:lnSpc>
                <a:spcPct val="112000"/>
              </a:lnSpc>
            </a:pPr>
            <a:r>
              <a:rPr sz="1500" b="1" i="0">
                <a:solidFill>
                  <a:srgbClr val="E87A2B"/>
                </a:solidFill>
                <a:latin typeface="Calibri"/>
              </a:rPr>
              <a:t>The idea.  </a:t>
            </a:r>
            <a:r>
              <a:rPr sz="1500" b="0" i="0">
                <a:solidFill>
                  <a:srgbClr val="333A42"/>
                </a:solidFill>
                <a:latin typeface="Calibri"/>
              </a:rPr>
              <a:t>Keep the Combinatorial-UCB machinery, but attach a CUSUM change detector to every (campaign, bid) arm. While a regime is stable it behaves like standard CUCB; when a detector fires, statistics are reset — either only that arm or every arm (see reset scope) — so the learner re-learns under the new distribution.</a:t>
            </a:r>
          </a:p>
        </p:txBody>
      </p:sp>
      <p:sp>
        <p:nvSpPr>
          <p:cNvPr id="8" name="TextBox 7"/>
          <p:cNvSpPr txBox="1"/>
          <p:nvPr/>
        </p:nvSpPr>
        <p:spPr>
          <a:xfrm>
            <a:off x="658368" y="2578608"/>
            <a:ext cx="6492240" cy="320040"/>
          </a:xfrm>
          <a:prstGeom prst="rect">
            <a:avLst/>
          </a:prstGeom>
          <a:noFill/>
        </p:spPr>
        <p:txBody>
          <a:bodyPr wrap="square" lIns="0" tIns="0" rIns="0" bIns="0" anchor="t">
            <a:spAutoFit/>
          </a:bodyPr>
          <a:lstStyle/>
          <a:p>
            <a:r>
              <a:rPr sz="1700" b="1" i="0">
                <a:solidFill>
                  <a:srgbClr val="1B2A4A"/>
                </a:solidFill>
                <a:latin typeface="Calibri"/>
              </a:rPr>
              <a:t>How it works</a:t>
            </a:r>
          </a:p>
        </p:txBody>
      </p:sp>
      <p:sp>
        <p:nvSpPr>
          <p:cNvPr id="9" name="TextBox 8"/>
          <p:cNvSpPr txBox="1"/>
          <p:nvPr/>
        </p:nvSpPr>
        <p:spPr>
          <a:xfrm>
            <a:off x="658368" y="2880360"/>
            <a:ext cx="6446520" cy="3520440"/>
          </a:xfrm>
          <a:prstGeom prst="rect">
            <a:avLst/>
          </a:prstGeom>
          <a:noFill/>
        </p:spPr>
        <p:txBody>
          <a:bodyPr wrap="square" lIns="0" tIns="0" rIns="0" bIns="0" anchor="t">
            <a:spAutoFit/>
          </a:bodyPr>
          <a:lstStyle/>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Win-indicator signal:  </a:t>
            </a:r>
            <a:r>
              <a:rPr sz="1350" b="0" i="0" dirty="0">
                <a:solidFill>
                  <a:srgbClr val="333A42"/>
                </a:solidFill>
                <a:latin typeface="Calibri"/>
              </a:rPr>
              <a:t>each arm monitors the Bernoulli win indicator, not the raw reward: reward = win·(value − bid) shrinks as the bid grows, so a single threshold would be unfair across arms. The win indicator stays in [0, 1] for every arm.</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CUSUM detector:  </a:t>
            </a:r>
            <a:r>
              <a:rPr sz="1350" b="0" i="0" dirty="0">
                <a:solidFill>
                  <a:srgbClr val="333A42"/>
                </a:solidFill>
                <a:latin typeface="Calibri"/>
              </a:rPr>
              <a:t>after M warm-up samples fix a reference win-rate; the statistics g⁺ / g⁻ accumulate deviations beyond a slack ε, and an alarm fires when either exceeds the threshold h.</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Forced exploration (α):  </a:t>
            </a:r>
            <a:r>
              <a:rPr sz="1350" b="0" i="0" dirty="0">
                <a:solidFill>
                  <a:srgbClr val="333A42"/>
                </a:solidFill>
                <a:latin typeface="Calibri"/>
              </a:rPr>
              <a:t>with probability α the agent plays a random budget-feasible super-arm, so arms outside the current optimum keep feeding their detectors.</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Low exploration coefficient c:  </a:t>
            </a:r>
            <a:r>
              <a:rPr sz="1350" b="0" i="0" dirty="0">
                <a:solidFill>
                  <a:srgbClr val="333A42"/>
                </a:solidFill>
                <a:latin typeface="Calibri"/>
              </a:rPr>
              <a:t>the same reasoning as in the sliding-window approach applies here as well.</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UCB estimates:  </a:t>
            </a:r>
            <a:r>
              <a:rPr sz="1350" b="0" i="0" dirty="0">
                <a:solidFill>
                  <a:srgbClr val="333A42"/>
                </a:solidFill>
                <a:latin typeface="Calibri"/>
              </a:rPr>
              <a:t>both the exploitation term (the mean estimate) and the exploration term use only the samples gathered since the last reset; the exploration numerator is the total valid samples across arms, and each arm's count restarts on a detection.</a:t>
            </a:r>
            <a:endParaRPr lang="en-GB" sz="1350" b="0" i="0" dirty="0">
              <a:solidFill>
                <a:srgbClr val="333A42"/>
              </a:solidFill>
              <a:latin typeface="Calibri"/>
            </a:endParaRPr>
          </a:p>
        </p:txBody>
      </p:sp>
      <p:sp>
        <p:nvSpPr>
          <p:cNvPr id="10" name="Rounded Rectangle 9"/>
          <p:cNvSpPr/>
          <p:nvPr/>
        </p:nvSpPr>
        <p:spPr>
          <a:xfrm>
            <a:off x="7360920" y="2578608"/>
            <a:ext cx="4160520" cy="21488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0376" y="2578608"/>
            <a:ext cx="3721608" cy="2148840"/>
          </a:xfrm>
          <a:prstGeom prst="rect">
            <a:avLst/>
          </a:prstGeom>
          <a:noFill/>
        </p:spPr>
        <p:txBody>
          <a:bodyPr wrap="square" lIns="0" tIns="0" rIns="0" bIns="0" anchor="ctr">
            <a:spAutoFit/>
          </a:bodyPr>
          <a:lstStyle/>
          <a:p>
            <a:r>
              <a:rPr sz="1500" b="1" i="0" dirty="0">
                <a:solidFill>
                  <a:srgbClr val="2E86AB"/>
                </a:solidFill>
                <a:latin typeface="Calibri"/>
              </a:rPr>
              <a:t>CUSUM parameters</a:t>
            </a:r>
          </a:p>
          <a:p>
            <a:pPr>
              <a:lnSpc>
                <a:spcPct val="110000"/>
              </a:lnSpc>
              <a:spcBef>
                <a:spcPts val="1000"/>
              </a:spcBef>
            </a:pPr>
            <a:r>
              <a:rPr sz="1400" b="1" i="0" dirty="0">
                <a:solidFill>
                  <a:srgbClr val="1B2A4A"/>
                </a:solidFill>
                <a:latin typeface="Consolas"/>
              </a:rPr>
              <a:t>M</a:t>
            </a:r>
            <a:r>
              <a:rPr sz="1300" b="0" i="0" dirty="0">
                <a:solidFill>
                  <a:srgbClr val="333A42"/>
                </a:solidFill>
                <a:latin typeface="Calibri"/>
              </a:rPr>
              <a:t>  —  warm-up samples → reference win-rate</a:t>
            </a:r>
          </a:p>
          <a:p>
            <a:pPr>
              <a:lnSpc>
                <a:spcPct val="110000"/>
              </a:lnSpc>
              <a:spcBef>
                <a:spcPts val="700"/>
              </a:spcBef>
            </a:pPr>
            <a:r>
              <a:rPr sz="1400" b="1" i="0" dirty="0">
                <a:solidFill>
                  <a:srgbClr val="1B2A4A"/>
                </a:solidFill>
                <a:latin typeface="Consolas"/>
              </a:rPr>
              <a:t>ε</a:t>
            </a:r>
            <a:r>
              <a:rPr sz="1300" b="0" i="0" dirty="0">
                <a:solidFill>
                  <a:srgbClr val="333A42"/>
                </a:solidFill>
                <a:latin typeface="Calibri"/>
              </a:rPr>
              <a:t>  —  slack: ignore small deviations</a:t>
            </a:r>
          </a:p>
          <a:p>
            <a:pPr>
              <a:lnSpc>
                <a:spcPct val="110000"/>
              </a:lnSpc>
              <a:spcBef>
                <a:spcPts val="700"/>
              </a:spcBef>
            </a:pPr>
            <a:r>
              <a:rPr sz="1400" b="1" i="0" dirty="0">
                <a:solidFill>
                  <a:srgbClr val="1B2A4A"/>
                </a:solidFill>
                <a:latin typeface="Consolas"/>
              </a:rPr>
              <a:t>h</a:t>
            </a:r>
            <a:r>
              <a:rPr sz="1300" b="0" i="0" dirty="0">
                <a:solidFill>
                  <a:srgbClr val="333A42"/>
                </a:solidFill>
                <a:latin typeface="Calibri"/>
              </a:rPr>
              <a:t>  —  detection threshold</a:t>
            </a:r>
          </a:p>
          <a:p>
            <a:pPr>
              <a:lnSpc>
                <a:spcPct val="110000"/>
              </a:lnSpc>
              <a:spcBef>
                <a:spcPts val="700"/>
              </a:spcBef>
            </a:pPr>
            <a:r>
              <a:rPr sz="1400" b="1" i="0" dirty="0" err="1">
                <a:solidFill>
                  <a:srgbClr val="1B2A4A"/>
                </a:solidFill>
                <a:latin typeface="Consolas"/>
              </a:rPr>
              <a:t>ever_pulled</a:t>
            </a:r>
            <a:r>
              <a:rPr sz="1300" b="0" i="0" dirty="0">
                <a:solidFill>
                  <a:srgbClr val="333A42"/>
                </a:solidFill>
                <a:latin typeface="Calibri"/>
              </a:rPr>
              <a:t>  —  mask for the forced initial exploration</a:t>
            </a:r>
            <a:endParaRPr lang="en-GB" sz="1300" b="0" i="0" dirty="0">
              <a:solidFill>
                <a:srgbClr val="333A42"/>
              </a:solidFill>
              <a:latin typeface="Calibri"/>
            </a:endParaRPr>
          </a:p>
          <a:p>
            <a:pPr>
              <a:lnSpc>
                <a:spcPct val="110000"/>
              </a:lnSpc>
              <a:spcBef>
                <a:spcPts val="700"/>
              </a:spcBef>
            </a:pPr>
            <a:r>
              <a:rPr lang="el-GR" sz="1400" b="1" dirty="0">
                <a:solidFill>
                  <a:srgbClr val="1B2A4A"/>
                </a:solidFill>
                <a:latin typeface="Consolas" panose="020B0609020204030204" pitchFamily="49" charset="0"/>
              </a:rPr>
              <a:t>α</a:t>
            </a:r>
            <a:r>
              <a:rPr lang="en-GB" sz="1400" b="1" dirty="0">
                <a:solidFill>
                  <a:srgbClr val="1B2A4A"/>
                </a:solidFill>
                <a:latin typeface="Consolas" panose="020B0609020204030204" pitchFamily="49" charset="0"/>
              </a:rPr>
              <a:t> </a:t>
            </a:r>
            <a:r>
              <a:rPr lang="en-GB" sz="1400" dirty="0">
                <a:solidFill>
                  <a:srgbClr val="333A42"/>
                </a:solidFill>
              </a:rPr>
              <a:t>— </a:t>
            </a:r>
            <a:r>
              <a:rPr lang="en-GB" sz="1300" dirty="0">
                <a:solidFill>
                  <a:srgbClr val="333A42"/>
                </a:solidFill>
                <a:latin typeface="+mj-lt"/>
              </a:rPr>
              <a:t>forced</a:t>
            </a:r>
            <a:r>
              <a:rPr lang="en-GB" sz="1400" dirty="0">
                <a:solidFill>
                  <a:srgbClr val="333A42"/>
                </a:solidFill>
              </a:rPr>
              <a:t> </a:t>
            </a:r>
            <a:r>
              <a:rPr lang="en-GB" sz="1300" dirty="0">
                <a:solidFill>
                  <a:srgbClr val="333A42"/>
                </a:solidFill>
              </a:rPr>
              <a:t>exploration</a:t>
            </a:r>
            <a:r>
              <a:rPr lang="en-GB" sz="1400" dirty="0">
                <a:solidFill>
                  <a:srgbClr val="333A42"/>
                </a:solidFill>
              </a:rPr>
              <a:t> </a:t>
            </a:r>
            <a:r>
              <a:rPr lang="en-GB" sz="1300" dirty="0">
                <a:solidFill>
                  <a:srgbClr val="333A42"/>
                </a:solidFill>
                <a:latin typeface="+mj-lt"/>
              </a:rPr>
              <a:t>parameter</a:t>
            </a:r>
            <a:endParaRPr sz="1300" b="0" i="0" dirty="0">
              <a:solidFill>
                <a:srgbClr val="333A42"/>
              </a:solidFill>
              <a:latin typeface="+mj-lt"/>
            </a:endParaRPr>
          </a:p>
        </p:txBody>
      </p:sp>
      <p:sp>
        <p:nvSpPr>
          <p:cNvPr id="12" name="Rounded Rectangle 11"/>
          <p:cNvSpPr/>
          <p:nvPr/>
        </p:nvSpPr>
        <p:spPr>
          <a:xfrm>
            <a:off x="7360920" y="4892040"/>
            <a:ext cx="4160520" cy="1435608"/>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0376" y="4892040"/>
            <a:ext cx="3721608" cy="1435608"/>
          </a:xfrm>
          <a:prstGeom prst="rect">
            <a:avLst/>
          </a:prstGeom>
          <a:noFill/>
        </p:spPr>
        <p:txBody>
          <a:bodyPr wrap="square" lIns="0" tIns="0" rIns="0" bIns="0" anchor="ctr">
            <a:spAutoFit/>
          </a:bodyPr>
          <a:lstStyle/>
          <a:p>
            <a:r>
              <a:rPr sz="1400" b="1" i="0">
                <a:solidFill>
                  <a:srgbClr val="E87A2B"/>
                </a:solidFill>
                <a:latin typeface="Calibri"/>
              </a:rPr>
              <a:t>Reset scope — two modes</a:t>
            </a:r>
          </a:p>
          <a:p>
            <a:pPr>
              <a:lnSpc>
                <a:spcPct val="112000"/>
              </a:lnSpc>
              <a:spcBef>
                <a:spcPts val="800"/>
              </a:spcBef>
            </a:pPr>
            <a:r>
              <a:rPr sz="1300" b="1" i="0">
                <a:solidFill>
                  <a:srgbClr val="1B2A4A"/>
                </a:solidFill>
                <a:latin typeface="Consolas"/>
              </a:rPr>
              <a:t>per-arm</a:t>
            </a:r>
            <a:r>
              <a:rPr sz="1250" b="0" i="0">
                <a:solidFill>
                  <a:srgbClr val="333A42"/>
                </a:solidFill>
                <a:latin typeface="Calibri"/>
              </a:rPr>
              <a:t>  — wipe only the firing arm.</a:t>
            </a:r>
          </a:p>
          <a:p>
            <a:pPr>
              <a:lnSpc>
                <a:spcPct val="112000"/>
              </a:lnSpc>
              <a:spcBef>
                <a:spcPts val="500"/>
              </a:spcBef>
            </a:pPr>
            <a:r>
              <a:rPr sz="1300" b="1" i="0">
                <a:solidFill>
                  <a:srgbClr val="1B2A4A"/>
                </a:solidFill>
                <a:latin typeface="Consolas"/>
              </a:rPr>
              <a:t>global</a:t>
            </a:r>
            <a:r>
              <a:rPr sz="1250" b="0" i="0">
                <a:solidFill>
                  <a:srgbClr val="333A42"/>
                </a:solidFill>
                <a:latin typeface="Calibri"/>
              </a:rPr>
              <a:t>  — restart every arm; fits synchronized regime shifts.</a:t>
            </a:r>
          </a:p>
        </p:txBody>
      </p:sp>
      <p:sp>
        <p:nvSpPr>
          <p:cNvPr id="14" name="TextBox 13"/>
          <p:cNvSpPr txBox="1"/>
          <p:nvPr/>
        </p:nvSpPr>
        <p:spPr>
          <a:xfrm>
            <a:off x="658368" y="6419088"/>
            <a:ext cx="10881360" cy="320040"/>
          </a:xfrm>
          <a:prstGeom prst="rect">
            <a:avLst/>
          </a:prstGeom>
          <a:noFill/>
        </p:spPr>
        <p:txBody>
          <a:bodyPr wrap="square" lIns="0" tIns="0" rIns="0" bIns="0" anchor="t">
            <a:spAutoFit/>
          </a:bodyPr>
          <a:lstStyle/>
          <a:p>
            <a:r>
              <a:rPr sz="1000" b="0" i="1">
                <a:solidFill>
                  <a:srgbClr val="6B7480"/>
                </a:solidFill>
                <a:latin typeface="Consolas"/>
              </a:rPr>
              <a:t>ola/algorithms/cd_cucb.py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125E5-9918-D819-716A-A9A3349D708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60BD3CF-BCB6-0F36-FF3A-255FED2377F8}"/>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C092793-5BCB-8C95-C50C-C94F2C396DEE}"/>
              </a:ext>
            </a:extLst>
          </p:cNvPr>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SLIGHTLY NON-STATIONARY ENVIRONMENT</a:t>
            </a:r>
          </a:p>
        </p:txBody>
      </p:sp>
      <p:sp>
        <p:nvSpPr>
          <p:cNvPr id="5" name="TextBox 4">
            <a:extLst>
              <a:ext uri="{FF2B5EF4-FFF2-40B4-BE49-F238E27FC236}">
                <a16:creationId xmlns:a16="http://schemas.microsoft.com/office/drawing/2014/main" id="{349C386C-C3DB-72A2-EF7E-B535C3A11AE2}"/>
              </a:ext>
            </a:extLst>
          </p:cNvPr>
          <p:cNvSpPr txBox="1"/>
          <p:nvPr/>
        </p:nvSpPr>
        <p:spPr>
          <a:xfrm>
            <a:off x="640080" y="713232"/>
            <a:ext cx="10972800" cy="868680"/>
          </a:xfrm>
          <a:prstGeom prst="rect">
            <a:avLst/>
          </a:prstGeom>
          <a:noFill/>
        </p:spPr>
        <p:txBody>
          <a:bodyPr wrap="square" lIns="0" tIns="0" rIns="0" bIns="0" anchor="t">
            <a:spAutoFit/>
          </a:bodyPr>
          <a:lstStyle/>
          <a:p>
            <a:r>
              <a:rPr sz="3000" b="1" i="0" dirty="0">
                <a:solidFill>
                  <a:srgbClr val="1B2A4A"/>
                </a:solidFill>
                <a:latin typeface="Calibri"/>
              </a:rPr>
              <a:t>Combinatorial-UCB with Change Detector</a:t>
            </a:r>
          </a:p>
        </p:txBody>
      </p:sp>
      <p:sp>
        <p:nvSpPr>
          <p:cNvPr id="6" name="Rectangle 5">
            <a:extLst>
              <a:ext uri="{FF2B5EF4-FFF2-40B4-BE49-F238E27FC236}">
                <a16:creationId xmlns:a16="http://schemas.microsoft.com/office/drawing/2014/main" id="{30863002-2C38-BCE1-1C41-51911EEAAE30}"/>
              </a:ext>
            </a:extLst>
          </p:cNvPr>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4FA1FA9-950C-8AAF-FB7C-734CAA5945B8}"/>
              </a:ext>
            </a:extLst>
          </p:cNvPr>
          <p:cNvSpPr txBox="1"/>
          <p:nvPr/>
        </p:nvSpPr>
        <p:spPr>
          <a:xfrm>
            <a:off x="658368" y="1642125"/>
            <a:ext cx="6492240" cy="307777"/>
          </a:xfrm>
          <a:prstGeom prst="rect">
            <a:avLst/>
          </a:prstGeom>
          <a:noFill/>
        </p:spPr>
        <p:txBody>
          <a:bodyPr wrap="square" lIns="0" tIns="0" rIns="0" bIns="0" anchor="t">
            <a:spAutoFit/>
          </a:bodyPr>
          <a:lstStyle/>
          <a:p>
            <a:r>
              <a:rPr lang="en-GB" sz="2000" b="1" i="0" dirty="0">
                <a:solidFill>
                  <a:srgbClr val="1B2A4A"/>
                </a:solidFill>
                <a:latin typeface="Calibri"/>
              </a:rPr>
              <a:t>Parameters estimation</a:t>
            </a:r>
            <a:endParaRPr sz="2000" b="1" i="0" dirty="0">
              <a:solidFill>
                <a:srgbClr val="1B2A4A"/>
              </a:solidFill>
              <a:latin typeface="Calibri"/>
            </a:endParaRPr>
          </a:p>
        </p:txBody>
      </p:sp>
      <p:sp>
        <p:nvSpPr>
          <p:cNvPr id="10" name="Rounded Rectangle 9">
            <a:extLst>
              <a:ext uri="{FF2B5EF4-FFF2-40B4-BE49-F238E27FC236}">
                <a16:creationId xmlns:a16="http://schemas.microsoft.com/office/drawing/2014/main" id="{BBDA8B27-09E2-8BA2-8928-ABCFCDD967B5}"/>
              </a:ext>
            </a:extLst>
          </p:cNvPr>
          <p:cNvSpPr/>
          <p:nvPr/>
        </p:nvSpPr>
        <p:spPr>
          <a:xfrm>
            <a:off x="1293673" y="2514783"/>
            <a:ext cx="3284077" cy="12073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118E7551-45E2-2421-F736-5DD83BE1565A}"/>
              </a:ext>
            </a:extLst>
          </p:cNvPr>
          <p:cNvSpPr txBox="1"/>
          <p:nvPr/>
        </p:nvSpPr>
        <p:spPr>
          <a:xfrm>
            <a:off x="1381950" y="2661187"/>
            <a:ext cx="3195800" cy="969496"/>
          </a:xfrm>
          <a:prstGeom prst="rect">
            <a:avLst/>
          </a:prstGeom>
          <a:noFill/>
        </p:spPr>
        <p:txBody>
          <a:bodyPr wrap="square" lIns="0" tIns="0" rIns="0" bIns="0" anchor="ctr">
            <a:spAutoFit/>
          </a:bodyPr>
          <a:lstStyle/>
          <a:p>
            <a:r>
              <a:rPr lang="en-GB" sz="1500" b="1" i="0" dirty="0">
                <a:solidFill>
                  <a:srgbClr val="2E86AB"/>
                </a:solidFill>
                <a:latin typeface="Calibri"/>
              </a:rPr>
              <a:t>M – Warm-up samples</a:t>
            </a:r>
          </a:p>
          <a:p>
            <a:endParaRPr lang="en-GB" sz="1500" b="1" dirty="0">
              <a:solidFill>
                <a:srgbClr val="2E86AB"/>
              </a:solidFill>
              <a:latin typeface="Calibri"/>
            </a:endParaRPr>
          </a:p>
          <a:p>
            <a:r>
              <a:rPr lang="en-GB" b="1" dirty="0">
                <a:latin typeface="Consolas" panose="020B0609020204030204" pitchFamily="49" charset="0"/>
              </a:rPr>
              <a:t>M  =  int(log(T / U_T))</a:t>
            </a:r>
          </a:p>
          <a:p>
            <a:endParaRPr lang="en-GB" sz="1500" b="1" i="0" dirty="0">
              <a:solidFill>
                <a:srgbClr val="2E86AB"/>
              </a:solidFill>
              <a:latin typeface="Calibri"/>
            </a:endParaRPr>
          </a:p>
        </p:txBody>
      </p:sp>
      <p:sp>
        <p:nvSpPr>
          <p:cNvPr id="12" name="Rounded Rectangle 11">
            <a:extLst>
              <a:ext uri="{FF2B5EF4-FFF2-40B4-BE49-F238E27FC236}">
                <a16:creationId xmlns:a16="http://schemas.microsoft.com/office/drawing/2014/main" id="{43D1364F-5038-33FA-E0A9-4F7C0E37B03F}"/>
              </a:ext>
            </a:extLst>
          </p:cNvPr>
          <p:cNvSpPr/>
          <p:nvPr/>
        </p:nvSpPr>
        <p:spPr>
          <a:xfrm>
            <a:off x="3637529" y="4460699"/>
            <a:ext cx="3425378" cy="1259456"/>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3C20CE95-959A-E2C7-41D5-46468F0DA6CC}"/>
              </a:ext>
            </a:extLst>
          </p:cNvPr>
          <p:cNvSpPr txBox="1"/>
          <p:nvPr/>
        </p:nvSpPr>
        <p:spPr>
          <a:xfrm>
            <a:off x="3825125" y="4697639"/>
            <a:ext cx="3174521" cy="738664"/>
          </a:xfrm>
          <a:prstGeom prst="rect">
            <a:avLst/>
          </a:prstGeom>
          <a:noFill/>
        </p:spPr>
        <p:txBody>
          <a:bodyPr wrap="square" lIns="0" tIns="0" rIns="0" bIns="0" anchor="ctr">
            <a:spAutoFit/>
          </a:bodyPr>
          <a:lstStyle/>
          <a:p>
            <a:r>
              <a:rPr lang="en-GB" sz="1500" b="1" i="0" dirty="0">
                <a:solidFill>
                  <a:srgbClr val="E87A2B"/>
                </a:solidFill>
                <a:latin typeface="Calibri"/>
              </a:rPr>
              <a:t>h — Detection threshold</a:t>
            </a:r>
          </a:p>
          <a:p>
            <a:endParaRPr sz="1500" b="1" i="0" dirty="0">
              <a:solidFill>
                <a:srgbClr val="E87A2B"/>
              </a:solidFill>
              <a:latin typeface="Calibri"/>
            </a:endParaRPr>
          </a:p>
          <a:p>
            <a:r>
              <a:rPr lang="en-GB" b="1" dirty="0">
                <a:latin typeface="Consolas" panose="020B0609020204030204" pitchFamily="49" charset="0"/>
              </a:rPr>
              <a:t>h  =  2 * log(T / U_T)</a:t>
            </a:r>
          </a:p>
        </p:txBody>
      </p:sp>
      <p:sp>
        <p:nvSpPr>
          <p:cNvPr id="14" name="TextBox 13">
            <a:extLst>
              <a:ext uri="{FF2B5EF4-FFF2-40B4-BE49-F238E27FC236}">
                <a16:creationId xmlns:a16="http://schemas.microsoft.com/office/drawing/2014/main" id="{8F9E0AD2-A969-5F4D-9D3D-227FFA2CD795}"/>
              </a:ext>
            </a:extLst>
          </p:cNvPr>
          <p:cNvSpPr txBox="1"/>
          <p:nvPr/>
        </p:nvSpPr>
        <p:spPr>
          <a:xfrm>
            <a:off x="658368" y="6419088"/>
            <a:ext cx="10881360" cy="320040"/>
          </a:xfrm>
          <a:prstGeom prst="rect">
            <a:avLst/>
          </a:prstGeom>
          <a:noFill/>
        </p:spPr>
        <p:txBody>
          <a:bodyPr wrap="square" lIns="0" tIns="0" rIns="0" bIns="0" anchor="t">
            <a:spAutoFit/>
          </a:bodyPr>
          <a:lstStyle/>
          <a:p>
            <a:r>
              <a:rPr sz="1000" b="0" i="1">
                <a:solidFill>
                  <a:srgbClr val="6B7480"/>
                </a:solidFill>
                <a:latin typeface="Consolas"/>
              </a:rPr>
              <a:t>ola/algorithms/cd_cucb.py</a:t>
            </a:r>
          </a:p>
        </p:txBody>
      </p:sp>
      <p:sp>
        <p:nvSpPr>
          <p:cNvPr id="16" name="Rounded Rectangle 9">
            <a:extLst>
              <a:ext uri="{FF2B5EF4-FFF2-40B4-BE49-F238E27FC236}">
                <a16:creationId xmlns:a16="http://schemas.microsoft.com/office/drawing/2014/main" id="{FAC69942-10F7-5F00-FA7C-DFF1AF5CC3FA}"/>
              </a:ext>
            </a:extLst>
          </p:cNvPr>
          <p:cNvSpPr/>
          <p:nvPr/>
        </p:nvSpPr>
        <p:spPr>
          <a:xfrm>
            <a:off x="6299585" y="2315638"/>
            <a:ext cx="4867023" cy="1592653"/>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031257D5-DE0B-187B-8BA9-2E85DE889F98}"/>
              </a:ext>
            </a:extLst>
          </p:cNvPr>
          <p:cNvSpPr txBox="1"/>
          <p:nvPr/>
        </p:nvSpPr>
        <p:spPr>
          <a:xfrm>
            <a:off x="6548888" y="2514783"/>
            <a:ext cx="4705997" cy="1223412"/>
          </a:xfrm>
          <a:prstGeom prst="rect">
            <a:avLst/>
          </a:prstGeom>
          <a:noFill/>
        </p:spPr>
        <p:txBody>
          <a:bodyPr wrap="square" lIns="0" tIns="0" rIns="0" bIns="0" anchor="ctr">
            <a:spAutoFit/>
          </a:bodyPr>
          <a:lstStyle/>
          <a:p>
            <a:r>
              <a:rPr lang="el-GR" sz="1500" b="1" dirty="0">
                <a:solidFill>
                  <a:srgbClr val="2E86AB"/>
                </a:solidFill>
                <a:latin typeface="Calibri"/>
              </a:rPr>
              <a:t>α</a:t>
            </a:r>
            <a:r>
              <a:rPr lang="en-GB" sz="1500" b="1" i="0" dirty="0">
                <a:solidFill>
                  <a:srgbClr val="2E86AB"/>
                </a:solidFill>
                <a:latin typeface="Calibri"/>
              </a:rPr>
              <a:t> –</a:t>
            </a:r>
            <a:r>
              <a:rPr lang="en-GB" sz="1500" b="1" dirty="0">
                <a:solidFill>
                  <a:srgbClr val="2E86AB"/>
                </a:solidFill>
                <a:latin typeface="Calibri"/>
              </a:rPr>
              <a:t>forced exploration parameter</a:t>
            </a:r>
          </a:p>
          <a:p>
            <a:r>
              <a:rPr lang="en-GB" sz="1500" b="1" i="0" dirty="0">
                <a:solidFill>
                  <a:srgbClr val="2E86AB"/>
                </a:solidFill>
                <a:latin typeface="Calibri"/>
              </a:rPr>
              <a:t> </a:t>
            </a:r>
          </a:p>
          <a:p>
            <a:endParaRPr lang="en-GB" sz="1500" b="1" dirty="0">
              <a:solidFill>
                <a:srgbClr val="2E86AB"/>
              </a:solidFill>
              <a:latin typeface="Calibri"/>
            </a:endParaRPr>
          </a:p>
          <a:p>
            <a:r>
              <a:rPr lang="en-GB" b="1" dirty="0">
                <a:latin typeface="Consolas" panose="020B0609020204030204" pitchFamily="49" charset="0"/>
              </a:rPr>
              <a:t>alpha = sqrt(U_T * log(T / U_T) / T)</a:t>
            </a:r>
          </a:p>
          <a:p>
            <a:endParaRPr lang="en-GB" sz="1500" b="1" i="0" dirty="0">
              <a:solidFill>
                <a:srgbClr val="2E86AB"/>
              </a:solidFill>
              <a:latin typeface="Calibri"/>
            </a:endParaRPr>
          </a:p>
        </p:txBody>
      </p:sp>
    </p:spTree>
    <p:extLst>
      <p:ext uri="{BB962C8B-B14F-4D97-AF65-F5344CB8AC3E}">
        <p14:creationId xmlns:p14="http://schemas.microsoft.com/office/powerpoint/2010/main" val="3489827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(CUSUM)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6"/>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3991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CUSUM slack</a:t>
            </a:r>
            <a:r>
              <a:rPr sz="1250" b="0" i="1">
                <a:solidFill>
                  <a:srgbClr val="6B7480"/>
                </a:solidFill>
                <a:latin typeface="Consolas"/>
              </a:rPr>
              <a:t>  ε</a:t>
            </a:r>
          </a:p>
          <a:p>
            <a:pPr>
              <a:lnSpc>
                <a:spcPct val="100000"/>
              </a:lnSpc>
              <a:spcAft>
                <a:spcPts val="500"/>
              </a:spcAft>
            </a:pPr>
            <a:r>
              <a:rPr sz="1250" b="0" i="0">
                <a:solidFill>
                  <a:srgbClr val="333A42"/>
                </a:solidFill>
                <a:latin typeface="Calibri"/>
              </a:rPr>
              <a:t>Warm-up samples</a:t>
            </a:r>
            <a:r>
              <a:rPr sz="1250" b="0" i="1">
                <a:solidFill>
                  <a:srgbClr val="6B7480"/>
                </a:solidFill>
                <a:latin typeface="Consolas"/>
              </a:rPr>
              <a:t>  M</a:t>
            </a:r>
          </a:p>
          <a:p>
            <a:pPr>
              <a:lnSpc>
                <a:spcPct val="100000"/>
              </a:lnSpc>
              <a:spcAft>
                <a:spcPts val="500"/>
              </a:spcAft>
            </a:pPr>
            <a:r>
              <a:rPr sz="1250" b="0" i="0">
                <a:solidFill>
                  <a:srgbClr val="333A42"/>
                </a:solidFill>
                <a:latin typeface="Calibri"/>
              </a:rPr>
              <a:t>Detection threshold</a:t>
            </a:r>
            <a:r>
              <a:rPr sz="1250" b="0" i="1">
                <a:solidFill>
                  <a:srgbClr val="6B7480"/>
                </a:solidFill>
                <a:latin typeface="Consolas"/>
              </a:rPr>
              <a:t>  h</a:t>
            </a:r>
          </a:p>
          <a:p>
            <a:pPr>
              <a:lnSpc>
                <a:spcPct val="100000"/>
              </a:lnSpc>
              <a:spcAft>
                <a:spcPts val="500"/>
              </a:spcAft>
            </a:pPr>
            <a:r>
              <a:rPr sz="1250" b="0" i="0">
                <a:solidFill>
                  <a:srgbClr val="333A42"/>
                </a:solidFill>
                <a:latin typeface="Calibri"/>
              </a:rPr>
              <a:t>Forced-explore prob.</a:t>
            </a:r>
            <a:r>
              <a:rPr sz="1250" b="0" i="1">
                <a:solidFill>
                  <a:srgbClr val="6B7480"/>
                </a:solidFill>
                <a:latin typeface="Consolas"/>
              </a:rPr>
              <a:t>  α</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7</a:t>
            </a:r>
          </a:p>
          <a:p>
            <a:pPr algn="r">
              <a:lnSpc>
                <a:spcPct val="100000"/>
              </a:lnSpc>
              <a:spcAft>
                <a:spcPts val="500"/>
              </a:spcAft>
            </a:pPr>
            <a:r>
              <a:rPr sz="1300" b="1" i="0">
                <a:solidFill>
                  <a:srgbClr val="1B2A4A"/>
                </a:solidFill>
                <a:latin typeface="Consolas"/>
              </a:rPr>
              <a:t>15.2</a:t>
            </a:r>
          </a:p>
          <a:p>
            <a:pPr algn="r">
              <a:lnSpc>
                <a:spcPct val="100000"/>
              </a:lnSpc>
              <a:spcAft>
                <a:spcPts val="500"/>
              </a:spcAft>
            </a:pPr>
            <a:r>
              <a:rPr sz="1300" b="1" i="0">
                <a:solidFill>
                  <a:srgbClr val="1B2A4A"/>
                </a:solidFill>
                <a:latin typeface="Consolas"/>
              </a:rPr>
              <a:t>0.0616</a:t>
            </a:r>
          </a:p>
        </p:txBody>
      </p:sp>
      <p:sp>
        <p:nvSpPr>
          <p:cNvPr id="12" name="TextBox 11"/>
          <p:cNvSpPr txBox="1"/>
          <p:nvPr/>
        </p:nvSpPr>
        <p:spPr>
          <a:xfrm>
            <a:off x="8485632" y="4681728"/>
            <a:ext cx="3099816" cy="200055"/>
          </a:xfrm>
          <a:prstGeom prst="rect">
            <a:avLst/>
          </a:prstGeom>
          <a:noFill/>
        </p:spPr>
        <p:txBody>
          <a:bodyPr wrap="square" lIns="0" tIns="0" rIns="0" bIns="0" anchor="t">
            <a:spAutoFit/>
          </a:bodyPr>
          <a:lstStyle/>
          <a:p>
            <a:pPr>
              <a:lnSpc>
                <a:spcPct val="100000"/>
              </a:lnSpc>
            </a:pPr>
            <a:r>
              <a:rPr sz="1250" b="0" i="0" dirty="0">
                <a:solidFill>
                  <a:srgbClr val="333A42"/>
                </a:solidFill>
                <a:latin typeface="Calibri"/>
              </a:rPr>
              <a:t>SKL levels</a:t>
            </a:r>
            <a:r>
              <a:rPr sz="1100" b="0" i="1" dirty="0">
                <a:solidFill>
                  <a:srgbClr val="6B7480"/>
                </a:solidFill>
                <a:latin typeface="Calibri"/>
              </a:rPr>
              <a:t>  (curves)</a:t>
            </a:r>
            <a:r>
              <a:rPr sz="1300" b="1" i="0" dirty="0">
                <a:solidFill>
                  <a:srgbClr val="1B2A4A"/>
                </a:solidFill>
                <a:latin typeface="Consolas"/>
              </a:rPr>
              <a:t>     20 / 200 / </a:t>
            </a:r>
            <a:r>
              <a:rPr lang="en-GB" sz="1300" b="1" i="0" dirty="0">
                <a:solidFill>
                  <a:srgbClr val="1B2A4A"/>
                </a:solidFill>
                <a:latin typeface="Consolas"/>
              </a:rPr>
              <a:t>500</a:t>
            </a:r>
            <a:endParaRPr sz="1300" b="1" i="0" dirty="0">
              <a:solidFill>
                <a:srgbClr val="1B2A4A"/>
              </a:solidFill>
              <a:latin typeface="Consolas"/>
            </a:endParaRP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94.2</a:t>
            </a:r>
            <a:r>
              <a:rPr sz="1000" b="0" i="0">
                <a:solidFill>
                  <a:srgbClr val="6B7480"/>
                </a:solidFill>
                <a:latin typeface="Consolas"/>
              </a:rPr>
              <a:t> ±144</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55.9</a:t>
            </a:r>
            <a:r>
              <a:rPr sz="1000" b="0" i="0">
                <a:solidFill>
                  <a:srgbClr val="6B7480"/>
                </a:solidFill>
                <a:latin typeface="Consolas"/>
              </a:rPr>
              <a:t> ±90</a:t>
            </a:r>
          </a:p>
        </p:txBody>
      </p:sp>
      <p:sp>
        <p:nvSpPr>
          <p:cNvPr id="19" name="TextBox 18"/>
          <p:cNvSpPr txBox="1"/>
          <p:nvPr/>
        </p:nvSpPr>
        <p:spPr>
          <a:xfrm>
            <a:off x="10570464" y="5413248"/>
            <a:ext cx="1069848" cy="161583"/>
          </a:xfrm>
          <a:prstGeom prst="rect">
            <a:avLst/>
          </a:prstGeom>
          <a:noFill/>
        </p:spPr>
        <p:txBody>
          <a:bodyPr wrap="square" lIns="0" tIns="0" rIns="0" bIns="0" anchor="t">
            <a:spAutoFit/>
          </a:bodyPr>
          <a:lstStyle/>
          <a:p>
            <a:pPr algn="ctr"/>
            <a:r>
              <a:rPr sz="1050" b="0" i="0" dirty="0">
                <a:solidFill>
                  <a:srgbClr val="6B7480"/>
                </a:solidFill>
                <a:latin typeface="Calibri"/>
              </a:rPr>
              <a:t>SKL </a:t>
            </a:r>
            <a:r>
              <a:rPr lang="en-GB" sz="1050" b="0" i="0" dirty="0">
                <a:solidFill>
                  <a:srgbClr val="6B7480"/>
                </a:solidFill>
                <a:latin typeface="Calibri"/>
              </a:rPr>
              <a:t>500</a:t>
            </a:r>
            <a:endParaRPr sz="1050" b="0" i="0" dirty="0">
              <a:solidFill>
                <a:srgbClr val="6B7480"/>
              </a:solidFill>
              <a:latin typeface="Calibri"/>
            </a:endParaRPr>
          </a:p>
        </p:txBody>
      </p:sp>
      <p:sp>
        <p:nvSpPr>
          <p:cNvPr id="20" name="TextBox 19"/>
          <p:cNvSpPr txBox="1"/>
          <p:nvPr/>
        </p:nvSpPr>
        <p:spPr>
          <a:xfrm>
            <a:off x="10570464" y="5596128"/>
            <a:ext cx="1069848" cy="230832"/>
          </a:xfrm>
          <a:prstGeom prst="rect">
            <a:avLst/>
          </a:prstGeom>
          <a:noFill/>
        </p:spPr>
        <p:txBody>
          <a:bodyPr wrap="square" lIns="0" tIns="0" rIns="0" bIns="0" anchor="t">
            <a:spAutoFit/>
          </a:bodyPr>
          <a:lstStyle/>
          <a:p>
            <a:pPr algn="ctr"/>
            <a:r>
              <a:rPr lang="en-GB" sz="1500" b="1" i="0" dirty="0">
                <a:solidFill>
                  <a:srgbClr val="1B2A4A"/>
                </a:solidFill>
                <a:latin typeface="Consolas"/>
              </a:rPr>
              <a:t>41.5</a:t>
            </a:r>
            <a:r>
              <a:rPr sz="1000" b="0" i="0" dirty="0">
                <a:solidFill>
                  <a:srgbClr val="6B7480"/>
                </a:solidFill>
                <a:latin typeface="Consolas"/>
              </a:rPr>
              <a:t> ±</a:t>
            </a:r>
            <a:r>
              <a:rPr lang="en-GB" sz="1000" b="0" i="0" dirty="0">
                <a:solidFill>
                  <a:srgbClr val="6B7480"/>
                </a:solidFill>
                <a:latin typeface="Consolas"/>
              </a:rPr>
              <a:t>66</a:t>
            </a:r>
            <a:endParaRPr sz="1000" b="0" i="0" dirty="0">
              <a:solidFill>
                <a:srgbClr val="6B7480"/>
              </a:solidFill>
              <a:latin typeface="Consolas"/>
            </a:endParaRP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cumReg_3int_0.1eps_0.1exp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783080"/>
            <a:ext cx="6035040" cy="4526279"/>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246221"/>
          </a:xfrm>
          <a:prstGeom prst="rect">
            <a:avLst/>
          </a:prstGeom>
          <a:noFill/>
        </p:spPr>
        <p:txBody>
          <a:bodyPr wrap="square" lIns="0" tIns="0" rIns="0" bIns="0" anchor="t">
            <a:spAutoFit/>
          </a:bodyPr>
          <a:lstStyle/>
          <a:p>
            <a:r>
              <a:rPr sz="1600" b="1" i="0" dirty="0">
                <a:solidFill>
                  <a:srgbClr val="2E86AB"/>
                </a:solidFill>
                <a:latin typeface="Calibri"/>
              </a:rPr>
              <a:t>Mean detection delay</a:t>
            </a: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63240"/>
            <a:ext cx="2331720" cy="502920"/>
          </a:xfrm>
          <a:prstGeom prst="rect">
            <a:avLst/>
          </a:prstGeom>
          <a:noFill/>
        </p:spPr>
        <p:txBody>
          <a:bodyPr wrap="square" lIns="0" tIns="0" rIns="0" bIns="0" anchor="ctr">
            <a:spAutoFit/>
          </a:bodyPr>
          <a:lstStyle/>
          <a:p>
            <a:pPr algn="r"/>
            <a:r>
              <a:rPr sz="1700" b="1" i="0">
                <a:solidFill>
                  <a:srgbClr val="1B2A4A"/>
                </a:solidFill>
                <a:latin typeface="Consolas"/>
              </a:rPr>
              <a:t>94.2</a:t>
            </a:r>
            <a:r>
              <a:rPr sz="1100" b="0" i="0">
                <a:solidFill>
                  <a:srgbClr val="6B7480"/>
                </a:solidFill>
                <a:latin typeface="Consolas"/>
              </a:rPr>
              <a:t> ±144</a:t>
            </a:r>
          </a:p>
          <a:p>
            <a:pPr algn="r">
              <a:spcBef>
                <a:spcPts val="100"/>
              </a:spcBef>
            </a:pPr>
            <a:r>
              <a:rPr sz="1050" b="0" i="0">
                <a:solidFill>
                  <a:srgbClr val="6B7480"/>
                </a:solidFill>
                <a:latin typeface="Calibri"/>
              </a:rPr>
              <a:t>median 42</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38728"/>
            <a:ext cx="2331720" cy="502920"/>
          </a:xfrm>
          <a:prstGeom prst="rect">
            <a:avLst/>
          </a:prstGeom>
          <a:noFill/>
        </p:spPr>
        <p:txBody>
          <a:bodyPr wrap="square" lIns="0" tIns="0" rIns="0" bIns="0" anchor="ctr">
            <a:spAutoFit/>
          </a:bodyPr>
          <a:lstStyle/>
          <a:p>
            <a:pPr algn="r"/>
            <a:r>
              <a:rPr sz="1700" b="1" i="0">
                <a:solidFill>
                  <a:srgbClr val="1B2A4A"/>
                </a:solidFill>
                <a:latin typeface="Consolas"/>
              </a:rPr>
              <a:t>55.9</a:t>
            </a:r>
            <a:r>
              <a:rPr sz="1100" b="0" i="0">
                <a:solidFill>
                  <a:srgbClr val="6B7480"/>
                </a:solidFill>
                <a:latin typeface="Consolas"/>
              </a:rPr>
              <a:t> ±90</a:t>
            </a:r>
          </a:p>
          <a:p>
            <a:pPr algn="r">
              <a:spcBef>
                <a:spcPts val="100"/>
              </a:spcBef>
            </a:pPr>
            <a:r>
              <a:rPr sz="1050" b="0" i="0">
                <a:solidFill>
                  <a:srgbClr val="6B7480"/>
                </a:solidFill>
                <a:latin typeface="Calibri"/>
              </a:rPr>
              <a:t>median 24</a:t>
            </a:r>
          </a:p>
        </p:txBody>
      </p:sp>
      <p:sp>
        <p:nvSpPr>
          <p:cNvPr id="14" name="TextBox 13"/>
          <p:cNvSpPr txBox="1"/>
          <p:nvPr/>
        </p:nvSpPr>
        <p:spPr>
          <a:xfrm>
            <a:off x="7360920" y="4150259"/>
            <a:ext cx="1828800" cy="230832"/>
          </a:xfrm>
          <a:prstGeom prst="rect">
            <a:avLst/>
          </a:prstGeom>
          <a:noFill/>
        </p:spPr>
        <p:txBody>
          <a:bodyPr wrap="square" lIns="0" tIns="0" rIns="0" bIns="0" anchor="ctr">
            <a:spAutoFit/>
          </a:bodyPr>
          <a:lstStyle/>
          <a:p>
            <a:r>
              <a:rPr sz="1500" b="0" i="0" dirty="0">
                <a:solidFill>
                  <a:srgbClr val="333A42"/>
                </a:solidFill>
                <a:latin typeface="Calibri"/>
              </a:rPr>
              <a:t>SKL = </a:t>
            </a:r>
            <a:r>
              <a:rPr lang="en-GB" sz="1500" b="0" i="0" dirty="0">
                <a:solidFill>
                  <a:srgbClr val="333A42"/>
                </a:solidFill>
                <a:latin typeface="Calibri"/>
              </a:rPr>
              <a:t>500</a:t>
            </a:r>
            <a:endParaRPr sz="1500" b="0" i="0" dirty="0">
              <a:solidFill>
                <a:srgbClr val="333A42"/>
              </a:solidFill>
              <a:latin typeface="Calibri"/>
            </a:endParaRPr>
          </a:p>
        </p:txBody>
      </p:sp>
      <p:sp>
        <p:nvSpPr>
          <p:cNvPr id="15" name="TextBox 14"/>
          <p:cNvSpPr txBox="1"/>
          <p:nvPr/>
        </p:nvSpPr>
        <p:spPr>
          <a:xfrm>
            <a:off x="9098280" y="4047666"/>
            <a:ext cx="2331720" cy="436017"/>
          </a:xfrm>
          <a:prstGeom prst="rect">
            <a:avLst/>
          </a:prstGeom>
          <a:noFill/>
        </p:spPr>
        <p:txBody>
          <a:bodyPr wrap="square" lIns="0" tIns="0" rIns="0" bIns="0" anchor="ctr">
            <a:spAutoFit/>
          </a:bodyPr>
          <a:lstStyle/>
          <a:p>
            <a:pPr algn="r"/>
            <a:r>
              <a:rPr lang="en-GB" sz="1700" b="1" i="0" dirty="0">
                <a:solidFill>
                  <a:srgbClr val="1B2A4A"/>
                </a:solidFill>
                <a:latin typeface="Consolas"/>
              </a:rPr>
              <a:t>41.5</a:t>
            </a:r>
            <a:r>
              <a:rPr sz="1100" b="0" i="0" dirty="0">
                <a:solidFill>
                  <a:srgbClr val="6B7480"/>
                </a:solidFill>
                <a:latin typeface="Consolas"/>
              </a:rPr>
              <a:t> ±</a:t>
            </a:r>
            <a:r>
              <a:rPr lang="en-GB" sz="1100" b="0" i="0" dirty="0">
                <a:solidFill>
                  <a:srgbClr val="6B7480"/>
                </a:solidFill>
                <a:latin typeface="Consolas"/>
              </a:rPr>
              <a:t>66</a:t>
            </a:r>
            <a:endParaRPr sz="1100" b="0" i="0" dirty="0">
              <a:solidFill>
                <a:srgbClr val="6B7480"/>
              </a:solidFill>
              <a:latin typeface="Consolas"/>
            </a:endParaRPr>
          </a:p>
          <a:p>
            <a:pPr algn="r">
              <a:spcBef>
                <a:spcPts val="100"/>
              </a:spcBef>
            </a:pPr>
            <a:r>
              <a:rPr sz="1050" b="0" i="0" dirty="0">
                <a:solidFill>
                  <a:srgbClr val="6B7480"/>
                </a:solidFill>
                <a:latin typeface="Calibri"/>
              </a:rPr>
              <a:t>median </a:t>
            </a:r>
            <a:r>
              <a:rPr lang="en-GB" sz="1050" b="0" i="0" dirty="0">
                <a:solidFill>
                  <a:srgbClr val="6B7480"/>
                </a:solidFill>
                <a:latin typeface="Calibri"/>
              </a:rPr>
              <a:t>24.5</a:t>
            </a:r>
            <a:endParaRPr sz="1050" b="0" i="0" dirty="0">
              <a:solidFill>
                <a:srgbClr val="6B7480"/>
              </a:solidFill>
              <a:latin typeface="Calibri"/>
            </a:endParaRPr>
          </a:p>
        </p:txBody>
      </p:sp>
      <p:sp>
        <p:nvSpPr>
          <p:cNvPr id="16" name="TextBox 15"/>
          <p:cNvSpPr txBox="1"/>
          <p:nvPr/>
        </p:nvSpPr>
        <p:spPr>
          <a:xfrm>
            <a:off x="7360920" y="4553712"/>
            <a:ext cx="4069080" cy="365760"/>
          </a:xfrm>
          <a:prstGeom prst="rect">
            <a:avLst/>
          </a:prstGeom>
          <a:noFill/>
        </p:spPr>
        <p:txBody>
          <a:bodyPr wrap="square" lIns="0" tIns="0" rIns="0" bIns="0" anchor="t">
            <a:spAutoFit/>
          </a:bodyPr>
          <a:lstStyle/>
          <a:p>
            <a:r>
              <a:rPr sz="1250" b="0" i="1">
                <a:solidFill>
                  <a:srgbClr val="6B7480"/>
                </a:solidFill>
                <a:latin typeface="Calibri"/>
              </a:rPr>
              <a:t>All change points detected — 100%.</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detections per arm</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609447" y="2084465"/>
            <a:ext cx="10972800" cy="3923508"/>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req4_cd_detections_per_arm.png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(CUSUM)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6"/>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CUSUM slack</a:t>
            </a:r>
            <a:r>
              <a:rPr sz="1250" b="0" i="1">
                <a:solidFill>
                  <a:srgbClr val="6B7480"/>
                </a:solidFill>
                <a:latin typeface="Consolas"/>
              </a:rPr>
              <a:t>  ε</a:t>
            </a:r>
          </a:p>
          <a:p>
            <a:pPr>
              <a:lnSpc>
                <a:spcPct val="100000"/>
              </a:lnSpc>
              <a:spcAft>
                <a:spcPts val="500"/>
              </a:spcAft>
            </a:pPr>
            <a:r>
              <a:rPr sz="1250" b="0" i="0">
                <a:solidFill>
                  <a:srgbClr val="333A42"/>
                </a:solidFill>
                <a:latin typeface="Calibri"/>
              </a:rPr>
              <a:t>Warm-up samples</a:t>
            </a:r>
            <a:r>
              <a:rPr sz="1250" b="0" i="1">
                <a:solidFill>
                  <a:srgbClr val="6B7480"/>
                </a:solidFill>
                <a:latin typeface="Consolas"/>
              </a:rPr>
              <a:t>  M</a:t>
            </a:r>
          </a:p>
          <a:p>
            <a:pPr>
              <a:lnSpc>
                <a:spcPct val="100000"/>
              </a:lnSpc>
              <a:spcAft>
                <a:spcPts val="500"/>
              </a:spcAft>
            </a:pPr>
            <a:r>
              <a:rPr sz="1250" b="0" i="0">
                <a:solidFill>
                  <a:srgbClr val="333A42"/>
                </a:solidFill>
                <a:latin typeface="Calibri"/>
              </a:rPr>
              <a:t>Detection threshold</a:t>
            </a:r>
            <a:r>
              <a:rPr sz="1250" b="0" i="1">
                <a:solidFill>
                  <a:srgbClr val="6B7480"/>
                </a:solidFill>
                <a:latin typeface="Consolas"/>
              </a:rPr>
              <a:t>  h</a:t>
            </a:r>
          </a:p>
          <a:p>
            <a:pPr>
              <a:lnSpc>
                <a:spcPct val="100000"/>
              </a:lnSpc>
              <a:spcAft>
                <a:spcPts val="500"/>
              </a:spcAft>
            </a:pPr>
            <a:r>
              <a:rPr sz="1250" b="0" i="0">
                <a:solidFill>
                  <a:srgbClr val="333A42"/>
                </a:solidFill>
                <a:latin typeface="Calibri"/>
              </a:rPr>
              <a:t>Forced-explore prob.</a:t>
            </a:r>
            <a:r>
              <a:rPr sz="1250" b="0" i="1">
                <a:solidFill>
                  <a:srgbClr val="6B7480"/>
                </a:solidFill>
                <a:latin typeface="Consolas"/>
              </a:rPr>
              <a:t>  α</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7</a:t>
            </a:r>
          </a:p>
          <a:p>
            <a:pPr algn="r">
              <a:lnSpc>
                <a:spcPct val="100000"/>
              </a:lnSpc>
              <a:spcAft>
                <a:spcPts val="500"/>
              </a:spcAft>
            </a:pPr>
            <a:r>
              <a:rPr sz="1300" b="1" i="0">
                <a:solidFill>
                  <a:srgbClr val="1B2A4A"/>
                </a:solidFill>
                <a:latin typeface="Consolas"/>
              </a:rPr>
              <a:t>15.2</a:t>
            </a:r>
          </a:p>
          <a:p>
            <a:pPr algn="r">
              <a:lnSpc>
                <a:spcPct val="100000"/>
              </a:lnSpc>
              <a:spcAft>
                <a:spcPts val="500"/>
              </a:spcAft>
            </a:pPr>
            <a:r>
              <a:rPr sz="1300" b="1" i="0">
                <a:solidFill>
                  <a:srgbClr val="1B2A4A"/>
                </a:solidFill>
                <a:latin typeface="Consolas"/>
              </a:rPr>
              <a:t>0.0616</a:t>
            </a:r>
          </a:p>
        </p:txBody>
      </p:sp>
      <p:sp>
        <p:nvSpPr>
          <p:cNvPr id="12" name="TextBox 11"/>
          <p:cNvSpPr txBox="1"/>
          <p:nvPr/>
        </p:nvSpPr>
        <p:spPr>
          <a:xfrm>
            <a:off x="8485632" y="4681728"/>
            <a:ext cx="3099816" cy="200055"/>
          </a:xfrm>
          <a:prstGeom prst="rect">
            <a:avLst/>
          </a:prstGeom>
          <a:noFill/>
        </p:spPr>
        <p:txBody>
          <a:bodyPr wrap="square" lIns="0" tIns="0" rIns="0" bIns="0" anchor="t">
            <a:spAutoFit/>
          </a:bodyPr>
          <a:lstStyle/>
          <a:p>
            <a:pPr>
              <a:lnSpc>
                <a:spcPct val="100000"/>
              </a:lnSpc>
            </a:pPr>
            <a:r>
              <a:rPr sz="1250" b="0" i="0" dirty="0">
                <a:solidFill>
                  <a:srgbClr val="333A42"/>
                </a:solidFill>
                <a:latin typeface="Calibri"/>
              </a:rPr>
              <a:t>SKL levels</a:t>
            </a:r>
            <a:r>
              <a:rPr sz="1100" b="0" i="1" dirty="0">
                <a:solidFill>
                  <a:srgbClr val="6B7480"/>
                </a:solidFill>
                <a:latin typeface="Calibri"/>
              </a:rPr>
              <a:t>  (curves)</a:t>
            </a:r>
            <a:r>
              <a:rPr sz="1300" b="1" i="0" dirty="0">
                <a:solidFill>
                  <a:srgbClr val="1B2A4A"/>
                </a:solidFill>
                <a:latin typeface="Consolas"/>
              </a:rPr>
              <a:t>     20 / 200 / </a:t>
            </a:r>
            <a:r>
              <a:rPr lang="en-GB" sz="1300" b="1" i="0" dirty="0">
                <a:solidFill>
                  <a:srgbClr val="1B2A4A"/>
                </a:solidFill>
                <a:latin typeface="Consolas"/>
              </a:rPr>
              <a:t>500</a:t>
            </a:r>
            <a:endParaRPr sz="1300" b="1" i="0" dirty="0">
              <a:solidFill>
                <a:srgbClr val="1B2A4A"/>
              </a:solidFill>
              <a:latin typeface="Consolas"/>
            </a:endParaRP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115.1</a:t>
            </a:r>
            <a:r>
              <a:rPr sz="1000" b="0" i="0">
                <a:solidFill>
                  <a:srgbClr val="6B7480"/>
                </a:solidFill>
                <a:latin typeface="Consolas"/>
              </a:rPr>
              <a:t> ±158.0</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73.8</a:t>
            </a:r>
            <a:r>
              <a:rPr sz="1000" b="0" i="0">
                <a:solidFill>
                  <a:srgbClr val="6B7480"/>
                </a:solidFill>
                <a:latin typeface="Consolas"/>
              </a:rPr>
              <a:t> ±86.2</a:t>
            </a:r>
          </a:p>
        </p:txBody>
      </p:sp>
      <p:sp>
        <p:nvSpPr>
          <p:cNvPr id="19" name="TextBox 18"/>
          <p:cNvSpPr txBox="1"/>
          <p:nvPr/>
        </p:nvSpPr>
        <p:spPr>
          <a:xfrm>
            <a:off x="10570464" y="5413248"/>
            <a:ext cx="1069848" cy="161583"/>
          </a:xfrm>
          <a:prstGeom prst="rect">
            <a:avLst/>
          </a:prstGeom>
          <a:noFill/>
        </p:spPr>
        <p:txBody>
          <a:bodyPr wrap="square" lIns="0" tIns="0" rIns="0" bIns="0" anchor="t">
            <a:spAutoFit/>
          </a:bodyPr>
          <a:lstStyle/>
          <a:p>
            <a:pPr algn="ctr"/>
            <a:r>
              <a:rPr sz="1050" b="0" i="0" dirty="0">
                <a:solidFill>
                  <a:srgbClr val="6B7480"/>
                </a:solidFill>
                <a:latin typeface="Calibri"/>
              </a:rPr>
              <a:t>SKL </a:t>
            </a:r>
            <a:r>
              <a:rPr lang="en-GB" sz="1050" b="0" i="0" dirty="0">
                <a:solidFill>
                  <a:srgbClr val="6B7480"/>
                </a:solidFill>
                <a:latin typeface="Calibri"/>
              </a:rPr>
              <a:t>500</a:t>
            </a:r>
            <a:endParaRPr sz="1050" b="0" i="0" dirty="0">
              <a:solidFill>
                <a:srgbClr val="6B7480"/>
              </a:solidFill>
              <a:latin typeface="Calibri"/>
            </a:endParaRPr>
          </a:p>
        </p:txBody>
      </p:sp>
      <p:sp>
        <p:nvSpPr>
          <p:cNvPr id="20" name="TextBox 19"/>
          <p:cNvSpPr txBox="1"/>
          <p:nvPr/>
        </p:nvSpPr>
        <p:spPr>
          <a:xfrm>
            <a:off x="10570464" y="5596128"/>
            <a:ext cx="1069848" cy="230832"/>
          </a:xfrm>
          <a:prstGeom prst="rect">
            <a:avLst/>
          </a:prstGeom>
          <a:noFill/>
        </p:spPr>
        <p:txBody>
          <a:bodyPr wrap="square" lIns="0" tIns="0" rIns="0" bIns="0" anchor="t">
            <a:spAutoFit/>
          </a:bodyPr>
          <a:lstStyle/>
          <a:p>
            <a:pPr algn="ctr"/>
            <a:r>
              <a:rPr lang="en-GB" sz="1500" b="1" i="0" dirty="0">
                <a:solidFill>
                  <a:srgbClr val="1B2A4A"/>
                </a:solidFill>
                <a:latin typeface="Consolas"/>
              </a:rPr>
              <a:t>58.5</a:t>
            </a:r>
            <a:r>
              <a:rPr sz="1000" b="0" i="0" dirty="0">
                <a:solidFill>
                  <a:srgbClr val="6B7480"/>
                </a:solidFill>
                <a:latin typeface="Consolas"/>
              </a:rPr>
              <a:t> ±</a:t>
            </a:r>
            <a:r>
              <a:rPr lang="en-GB" sz="1000" b="0" i="0" dirty="0">
                <a:solidFill>
                  <a:srgbClr val="6B7480"/>
                </a:solidFill>
                <a:latin typeface="Consolas"/>
              </a:rPr>
              <a:t>116.3</a:t>
            </a:r>
            <a:endParaRPr sz="1000" b="0" i="0" dirty="0">
              <a:solidFill>
                <a:srgbClr val="6B7480"/>
              </a:solidFill>
              <a:latin typeface="Consolas"/>
            </a:endParaRP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cumReg_3int_0.1eps_0.1exp_GlobReset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9698" y="1783080"/>
            <a:ext cx="7543799"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783080"/>
            <a:ext cx="6035040" cy="4526279"/>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246221"/>
          </a:xfrm>
          <a:prstGeom prst="rect">
            <a:avLst/>
          </a:prstGeom>
          <a:noFill/>
        </p:spPr>
        <p:txBody>
          <a:bodyPr wrap="square" lIns="0" tIns="0" rIns="0" bIns="0" anchor="t">
            <a:spAutoFit/>
          </a:bodyPr>
          <a:lstStyle/>
          <a:p>
            <a:r>
              <a:rPr sz="1600" b="1" i="0" dirty="0">
                <a:solidFill>
                  <a:srgbClr val="2E86AB"/>
                </a:solidFill>
                <a:latin typeface="Calibri"/>
              </a:rPr>
              <a:t>Mean detection delay</a:t>
            </a: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63240"/>
            <a:ext cx="2331720" cy="502920"/>
          </a:xfrm>
          <a:prstGeom prst="rect">
            <a:avLst/>
          </a:prstGeom>
          <a:noFill/>
        </p:spPr>
        <p:txBody>
          <a:bodyPr wrap="square" lIns="0" tIns="0" rIns="0" bIns="0" anchor="ctr">
            <a:spAutoFit/>
          </a:bodyPr>
          <a:lstStyle/>
          <a:p>
            <a:pPr algn="r"/>
            <a:r>
              <a:rPr sz="1700" b="1" i="0">
                <a:solidFill>
                  <a:srgbClr val="1B2A4A"/>
                </a:solidFill>
                <a:latin typeface="Consolas"/>
              </a:rPr>
              <a:t>115.1</a:t>
            </a:r>
            <a:r>
              <a:rPr sz="1100" b="0" i="0">
                <a:solidFill>
                  <a:srgbClr val="6B7480"/>
                </a:solidFill>
                <a:latin typeface="Consolas"/>
              </a:rPr>
              <a:t> ±158.0</a:t>
            </a:r>
          </a:p>
          <a:p>
            <a:pPr algn="r">
              <a:spcBef>
                <a:spcPts val="100"/>
              </a:spcBef>
            </a:pPr>
            <a:r>
              <a:rPr sz="1050" b="0" i="0">
                <a:solidFill>
                  <a:srgbClr val="6B7480"/>
                </a:solidFill>
                <a:latin typeface="Calibri"/>
              </a:rPr>
              <a:t>median 69</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38728"/>
            <a:ext cx="2331720" cy="502920"/>
          </a:xfrm>
          <a:prstGeom prst="rect">
            <a:avLst/>
          </a:prstGeom>
          <a:noFill/>
        </p:spPr>
        <p:txBody>
          <a:bodyPr wrap="square" lIns="0" tIns="0" rIns="0" bIns="0" anchor="ctr">
            <a:spAutoFit/>
          </a:bodyPr>
          <a:lstStyle/>
          <a:p>
            <a:pPr algn="r"/>
            <a:r>
              <a:rPr sz="1700" b="1" i="0">
                <a:solidFill>
                  <a:srgbClr val="1B2A4A"/>
                </a:solidFill>
                <a:latin typeface="Consolas"/>
              </a:rPr>
              <a:t>73.8</a:t>
            </a:r>
            <a:r>
              <a:rPr sz="1100" b="0" i="0">
                <a:solidFill>
                  <a:srgbClr val="6B7480"/>
                </a:solidFill>
                <a:latin typeface="Consolas"/>
              </a:rPr>
              <a:t> ±86.2</a:t>
            </a:r>
          </a:p>
          <a:p>
            <a:pPr algn="r">
              <a:spcBef>
                <a:spcPts val="100"/>
              </a:spcBef>
            </a:pPr>
            <a:r>
              <a:rPr sz="1050" b="0" i="0">
                <a:solidFill>
                  <a:srgbClr val="6B7480"/>
                </a:solidFill>
                <a:latin typeface="Calibri"/>
              </a:rPr>
              <a:t>median 40</a:t>
            </a:r>
          </a:p>
        </p:txBody>
      </p:sp>
      <p:sp>
        <p:nvSpPr>
          <p:cNvPr id="14" name="TextBox 13"/>
          <p:cNvSpPr txBox="1"/>
          <p:nvPr/>
        </p:nvSpPr>
        <p:spPr>
          <a:xfrm>
            <a:off x="7360920" y="4150259"/>
            <a:ext cx="1828800" cy="230832"/>
          </a:xfrm>
          <a:prstGeom prst="rect">
            <a:avLst/>
          </a:prstGeom>
          <a:noFill/>
        </p:spPr>
        <p:txBody>
          <a:bodyPr wrap="square" lIns="0" tIns="0" rIns="0" bIns="0" anchor="ctr">
            <a:spAutoFit/>
          </a:bodyPr>
          <a:lstStyle/>
          <a:p>
            <a:r>
              <a:rPr sz="1500" b="0" i="0" dirty="0">
                <a:solidFill>
                  <a:srgbClr val="333A42"/>
                </a:solidFill>
                <a:latin typeface="Calibri"/>
              </a:rPr>
              <a:t>SKL = </a:t>
            </a:r>
            <a:r>
              <a:rPr lang="en-GB" sz="1500" b="0" i="0" dirty="0">
                <a:solidFill>
                  <a:srgbClr val="333A42"/>
                </a:solidFill>
                <a:latin typeface="Calibri"/>
              </a:rPr>
              <a:t>500</a:t>
            </a:r>
            <a:endParaRPr sz="1500" b="0" i="0" dirty="0">
              <a:solidFill>
                <a:srgbClr val="333A42"/>
              </a:solidFill>
              <a:latin typeface="Calibri"/>
            </a:endParaRPr>
          </a:p>
        </p:txBody>
      </p:sp>
      <p:sp>
        <p:nvSpPr>
          <p:cNvPr id="15" name="TextBox 14"/>
          <p:cNvSpPr txBox="1"/>
          <p:nvPr/>
        </p:nvSpPr>
        <p:spPr>
          <a:xfrm>
            <a:off x="9098280" y="4047666"/>
            <a:ext cx="2331720" cy="436017"/>
          </a:xfrm>
          <a:prstGeom prst="rect">
            <a:avLst/>
          </a:prstGeom>
          <a:noFill/>
        </p:spPr>
        <p:txBody>
          <a:bodyPr wrap="square" lIns="0" tIns="0" rIns="0" bIns="0" anchor="ctr">
            <a:spAutoFit/>
          </a:bodyPr>
          <a:lstStyle/>
          <a:p>
            <a:pPr algn="r"/>
            <a:r>
              <a:rPr lang="en-GB" sz="1700" b="1" i="0" dirty="0">
                <a:solidFill>
                  <a:srgbClr val="1B2A4A"/>
                </a:solidFill>
                <a:latin typeface="Consolas"/>
              </a:rPr>
              <a:t>58.45</a:t>
            </a:r>
            <a:r>
              <a:rPr sz="1100" b="0" i="0" dirty="0">
                <a:solidFill>
                  <a:srgbClr val="6B7480"/>
                </a:solidFill>
                <a:latin typeface="Consolas"/>
              </a:rPr>
              <a:t> ±</a:t>
            </a:r>
            <a:r>
              <a:rPr lang="en-GB" sz="1100" b="0" i="0" dirty="0">
                <a:solidFill>
                  <a:srgbClr val="6B7480"/>
                </a:solidFill>
                <a:latin typeface="Consolas"/>
              </a:rPr>
              <a:t>116.3</a:t>
            </a:r>
            <a:endParaRPr sz="1100" b="0" i="0" dirty="0">
              <a:solidFill>
                <a:srgbClr val="6B7480"/>
              </a:solidFill>
              <a:latin typeface="Consolas"/>
            </a:endParaRPr>
          </a:p>
          <a:p>
            <a:pPr algn="r">
              <a:spcBef>
                <a:spcPts val="100"/>
              </a:spcBef>
            </a:pPr>
            <a:r>
              <a:rPr sz="1050" b="0" i="0" dirty="0">
                <a:solidFill>
                  <a:srgbClr val="6B7480"/>
                </a:solidFill>
                <a:latin typeface="Calibri"/>
              </a:rPr>
              <a:t>median 30</a:t>
            </a:r>
          </a:p>
        </p:txBody>
      </p:sp>
      <p:sp>
        <p:nvSpPr>
          <p:cNvPr id="16" name="TextBox 15"/>
          <p:cNvSpPr txBox="1"/>
          <p:nvPr/>
        </p:nvSpPr>
        <p:spPr>
          <a:xfrm>
            <a:off x="7360920" y="4553712"/>
            <a:ext cx="4069080" cy="365760"/>
          </a:xfrm>
          <a:prstGeom prst="rect">
            <a:avLst/>
          </a:prstGeom>
          <a:noFill/>
        </p:spPr>
        <p:txBody>
          <a:bodyPr wrap="square" lIns="0" tIns="0" rIns="0" bIns="0" anchor="t">
            <a:spAutoFit/>
          </a:bodyPr>
          <a:lstStyle/>
          <a:p>
            <a:r>
              <a:rPr sz="1250" b="0" i="1">
                <a:solidFill>
                  <a:srgbClr val="6B7480"/>
                </a:solidFill>
                <a:latin typeface="Calibri"/>
              </a:rPr>
              <a:t>All change points detected — 100%.</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detections per arm</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609447" y="2096758"/>
            <a:ext cx="10972800" cy="3898923"/>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req4_cd_detections_per_arm.png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  ·  PER-ARM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(CUSUM)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umReg_3int_0.1eps_0.1exp_50h.png"/>
          <p:cNvPicPr>
            <a:picLocks noChangeAspect="1"/>
          </p:cNvPicPr>
          <p:nvPr/>
        </p:nvPicPr>
        <p:blipFill>
          <a:blip r:embed="rId2"/>
          <a:stretch>
            <a:fillRect/>
          </a:stretch>
        </p:blipFill>
        <p:spPr>
          <a:xfrm>
            <a:off x="502920" y="1828800"/>
            <a:ext cx="7452360" cy="4471416"/>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CUSUM slack</a:t>
            </a:r>
            <a:r>
              <a:rPr sz="1250" b="0" i="1">
                <a:solidFill>
                  <a:srgbClr val="6B7480"/>
                </a:solidFill>
                <a:latin typeface="Consolas"/>
              </a:rPr>
              <a:t>  ε</a:t>
            </a:r>
          </a:p>
          <a:p>
            <a:pPr>
              <a:lnSpc>
                <a:spcPct val="100000"/>
              </a:lnSpc>
              <a:spcAft>
                <a:spcPts val="500"/>
              </a:spcAft>
            </a:pPr>
            <a:r>
              <a:rPr sz="1250" b="0" i="0">
                <a:solidFill>
                  <a:srgbClr val="333A42"/>
                </a:solidFill>
                <a:latin typeface="Calibri"/>
              </a:rPr>
              <a:t>Warm-up samples</a:t>
            </a:r>
            <a:r>
              <a:rPr sz="1250" b="0" i="1">
                <a:solidFill>
                  <a:srgbClr val="6B7480"/>
                </a:solidFill>
                <a:latin typeface="Consolas"/>
              </a:rPr>
              <a:t>  M</a:t>
            </a:r>
          </a:p>
          <a:p>
            <a:pPr>
              <a:lnSpc>
                <a:spcPct val="100000"/>
              </a:lnSpc>
              <a:spcAft>
                <a:spcPts val="500"/>
              </a:spcAft>
            </a:pPr>
            <a:r>
              <a:rPr sz="1250" b="0" i="0">
                <a:solidFill>
                  <a:srgbClr val="333A42"/>
                </a:solidFill>
                <a:latin typeface="Calibri"/>
              </a:rPr>
              <a:t>Detection threshold</a:t>
            </a:r>
            <a:r>
              <a:rPr sz="1250" b="0" i="1">
                <a:solidFill>
                  <a:srgbClr val="6B7480"/>
                </a:solidFill>
                <a:latin typeface="Consolas"/>
              </a:rPr>
              <a:t>  h</a:t>
            </a:r>
          </a:p>
          <a:p>
            <a:pPr>
              <a:lnSpc>
                <a:spcPct val="100000"/>
              </a:lnSpc>
              <a:spcAft>
                <a:spcPts val="500"/>
              </a:spcAft>
            </a:pPr>
            <a:r>
              <a:rPr sz="1250" b="0" i="0">
                <a:solidFill>
                  <a:srgbClr val="333A42"/>
                </a:solidFill>
                <a:latin typeface="Calibri"/>
              </a:rPr>
              <a:t>Forced-explore prob.</a:t>
            </a:r>
            <a:r>
              <a:rPr sz="1250" b="0" i="1">
                <a:solidFill>
                  <a:srgbClr val="6B7480"/>
                </a:solidFill>
                <a:latin typeface="Consolas"/>
              </a:rPr>
              <a:t>  α</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7</a:t>
            </a:r>
          </a:p>
          <a:p>
            <a:pPr algn="r">
              <a:lnSpc>
                <a:spcPct val="100000"/>
              </a:lnSpc>
              <a:spcAft>
                <a:spcPts val="500"/>
              </a:spcAft>
            </a:pPr>
            <a:r>
              <a:rPr sz="1300" b="1" i="0">
                <a:solidFill>
                  <a:srgbClr val="1B2A4A"/>
                </a:solidFill>
                <a:latin typeface="Consolas"/>
              </a:rPr>
              <a:t>50</a:t>
            </a:r>
          </a:p>
          <a:p>
            <a:pPr algn="r">
              <a:lnSpc>
                <a:spcPct val="100000"/>
              </a:lnSpc>
              <a:spcAft>
                <a:spcPts val="500"/>
              </a:spcAft>
            </a:pPr>
            <a:r>
              <a:rPr sz="1300" b="1" i="0">
                <a:solidFill>
                  <a:srgbClr val="1B2A4A"/>
                </a:solidFill>
                <a:latin typeface="Consolas"/>
              </a:rPr>
              <a:t>0.0616</a:t>
            </a:r>
          </a:p>
        </p:txBody>
      </p:sp>
      <p:sp>
        <p:nvSpPr>
          <p:cNvPr id="12" name="TextBox 11"/>
          <p:cNvSpPr txBox="1"/>
          <p:nvPr/>
        </p:nvSpPr>
        <p:spPr>
          <a:xfrm>
            <a:off x="8485632" y="4681728"/>
            <a:ext cx="3099816" cy="365760"/>
          </a:xfrm>
          <a:prstGeom prst="rect">
            <a:avLst/>
          </a:prstGeom>
          <a:noFill/>
        </p:spPr>
        <p:txBody>
          <a:bodyPr wrap="square" lIns="0" tIns="0" rIns="0" bIns="0" anchor="t">
            <a:spAutoFit/>
          </a:bodyPr>
          <a:lstStyle/>
          <a:p>
            <a:pPr>
              <a:lnSpc>
                <a:spcPct val="100000"/>
              </a:lnSpc>
            </a:pPr>
            <a:r>
              <a:rPr sz="1250" b="0" i="0">
                <a:solidFill>
                  <a:srgbClr val="333A42"/>
                </a:solidFill>
                <a:latin typeface="Calibri"/>
              </a:rPr>
              <a:t>SKL levels</a:t>
            </a:r>
            <a:r>
              <a:rPr sz="1100" b="0" i="1">
                <a:solidFill>
                  <a:srgbClr val="6B7480"/>
                </a:solidFill>
                <a:latin typeface="Calibri"/>
              </a:rPr>
              <a:t>  (curves)</a:t>
            </a:r>
            <a:r>
              <a:rPr sz="1300" b="1" i="0">
                <a:solidFill>
                  <a:srgbClr val="1B2A4A"/>
                </a:solidFill>
                <a:latin typeface="Consolas"/>
              </a:rPr>
              <a:t>     20 / 200 / 2000</a:t>
            </a: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257.3</a:t>
            </a:r>
            <a:r>
              <a:rPr sz="1000" b="0" i="0">
                <a:solidFill>
                  <a:srgbClr val="6B7480"/>
                </a:solidFill>
                <a:latin typeface="Consolas"/>
              </a:rPr>
              <a:t> ±212.5</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112.2</a:t>
            </a:r>
            <a:r>
              <a:rPr sz="1000" b="0" i="0">
                <a:solidFill>
                  <a:srgbClr val="6B7480"/>
                </a:solidFill>
                <a:latin typeface="Consolas"/>
              </a:rPr>
              <a:t> ±71.9</a:t>
            </a:r>
          </a:p>
        </p:txBody>
      </p:sp>
      <p:sp>
        <p:nvSpPr>
          <p:cNvPr id="19" name="TextBox 18"/>
          <p:cNvSpPr txBox="1"/>
          <p:nvPr/>
        </p:nvSpPr>
        <p:spPr>
          <a:xfrm>
            <a:off x="10570464"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2000</a:t>
            </a:r>
          </a:p>
        </p:txBody>
      </p:sp>
      <p:sp>
        <p:nvSpPr>
          <p:cNvPr id="20" name="TextBox 19"/>
          <p:cNvSpPr txBox="1"/>
          <p:nvPr/>
        </p:nvSpPr>
        <p:spPr>
          <a:xfrm>
            <a:off x="10570464"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140.7</a:t>
            </a:r>
            <a:r>
              <a:rPr sz="1000" b="0" i="0">
                <a:solidFill>
                  <a:srgbClr val="6B7480"/>
                </a:solidFill>
                <a:latin typeface="Consolas"/>
              </a:rPr>
              <a:t> ±189.7</a:t>
            </a: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cumReg_3int_0.1eps_0.1exp_50h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cumulative_cost.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cumulative_reward.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ed_changes.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ion_delay.png"/>
          <p:cNvPicPr>
            <a:picLocks noChangeAspect="1"/>
          </p:cNvPicPr>
          <p:nvPr/>
        </p:nvPicPr>
        <p:blipFill>
          <a:blip r:embed="rId2"/>
          <a:stretch>
            <a:fillRect/>
          </a:stretch>
        </p:blipFill>
        <p:spPr>
          <a:xfrm>
            <a:off x="502920" y="1783080"/>
            <a:ext cx="6035040" cy="4526280"/>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246221"/>
          </a:xfrm>
          <a:prstGeom prst="rect">
            <a:avLst/>
          </a:prstGeom>
          <a:noFill/>
        </p:spPr>
        <p:txBody>
          <a:bodyPr wrap="square" lIns="0" tIns="0" rIns="0" bIns="0" anchor="t">
            <a:spAutoFit/>
          </a:bodyPr>
          <a:lstStyle/>
          <a:p>
            <a:r>
              <a:rPr sz="1600" b="1" i="0" dirty="0">
                <a:solidFill>
                  <a:srgbClr val="2E86AB"/>
                </a:solidFill>
                <a:latin typeface="Calibri"/>
              </a:rPr>
              <a:t>Mean detection delay</a:t>
            </a: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63240"/>
            <a:ext cx="2331720" cy="502920"/>
          </a:xfrm>
          <a:prstGeom prst="rect">
            <a:avLst/>
          </a:prstGeom>
          <a:noFill/>
        </p:spPr>
        <p:txBody>
          <a:bodyPr wrap="square" lIns="0" tIns="0" rIns="0" bIns="0" anchor="ctr">
            <a:spAutoFit/>
          </a:bodyPr>
          <a:lstStyle/>
          <a:p>
            <a:pPr algn="r"/>
            <a:r>
              <a:rPr sz="1700" b="1" i="0">
                <a:solidFill>
                  <a:srgbClr val="1B2A4A"/>
                </a:solidFill>
                <a:latin typeface="Consolas"/>
              </a:rPr>
              <a:t>257.3</a:t>
            </a:r>
            <a:r>
              <a:rPr sz="1100" b="0" i="0">
                <a:solidFill>
                  <a:srgbClr val="6B7480"/>
                </a:solidFill>
                <a:latin typeface="Consolas"/>
              </a:rPr>
              <a:t> ±212.5</a:t>
            </a:r>
          </a:p>
          <a:p>
            <a:pPr algn="r">
              <a:spcBef>
                <a:spcPts val="100"/>
              </a:spcBef>
            </a:pPr>
            <a:r>
              <a:rPr sz="1050" b="0" i="0">
                <a:solidFill>
                  <a:srgbClr val="6B7480"/>
                </a:solidFill>
                <a:latin typeface="Calibri"/>
              </a:rPr>
              <a:t>median 202</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38728"/>
            <a:ext cx="2331720" cy="502920"/>
          </a:xfrm>
          <a:prstGeom prst="rect">
            <a:avLst/>
          </a:prstGeom>
          <a:noFill/>
        </p:spPr>
        <p:txBody>
          <a:bodyPr wrap="square" lIns="0" tIns="0" rIns="0" bIns="0" anchor="ctr">
            <a:spAutoFit/>
          </a:bodyPr>
          <a:lstStyle/>
          <a:p>
            <a:pPr algn="r"/>
            <a:r>
              <a:rPr sz="1700" b="1" i="0">
                <a:solidFill>
                  <a:srgbClr val="1B2A4A"/>
                </a:solidFill>
                <a:latin typeface="Consolas"/>
              </a:rPr>
              <a:t>112.2</a:t>
            </a:r>
            <a:r>
              <a:rPr sz="1100" b="0" i="0">
                <a:solidFill>
                  <a:srgbClr val="6B7480"/>
                </a:solidFill>
                <a:latin typeface="Consolas"/>
              </a:rPr>
              <a:t> ±71.9</a:t>
            </a:r>
          </a:p>
          <a:p>
            <a:pPr algn="r">
              <a:spcBef>
                <a:spcPts val="100"/>
              </a:spcBef>
            </a:pPr>
            <a:r>
              <a:rPr sz="1050" b="0" i="0">
                <a:solidFill>
                  <a:srgbClr val="6B7480"/>
                </a:solidFill>
                <a:latin typeface="Calibri"/>
              </a:rPr>
              <a:t>median 91</a:t>
            </a:r>
          </a:p>
        </p:txBody>
      </p:sp>
      <p:sp>
        <p:nvSpPr>
          <p:cNvPr id="14" name="TextBox 13"/>
          <p:cNvSpPr txBox="1"/>
          <p:nvPr/>
        </p:nvSpPr>
        <p:spPr>
          <a:xfrm>
            <a:off x="7360920" y="4014215"/>
            <a:ext cx="1828800" cy="502920"/>
          </a:xfrm>
          <a:prstGeom prst="rect">
            <a:avLst/>
          </a:prstGeom>
          <a:noFill/>
        </p:spPr>
        <p:txBody>
          <a:bodyPr wrap="square" lIns="0" tIns="0" rIns="0" bIns="0" anchor="ctr">
            <a:spAutoFit/>
          </a:bodyPr>
          <a:lstStyle/>
          <a:p>
            <a:r>
              <a:rPr sz="1500" b="0" i="0">
                <a:solidFill>
                  <a:srgbClr val="333A42"/>
                </a:solidFill>
                <a:latin typeface="Calibri"/>
              </a:rPr>
              <a:t>SKL = 2000</a:t>
            </a:r>
          </a:p>
        </p:txBody>
      </p:sp>
      <p:sp>
        <p:nvSpPr>
          <p:cNvPr id="15" name="TextBox 14"/>
          <p:cNvSpPr txBox="1"/>
          <p:nvPr/>
        </p:nvSpPr>
        <p:spPr>
          <a:xfrm>
            <a:off x="9098280" y="4014215"/>
            <a:ext cx="2331720" cy="502920"/>
          </a:xfrm>
          <a:prstGeom prst="rect">
            <a:avLst/>
          </a:prstGeom>
          <a:noFill/>
        </p:spPr>
        <p:txBody>
          <a:bodyPr wrap="square" lIns="0" tIns="0" rIns="0" bIns="0" anchor="ctr">
            <a:spAutoFit/>
          </a:bodyPr>
          <a:lstStyle/>
          <a:p>
            <a:pPr algn="r"/>
            <a:r>
              <a:rPr sz="1700" b="1" i="0">
                <a:solidFill>
                  <a:srgbClr val="1B2A4A"/>
                </a:solidFill>
                <a:latin typeface="Consolas"/>
              </a:rPr>
              <a:t>140.7</a:t>
            </a:r>
            <a:r>
              <a:rPr sz="1100" b="0" i="0">
                <a:solidFill>
                  <a:srgbClr val="6B7480"/>
                </a:solidFill>
                <a:latin typeface="Consolas"/>
              </a:rPr>
              <a:t> ±189.7</a:t>
            </a:r>
          </a:p>
          <a:p>
            <a:pPr algn="r">
              <a:spcBef>
                <a:spcPts val="100"/>
              </a:spcBef>
            </a:pPr>
            <a:r>
              <a:rPr sz="1050" b="0" i="0">
                <a:solidFill>
                  <a:srgbClr val="6B7480"/>
                </a:solidFill>
                <a:latin typeface="Calibri"/>
              </a:rPr>
              <a:t>median 90</a:t>
            </a:r>
          </a:p>
        </p:txBody>
      </p:sp>
      <p:sp>
        <p:nvSpPr>
          <p:cNvPr id="16" name="TextBox 15"/>
          <p:cNvSpPr txBox="1"/>
          <p:nvPr/>
        </p:nvSpPr>
        <p:spPr>
          <a:xfrm>
            <a:off x="7360920" y="4553712"/>
            <a:ext cx="4069080" cy="365760"/>
          </a:xfrm>
          <a:prstGeom prst="rect">
            <a:avLst/>
          </a:prstGeom>
          <a:noFill/>
        </p:spPr>
        <p:txBody>
          <a:bodyPr wrap="square" lIns="0" tIns="0" rIns="0" bIns="0" anchor="t">
            <a:spAutoFit/>
          </a:bodyPr>
          <a:lstStyle/>
          <a:p>
            <a:r>
              <a:rPr sz="1250" b="0" i="1">
                <a:solidFill>
                  <a:srgbClr val="6B7480"/>
                </a:solidFill>
                <a:latin typeface="Calibri"/>
              </a:rPr>
              <a:t>All change points detected — 98%.</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PER-ARM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detections per arm</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ions_per_arm.png"/>
          <p:cNvPicPr>
            <a:picLocks noChangeAspect="1"/>
          </p:cNvPicPr>
          <p:nvPr/>
        </p:nvPicPr>
        <p:blipFill>
          <a:blip r:embed="rId2"/>
          <a:stretch>
            <a:fillRect/>
          </a:stretch>
        </p:blipFill>
        <p:spPr>
          <a:xfrm>
            <a:off x="609447" y="2084465"/>
            <a:ext cx="10972800" cy="392350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req4_cd_detections_per_arm.png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  ·  GLOBAL RESET</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(CUSUM)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umReg_3int_0.1eps_0.1exp_50h_GlobReset.png"/>
          <p:cNvPicPr>
            <a:picLocks noChangeAspect="1"/>
          </p:cNvPicPr>
          <p:nvPr/>
        </p:nvPicPr>
        <p:blipFill>
          <a:blip r:embed="rId2"/>
          <a:stretch>
            <a:fillRect/>
          </a:stretch>
        </p:blipFill>
        <p:spPr>
          <a:xfrm>
            <a:off x="502920" y="1828800"/>
            <a:ext cx="7452360" cy="4471416"/>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CUSUM slack</a:t>
            </a:r>
            <a:r>
              <a:rPr sz="1250" b="0" i="1">
                <a:solidFill>
                  <a:srgbClr val="6B7480"/>
                </a:solidFill>
                <a:latin typeface="Consolas"/>
              </a:rPr>
              <a:t>  ε</a:t>
            </a:r>
          </a:p>
          <a:p>
            <a:pPr>
              <a:lnSpc>
                <a:spcPct val="100000"/>
              </a:lnSpc>
              <a:spcAft>
                <a:spcPts val="500"/>
              </a:spcAft>
            </a:pPr>
            <a:r>
              <a:rPr sz="1250" b="0" i="0">
                <a:solidFill>
                  <a:srgbClr val="333A42"/>
                </a:solidFill>
                <a:latin typeface="Calibri"/>
              </a:rPr>
              <a:t>Warm-up samples</a:t>
            </a:r>
            <a:r>
              <a:rPr sz="1250" b="0" i="1">
                <a:solidFill>
                  <a:srgbClr val="6B7480"/>
                </a:solidFill>
                <a:latin typeface="Consolas"/>
              </a:rPr>
              <a:t>  M</a:t>
            </a:r>
          </a:p>
          <a:p>
            <a:pPr>
              <a:lnSpc>
                <a:spcPct val="100000"/>
              </a:lnSpc>
              <a:spcAft>
                <a:spcPts val="500"/>
              </a:spcAft>
            </a:pPr>
            <a:r>
              <a:rPr sz="1250" b="0" i="0">
                <a:solidFill>
                  <a:srgbClr val="333A42"/>
                </a:solidFill>
                <a:latin typeface="Calibri"/>
              </a:rPr>
              <a:t>Detection threshold</a:t>
            </a:r>
            <a:r>
              <a:rPr sz="1250" b="0" i="1">
                <a:solidFill>
                  <a:srgbClr val="6B7480"/>
                </a:solidFill>
                <a:latin typeface="Consolas"/>
              </a:rPr>
              <a:t>  h</a:t>
            </a:r>
          </a:p>
          <a:p>
            <a:pPr>
              <a:lnSpc>
                <a:spcPct val="100000"/>
              </a:lnSpc>
              <a:spcAft>
                <a:spcPts val="500"/>
              </a:spcAft>
            </a:pPr>
            <a:r>
              <a:rPr sz="1250" b="0" i="0">
                <a:solidFill>
                  <a:srgbClr val="333A42"/>
                </a:solidFill>
                <a:latin typeface="Calibri"/>
              </a:rPr>
              <a:t>Forced-explore prob.</a:t>
            </a:r>
            <a:r>
              <a:rPr sz="1250" b="0" i="1">
                <a:solidFill>
                  <a:srgbClr val="6B7480"/>
                </a:solidFill>
                <a:latin typeface="Consolas"/>
              </a:rPr>
              <a:t>  α</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7</a:t>
            </a:r>
          </a:p>
          <a:p>
            <a:pPr algn="r">
              <a:lnSpc>
                <a:spcPct val="100000"/>
              </a:lnSpc>
              <a:spcAft>
                <a:spcPts val="500"/>
              </a:spcAft>
            </a:pPr>
            <a:r>
              <a:rPr sz="1300" b="1" i="0">
                <a:solidFill>
                  <a:srgbClr val="1B2A4A"/>
                </a:solidFill>
                <a:latin typeface="Consolas"/>
              </a:rPr>
              <a:t>50</a:t>
            </a:r>
          </a:p>
          <a:p>
            <a:pPr algn="r">
              <a:lnSpc>
                <a:spcPct val="100000"/>
              </a:lnSpc>
              <a:spcAft>
                <a:spcPts val="500"/>
              </a:spcAft>
            </a:pPr>
            <a:r>
              <a:rPr sz="1300" b="1" i="0">
                <a:solidFill>
                  <a:srgbClr val="1B2A4A"/>
                </a:solidFill>
                <a:latin typeface="Consolas"/>
              </a:rPr>
              <a:t>0.0616</a:t>
            </a:r>
          </a:p>
        </p:txBody>
      </p:sp>
      <p:sp>
        <p:nvSpPr>
          <p:cNvPr id="12" name="TextBox 11"/>
          <p:cNvSpPr txBox="1"/>
          <p:nvPr/>
        </p:nvSpPr>
        <p:spPr>
          <a:xfrm>
            <a:off x="8485632" y="4681728"/>
            <a:ext cx="3099816" cy="365760"/>
          </a:xfrm>
          <a:prstGeom prst="rect">
            <a:avLst/>
          </a:prstGeom>
          <a:noFill/>
        </p:spPr>
        <p:txBody>
          <a:bodyPr wrap="square" lIns="0" tIns="0" rIns="0" bIns="0" anchor="t">
            <a:spAutoFit/>
          </a:bodyPr>
          <a:lstStyle/>
          <a:p>
            <a:pPr>
              <a:lnSpc>
                <a:spcPct val="100000"/>
              </a:lnSpc>
            </a:pPr>
            <a:r>
              <a:rPr sz="1250" b="0" i="0">
                <a:solidFill>
                  <a:srgbClr val="333A42"/>
                </a:solidFill>
                <a:latin typeface="Calibri"/>
              </a:rPr>
              <a:t>SKL levels</a:t>
            </a:r>
            <a:r>
              <a:rPr sz="1100" b="0" i="1">
                <a:solidFill>
                  <a:srgbClr val="6B7480"/>
                </a:solidFill>
                <a:latin typeface="Calibri"/>
              </a:rPr>
              <a:t>  (curves)</a:t>
            </a:r>
            <a:r>
              <a:rPr sz="1300" b="1" i="0">
                <a:solidFill>
                  <a:srgbClr val="1B2A4A"/>
                </a:solidFill>
                <a:latin typeface="Consolas"/>
              </a:rPr>
              <a:t>     20 / 200 / 2000</a:t>
            </a: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352.4</a:t>
            </a:r>
            <a:r>
              <a:rPr sz="1000" b="0" i="0">
                <a:solidFill>
                  <a:srgbClr val="6B7480"/>
                </a:solidFill>
                <a:latin typeface="Consolas"/>
              </a:rPr>
              <a:t> ±219.2</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158.5</a:t>
            </a:r>
            <a:r>
              <a:rPr sz="1000" b="0" i="0">
                <a:solidFill>
                  <a:srgbClr val="6B7480"/>
                </a:solidFill>
                <a:latin typeface="Consolas"/>
              </a:rPr>
              <a:t> ±131.8</a:t>
            </a:r>
          </a:p>
        </p:txBody>
      </p:sp>
      <p:sp>
        <p:nvSpPr>
          <p:cNvPr id="19" name="TextBox 18"/>
          <p:cNvSpPr txBox="1"/>
          <p:nvPr/>
        </p:nvSpPr>
        <p:spPr>
          <a:xfrm>
            <a:off x="10570464"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2000</a:t>
            </a:r>
          </a:p>
        </p:txBody>
      </p:sp>
      <p:sp>
        <p:nvSpPr>
          <p:cNvPr id="20" name="TextBox 19"/>
          <p:cNvSpPr txBox="1"/>
          <p:nvPr/>
        </p:nvSpPr>
        <p:spPr>
          <a:xfrm>
            <a:off x="10570464"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153.6</a:t>
            </a:r>
            <a:r>
              <a:rPr sz="1000" b="0" i="0">
                <a:solidFill>
                  <a:srgbClr val="6B7480"/>
                </a:solidFill>
                <a:latin typeface="Consolas"/>
              </a:rPr>
              <a:t> ±185.3</a:t>
            </a: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cumReg_3int_0.1eps_0.1exp_50h_GlobReset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cumulative_cost.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cumulative_reward.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ed_changes.png"/>
          <p:cNvPicPr>
            <a:picLocks noChangeAspect="1"/>
          </p:cNvPicPr>
          <p:nvPr/>
        </p:nvPicPr>
        <p:blipFill>
          <a:blip r:embed="rId2"/>
          <a:stretch>
            <a:fillRect/>
          </a:stretch>
        </p:blipFill>
        <p:spPr>
          <a:xfrm>
            <a:off x="2323947" y="1783080"/>
            <a:ext cx="7543800" cy="4526280"/>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ion_delay.png"/>
          <p:cNvPicPr>
            <a:picLocks noChangeAspect="1"/>
          </p:cNvPicPr>
          <p:nvPr/>
        </p:nvPicPr>
        <p:blipFill>
          <a:blip r:embed="rId3"/>
          <a:stretch>
            <a:fillRect/>
          </a:stretch>
        </p:blipFill>
        <p:spPr>
          <a:xfrm>
            <a:off x="502920" y="1783080"/>
            <a:ext cx="6035040" cy="4526280"/>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246221"/>
          </a:xfrm>
          <a:prstGeom prst="rect">
            <a:avLst/>
          </a:prstGeom>
          <a:noFill/>
        </p:spPr>
        <p:txBody>
          <a:bodyPr wrap="square" lIns="0" tIns="0" rIns="0" bIns="0" anchor="t">
            <a:spAutoFit/>
          </a:bodyPr>
          <a:lstStyle/>
          <a:p>
            <a:r>
              <a:rPr sz="1600" b="1" i="0" dirty="0">
                <a:solidFill>
                  <a:srgbClr val="2E86AB"/>
                </a:solidFill>
                <a:latin typeface="Calibri"/>
              </a:rPr>
              <a:t>Mean </a:t>
            </a:r>
            <a:r>
              <a:rPr sz="1600" b="1" i="0">
                <a:solidFill>
                  <a:srgbClr val="2E86AB"/>
                </a:solidFill>
                <a:latin typeface="Calibri"/>
              </a:rPr>
              <a:t>detection delay</a:t>
            </a:r>
            <a:endParaRPr sz="1600" b="1" i="0" dirty="0">
              <a:solidFill>
                <a:srgbClr val="2E86AB"/>
              </a:solidFill>
              <a:latin typeface="Calibri"/>
            </a:endParaRP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63240"/>
            <a:ext cx="2331720" cy="502920"/>
          </a:xfrm>
          <a:prstGeom prst="rect">
            <a:avLst/>
          </a:prstGeom>
          <a:noFill/>
        </p:spPr>
        <p:txBody>
          <a:bodyPr wrap="square" lIns="0" tIns="0" rIns="0" bIns="0" anchor="ctr">
            <a:spAutoFit/>
          </a:bodyPr>
          <a:lstStyle/>
          <a:p>
            <a:pPr algn="r"/>
            <a:r>
              <a:rPr sz="1700" b="1" i="0">
                <a:solidFill>
                  <a:srgbClr val="1B2A4A"/>
                </a:solidFill>
                <a:latin typeface="Consolas"/>
              </a:rPr>
              <a:t>352.4</a:t>
            </a:r>
            <a:r>
              <a:rPr sz="1100" b="0" i="0">
                <a:solidFill>
                  <a:srgbClr val="6B7480"/>
                </a:solidFill>
                <a:latin typeface="Consolas"/>
              </a:rPr>
              <a:t> ±219.2</a:t>
            </a:r>
          </a:p>
          <a:p>
            <a:pPr algn="r">
              <a:spcBef>
                <a:spcPts val="100"/>
              </a:spcBef>
            </a:pPr>
            <a:r>
              <a:rPr sz="1050" b="0" i="0">
                <a:solidFill>
                  <a:srgbClr val="6B7480"/>
                </a:solidFill>
                <a:latin typeface="Calibri"/>
              </a:rPr>
              <a:t>median 324</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38728"/>
            <a:ext cx="2331720" cy="502920"/>
          </a:xfrm>
          <a:prstGeom prst="rect">
            <a:avLst/>
          </a:prstGeom>
          <a:noFill/>
        </p:spPr>
        <p:txBody>
          <a:bodyPr wrap="square" lIns="0" tIns="0" rIns="0" bIns="0" anchor="ctr">
            <a:spAutoFit/>
          </a:bodyPr>
          <a:lstStyle/>
          <a:p>
            <a:pPr algn="r"/>
            <a:r>
              <a:rPr sz="1700" b="1" i="0">
                <a:solidFill>
                  <a:srgbClr val="1B2A4A"/>
                </a:solidFill>
                <a:latin typeface="Consolas"/>
              </a:rPr>
              <a:t>158.5</a:t>
            </a:r>
            <a:r>
              <a:rPr sz="1100" b="0" i="0">
                <a:solidFill>
                  <a:srgbClr val="6B7480"/>
                </a:solidFill>
                <a:latin typeface="Consolas"/>
              </a:rPr>
              <a:t> ±131.8</a:t>
            </a:r>
          </a:p>
          <a:p>
            <a:pPr algn="r">
              <a:spcBef>
                <a:spcPts val="100"/>
              </a:spcBef>
            </a:pPr>
            <a:r>
              <a:rPr sz="1050" b="0" i="0">
                <a:solidFill>
                  <a:srgbClr val="6B7480"/>
                </a:solidFill>
                <a:latin typeface="Calibri"/>
              </a:rPr>
              <a:t>median 111</a:t>
            </a:r>
          </a:p>
        </p:txBody>
      </p:sp>
      <p:sp>
        <p:nvSpPr>
          <p:cNvPr id="14" name="TextBox 13"/>
          <p:cNvSpPr txBox="1"/>
          <p:nvPr/>
        </p:nvSpPr>
        <p:spPr>
          <a:xfrm>
            <a:off x="7360920" y="4014215"/>
            <a:ext cx="1828800" cy="502920"/>
          </a:xfrm>
          <a:prstGeom prst="rect">
            <a:avLst/>
          </a:prstGeom>
          <a:noFill/>
        </p:spPr>
        <p:txBody>
          <a:bodyPr wrap="square" lIns="0" tIns="0" rIns="0" bIns="0" anchor="ctr">
            <a:spAutoFit/>
          </a:bodyPr>
          <a:lstStyle/>
          <a:p>
            <a:r>
              <a:rPr sz="1500" b="0" i="0">
                <a:solidFill>
                  <a:srgbClr val="333A42"/>
                </a:solidFill>
                <a:latin typeface="Calibri"/>
              </a:rPr>
              <a:t>SKL = 2000</a:t>
            </a:r>
          </a:p>
        </p:txBody>
      </p:sp>
      <p:sp>
        <p:nvSpPr>
          <p:cNvPr id="15" name="TextBox 14"/>
          <p:cNvSpPr txBox="1"/>
          <p:nvPr/>
        </p:nvSpPr>
        <p:spPr>
          <a:xfrm>
            <a:off x="9098280" y="4014215"/>
            <a:ext cx="2331720" cy="502920"/>
          </a:xfrm>
          <a:prstGeom prst="rect">
            <a:avLst/>
          </a:prstGeom>
          <a:noFill/>
        </p:spPr>
        <p:txBody>
          <a:bodyPr wrap="square" lIns="0" tIns="0" rIns="0" bIns="0" anchor="ctr">
            <a:spAutoFit/>
          </a:bodyPr>
          <a:lstStyle/>
          <a:p>
            <a:pPr algn="r"/>
            <a:r>
              <a:rPr sz="1700" b="1" i="0">
                <a:solidFill>
                  <a:srgbClr val="1B2A4A"/>
                </a:solidFill>
                <a:latin typeface="Consolas"/>
              </a:rPr>
              <a:t>153.6</a:t>
            </a:r>
            <a:r>
              <a:rPr sz="1100" b="0" i="0">
                <a:solidFill>
                  <a:srgbClr val="6B7480"/>
                </a:solidFill>
                <a:latin typeface="Consolas"/>
              </a:rPr>
              <a:t> ±185.3</a:t>
            </a:r>
          </a:p>
          <a:p>
            <a:pPr algn="r">
              <a:spcBef>
                <a:spcPts val="100"/>
              </a:spcBef>
            </a:pPr>
            <a:r>
              <a:rPr sz="1050" b="0" i="0">
                <a:solidFill>
                  <a:srgbClr val="6B7480"/>
                </a:solidFill>
                <a:latin typeface="Calibri"/>
              </a:rPr>
              <a:t>median 97</a:t>
            </a:r>
          </a:p>
        </p:txBody>
      </p:sp>
      <p:sp>
        <p:nvSpPr>
          <p:cNvPr id="16" name="TextBox 15"/>
          <p:cNvSpPr txBox="1"/>
          <p:nvPr/>
        </p:nvSpPr>
        <p:spPr>
          <a:xfrm>
            <a:off x="7360920" y="4553712"/>
            <a:ext cx="4069080" cy="365760"/>
          </a:xfrm>
          <a:prstGeom prst="rect">
            <a:avLst/>
          </a:prstGeom>
          <a:noFill/>
        </p:spPr>
        <p:txBody>
          <a:bodyPr wrap="square" lIns="0" tIns="0" rIns="0" bIns="0" anchor="t">
            <a:spAutoFit/>
          </a:bodyPr>
          <a:lstStyle/>
          <a:p>
            <a:r>
              <a:rPr sz="1250" b="0" i="1" dirty="0">
                <a:solidFill>
                  <a:srgbClr val="6B7480"/>
                </a:solidFill>
                <a:latin typeface="Calibri"/>
              </a:rPr>
              <a:t>detected: 100% / 98% / 92%  (SKL 20 / 200 / </a:t>
            </a:r>
            <a:r>
              <a:rPr lang="en-GB" sz="1250" b="0" i="1" dirty="0">
                <a:solidFill>
                  <a:srgbClr val="6B7480"/>
                </a:solidFill>
                <a:latin typeface="Calibri"/>
              </a:rPr>
              <a:t>2000</a:t>
            </a:r>
            <a:r>
              <a:rPr sz="1250" b="0" i="1" dirty="0">
                <a:solidFill>
                  <a:srgbClr val="6B7480"/>
                </a:solidFill>
                <a:latin typeface="Calibri"/>
              </a:rPr>
              <a:t>).</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GLOBAL RESET (H = 50)</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 detections per arm</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q4_cd_detections_per_arm.png"/>
          <p:cNvPicPr>
            <a:picLocks noChangeAspect="1"/>
          </p:cNvPicPr>
          <p:nvPr/>
        </p:nvPicPr>
        <p:blipFill>
          <a:blip r:embed="rId2"/>
          <a:stretch>
            <a:fillRect/>
          </a:stretch>
        </p:blipFill>
        <p:spPr>
          <a:xfrm>
            <a:off x="609447" y="2096758"/>
            <a:ext cx="10972800" cy="3898923"/>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req4_cd_detections_per_arm.png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Change Detection with Normal Discrepancy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45920"/>
            <a:ext cx="10972800" cy="914400"/>
          </a:xfrm>
          <a:prstGeom prst="rect">
            <a:avLst/>
          </a:prstGeom>
          <a:noFill/>
        </p:spPr>
        <p:txBody>
          <a:bodyPr wrap="square" lIns="0" tIns="0" rIns="0" bIns="0" anchor="t">
            <a:spAutoFit/>
          </a:bodyPr>
          <a:lstStyle/>
          <a:p>
            <a:pPr>
              <a:lnSpc>
                <a:spcPct val="110000"/>
              </a:lnSpc>
            </a:pPr>
            <a:r>
              <a:rPr sz="1400" b="1" i="0">
                <a:solidFill>
                  <a:srgbClr val="E87A2B"/>
                </a:solidFill>
                <a:latin typeface="Calibri"/>
              </a:rPr>
              <a:t>The idea.  </a:t>
            </a:r>
            <a:r>
              <a:rPr sz="1400" b="0" i="0">
                <a:solidFill>
                  <a:srgbClr val="333A42"/>
                </a:solidFill>
                <a:latin typeface="Calibri"/>
              </a:rPr>
              <a:t>A single joint detector watches the whole vector of competing bids over a sliding window: when the window's first and second halves look like different distributions, declare a change and restart the learner. Normal Discrepancy also exploits the multivariate structure of the Gaussians used in the experiments to detect change points more effectively.</a:t>
            </a:r>
          </a:p>
        </p:txBody>
      </p:sp>
      <p:sp>
        <p:nvSpPr>
          <p:cNvPr id="8" name="TextBox 7"/>
          <p:cNvSpPr txBox="1"/>
          <p:nvPr/>
        </p:nvSpPr>
        <p:spPr>
          <a:xfrm>
            <a:off x="658368" y="2578608"/>
            <a:ext cx="6492240" cy="320040"/>
          </a:xfrm>
          <a:prstGeom prst="rect">
            <a:avLst/>
          </a:prstGeom>
          <a:noFill/>
        </p:spPr>
        <p:txBody>
          <a:bodyPr wrap="square" lIns="0" tIns="0" rIns="0" bIns="0" anchor="t">
            <a:spAutoFit/>
          </a:bodyPr>
          <a:lstStyle/>
          <a:p>
            <a:r>
              <a:rPr sz="1700" b="1" i="0">
                <a:solidFill>
                  <a:srgbClr val="1B2A4A"/>
                </a:solidFill>
                <a:latin typeface="Calibri"/>
              </a:rPr>
              <a:t>How it works</a:t>
            </a:r>
          </a:p>
        </p:txBody>
      </p:sp>
      <p:sp>
        <p:nvSpPr>
          <p:cNvPr id="9" name="TextBox 8"/>
          <p:cNvSpPr txBox="1"/>
          <p:nvPr/>
        </p:nvSpPr>
        <p:spPr>
          <a:xfrm>
            <a:off x="658368" y="2880360"/>
            <a:ext cx="6446520" cy="3212226"/>
          </a:xfrm>
          <a:prstGeom prst="rect">
            <a:avLst/>
          </a:prstGeom>
          <a:noFill/>
        </p:spPr>
        <p:txBody>
          <a:bodyPr wrap="square" lIns="0" tIns="0" rIns="0" bIns="0" anchor="t">
            <a:spAutoFit/>
          </a:bodyPr>
          <a:lstStyle/>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Joint detector on m(t):  </a:t>
            </a:r>
            <a:r>
              <a:rPr sz="1350" b="0" i="0" dirty="0">
                <a:solidFill>
                  <a:srgbClr val="333A42"/>
                </a:solidFill>
                <a:latin typeface="Calibri"/>
              </a:rPr>
              <a:t>a single detector watches the full N-dimensional competing-bid vector over a sliding window of the last </a:t>
            </a:r>
            <a:r>
              <a:rPr sz="1350" b="0" i="0" dirty="0" err="1">
                <a:solidFill>
                  <a:srgbClr val="333A42"/>
                </a:solidFill>
                <a:latin typeface="Calibri"/>
              </a:rPr>
              <a:t>nd_window_size</a:t>
            </a:r>
            <a:r>
              <a:rPr sz="1350" b="0" i="0" dirty="0">
                <a:solidFill>
                  <a:srgbClr val="333A42"/>
                </a:solidFill>
                <a:latin typeface="Calibri"/>
              </a:rPr>
              <a:t> rounds — not one detector per arm.</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Normal Discrepancy:  </a:t>
            </a:r>
            <a:r>
              <a:rPr sz="1350" b="0" i="0" dirty="0">
                <a:solidFill>
                  <a:srgbClr val="333A42"/>
                </a:solidFill>
                <a:latin typeface="Calibri"/>
              </a:rPr>
              <a:t>split the window at its midpoint and compare the full-window covariance with its two halves. ND ≈ 0 when both halves share a distribution and grows when a change sits inside the window.</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Full feedback:  </a:t>
            </a:r>
            <a:r>
              <a:rPr sz="1350" b="0" i="0" dirty="0">
                <a:solidFill>
                  <a:srgbClr val="333A42"/>
                </a:solidFill>
                <a:latin typeface="Calibri"/>
              </a:rPr>
              <a:t>the detector</a:t>
            </a:r>
            <a:r>
              <a:rPr lang="en-GB" sz="1350" b="0" i="0" dirty="0">
                <a:solidFill>
                  <a:srgbClr val="333A42"/>
                </a:solidFill>
                <a:latin typeface="Calibri"/>
              </a:rPr>
              <a:t>, as well as the UCB algorithm, exploit the information of the full-feedback approach</a:t>
            </a:r>
            <a:r>
              <a:rPr sz="1350" b="0" i="0" dirty="0">
                <a:solidFill>
                  <a:srgbClr val="333A42"/>
                </a:solidFill>
                <a:latin typeface="Calibri"/>
              </a:rPr>
              <a:t>.</a:t>
            </a:r>
          </a:p>
          <a:p>
            <a:pPr>
              <a:lnSpc>
                <a:spcPct val="106000"/>
              </a:lnSpc>
              <a:spcBef>
                <a:spcPts val="0"/>
              </a:spcBef>
              <a:spcAft>
                <a:spcPts val="700"/>
              </a:spcAft>
            </a:pPr>
            <a:r>
              <a:rPr sz="1350" b="1" i="0" dirty="0">
                <a:solidFill>
                  <a:srgbClr val="2E86AB"/>
                </a:solidFill>
                <a:latin typeface="Calibri"/>
              </a:rPr>
              <a:t>▪  </a:t>
            </a:r>
            <a:r>
              <a:rPr sz="1350" b="1" i="0" dirty="0">
                <a:solidFill>
                  <a:srgbClr val="1B2A4A"/>
                </a:solidFill>
                <a:latin typeface="Calibri"/>
              </a:rPr>
              <a:t>Global reset:  </a:t>
            </a:r>
            <a:r>
              <a:rPr sz="1350" b="0" i="0" dirty="0">
                <a:solidFill>
                  <a:srgbClr val="333A42"/>
                </a:solidFill>
                <a:latin typeface="Calibri"/>
              </a:rPr>
              <a:t>being a single joint detector, one alarm restarts every arm and clears the window — the reset is always global.</a:t>
            </a:r>
            <a:endParaRPr lang="en-GB" sz="1350" b="0" i="0" dirty="0">
              <a:solidFill>
                <a:srgbClr val="333A42"/>
              </a:solidFill>
              <a:latin typeface="Calibri"/>
            </a:endParaRPr>
          </a:p>
          <a:p>
            <a:pPr>
              <a:lnSpc>
                <a:spcPct val="106000"/>
              </a:lnSpc>
              <a:spcBef>
                <a:spcPts val="0"/>
              </a:spcBef>
              <a:spcAft>
                <a:spcPts val="700"/>
              </a:spcAft>
            </a:pPr>
            <a:r>
              <a:rPr lang="en-GB" sz="1350" b="1" dirty="0">
                <a:solidFill>
                  <a:srgbClr val="2E86AB"/>
                </a:solidFill>
              </a:rPr>
              <a:t>▪  </a:t>
            </a:r>
            <a:r>
              <a:rPr lang="en-GB" sz="1350" b="1" dirty="0">
                <a:solidFill>
                  <a:srgbClr val="1B2A4A"/>
                </a:solidFill>
              </a:rPr>
              <a:t>No need for forced exploration: </a:t>
            </a:r>
            <a:r>
              <a:rPr lang="en-GB" sz="1350" dirty="0">
                <a:solidFill>
                  <a:srgbClr val="333A42"/>
                </a:solidFill>
              </a:rPr>
              <a:t>since the UCB estimator uses the full-feedback information, the forced exploration parameter is set to 0. Also, the exploration term of the UCB formula is ignored. The mean estimates are the only considered term.</a:t>
            </a:r>
            <a:endParaRPr sz="1350" b="0" i="0" dirty="0">
              <a:solidFill>
                <a:srgbClr val="333A42"/>
              </a:solidFill>
              <a:latin typeface="Calibri"/>
            </a:endParaRPr>
          </a:p>
        </p:txBody>
      </p:sp>
      <p:sp>
        <p:nvSpPr>
          <p:cNvPr id="10" name="Rounded Rectangle 9"/>
          <p:cNvSpPr/>
          <p:nvPr/>
        </p:nvSpPr>
        <p:spPr>
          <a:xfrm>
            <a:off x="7360920" y="2578608"/>
            <a:ext cx="4160520" cy="214884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16952" y="2724912"/>
            <a:ext cx="3648456" cy="320040"/>
          </a:xfrm>
          <a:prstGeom prst="rect">
            <a:avLst/>
          </a:prstGeom>
          <a:noFill/>
        </p:spPr>
        <p:txBody>
          <a:bodyPr wrap="square" lIns="0" tIns="0" rIns="0" bIns="0" anchor="t">
            <a:spAutoFit/>
          </a:bodyPr>
          <a:lstStyle/>
          <a:p>
            <a:r>
              <a:rPr sz="1500" b="1" i="0">
                <a:solidFill>
                  <a:srgbClr val="2E86AB"/>
                </a:solidFill>
                <a:latin typeface="Calibri"/>
              </a:rPr>
              <a:t>Normal Discrepancy</a:t>
            </a:r>
          </a:p>
        </p:txBody>
      </p:sp>
      <p:pic>
        <p:nvPicPr>
          <p:cNvPr id="12" name="Picture 11" descr="nd_formula.png"/>
          <p:cNvPicPr>
            <a:picLocks noChangeAspect="1"/>
          </p:cNvPicPr>
          <p:nvPr/>
        </p:nvPicPr>
        <p:blipFill>
          <a:blip r:embed="rId2"/>
          <a:stretch>
            <a:fillRect/>
          </a:stretch>
        </p:blipFill>
        <p:spPr>
          <a:xfrm>
            <a:off x="7726680" y="3200400"/>
            <a:ext cx="3429000" cy="337918"/>
          </a:xfrm>
          <a:prstGeom prst="rect">
            <a:avLst/>
          </a:prstGeom>
        </p:spPr>
      </p:pic>
      <p:sp>
        <p:nvSpPr>
          <p:cNvPr id="13" name="TextBox 12"/>
          <p:cNvSpPr txBox="1"/>
          <p:nvPr/>
        </p:nvSpPr>
        <p:spPr>
          <a:xfrm>
            <a:off x="7616952" y="3913632"/>
            <a:ext cx="3648456" cy="731520"/>
          </a:xfrm>
          <a:prstGeom prst="rect">
            <a:avLst/>
          </a:prstGeom>
          <a:noFill/>
        </p:spPr>
        <p:txBody>
          <a:bodyPr wrap="square" lIns="0" tIns="0" rIns="0" bIns="0" anchor="t">
            <a:spAutoFit/>
          </a:bodyPr>
          <a:lstStyle/>
          <a:p>
            <a:pPr>
              <a:lnSpc>
                <a:spcPct val="112000"/>
              </a:lnSpc>
            </a:pPr>
            <a:r>
              <a:rPr sz="1150" b="0" i="1">
                <a:solidFill>
                  <a:srgbClr val="6B7480"/>
                </a:solidFill>
                <a:latin typeface="Calibri"/>
              </a:rPr>
              <a:t>Σ: full-window covariance;  Σ_L, Σ_R: its two half-windows. ND ≈ 0 with no change, spikes on a shift.</a:t>
            </a:r>
          </a:p>
        </p:txBody>
      </p:sp>
      <p:sp>
        <p:nvSpPr>
          <p:cNvPr id="14" name="Rounded Rectangle 13"/>
          <p:cNvSpPr/>
          <p:nvPr/>
        </p:nvSpPr>
        <p:spPr>
          <a:xfrm>
            <a:off x="7360920" y="4892040"/>
            <a:ext cx="4160520" cy="1435608"/>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0376" y="4892040"/>
            <a:ext cx="3721608" cy="1435608"/>
          </a:xfrm>
          <a:prstGeom prst="rect">
            <a:avLst/>
          </a:prstGeom>
          <a:noFill/>
        </p:spPr>
        <p:txBody>
          <a:bodyPr wrap="square" lIns="0" tIns="0" rIns="0" bIns="0" anchor="ctr">
            <a:spAutoFit/>
          </a:bodyPr>
          <a:lstStyle/>
          <a:p>
            <a:r>
              <a:rPr sz="1400" b="1" i="0">
                <a:solidFill>
                  <a:srgbClr val="E87A2B"/>
                </a:solidFill>
                <a:latin typeface="Calibri"/>
              </a:rPr>
              <a:t>ND parameters</a:t>
            </a:r>
          </a:p>
          <a:p>
            <a:pPr>
              <a:lnSpc>
                <a:spcPct val="110000"/>
              </a:lnSpc>
              <a:spcBef>
                <a:spcPts val="800"/>
              </a:spcBef>
            </a:pPr>
            <a:r>
              <a:rPr sz="1250" b="1" i="0">
                <a:solidFill>
                  <a:srgbClr val="1B2A4A"/>
                </a:solidFill>
                <a:latin typeface="Consolas"/>
              </a:rPr>
              <a:t>nd_window_size</a:t>
            </a:r>
            <a:r>
              <a:rPr sz="1200" b="0" i="0">
                <a:solidFill>
                  <a:srgbClr val="333A42"/>
                </a:solidFill>
                <a:latin typeface="Calibri"/>
              </a:rPr>
              <a:t>  —  window length</a:t>
            </a:r>
          </a:p>
          <a:p>
            <a:pPr>
              <a:lnSpc>
                <a:spcPct val="110000"/>
              </a:lnSpc>
              <a:spcBef>
                <a:spcPts val="600"/>
              </a:spcBef>
            </a:pPr>
            <a:r>
              <a:rPr sz="1250" b="1" i="0">
                <a:solidFill>
                  <a:srgbClr val="1B2A4A"/>
                </a:solidFill>
                <a:latin typeface="Consolas"/>
              </a:rPr>
              <a:t>nd_threshold</a:t>
            </a:r>
            <a:r>
              <a:rPr sz="1200" b="0" i="0">
                <a:solidFill>
                  <a:srgbClr val="333A42"/>
                </a:solidFill>
                <a:latin typeface="Calibri"/>
              </a:rPr>
              <a:t>  —  alarm level</a:t>
            </a:r>
          </a:p>
        </p:txBody>
      </p:sp>
      <p:sp>
        <p:nvSpPr>
          <p:cNvPr id="16" name="TextBox 15"/>
          <p:cNvSpPr txBox="1"/>
          <p:nvPr/>
        </p:nvSpPr>
        <p:spPr>
          <a:xfrm>
            <a:off x="658368" y="6419088"/>
            <a:ext cx="10881360" cy="320040"/>
          </a:xfrm>
          <a:prstGeom prst="rect">
            <a:avLst/>
          </a:prstGeom>
          <a:noFill/>
        </p:spPr>
        <p:txBody>
          <a:bodyPr wrap="square" lIns="0" tIns="0" rIns="0" bIns="0" anchor="t">
            <a:spAutoFit/>
          </a:bodyPr>
          <a:lstStyle/>
          <a:p>
            <a:r>
              <a:rPr sz="1000" b="0" i="1">
                <a:solidFill>
                  <a:srgbClr val="6B7480"/>
                </a:solidFill>
                <a:latin typeface="Consolas"/>
              </a:rPr>
              <a:t>ola/algorithms/cd_cucb.py  ·  detector_type = nd_full_feedback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5"/>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ND threshold</a:t>
            </a:r>
          </a:p>
          <a:p>
            <a:pPr>
              <a:lnSpc>
                <a:spcPct val="100000"/>
              </a:lnSpc>
              <a:spcAft>
                <a:spcPts val="500"/>
              </a:spcAft>
            </a:pPr>
            <a:r>
              <a:rPr sz="1250" b="0" i="0">
                <a:solidFill>
                  <a:srgbClr val="333A42"/>
                </a:solidFill>
                <a:latin typeface="Calibri"/>
              </a:rPr>
              <a:t>ND window size</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50</a:t>
            </a:r>
          </a:p>
        </p:txBody>
      </p:sp>
      <p:sp>
        <p:nvSpPr>
          <p:cNvPr id="12" name="TextBox 11"/>
          <p:cNvSpPr txBox="1"/>
          <p:nvPr/>
        </p:nvSpPr>
        <p:spPr>
          <a:xfrm>
            <a:off x="8485632" y="4681728"/>
            <a:ext cx="3099816" cy="200055"/>
          </a:xfrm>
          <a:prstGeom prst="rect">
            <a:avLst/>
          </a:prstGeom>
          <a:noFill/>
        </p:spPr>
        <p:txBody>
          <a:bodyPr wrap="square" lIns="0" tIns="0" rIns="0" bIns="0" anchor="t">
            <a:spAutoFit/>
          </a:bodyPr>
          <a:lstStyle/>
          <a:p>
            <a:pPr>
              <a:lnSpc>
                <a:spcPct val="100000"/>
              </a:lnSpc>
            </a:pPr>
            <a:r>
              <a:rPr sz="1250" b="0" i="0" dirty="0">
                <a:solidFill>
                  <a:srgbClr val="333A42"/>
                </a:solidFill>
                <a:latin typeface="Calibri"/>
              </a:rPr>
              <a:t>SKL levels</a:t>
            </a:r>
            <a:r>
              <a:rPr sz="1100" b="0" i="1" dirty="0">
                <a:solidFill>
                  <a:srgbClr val="6B7480"/>
                </a:solidFill>
                <a:latin typeface="Calibri"/>
              </a:rPr>
              <a:t>  (curves)</a:t>
            </a:r>
            <a:r>
              <a:rPr sz="1300" b="1" i="0" dirty="0">
                <a:solidFill>
                  <a:srgbClr val="1B2A4A"/>
                </a:solidFill>
                <a:latin typeface="Consolas"/>
              </a:rPr>
              <a:t>     20 / 200 / </a:t>
            </a:r>
            <a:r>
              <a:rPr lang="en-GB" sz="1300" b="1" i="0" dirty="0">
                <a:solidFill>
                  <a:srgbClr val="1B2A4A"/>
                </a:solidFill>
                <a:latin typeface="Consolas"/>
              </a:rPr>
              <a:t>500</a:t>
            </a:r>
            <a:endParaRPr sz="1300" b="1" i="0" dirty="0">
              <a:solidFill>
                <a:srgbClr val="1B2A4A"/>
              </a:solidFill>
              <a:latin typeface="Consolas"/>
            </a:endParaRP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n/a</a:t>
            </a:r>
            <a:r>
              <a:rPr sz="1000" b="0" i="0">
                <a:solidFill>
                  <a:srgbClr val="6B7480"/>
                </a:solidFill>
                <a:latin typeface="Consolas"/>
              </a:rPr>
              <a:t> </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30832"/>
          </a:xfrm>
          <a:prstGeom prst="rect">
            <a:avLst/>
          </a:prstGeom>
          <a:noFill/>
        </p:spPr>
        <p:txBody>
          <a:bodyPr wrap="square" lIns="0" tIns="0" rIns="0" bIns="0" anchor="t">
            <a:spAutoFit/>
          </a:bodyPr>
          <a:lstStyle/>
          <a:p>
            <a:pPr algn="ctr"/>
            <a:r>
              <a:rPr sz="1500" b="1" i="0" dirty="0">
                <a:solidFill>
                  <a:srgbClr val="1B2A4A"/>
                </a:solidFill>
                <a:latin typeface="Consolas"/>
              </a:rPr>
              <a:t>22.</a:t>
            </a:r>
            <a:r>
              <a:rPr lang="en-GB" sz="1500" b="1" i="0" dirty="0">
                <a:solidFill>
                  <a:srgbClr val="1B2A4A"/>
                </a:solidFill>
                <a:latin typeface="Consolas"/>
              </a:rPr>
              <a:t>2</a:t>
            </a:r>
            <a:r>
              <a:rPr sz="1000" b="0" i="0" dirty="0">
                <a:solidFill>
                  <a:srgbClr val="6B7480"/>
                </a:solidFill>
                <a:latin typeface="Consolas"/>
              </a:rPr>
              <a:t> ±2.0</a:t>
            </a:r>
          </a:p>
        </p:txBody>
      </p:sp>
      <p:sp>
        <p:nvSpPr>
          <p:cNvPr id="19" name="TextBox 18"/>
          <p:cNvSpPr txBox="1"/>
          <p:nvPr/>
        </p:nvSpPr>
        <p:spPr>
          <a:xfrm>
            <a:off x="10570464" y="5413248"/>
            <a:ext cx="1069848" cy="161583"/>
          </a:xfrm>
          <a:prstGeom prst="rect">
            <a:avLst/>
          </a:prstGeom>
          <a:noFill/>
        </p:spPr>
        <p:txBody>
          <a:bodyPr wrap="square" lIns="0" tIns="0" rIns="0" bIns="0" anchor="t">
            <a:spAutoFit/>
          </a:bodyPr>
          <a:lstStyle/>
          <a:p>
            <a:pPr algn="ctr"/>
            <a:r>
              <a:rPr sz="1050" b="0" i="0" dirty="0">
                <a:solidFill>
                  <a:srgbClr val="6B7480"/>
                </a:solidFill>
                <a:latin typeface="Calibri"/>
              </a:rPr>
              <a:t>SKL </a:t>
            </a:r>
            <a:r>
              <a:rPr lang="en-GB" sz="1050" b="0" i="0" dirty="0">
                <a:solidFill>
                  <a:srgbClr val="6B7480"/>
                </a:solidFill>
                <a:latin typeface="Calibri"/>
              </a:rPr>
              <a:t>500</a:t>
            </a:r>
            <a:endParaRPr sz="1050" b="0" i="0" dirty="0">
              <a:solidFill>
                <a:srgbClr val="6B7480"/>
              </a:solidFill>
              <a:latin typeface="Calibri"/>
            </a:endParaRPr>
          </a:p>
        </p:txBody>
      </p:sp>
      <p:sp>
        <p:nvSpPr>
          <p:cNvPr id="20" name="TextBox 19"/>
          <p:cNvSpPr txBox="1"/>
          <p:nvPr/>
        </p:nvSpPr>
        <p:spPr>
          <a:xfrm>
            <a:off x="10570464" y="5596128"/>
            <a:ext cx="1069848" cy="230832"/>
          </a:xfrm>
          <a:prstGeom prst="rect">
            <a:avLst/>
          </a:prstGeom>
          <a:noFill/>
        </p:spPr>
        <p:txBody>
          <a:bodyPr wrap="square" lIns="0" tIns="0" rIns="0" bIns="0" anchor="t">
            <a:spAutoFit/>
          </a:bodyPr>
          <a:lstStyle/>
          <a:p>
            <a:pPr algn="ctr"/>
            <a:r>
              <a:rPr lang="en-GB" sz="1500" b="1" i="0" dirty="0">
                <a:solidFill>
                  <a:srgbClr val="1B2A4A"/>
                </a:solidFill>
                <a:latin typeface="Consolas"/>
              </a:rPr>
              <a:t>18.9</a:t>
            </a:r>
            <a:r>
              <a:rPr sz="1000" b="0" i="0" dirty="0">
                <a:solidFill>
                  <a:srgbClr val="6B7480"/>
                </a:solidFill>
                <a:latin typeface="Consolas"/>
              </a:rPr>
              <a:t> ±</a:t>
            </a:r>
            <a:r>
              <a:rPr lang="en-GB" sz="1000" b="0" i="0" dirty="0">
                <a:solidFill>
                  <a:srgbClr val="6B7480"/>
                </a:solidFill>
                <a:latin typeface="Consolas"/>
              </a:rPr>
              <a:t>3.2</a:t>
            </a:r>
            <a:endParaRPr sz="1000" b="0" i="0" dirty="0">
              <a:solidFill>
                <a:srgbClr val="6B7480"/>
              </a:solidFill>
              <a:latin typeface="Consolas"/>
            </a:endParaRP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a:p>
            <a:pPr>
              <a:lnSpc>
                <a:spcPct val="105000"/>
              </a:lnSpc>
            </a:pPr>
            <a:r>
              <a:rPr sz="1050" b="0" i="1">
                <a:solidFill>
                  <a:srgbClr val="6B7480"/>
                </a:solidFill>
                <a:latin typeface="Calibri"/>
              </a:rPr>
              <a:t>SKL 20: no change detected.</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(ND)  ·  ND_ec=0.1  (threshold = 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3)</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3)</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3)</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3)</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1" y="1783080"/>
            <a:ext cx="6035038" cy="4526279"/>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461665"/>
          </a:xfrm>
          <a:prstGeom prst="rect">
            <a:avLst/>
          </a:prstGeom>
          <a:noFill/>
        </p:spPr>
        <p:txBody>
          <a:bodyPr wrap="square" lIns="0" tIns="0" rIns="0" bIns="0" anchor="t">
            <a:spAutoFit/>
          </a:bodyPr>
          <a:lstStyle/>
          <a:p>
            <a:r>
              <a:rPr sz="1600" b="1" i="0" dirty="0">
                <a:solidFill>
                  <a:srgbClr val="2E86AB"/>
                </a:solidFill>
                <a:latin typeface="Calibri"/>
              </a:rPr>
              <a:t>Mean detection delay</a:t>
            </a:r>
          </a:p>
          <a:p>
            <a:pPr>
              <a:spcBef>
                <a:spcPts val="300"/>
              </a:spcBef>
            </a:pPr>
            <a:endParaRPr sz="1150" b="0" i="1" dirty="0">
              <a:solidFill>
                <a:srgbClr val="6B7480"/>
              </a:solidFill>
              <a:latin typeface="Calibri"/>
            </a:endParaRP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63240"/>
            <a:ext cx="2331720" cy="502920"/>
          </a:xfrm>
          <a:prstGeom prst="rect">
            <a:avLst/>
          </a:prstGeom>
          <a:noFill/>
        </p:spPr>
        <p:txBody>
          <a:bodyPr wrap="square" lIns="0" tIns="0" rIns="0" bIns="0" anchor="ctr">
            <a:spAutoFit/>
          </a:bodyPr>
          <a:lstStyle/>
          <a:p>
            <a:pPr algn="r"/>
            <a:r>
              <a:rPr sz="1700" b="1" i="0">
                <a:solidFill>
                  <a:srgbClr val="1B2A4A"/>
                </a:solidFill>
                <a:latin typeface="Consolas"/>
              </a:rPr>
              <a:t>n/a</a:t>
            </a:r>
            <a:r>
              <a:rPr sz="1100" b="0" i="0">
                <a:solidFill>
                  <a:srgbClr val="6B7480"/>
                </a:solidFill>
                <a:latin typeface="Consolas"/>
              </a:rPr>
              <a:t> </a:t>
            </a:r>
          </a:p>
          <a:p>
            <a:pPr algn="r">
              <a:spcBef>
                <a:spcPts val="100"/>
              </a:spcBef>
            </a:pPr>
            <a:r>
              <a:rPr sz="1050" b="0" i="0">
                <a:solidFill>
                  <a:srgbClr val="6B7480"/>
                </a:solidFill>
                <a:latin typeface="Calibri"/>
              </a:rPr>
              <a:t>median n/a</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72179"/>
            <a:ext cx="2331720" cy="436017"/>
          </a:xfrm>
          <a:prstGeom prst="rect">
            <a:avLst/>
          </a:prstGeom>
          <a:noFill/>
        </p:spPr>
        <p:txBody>
          <a:bodyPr wrap="square" lIns="0" tIns="0" rIns="0" bIns="0" anchor="ctr">
            <a:spAutoFit/>
          </a:bodyPr>
          <a:lstStyle/>
          <a:p>
            <a:pPr algn="r"/>
            <a:r>
              <a:rPr sz="1700" b="1" i="0" dirty="0">
                <a:solidFill>
                  <a:srgbClr val="1B2A4A"/>
                </a:solidFill>
                <a:latin typeface="Consolas"/>
              </a:rPr>
              <a:t>22.</a:t>
            </a:r>
            <a:r>
              <a:rPr lang="en-GB" sz="1700" b="1" i="0" dirty="0">
                <a:solidFill>
                  <a:srgbClr val="1B2A4A"/>
                </a:solidFill>
                <a:latin typeface="Consolas"/>
              </a:rPr>
              <a:t>2</a:t>
            </a:r>
            <a:r>
              <a:rPr sz="1100" b="0" i="0" dirty="0">
                <a:solidFill>
                  <a:srgbClr val="6B7480"/>
                </a:solidFill>
                <a:latin typeface="Consolas"/>
              </a:rPr>
              <a:t> ±2.0</a:t>
            </a:r>
          </a:p>
          <a:p>
            <a:pPr algn="r">
              <a:spcBef>
                <a:spcPts val="100"/>
              </a:spcBef>
            </a:pPr>
            <a:r>
              <a:rPr sz="1050" b="0" i="0" dirty="0">
                <a:solidFill>
                  <a:srgbClr val="6B7480"/>
                </a:solidFill>
                <a:latin typeface="Calibri"/>
              </a:rPr>
              <a:t>median 23</a:t>
            </a:r>
          </a:p>
        </p:txBody>
      </p:sp>
      <p:sp>
        <p:nvSpPr>
          <p:cNvPr id="14" name="TextBox 13"/>
          <p:cNvSpPr txBox="1"/>
          <p:nvPr/>
        </p:nvSpPr>
        <p:spPr>
          <a:xfrm>
            <a:off x="7360920" y="4150259"/>
            <a:ext cx="1828800" cy="230832"/>
          </a:xfrm>
          <a:prstGeom prst="rect">
            <a:avLst/>
          </a:prstGeom>
          <a:noFill/>
        </p:spPr>
        <p:txBody>
          <a:bodyPr wrap="square" lIns="0" tIns="0" rIns="0" bIns="0" anchor="ctr">
            <a:spAutoFit/>
          </a:bodyPr>
          <a:lstStyle/>
          <a:p>
            <a:r>
              <a:rPr sz="1500" b="0" i="0" dirty="0">
                <a:solidFill>
                  <a:srgbClr val="333A42"/>
                </a:solidFill>
                <a:latin typeface="Calibri"/>
              </a:rPr>
              <a:t>SKL = </a:t>
            </a:r>
            <a:r>
              <a:rPr lang="en-GB" sz="1500" b="0" i="0" dirty="0">
                <a:solidFill>
                  <a:srgbClr val="333A42"/>
                </a:solidFill>
                <a:latin typeface="Calibri"/>
              </a:rPr>
              <a:t>500</a:t>
            </a:r>
            <a:endParaRPr sz="1500" b="0" i="0" dirty="0">
              <a:solidFill>
                <a:srgbClr val="333A42"/>
              </a:solidFill>
              <a:latin typeface="Calibri"/>
            </a:endParaRPr>
          </a:p>
        </p:txBody>
      </p:sp>
      <p:sp>
        <p:nvSpPr>
          <p:cNvPr id="15" name="TextBox 14"/>
          <p:cNvSpPr txBox="1"/>
          <p:nvPr/>
        </p:nvSpPr>
        <p:spPr>
          <a:xfrm>
            <a:off x="9098280" y="4047666"/>
            <a:ext cx="2331720" cy="436017"/>
          </a:xfrm>
          <a:prstGeom prst="rect">
            <a:avLst/>
          </a:prstGeom>
          <a:noFill/>
        </p:spPr>
        <p:txBody>
          <a:bodyPr wrap="square" lIns="0" tIns="0" rIns="0" bIns="0" anchor="ctr">
            <a:spAutoFit/>
          </a:bodyPr>
          <a:lstStyle/>
          <a:p>
            <a:pPr algn="r"/>
            <a:r>
              <a:rPr lang="en-GB" sz="1700" b="1" i="0" dirty="0">
                <a:solidFill>
                  <a:srgbClr val="1B2A4A"/>
                </a:solidFill>
                <a:latin typeface="Consolas"/>
              </a:rPr>
              <a:t>18.9</a:t>
            </a:r>
            <a:r>
              <a:rPr sz="1100" b="0" i="0" dirty="0">
                <a:solidFill>
                  <a:srgbClr val="6B7480"/>
                </a:solidFill>
                <a:latin typeface="Consolas"/>
              </a:rPr>
              <a:t> ±</a:t>
            </a:r>
            <a:r>
              <a:rPr lang="en-GB" sz="1100" dirty="0">
                <a:solidFill>
                  <a:srgbClr val="6B7480"/>
                </a:solidFill>
                <a:latin typeface="Consolas"/>
              </a:rPr>
              <a:t>3.2</a:t>
            </a:r>
            <a:endParaRPr sz="1100" b="0" i="0" dirty="0">
              <a:solidFill>
                <a:srgbClr val="6B7480"/>
              </a:solidFill>
              <a:latin typeface="Consolas"/>
            </a:endParaRPr>
          </a:p>
          <a:p>
            <a:pPr algn="r">
              <a:spcBef>
                <a:spcPts val="100"/>
              </a:spcBef>
            </a:pPr>
            <a:r>
              <a:rPr sz="1050" b="0" i="0" dirty="0">
                <a:solidFill>
                  <a:srgbClr val="6B7480"/>
                </a:solidFill>
                <a:latin typeface="Calibri"/>
              </a:rPr>
              <a:t>median 1</a:t>
            </a:r>
            <a:r>
              <a:rPr lang="en-GB" sz="1050" dirty="0">
                <a:solidFill>
                  <a:srgbClr val="6B7480"/>
                </a:solidFill>
                <a:latin typeface="Calibri"/>
              </a:rPr>
              <a:t>9.5</a:t>
            </a:r>
            <a:endParaRPr sz="1050" b="0" i="0" dirty="0">
              <a:solidFill>
                <a:srgbClr val="6B7480"/>
              </a:solidFill>
              <a:latin typeface="Calibri"/>
            </a:endParaRPr>
          </a:p>
        </p:txBody>
      </p:sp>
      <p:sp>
        <p:nvSpPr>
          <p:cNvPr id="16" name="TextBox 15"/>
          <p:cNvSpPr txBox="1"/>
          <p:nvPr/>
        </p:nvSpPr>
        <p:spPr>
          <a:xfrm>
            <a:off x="7360920" y="4553712"/>
            <a:ext cx="4069080" cy="192360"/>
          </a:xfrm>
          <a:prstGeom prst="rect">
            <a:avLst/>
          </a:prstGeom>
          <a:noFill/>
        </p:spPr>
        <p:txBody>
          <a:bodyPr wrap="square" lIns="0" tIns="0" rIns="0" bIns="0" anchor="t">
            <a:spAutoFit/>
          </a:bodyPr>
          <a:lstStyle/>
          <a:p>
            <a:r>
              <a:rPr sz="1250" b="0" i="1" dirty="0">
                <a:solidFill>
                  <a:srgbClr val="6B7480"/>
                </a:solidFill>
                <a:latin typeface="Calibri"/>
              </a:rPr>
              <a:t>SKL 20 not detected (0%);  200 / </a:t>
            </a:r>
            <a:r>
              <a:rPr lang="en-GB" sz="1250" b="0" i="1" dirty="0">
                <a:solidFill>
                  <a:srgbClr val="6B7480"/>
                </a:solidFill>
                <a:latin typeface="Calibri"/>
              </a:rPr>
              <a:t>500</a:t>
            </a:r>
            <a:r>
              <a:rPr sz="1250" b="0" i="1" dirty="0">
                <a:solidFill>
                  <a:srgbClr val="6B7480"/>
                </a:solidFill>
                <a:latin typeface="Calibri"/>
              </a:rPr>
              <a:t>: 100%.</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EXPERIMENTS</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pseudo-regret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0" y="1828800"/>
            <a:ext cx="7452359" cy="4471415"/>
          </a:xfrm>
          <a:prstGeom prst="rect">
            <a:avLst/>
          </a:prstGeom>
          <a:ln w="12700">
            <a:solidFill>
              <a:srgbClr val="D8E1E8"/>
            </a:solidFill>
          </a:ln>
        </p:spPr>
      </p:pic>
      <p:sp>
        <p:nvSpPr>
          <p:cNvPr id="8" name="Rounded Rectangle 7"/>
          <p:cNvSpPr/>
          <p:nvPr/>
        </p:nvSpPr>
        <p:spPr>
          <a:xfrm>
            <a:off x="8229600" y="1828800"/>
            <a:ext cx="3611880" cy="315468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85632" y="2011680"/>
            <a:ext cx="3099816" cy="365760"/>
          </a:xfrm>
          <a:prstGeom prst="rect">
            <a:avLst/>
          </a:prstGeom>
          <a:noFill/>
        </p:spPr>
        <p:txBody>
          <a:bodyPr wrap="square" lIns="0" tIns="0" rIns="0" bIns="0" anchor="t">
            <a:spAutoFit/>
          </a:bodyPr>
          <a:lstStyle/>
          <a:p>
            <a:r>
              <a:rPr sz="1500" b="1" i="0">
                <a:solidFill>
                  <a:srgbClr val="2E86AB"/>
                </a:solidFill>
                <a:latin typeface="Calibri"/>
              </a:rPr>
              <a:t>Experiment setup</a:t>
            </a:r>
          </a:p>
        </p:txBody>
      </p:sp>
      <p:sp>
        <p:nvSpPr>
          <p:cNvPr id="10" name="TextBox 9"/>
          <p:cNvSpPr txBox="1"/>
          <p:nvPr/>
        </p:nvSpPr>
        <p:spPr>
          <a:xfrm>
            <a:off x="8485632" y="2414016"/>
            <a:ext cx="2331720" cy="2468880"/>
          </a:xfrm>
          <a:prstGeom prst="rect">
            <a:avLst/>
          </a:prstGeom>
          <a:noFill/>
        </p:spPr>
        <p:txBody>
          <a:bodyPr wrap="square" lIns="0" tIns="0" rIns="0" bIns="0" anchor="t">
            <a:spAutoFit/>
          </a:bodyPr>
          <a:lstStyle/>
          <a:p>
            <a:pPr>
              <a:lnSpc>
                <a:spcPct val="100000"/>
              </a:lnSpc>
              <a:spcAft>
                <a:spcPts val="500"/>
              </a:spcAft>
            </a:pPr>
            <a:r>
              <a:rPr sz="1250" b="0" i="0">
                <a:solidFill>
                  <a:srgbClr val="333A42"/>
                </a:solidFill>
                <a:latin typeface="Calibri"/>
              </a:rPr>
              <a:t>Time horizon</a:t>
            </a:r>
            <a:r>
              <a:rPr sz="1250" b="0" i="1">
                <a:solidFill>
                  <a:srgbClr val="6B7480"/>
                </a:solidFill>
                <a:latin typeface="Consolas"/>
              </a:rPr>
              <a:t>  T</a:t>
            </a:r>
          </a:p>
          <a:p>
            <a:pPr>
              <a:lnSpc>
                <a:spcPct val="100000"/>
              </a:lnSpc>
              <a:spcAft>
                <a:spcPts val="500"/>
              </a:spcAft>
            </a:pPr>
            <a:r>
              <a:rPr sz="1250" b="0" i="0">
                <a:solidFill>
                  <a:srgbClr val="333A42"/>
                </a:solidFill>
                <a:latin typeface="Calibri"/>
              </a:rPr>
              <a:t>Intervals</a:t>
            </a:r>
          </a:p>
          <a:p>
            <a:pPr>
              <a:lnSpc>
                <a:spcPct val="100000"/>
              </a:lnSpc>
              <a:spcAft>
                <a:spcPts val="500"/>
              </a:spcAft>
            </a:pPr>
            <a:r>
              <a:rPr sz="1250" b="0" i="0">
                <a:solidFill>
                  <a:srgbClr val="333A42"/>
                </a:solidFill>
                <a:latin typeface="Calibri"/>
              </a:rPr>
              <a:t>Budget</a:t>
            </a:r>
            <a:r>
              <a:rPr sz="1250" b="0" i="1">
                <a:solidFill>
                  <a:srgbClr val="6B7480"/>
                </a:solidFill>
                <a:latin typeface="Consolas"/>
              </a:rPr>
              <a:t>  B</a:t>
            </a:r>
          </a:p>
          <a:p>
            <a:pPr>
              <a:lnSpc>
                <a:spcPct val="100000"/>
              </a:lnSpc>
              <a:spcAft>
                <a:spcPts val="500"/>
              </a:spcAft>
            </a:pPr>
            <a:r>
              <a:rPr sz="1250" b="0" i="0">
                <a:solidFill>
                  <a:srgbClr val="333A42"/>
                </a:solidFill>
                <a:latin typeface="Calibri"/>
              </a:rPr>
              <a:t>Per-round budget</a:t>
            </a:r>
            <a:r>
              <a:rPr sz="1250" b="0" i="1">
                <a:solidFill>
                  <a:srgbClr val="6B7480"/>
                </a:solidFill>
                <a:latin typeface="Consolas"/>
              </a:rPr>
              <a:t>  ρ = B / T</a:t>
            </a:r>
          </a:p>
          <a:p>
            <a:pPr>
              <a:lnSpc>
                <a:spcPct val="100000"/>
              </a:lnSpc>
              <a:spcAft>
                <a:spcPts val="500"/>
              </a:spcAft>
            </a:pPr>
            <a:r>
              <a:rPr sz="1250" b="0" i="0">
                <a:solidFill>
                  <a:srgbClr val="333A42"/>
                </a:solidFill>
                <a:latin typeface="Calibri"/>
              </a:rPr>
              <a:t>Exploration coeff.</a:t>
            </a:r>
            <a:r>
              <a:rPr sz="1250" b="0" i="1">
                <a:solidFill>
                  <a:srgbClr val="6B7480"/>
                </a:solidFill>
                <a:latin typeface="Consolas"/>
              </a:rPr>
              <a:t>  c</a:t>
            </a:r>
          </a:p>
          <a:p>
            <a:pPr>
              <a:lnSpc>
                <a:spcPct val="100000"/>
              </a:lnSpc>
              <a:spcAft>
                <a:spcPts val="500"/>
              </a:spcAft>
            </a:pPr>
            <a:r>
              <a:rPr sz="1250" b="0" i="0">
                <a:solidFill>
                  <a:srgbClr val="333A42"/>
                </a:solidFill>
                <a:latin typeface="Calibri"/>
              </a:rPr>
              <a:t>ND threshold</a:t>
            </a:r>
          </a:p>
          <a:p>
            <a:pPr>
              <a:lnSpc>
                <a:spcPct val="100000"/>
              </a:lnSpc>
              <a:spcAft>
                <a:spcPts val="500"/>
              </a:spcAft>
            </a:pPr>
            <a:r>
              <a:rPr sz="1250" b="0" i="0">
                <a:solidFill>
                  <a:srgbClr val="333A42"/>
                </a:solidFill>
                <a:latin typeface="Calibri"/>
              </a:rPr>
              <a:t>ND window size</a:t>
            </a:r>
          </a:p>
        </p:txBody>
      </p:sp>
      <p:sp>
        <p:nvSpPr>
          <p:cNvPr id="11" name="TextBox 10"/>
          <p:cNvSpPr txBox="1"/>
          <p:nvPr/>
        </p:nvSpPr>
        <p:spPr>
          <a:xfrm>
            <a:off x="10744200" y="2414016"/>
            <a:ext cx="914400" cy="2468880"/>
          </a:xfrm>
          <a:prstGeom prst="rect">
            <a:avLst/>
          </a:prstGeom>
          <a:noFill/>
        </p:spPr>
        <p:txBody>
          <a:bodyPr wrap="square" lIns="0" tIns="0" rIns="0" bIns="0" anchor="t">
            <a:spAutoFit/>
          </a:bodyPr>
          <a:lstStyle/>
          <a:p>
            <a:pPr algn="r">
              <a:lnSpc>
                <a:spcPct val="100000"/>
              </a:lnSpc>
              <a:spcAft>
                <a:spcPts val="500"/>
              </a:spcAft>
            </a:pPr>
            <a:r>
              <a:rPr sz="1300" b="1" i="0">
                <a:solidFill>
                  <a:srgbClr val="1B2A4A"/>
                </a:solidFill>
                <a:latin typeface="Consolas"/>
              </a:rPr>
              <a:t>4000</a:t>
            </a:r>
          </a:p>
          <a:p>
            <a:pPr algn="r">
              <a:lnSpc>
                <a:spcPct val="100000"/>
              </a:lnSpc>
              <a:spcAft>
                <a:spcPts val="500"/>
              </a:spcAft>
            </a:pPr>
            <a:r>
              <a:rPr sz="1300" b="1" i="0">
                <a:solidFill>
                  <a:srgbClr val="1B2A4A"/>
                </a:solidFill>
                <a:latin typeface="Consolas"/>
              </a:rPr>
              <a:t>3</a:t>
            </a:r>
          </a:p>
          <a:p>
            <a:pPr algn="r">
              <a:lnSpc>
                <a:spcPct val="100000"/>
              </a:lnSpc>
              <a:spcAft>
                <a:spcPts val="500"/>
              </a:spcAft>
            </a:pPr>
            <a:r>
              <a:rPr sz="1300" b="1" i="0">
                <a:solidFill>
                  <a:srgbClr val="1B2A4A"/>
                </a:solidFill>
                <a:latin typeface="Consolas"/>
              </a:rPr>
              <a:t>8000</a:t>
            </a:r>
          </a:p>
          <a:p>
            <a:pPr algn="r">
              <a:lnSpc>
                <a:spcPct val="100000"/>
              </a:lnSpc>
              <a:spcAft>
                <a:spcPts val="500"/>
              </a:spcAft>
            </a:pPr>
            <a:r>
              <a:rPr sz="1300" b="1" i="0">
                <a:solidFill>
                  <a:srgbClr val="1B2A4A"/>
                </a:solidFill>
                <a:latin typeface="Consolas"/>
              </a:rPr>
              <a:t>2.0</a:t>
            </a:r>
          </a:p>
          <a:p>
            <a:pPr algn="r">
              <a:lnSpc>
                <a:spcPct val="100000"/>
              </a:lnSpc>
              <a:spcAft>
                <a:spcPts val="500"/>
              </a:spcAft>
            </a:pPr>
            <a:r>
              <a:rPr sz="1300" b="1" i="0">
                <a:solidFill>
                  <a:srgbClr val="1B2A4A"/>
                </a:solidFill>
                <a:latin typeface="Consolas"/>
              </a:rPr>
              <a:t>0.1</a:t>
            </a:r>
          </a:p>
          <a:p>
            <a:pPr algn="r">
              <a:lnSpc>
                <a:spcPct val="100000"/>
              </a:lnSpc>
              <a:spcAft>
                <a:spcPts val="500"/>
              </a:spcAft>
            </a:pPr>
            <a:r>
              <a:rPr sz="1300" b="1" i="0">
                <a:solidFill>
                  <a:srgbClr val="1B2A4A"/>
                </a:solidFill>
                <a:latin typeface="Consolas"/>
              </a:rPr>
              <a:t>1.5</a:t>
            </a:r>
          </a:p>
          <a:p>
            <a:pPr algn="r">
              <a:lnSpc>
                <a:spcPct val="100000"/>
              </a:lnSpc>
              <a:spcAft>
                <a:spcPts val="500"/>
              </a:spcAft>
            </a:pPr>
            <a:r>
              <a:rPr sz="1300" b="1" i="0">
                <a:solidFill>
                  <a:srgbClr val="1B2A4A"/>
                </a:solidFill>
                <a:latin typeface="Consolas"/>
              </a:rPr>
              <a:t>50</a:t>
            </a:r>
          </a:p>
        </p:txBody>
      </p:sp>
      <p:sp>
        <p:nvSpPr>
          <p:cNvPr id="12" name="TextBox 11"/>
          <p:cNvSpPr txBox="1"/>
          <p:nvPr/>
        </p:nvSpPr>
        <p:spPr>
          <a:xfrm>
            <a:off x="8485632" y="4681728"/>
            <a:ext cx="3099816" cy="200055"/>
          </a:xfrm>
          <a:prstGeom prst="rect">
            <a:avLst/>
          </a:prstGeom>
          <a:noFill/>
        </p:spPr>
        <p:txBody>
          <a:bodyPr wrap="square" lIns="0" tIns="0" rIns="0" bIns="0" anchor="t">
            <a:spAutoFit/>
          </a:bodyPr>
          <a:lstStyle/>
          <a:p>
            <a:pPr>
              <a:lnSpc>
                <a:spcPct val="100000"/>
              </a:lnSpc>
            </a:pPr>
            <a:r>
              <a:rPr sz="1250" b="0" i="0" dirty="0">
                <a:solidFill>
                  <a:srgbClr val="333A42"/>
                </a:solidFill>
                <a:latin typeface="Calibri"/>
              </a:rPr>
              <a:t>SKL levels</a:t>
            </a:r>
            <a:r>
              <a:rPr sz="1100" b="0" i="1" dirty="0">
                <a:solidFill>
                  <a:srgbClr val="6B7480"/>
                </a:solidFill>
                <a:latin typeface="Calibri"/>
              </a:rPr>
              <a:t>  (curves)</a:t>
            </a:r>
            <a:r>
              <a:rPr sz="1300" b="1" i="0" dirty="0">
                <a:solidFill>
                  <a:srgbClr val="1B2A4A"/>
                </a:solidFill>
                <a:latin typeface="Consolas"/>
              </a:rPr>
              <a:t>     20 / 200 / </a:t>
            </a:r>
            <a:r>
              <a:rPr lang="en-GB" sz="1300" b="1" i="0" dirty="0">
                <a:solidFill>
                  <a:srgbClr val="1B2A4A"/>
                </a:solidFill>
                <a:latin typeface="Consolas"/>
              </a:rPr>
              <a:t>500</a:t>
            </a:r>
            <a:endParaRPr sz="1300" b="1" i="0" dirty="0">
              <a:solidFill>
                <a:srgbClr val="1B2A4A"/>
              </a:solidFill>
              <a:latin typeface="Consolas"/>
            </a:endParaRPr>
          </a:p>
        </p:txBody>
      </p:sp>
      <p:sp>
        <p:nvSpPr>
          <p:cNvPr id="13" name="Rounded Rectangle 12"/>
          <p:cNvSpPr/>
          <p:nvPr/>
        </p:nvSpPr>
        <p:spPr>
          <a:xfrm>
            <a:off x="8229600" y="5074920"/>
            <a:ext cx="3611880" cy="960120"/>
          </a:xfrm>
          <a:prstGeom prst="roundRect">
            <a:avLst>
              <a:gd name="adj" fmla="val 6000"/>
            </a:avLst>
          </a:prstGeom>
          <a:solidFill>
            <a:srgbClr val="FC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0768" y="5138928"/>
            <a:ext cx="3209544" cy="274320"/>
          </a:xfrm>
          <a:prstGeom prst="rect">
            <a:avLst/>
          </a:prstGeom>
          <a:noFill/>
        </p:spPr>
        <p:txBody>
          <a:bodyPr wrap="square" lIns="0" tIns="0" rIns="0" bIns="0" anchor="t">
            <a:spAutoFit/>
          </a:bodyPr>
          <a:lstStyle/>
          <a:p>
            <a:r>
              <a:rPr sz="1250" b="1" i="0">
                <a:solidFill>
                  <a:srgbClr val="E87A2B"/>
                </a:solidFill>
                <a:latin typeface="Calibri"/>
              </a:rPr>
              <a:t>Mean detection delay</a:t>
            </a:r>
            <a:r>
              <a:rPr sz="1050" b="0" i="1">
                <a:solidFill>
                  <a:srgbClr val="6B7480"/>
                </a:solidFill>
                <a:latin typeface="Calibri"/>
              </a:rPr>
              <a:t>   (rounds)</a:t>
            </a:r>
          </a:p>
        </p:txBody>
      </p:sp>
      <p:sp>
        <p:nvSpPr>
          <p:cNvPr id="15" name="TextBox 14"/>
          <p:cNvSpPr txBox="1"/>
          <p:nvPr/>
        </p:nvSpPr>
        <p:spPr>
          <a:xfrm>
            <a:off x="8430768"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a:t>
            </a:r>
          </a:p>
        </p:txBody>
      </p:sp>
      <p:sp>
        <p:nvSpPr>
          <p:cNvPr id="16" name="TextBox 15"/>
          <p:cNvSpPr txBox="1"/>
          <p:nvPr/>
        </p:nvSpPr>
        <p:spPr>
          <a:xfrm>
            <a:off x="8430768"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19.9</a:t>
            </a:r>
            <a:r>
              <a:rPr sz="1000" b="0" i="0">
                <a:solidFill>
                  <a:srgbClr val="6B7480"/>
                </a:solidFill>
                <a:latin typeface="Consolas"/>
              </a:rPr>
              <a:t> ±2.8</a:t>
            </a:r>
          </a:p>
        </p:txBody>
      </p:sp>
      <p:sp>
        <p:nvSpPr>
          <p:cNvPr id="17" name="TextBox 16"/>
          <p:cNvSpPr txBox="1"/>
          <p:nvPr/>
        </p:nvSpPr>
        <p:spPr>
          <a:xfrm>
            <a:off x="9500616" y="5413248"/>
            <a:ext cx="1069848" cy="182880"/>
          </a:xfrm>
          <a:prstGeom prst="rect">
            <a:avLst/>
          </a:prstGeom>
          <a:noFill/>
        </p:spPr>
        <p:txBody>
          <a:bodyPr wrap="square" lIns="0" tIns="0" rIns="0" bIns="0" anchor="t">
            <a:spAutoFit/>
          </a:bodyPr>
          <a:lstStyle/>
          <a:p>
            <a:pPr algn="ctr"/>
            <a:r>
              <a:rPr sz="1050" b="0" i="0">
                <a:solidFill>
                  <a:srgbClr val="6B7480"/>
                </a:solidFill>
                <a:latin typeface="Calibri"/>
              </a:rPr>
              <a:t>SKL 200</a:t>
            </a:r>
          </a:p>
        </p:txBody>
      </p:sp>
      <p:sp>
        <p:nvSpPr>
          <p:cNvPr id="18" name="TextBox 17"/>
          <p:cNvSpPr txBox="1"/>
          <p:nvPr/>
        </p:nvSpPr>
        <p:spPr>
          <a:xfrm>
            <a:off x="9500616" y="5596128"/>
            <a:ext cx="1069848" cy="274320"/>
          </a:xfrm>
          <a:prstGeom prst="rect">
            <a:avLst/>
          </a:prstGeom>
          <a:noFill/>
        </p:spPr>
        <p:txBody>
          <a:bodyPr wrap="square" lIns="0" tIns="0" rIns="0" bIns="0" anchor="t">
            <a:spAutoFit/>
          </a:bodyPr>
          <a:lstStyle/>
          <a:p>
            <a:pPr algn="ctr"/>
            <a:r>
              <a:rPr sz="1500" b="1" i="0">
                <a:solidFill>
                  <a:srgbClr val="1B2A4A"/>
                </a:solidFill>
                <a:latin typeface="Consolas"/>
              </a:rPr>
              <a:t>4.6</a:t>
            </a:r>
            <a:r>
              <a:rPr sz="1000" b="0" i="0">
                <a:solidFill>
                  <a:srgbClr val="6B7480"/>
                </a:solidFill>
                <a:latin typeface="Consolas"/>
              </a:rPr>
              <a:t> ±2.0</a:t>
            </a:r>
          </a:p>
        </p:txBody>
      </p:sp>
      <p:sp>
        <p:nvSpPr>
          <p:cNvPr id="19" name="TextBox 18"/>
          <p:cNvSpPr txBox="1"/>
          <p:nvPr/>
        </p:nvSpPr>
        <p:spPr>
          <a:xfrm>
            <a:off x="10570464" y="5413248"/>
            <a:ext cx="1069848" cy="161583"/>
          </a:xfrm>
          <a:prstGeom prst="rect">
            <a:avLst/>
          </a:prstGeom>
          <a:noFill/>
        </p:spPr>
        <p:txBody>
          <a:bodyPr wrap="square" lIns="0" tIns="0" rIns="0" bIns="0" anchor="t">
            <a:spAutoFit/>
          </a:bodyPr>
          <a:lstStyle/>
          <a:p>
            <a:pPr algn="ctr"/>
            <a:r>
              <a:rPr sz="1050" b="0" i="0" dirty="0">
                <a:solidFill>
                  <a:srgbClr val="6B7480"/>
                </a:solidFill>
                <a:latin typeface="Calibri"/>
              </a:rPr>
              <a:t>SKL </a:t>
            </a:r>
            <a:r>
              <a:rPr lang="en-GB" sz="1050" b="0" i="0" dirty="0">
                <a:solidFill>
                  <a:srgbClr val="6B7480"/>
                </a:solidFill>
                <a:latin typeface="Calibri"/>
              </a:rPr>
              <a:t>500</a:t>
            </a:r>
            <a:endParaRPr sz="1050" b="0" i="0" dirty="0">
              <a:solidFill>
                <a:srgbClr val="6B7480"/>
              </a:solidFill>
              <a:latin typeface="Calibri"/>
            </a:endParaRPr>
          </a:p>
        </p:txBody>
      </p:sp>
      <p:sp>
        <p:nvSpPr>
          <p:cNvPr id="20" name="TextBox 19"/>
          <p:cNvSpPr txBox="1"/>
          <p:nvPr/>
        </p:nvSpPr>
        <p:spPr>
          <a:xfrm>
            <a:off x="10570464" y="5596128"/>
            <a:ext cx="1069848" cy="230832"/>
          </a:xfrm>
          <a:prstGeom prst="rect">
            <a:avLst/>
          </a:prstGeom>
          <a:noFill/>
        </p:spPr>
        <p:txBody>
          <a:bodyPr wrap="square" lIns="0" tIns="0" rIns="0" bIns="0" anchor="t">
            <a:spAutoFit/>
          </a:bodyPr>
          <a:lstStyle/>
          <a:p>
            <a:pPr algn="ctr"/>
            <a:r>
              <a:rPr sz="1500" b="1" i="0" dirty="0">
                <a:solidFill>
                  <a:srgbClr val="1B2A4A"/>
                </a:solidFill>
                <a:latin typeface="Consolas"/>
              </a:rPr>
              <a:t>1.</a:t>
            </a:r>
            <a:r>
              <a:rPr lang="en-GB" sz="1500" b="1" i="0" dirty="0">
                <a:solidFill>
                  <a:srgbClr val="1B2A4A"/>
                </a:solidFill>
                <a:latin typeface="Consolas"/>
              </a:rPr>
              <a:t>9</a:t>
            </a:r>
            <a:r>
              <a:rPr sz="1000" b="0" i="0" dirty="0">
                <a:solidFill>
                  <a:srgbClr val="6B7480"/>
                </a:solidFill>
                <a:latin typeface="Consolas"/>
              </a:rPr>
              <a:t> ±1.</a:t>
            </a:r>
            <a:r>
              <a:rPr lang="en-GB" sz="1000" b="0" i="0" dirty="0">
                <a:solidFill>
                  <a:srgbClr val="6B7480"/>
                </a:solidFill>
                <a:latin typeface="Consolas"/>
              </a:rPr>
              <a:t>3</a:t>
            </a:r>
            <a:endParaRPr sz="1000" b="0" i="0" dirty="0">
              <a:solidFill>
                <a:srgbClr val="6B7480"/>
              </a:solidFill>
              <a:latin typeface="Consolas"/>
            </a:endParaRPr>
          </a:p>
        </p:txBody>
      </p:sp>
      <p:sp>
        <p:nvSpPr>
          <p:cNvPr id="21" name="TextBox 20"/>
          <p:cNvSpPr txBox="1"/>
          <p:nvPr/>
        </p:nvSpPr>
        <p:spPr>
          <a:xfrm>
            <a:off x="8247888" y="6053328"/>
            <a:ext cx="3611880" cy="384048"/>
          </a:xfrm>
          <a:prstGeom prst="rect">
            <a:avLst/>
          </a:prstGeom>
          <a:noFill/>
        </p:spPr>
        <p:txBody>
          <a:bodyPr wrap="square" lIns="0" tIns="0" rIns="0" bIns="0" anchor="t">
            <a:spAutoFit/>
          </a:bodyPr>
          <a:lstStyle/>
          <a:p>
            <a:pPr>
              <a:lnSpc>
                <a:spcPct val="105000"/>
              </a:lnSpc>
            </a:pPr>
            <a:r>
              <a:rPr sz="1050" b="0" i="1">
                <a:solidFill>
                  <a:srgbClr val="6B7480"/>
                </a:solidFill>
                <a:latin typeface="Calibri"/>
              </a:rPr>
              <a:t>Shaded bands: mean ± std across 20 repeated runs.</a:t>
            </a:r>
          </a:p>
        </p:txBody>
      </p:sp>
      <p:sp>
        <p:nvSpPr>
          <p:cNvPr id="22" name="TextBox 21"/>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(ND)  ·  ND_ec=0.1_threshold=1.5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1.5)</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cost</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req4_cd_cumulative_cost.png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1.5)</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cumulative reward</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req4_cd_cumulative_reward.png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1.5)</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detected changes over time</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2323947" y="1783080"/>
            <a:ext cx="7543799" cy="4526279"/>
          </a:xfrm>
          <a:prstGeom prst="rect">
            <a:avLst/>
          </a:prstGeom>
          <a:ln w="12700">
            <a:solidFill>
              <a:srgbClr val="D8E1E8"/>
            </a:solidFill>
          </a:ln>
        </p:spPr>
      </p:pic>
      <p:sp>
        <p:nvSpPr>
          <p:cNvPr id="8" name="TextBox 7"/>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req4_cd_detected_changes.png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11480"/>
            <a:ext cx="10881360" cy="320040"/>
          </a:xfrm>
          <a:prstGeom prst="rect">
            <a:avLst/>
          </a:prstGeom>
          <a:noFill/>
        </p:spPr>
        <p:txBody>
          <a:bodyPr wrap="square" lIns="0" tIns="0" rIns="0" bIns="0" anchor="t">
            <a:spAutoFit/>
          </a:bodyPr>
          <a:lstStyle/>
          <a:p>
            <a:r>
              <a:rPr sz="1300" b="1" i="0">
                <a:solidFill>
                  <a:srgbClr val="2E86AB"/>
                </a:solidFill>
                <a:latin typeface="Calibri"/>
              </a:rPr>
              <a:t>REQUIREMENT 4  ·  CHANGE-DETECTOR CUCB  ·  BACKUP  ·  NORMAL DISCREPANCY (THRESHOLD = 1.5)</a:t>
            </a:r>
          </a:p>
        </p:txBody>
      </p:sp>
      <p:sp>
        <p:nvSpPr>
          <p:cNvPr id="5" name="TextBox 4"/>
          <p:cNvSpPr txBox="1"/>
          <p:nvPr/>
        </p:nvSpPr>
        <p:spPr>
          <a:xfrm>
            <a:off x="640080" y="713232"/>
            <a:ext cx="10972800" cy="868680"/>
          </a:xfrm>
          <a:prstGeom prst="rect">
            <a:avLst/>
          </a:prstGeom>
          <a:noFill/>
        </p:spPr>
        <p:txBody>
          <a:bodyPr wrap="square" lIns="0" tIns="0" rIns="0" bIns="0" anchor="t">
            <a:spAutoFit/>
          </a:bodyPr>
          <a:lstStyle/>
          <a:p>
            <a:r>
              <a:rPr sz="3000" b="1" i="0">
                <a:solidFill>
                  <a:srgbClr val="1B2A4A"/>
                </a:solidFill>
                <a:latin typeface="Calibri"/>
              </a:rPr>
              <a:t>CD-CUCB (ND) — detection delay</a:t>
            </a:r>
          </a:p>
        </p:txBody>
      </p:sp>
      <p:sp>
        <p:nvSpPr>
          <p:cNvPr id="6" name="Rectangle 5"/>
          <p:cNvSpPr/>
          <p:nvPr/>
        </p:nvSpPr>
        <p:spPr>
          <a:xfrm>
            <a:off x="658368" y="1481328"/>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srcRect/>
          <a:stretch/>
        </p:blipFill>
        <p:spPr>
          <a:xfrm>
            <a:off x="502921" y="1783080"/>
            <a:ext cx="6035038" cy="4526279"/>
          </a:xfrm>
          <a:prstGeom prst="rect">
            <a:avLst/>
          </a:prstGeom>
          <a:ln w="12700">
            <a:solidFill>
              <a:srgbClr val="D8E1E8"/>
            </a:solidFill>
          </a:ln>
        </p:spPr>
      </p:pic>
      <p:sp>
        <p:nvSpPr>
          <p:cNvPr id="8" name="Rounded Rectangle 7"/>
          <p:cNvSpPr/>
          <p:nvPr/>
        </p:nvSpPr>
        <p:spPr>
          <a:xfrm>
            <a:off x="7086600" y="2148840"/>
            <a:ext cx="4617720" cy="2788920"/>
          </a:xfrm>
          <a:prstGeom prst="roundRect">
            <a:avLst>
              <a:gd name="adj" fmla="val 6000"/>
            </a:avLst>
          </a:prstGeom>
          <a:solidFill>
            <a:srgbClr val="EC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60920" y="2331720"/>
            <a:ext cx="4069080" cy="246221"/>
          </a:xfrm>
          <a:prstGeom prst="rect">
            <a:avLst/>
          </a:prstGeom>
          <a:noFill/>
        </p:spPr>
        <p:txBody>
          <a:bodyPr wrap="square" lIns="0" tIns="0" rIns="0" bIns="0" anchor="t">
            <a:spAutoFit/>
          </a:bodyPr>
          <a:lstStyle/>
          <a:p>
            <a:r>
              <a:rPr sz="1600" b="1" i="0" dirty="0">
                <a:solidFill>
                  <a:srgbClr val="2E86AB"/>
                </a:solidFill>
                <a:latin typeface="Calibri"/>
              </a:rPr>
              <a:t>Mean detection delay</a:t>
            </a:r>
          </a:p>
        </p:txBody>
      </p:sp>
      <p:sp>
        <p:nvSpPr>
          <p:cNvPr id="10" name="TextBox 9"/>
          <p:cNvSpPr txBox="1"/>
          <p:nvPr/>
        </p:nvSpPr>
        <p:spPr>
          <a:xfrm>
            <a:off x="7360920" y="3063240"/>
            <a:ext cx="1828800" cy="502920"/>
          </a:xfrm>
          <a:prstGeom prst="rect">
            <a:avLst/>
          </a:prstGeom>
          <a:noFill/>
        </p:spPr>
        <p:txBody>
          <a:bodyPr wrap="square" lIns="0" tIns="0" rIns="0" bIns="0" anchor="ctr">
            <a:spAutoFit/>
          </a:bodyPr>
          <a:lstStyle/>
          <a:p>
            <a:r>
              <a:rPr sz="1500" b="0" i="0">
                <a:solidFill>
                  <a:srgbClr val="333A42"/>
                </a:solidFill>
                <a:latin typeface="Calibri"/>
              </a:rPr>
              <a:t>SKL = 20</a:t>
            </a:r>
          </a:p>
        </p:txBody>
      </p:sp>
      <p:sp>
        <p:nvSpPr>
          <p:cNvPr id="11" name="TextBox 10"/>
          <p:cNvSpPr txBox="1"/>
          <p:nvPr/>
        </p:nvSpPr>
        <p:spPr>
          <a:xfrm>
            <a:off x="9098280" y="3096691"/>
            <a:ext cx="2331720" cy="436017"/>
          </a:xfrm>
          <a:prstGeom prst="rect">
            <a:avLst/>
          </a:prstGeom>
          <a:noFill/>
        </p:spPr>
        <p:txBody>
          <a:bodyPr wrap="square" lIns="0" tIns="0" rIns="0" bIns="0" anchor="ctr">
            <a:spAutoFit/>
          </a:bodyPr>
          <a:lstStyle/>
          <a:p>
            <a:pPr algn="r"/>
            <a:r>
              <a:rPr sz="1700" b="1" i="0" dirty="0">
                <a:solidFill>
                  <a:srgbClr val="1B2A4A"/>
                </a:solidFill>
                <a:latin typeface="Consolas"/>
              </a:rPr>
              <a:t>19.9</a:t>
            </a:r>
            <a:r>
              <a:rPr sz="1100" b="0" i="0" dirty="0">
                <a:solidFill>
                  <a:srgbClr val="6B7480"/>
                </a:solidFill>
                <a:latin typeface="Consolas"/>
              </a:rPr>
              <a:t> ±2.</a:t>
            </a:r>
            <a:r>
              <a:rPr lang="en-GB" sz="1100" b="0" i="0" dirty="0">
                <a:solidFill>
                  <a:srgbClr val="6B7480"/>
                </a:solidFill>
                <a:latin typeface="Consolas"/>
              </a:rPr>
              <a:t>9</a:t>
            </a:r>
            <a:endParaRPr sz="1100" b="0" i="0" dirty="0">
              <a:solidFill>
                <a:srgbClr val="6B7480"/>
              </a:solidFill>
              <a:latin typeface="Consolas"/>
            </a:endParaRPr>
          </a:p>
          <a:p>
            <a:pPr algn="r">
              <a:spcBef>
                <a:spcPts val="100"/>
              </a:spcBef>
            </a:pPr>
            <a:r>
              <a:rPr sz="1050" b="0" i="0" dirty="0">
                <a:solidFill>
                  <a:srgbClr val="6B7480"/>
                </a:solidFill>
                <a:latin typeface="Calibri"/>
              </a:rPr>
              <a:t>median 21</a:t>
            </a:r>
          </a:p>
        </p:txBody>
      </p:sp>
      <p:sp>
        <p:nvSpPr>
          <p:cNvPr id="12" name="TextBox 11"/>
          <p:cNvSpPr txBox="1"/>
          <p:nvPr/>
        </p:nvSpPr>
        <p:spPr>
          <a:xfrm>
            <a:off x="7360920" y="3538728"/>
            <a:ext cx="1828800" cy="502920"/>
          </a:xfrm>
          <a:prstGeom prst="rect">
            <a:avLst/>
          </a:prstGeom>
          <a:noFill/>
        </p:spPr>
        <p:txBody>
          <a:bodyPr wrap="square" lIns="0" tIns="0" rIns="0" bIns="0" anchor="ctr">
            <a:spAutoFit/>
          </a:bodyPr>
          <a:lstStyle/>
          <a:p>
            <a:r>
              <a:rPr sz="1500" b="0" i="0">
                <a:solidFill>
                  <a:srgbClr val="333A42"/>
                </a:solidFill>
                <a:latin typeface="Calibri"/>
              </a:rPr>
              <a:t>SKL = 200</a:t>
            </a:r>
          </a:p>
        </p:txBody>
      </p:sp>
      <p:sp>
        <p:nvSpPr>
          <p:cNvPr id="13" name="TextBox 12"/>
          <p:cNvSpPr txBox="1"/>
          <p:nvPr/>
        </p:nvSpPr>
        <p:spPr>
          <a:xfrm>
            <a:off x="9098280" y="3572179"/>
            <a:ext cx="2331720" cy="436017"/>
          </a:xfrm>
          <a:prstGeom prst="rect">
            <a:avLst/>
          </a:prstGeom>
          <a:noFill/>
        </p:spPr>
        <p:txBody>
          <a:bodyPr wrap="square" lIns="0" tIns="0" rIns="0" bIns="0" anchor="ctr">
            <a:spAutoFit/>
          </a:bodyPr>
          <a:lstStyle/>
          <a:p>
            <a:pPr algn="r"/>
            <a:r>
              <a:rPr sz="1700" b="1" i="0" dirty="0">
                <a:solidFill>
                  <a:srgbClr val="1B2A4A"/>
                </a:solidFill>
                <a:latin typeface="Consolas"/>
              </a:rPr>
              <a:t>4.6</a:t>
            </a:r>
            <a:r>
              <a:rPr sz="1100" b="0" i="0" dirty="0">
                <a:solidFill>
                  <a:srgbClr val="6B7480"/>
                </a:solidFill>
                <a:latin typeface="Consolas"/>
              </a:rPr>
              <a:t> ±2.0</a:t>
            </a:r>
          </a:p>
          <a:p>
            <a:pPr algn="r">
              <a:spcBef>
                <a:spcPts val="100"/>
              </a:spcBef>
            </a:pPr>
            <a:r>
              <a:rPr sz="1050" b="0" i="0" dirty="0">
                <a:solidFill>
                  <a:srgbClr val="6B7480"/>
                </a:solidFill>
                <a:latin typeface="Calibri"/>
              </a:rPr>
              <a:t>median </a:t>
            </a:r>
            <a:r>
              <a:rPr lang="en-GB" sz="1050" b="0" i="0" dirty="0">
                <a:solidFill>
                  <a:srgbClr val="6B7480"/>
                </a:solidFill>
                <a:latin typeface="Calibri"/>
              </a:rPr>
              <a:t>5</a:t>
            </a:r>
            <a:endParaRPr sz="1050" b="0" i="0" dirty="0">
              <a:solidFill>
                <a:srgbClr val="6B7480"/>
              </a:solidFill>
              <a:latin typeface="Calibri"/>
            </a:endParaRPr>
          </a:p>
        </p:txBody>
      </p:sp>
      <p:sp>
        <p:nvSpPr>
          <p:cNvPr id="14" name="TextBox 13"/>
          <p:cNvSpPr txBox="1"/>
          <p:nvPr/>
        </p:nvSpPr>
        <p:spPr>
          <a:xfrm>
            <a:off x="7360920" y="4150259"/>
            <a:ext cx="1828800" cy="230832"/>
          </a:xfrm>
          <a:prstGeom prst="rect">
            <a:avLst/>
          </a:prstGeom>
          <a:noFill/>
        </p:spPr>
        <p:txBody>
          <a:bodyPr wrap="square" lIns="0" tIns="0" rIns="0" bIns="0" anchor="ctr">
            <a:spAutoFit/>
          </a:bodyPr>
          <a:lstStyle/>
          <a:p>
            <a:r>
              <a:rPr sz="1500" b="0" i="0" dirty="0">
                <a:solidFill>
                  <a:srgbClr val="333A42"/>
                </a:solidFill>
                <a:latin typeface="Calibri"/>
              </a:rPr>
              <a:t>SKL = </a:t>
            </a:r>
            <a:r>
              <a:rPr lang="en-GB" sz="1500" b="0" i="0" dirty="0">
                <a:solidFill>
                  <a:srgbClr val="333A42"/>
                </a:solidFill>
                <a:latin typeface="Calibri"/>
              </a:rPr>
              <a:t>500</a:t>
            </a:r>
            <a:endParaRPr sz="1500" b="0" i="0" dirty="0">
              <a:solidFill>
                <a:srgbClr val="333A42"/>
              </a:solidFill>
              <a:latin typeface="Calibri"/>
            </a:endParaRPr>
          </a:p>
        </p:txBody>
      </p:sp>
      <p:sp>
        <p:nvSpPr>
          <p:cNvPr id="15" name="TextBox 14"/>
          <p:cNvSpPr txBox="1"/>
          <p:nvPr/>
        </p:nvSpPr>
        <p:spPr>
          <a:xfrm>
            <a:off x="9098280" y="4047666"/>
            <a:ext cx="2331720" cy="436017"/>
          </a:xfrm>
          <a:prstGeom prst="rect">
            <a:avLst/>
          </a:prstGeom>
          <a:noFill/>
        </p:spPr>
        <p:txBody>
          <a:bodyPr wrap="square" lIns="0" tIns="0" rIns="0" bIns="0" anchor="ctr">
            <a:spAutoFit/>
          </a:bodyPr>
          <a:lstStyle/>
          <a:p>
            <a:pPr algn="r"/>
            <a:r>
              <a:rPr lang="en-GB" sz="1700" b="1" i="0" dirty="0">
                <a:solidFill>
                  <a:srgbClr val="1B2A4A"/>
                </a:solidFill>
                <a:latin typeface="Consolas"/>
              </a:rPr>
              <a:t>1.8</a:t>
            </a:r>
            <a:r>
              <a:rPr sz="1100" b="0" i="0" dirty="0">
                <a:solidFill>
                  <a:srgbClr val="6B7480"/>
                </a:solidFill>
                <a:latin typeface="Consolas"/>
              </a:rPr>
              <a:t> ±1.</a:t>
            </a:r>
            <a:r>
              <a:rPr lang="en-GB" sz="1100" b="0" i="0" dirty="0">
                <a:solidFill>
                  <a:srgbClr val="6B7480"/>
                </a:solidFill>
                <a:latin typeface="Consolas"/>
              </a:rPr>
              <a:t>3</a:t>
            </a:r>
            <a:endParaRPr sz="1100" b="0" i="0" dirty="0">
              <a:solidFill>
                <a:srgbClr val="6B7480"/>
              </a:solidFill>
              <a:latin typeface="Consolas"/>
            </a:endParaRPr>
          </a:p>
          <a:p>
            <a:pPr algn="r">
              <a:spcBef>
                <a:spcPts val="100"/>
              </a:spcBef>
            </a:pPr>
            <a:r>
              <a:rPr sz="1050" b="0" i="0" dirty="0">
                <a:solidFill>
                  <a:srgbClr val="6B7480"/>
                </a:solidFill>
                <a:latin typeface="Calibri"/>
              </a:rPr>
              <a:t>median </a:t>
            </a:r>
            <a:r>
              <a:rPr lang="en-GB" sz="1050" b="0" i="0" dirty="0">
                <a:solidFill>
                  <a:srgbClr val="6B7480"/>
                </a:solidFill>
                <a:latin typeface="Calibri"/>
              </a:rPr>
              <a:t>2</a:t>
            </a:r>
            <a:endParaRPr sz="1050" b="0" i="0" dirty="0">
              <a:solidFill>
                <a:srgbClr val="6B7480"/>
              </a:solidFill>
              <a:latin typeface="Calibri"/>
            </a:endParaRPr>
          </a:p>
        </p:txBody>
      </p:sp>
      <p:sp>
        <p:nvSpPr>
          <p:cNvPr id="16" name="TextBox 15"/>
          <p:cNvSpPr txBox="1"/>
          <p:nvPr/>
        </p:nvSpPr>
        <p:spPr>
          <a:xfrm>
            <a:off x="7360920" y="4553712"/>
            <a:ext cx="4069080" cy="365760"/>
          </a:xfrm>
          <a:prstGeom prst="rect">
            <a:avLst/>
          </a:prstGeom>
          <a:noFill/>
        </p:spPr>
        <p:txBody>
          <a:bodyPr wrap="square" lIns="0" tIns="0" rIns="0" bIns="0" anchor="t">
            <a:spAutoFit/>
          </a:bodyPr>
          <a:lstStyle/>
          <a:p>
            <a:r>
              <a:rPr sz="1250" b="0" i="1">
                <a:solidFill>
                  <a:srgbClr val="6B7480"/>
                </a:solidFill>
                <a:latin typeface="Calibri"/>
              </a:rPr>
              <a:t>All change points detected — 100%.</a:t>
            </a:r>
          </a:p>
        </p:txBody>
      </p:sp>
      <p:sp>
        <p:nvSpPr>
          <p:cNvPr id="17" name="TextBox 16"/>
          <p:cNvSpPr txBox="1"/>
          <p:nvPr/>
        </p:nvSpPr>
        <p:spPr>
          <a:xfrm>
            <a:off x="658368" y="6446520"/>
            <a:ext cx="10881360" cy="292608"/>
          </a:xfrm>
          <a:prstGeom prst="rect">
            <a:avLst/>
          </a:prstGeom>
          <a:noFill/>
        </p:spPr>
        <p:txBody>
          <a:bodyPr wrap="square" lIns="0" tIns="0" rIns="0" bIns="0" anchor="t">
            <a:spAutoFit/>
          </a:bodyPr>
          <a:lstStyle/>
          <a:p>
            <a:r>
              <a:rPr sz="1000" b="0" i="1">
                <a:solidFill>
                  <a:srgbClr val="6B7480"/>
                </a:solidFill>
                <a:latin typeface="Consolas"/>
              </a:rPr>
              <a:t>CD-CUCB (CUSUM)  ·  req4_cd_detection_delay.png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ED432-0BDC-9385-D9C0-F1F053FAC5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EAC8D4D-67AC-4A60-F43D-02AF4F77799E}"/>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1F6A8BC-A79F-C1D3-3A1B-2F78B12A3A46}"/>
              </a:ext>
            </a:extLst>
          </p:cNvPr>
          <p:cNvSpPr txBox="1"/>
          <p:nvPr/>
        </p:nvSpPr>
        <p:spPr>
          <a:xfrm>
            <a:off x="640080" y="411480"/>
            <a:ext cx="10881360" cy="200055"/>
          </a:xfrm>
          <a:prstGeom prst="rect">
            <a:avLst/>
          </a:prstGeom>
          <a:noFill/>
        </p:spPr>
        <p:txBody>
          <a:bodyPr wrap="square" lIns="0" tIns="0" rIns="0" bIns="0" anchor="t">
            <a:spAutoFit/>
          </a:bodyPr>
          <a:lstStyle/>
          <a:p>
            <a:r>
              <a:rPr sz="1300" b="1" i="0" dirty="0">
                <a:solidFill>
                  <a:srgbClr val="2E86AB"/>
                </a:solidFill>
                <a:latin typeface="Calibri"/>
              </a:rPr>
              <a:t>REQUIREMENT 4  ·</a:t>
            </a:r>
            <a:r>
              <a:rPr lang="en-GB" sz="1300" b="1" i="0" dirty="0">
                <a:solidFill>
                  <a:srgbClr val="2E86AB"/>
                </a:solidFill>
                <a:latin typeface="Calibri"/>
              </a:rPr>
              <a:t>COMPARISON</a:t>
            </a:r>
            <a:endParaRPr sz="1300" b="1" i="0" dirty="0">
              <a:solidFill>
                <a:srgbClr val="2E86AB"/>
              </a:solidFill>
              <a:latin typeface="Calibri"/>
            </a:endParaRPr>
          </a:p>
        </p:txBody>
      </p:sp>
      <p:sp>
        <p:nvSpPr>
          <p:cNvPr id="5" name="TextBox 4">
            <a:extLst>
              <a:ext uri="{FF2B5EF4-FFF2-40B4-BE49-F238E27FC236}">
                <a16:creationId xmlns:a16="http://schemas.microsoft.com/office/drawing/2014/main" id="{F7E98EBD-BD0B-19B3-E5A6-2FD71B19A18C}"/>
              </a:ext>
            </a:extLst>
          </p:cNvPr>
          <p:cNvSpPr txBox="1"/>
          <p:nvPr/>
        </p:nvSpPr>
        <p:spPr>
          <a:xfrm>
            <a:off x="640080" y="713232"/>
            <a:ext cx="10972800" cy="461665"/>
          </a:xfrm>
          <a:prstGeom prst="rect">
            <a:avLst/>
          </a:prstGeom>
          <a:noFill/>
        </p:spPr>
        <p:txBody>
          <a:bodyPr wrap="square" lIns="0" tIns="0" rIns="0" bIns="0" anchor="t">
            <a:spAutoFit/>
          </a:bodyPr>
          <a:lstStyle/>
          <a:p>
            <a:r>
              <a:rPr lang="en-GB" sz="3000" b="1" i="0" dirty="0">
                <a:solidFill>
                  <a:srgbClr val="1B2A4A"/>
                </a:solidFill>
                <a:latin typeface="Calibri"/>
              </a:rPr>
              <a:t>LOW FREQUENCY MEDIUM SKL</a:t>
            </a:r>
            <a:r>
              <a:rPr sz="3000" b="1" i="0" dirty="0">
                <a:solidFill>
                  <a:srgbClr val="1B2A4A"/>
                </a:solidFill>
                <a:latin typeface="Calibri"/>
              </a:rPr>
              <a:t> — </a:t>
            </a:r>
            <a:r>
              <a:rPr lang="en-GB" sz="3000" b="1" i="0" dirty="0">
                <a:solidFill>
                  <a:srgbClr val="1B2A4A"/>
                </a:solidFill>
                <a:latin typeface="Calibri"/>
              </a:rPr>
              <a:t>CUMULATIVE REGRET</a:t>
            </a:r>
            <a:endParaRPr sz="3000" b="1" i="0" dirty="0">
              <a:solidFill>
                <a:srgbClr val="1B2A4A"/>
              </a:solidFill>
              <a:latin typeface="Calibri"/>
            </a:endParaRPr>
          </a:p>
        </p:txBody>
      </p:sp>
      <p:sp>
        <p:nvSpPr>
          <p:cNvPr id="6" name="Rectangle 5">
            <a:extLst>
              <a:ext uri="{FF2B5EF4-FFF2-40B4-BE49-F238E27FC236}">
                <a16:creationId xmlns:a16="http://schemas.microsoft.com/office/drawing/2014/main" id="{C4CB9C5E-37F1-3224-BBD8-11C2EAEB250D}"/>
              </a:ext>
            </a:extLst>
          </p:cNvPr>
          <p:cNvSpPr/>
          <p:nvPr/>
        </p:nvSpPr>
        <p:spPr>
          <a:xfrm>
            <a:off x="658368" y="1278501"/>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4108D47-C9F6-30E1-30F0-1955230AAEE8}"/>
              </a:ext>
            </a:extLst>
          </p:cNvPr>
          <p:cNvSpPr txBox="1"/>
          <p:nvPr/>
        </p:nvSpPr>
        <p:spPr>
          <a:xfrm>
            <a:off x="658368" y="6446520"/>
            <a:ext cx="10881360" cy="153888"/>
          </a:xfrm>
          <a:prstGeom prst="rect">
            <a:avLst/>
          </a:prstGeom>
          <a:noFill/>
        </p:spPr>
        <p:txBody>
          <a:bodyPr wrap="square" lIns="0" tIns="0" rIns="0" bIns="0" anchor="t">
            <a:spAutoFit/>
          </a:bodyPr>
          <a:lstStyle/>
          <a:p>
            <a:r>
              <a:rPr lang="en-GB" sz="1000" b="0" i="1" dirty="0">
                <a:solidFill>
                  <a:srgbClr val="6B7480"/>
                </a:solidFill>
                <a:latin typeface="Consolas"/>
              </a:rPr>
              <a:t>Comparison</a:t>
            </a:r>
            <a:endParaRPr sz="1000" b="0" i="1" dirty="0">
              <a:solidFill>
                <a:srgbClr val="6B7480"/>
              </a:solidFill>
              <a:latin typeface="Consolas"/>
            </a:endParaRPr>
          </a:p>
        </p:txBody>
      </p:sp>
      <p:pic>
        <p:nvPicPr>
          <p:cNvPr id="23" name="Picture 22">
            <a:extLst>
              <a:ext uri="{FF2B5EF4-FFF2-40B4-BE49-F238E27FC236}">
                <a16:creationId xmlns:a16="http://schemas.microsoft.com/office/drawing/2014/main" id="{EC4E8DC7-8AE7-3059-9503-A437B1F2DE0F}"/>
              </a:ext>
            </a:extLst>
          </p:cNvPr>
          <p:cNvPicPr>
            <a:picLocks noChangeAspect="1"/>
          </p:cNvPicPr>
          <p:nvPr/>
        </p:nvPicPr>
        <p:blipFill>
          <a:blip r:embed="rId2"/>
          <a:stretch>
            <a:fillRect/>
          </a:stretch>
        </p:blipFill>
        <p:spPr>
          <a:xfrm>
            <a:off x="2027922" y="1370470"/>
            <a:ext cx="8136156" cy="5114155"/>
          </a:xfrm>
          <a:prstGeom prst="rect">
            <a:avLst/>
          </a:prstGeom>
        </p:spPr>
      </p:pic>
    </p:spTree>
    <p:extLst>
      <p:ext uri="{BB962C8B-B14F-4D97-AF65-F5344CB8AC3E}">
        <p14:creationId xmlns:p14="http://schemas.microsoft.com/office/powerpoint/2010/main" val="1911055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F003D-D8AD-78A4-D87C-78C97C09E78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DC00A26-E1ED-DD03-71A2-954A4F192F42}"/>
              </a:ext>
            </a:extLst>
          </p:cNvPr>
          <p:cNvSpPr/>
          <p:nvPr/>
        </p:nvSpPr>
        <p:spPr>
          <a:xfrm>
            <a:off x="0" y="0"/>
            <a:ext cx="164592" cy="68580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C8CE691-603B-0680-299D-AB50E8535028}"/>
              </a:ext>
            </a:extLst>
          </p:cNvPr>
          <p:cNvSpPr txBox="1"/>
          <p:nvPr/>
        </p:nvSpPr>
        <p:spPr>
          <a:xfrm>
            <a:off x="640080" y="411480"/>
            <a:ext cx="10881360" cy="200055"/>
          </a:xfrm>
          <a:prstGeom prst="rect">
            <a:avLst/>
          </a:prstGeom>
          <a:noFill/>
        </p:spPr>
        <p:txBody>
          <a:bodyPr wrap="square" lIns="0" tIns="0" rIns="0" bIns="0" anchor="t">
            <a:spAutoFit/>
          </a:bodyPr>
          <a:lstStyle/>
          <a:p>
            <a:r>
              <a:rPr sz="1300" b="1" i="0" dirty="0">
                <a:solidFill>
                  <a:srgbClr val="2E86AB"/>
                </a:solidFill>
                <a:latin typeface="Calibri"/>
              </a:rPr>
              <a:t>REQUIREMENT 4  ·</a:t>
            </a:r>
            <a:r>
              <a:rPr lang="en-GB" sz="1300" b="1" i="0" dirty="0">
                <a:solidFill>
                  <a:srgbClr val="2E86AB"/>
                </a:solidFill>
                <a:latin typeface="Calibri"/>
              </a:rPr>
              <a:t>COMPARISON</a:t>
            </a:r>
            <a:endParaRPr sz="1300" b="1" i="0" dirty="0">
              <a:solidFill>
                <a:srgbClr val="2E86AB"/>
              </a:solidFill>
              <a:latin typeface="Calibri"/>
            </a:endParaRPr>
          </a:p>
        </p:txBody>
      </p:sp>
      <p:sp>
        <p:nvSpPr>
          <p:cNvPr id="5" name="TextBox 4">
            <a:extLst>
              <a:ext uri="{FF2B5EF4-FFF2-40B4-BE49-F238E27FC236}">
                <a16:creationId xmlns:a16="http://schemas.microsoft.com/office/drawing/2014/main" id="{E36139D5-9463-21C8-5CC4-5F15D2A4244B}"/>
              </a:ext>
            </a:extLst>
          </p:cNvPr>
          <p:cNvSpPr txBox="1"/>
          <p:nvPr/>
        </p:nvSpPr>
        <p:spPr>
          <a:xfrm>
            <a:off x="640080" y="713232"/>
            <a:ext cx="10972800" cy="461665"/>
          </a:xfrm>
          <a:prstGeom prst="rect">
            <a:avLst/>
          </a:prstGeom>
          <a:noFill/>
        </p:spPr>
        <p:txBody>
          <a:bodyPr wrap="square" lIns="0" tIns="0" rIns="0" bIns="0" anchor="t">
            <a:spAutoFit/>
          </a:bodyPr>
          <a:lstStyle/>
          <a:p>
            <a:r>
              <a:rPr lang="en-GB" sz="3000" b="1" i="0" dirty="0">
                <a:solidFill>
                  <a:srgbClr val="1B2A4A"/>
                </a:solidFill>
                <a:latin typeface="Calibri"/>
              </a:rPr>
              <a:t>HIGH FREQUENCY MEDIUM SKL — CUMULATIVE REGRET</a:t>
            </a:r>
            <a:endParaRPr sz="3000" b="1" i="0" dirty="0">
              <a:solidFill>
                <a:srgbClr val="1B2A4A"/>
              </a:solidFill>
              <a:latin typeface="Calibri"/>
            </a:endParaRPr>
          </a:p>
        </p:txBody>
      </p:sp>
      <p:sp>
        <p:nvSpPr>
          <p:cNvPr id="6" name="Rectangle 5">
            <a:extLst>
              <a:ext uri="{FF2B5EF4-FFF2-40B4-BE49-F238E27FC236}">
                <a16:creationId xmlns:a16="http://schemas.microsoft.com/office/drawing/2014/main" id="{381B53B7-108F-CE82-A381-897B40E6A5B2}"/>
              </a:ext>
            </a:extLst>
          </p:cNvPr>
          <p:cNvSpPr/>
          <p:nvPr/>
        </p:nvSpPr>
        <p:spPr>
          <a:xfrm>
            <a:off x="658368" y="1278501"/>
            <a:ext cx="2926080"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32FE7DF0-12A9-7EF5-8444-4781F39C3862}"/>
              </a:ext>
            </a:extLst>
          </p:cNvPr>
          <p:cNvSpPr txBox="1"/>
          <p:nvPr/>
        </p:nvSpPr>
        <p:spPr>
          <a:xfrm>
            <a:off x="658368" y="6446520"/>
            <a:ext cx="10881360" cy="153888"/>
          </a:xfrm>
          <a:prstGeom prst="rect">
            <a:avLst/>
          </a:prstGeom>
          <a:noFill/>
        </p:spPr>
        <p:txBody>
          <a:bodyPr wrap="square" lIns="0" tIns="0" rIns="0" bIns="0" anchor="t">
            <a:spAutoFit/>
          </a:bodyPr>
          <a:lstStyle/>
          <a:p>
            <a:r>
              <a:rPr lang="en-GB" sz="1000" b="0" i="1" dirty="0">
                <a:solidFill>
                  <a:srgbClr val="6B7480"/>
                </a:solidFill>
                <a:latin typeface="Consolas"/>
              </a:rPr>
              <a:t>Comparison</a:t>
            </a:r>
            <a:endParaRPr sz="1000" b="0" i="1" dirty="0">
              <a:solidFill>
                <a:srgbClr val="6B7480"/>
              </a:solidFill>
              <a:latin typeface="Consolas"/>
            </a:endParaRPr>
          </a:p>
        </p:txBody>
      </p:sp>
      <p:pic>
        <p:nvPicPr>
          <p:cNvPr id="23" name="Picture 22">
            <a:extLst>
              <a:ext uri="{FF2B5EF4-FFF2-40B4-BE49-F238E27FC236}">
                <a16:creationId xmlns:a16="http://schemas.microsoft.com/office/drawing/2014/main" id="{E38B4EBF-4A97-C343-C173-952F2A36AE72}"/>
              </a:ext>
            </a:extLst>
          </p:cNvPr>
          <p:cNvPicPr>
            <a:picLocks noChangeAspect="1"/>
          </p:cNvPicPr>
          <p:nvPr/>
        </p:nvPicPr>
        <p:blipFill>
          <a:blip r:embed="rId2"/>
          <a:srcRect/>
          <a:stretch/>
        </p:blipFill>
        <p:spPr>
          <a:xfrm>
            <a:off x="2027922" y="1370470"/>
            <a:ext cx="8136155" cy="5114155"/>
          </a:xfrm>
          <a:prstGeom prst="rect">
            <a:avLst/>
          </a:prstGeom>
        </p:spPr>
      </p:pic>
    </p:spTree>
    <p:extLst>
      <p:ext uri="{BB962C8B-B14F-4D97-AF65-F5344CB8AC3E}">
        <p14:creationId xmlns:p14="http://schemas.microsoft.com/office/powerpoint/2010/main" val="774998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TotalTime>
  <Words>3512</Words>
  <Application>Microsoft Office PowerPoint</Application>
  <PresentationFormat>Widescreen</PresentationFormat>
  <Paragraphs>490</Paragraphs>
  <Slides>50</Slides>
  <Notes>1</Notes>
  <HiddenSlides>36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Alessandro Sartori</cp:lastModifiedBy>
  <cp:revision>7</cp:revision>
  <dcterms:created xsi:type="dcterms:W3CDTF">2026-07-09T12:29:41Z</dcterms:created>
  <dcterms:modified xsi:type="dcterms:W3CDTF">2026-07-09T12:29:41Z</dcterms:modified>
  <cp:category/>
</cp:coreProperties>
</file>