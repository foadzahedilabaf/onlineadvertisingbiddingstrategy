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omments/modernComment_237_B1961D87.xml" ContentType="application/vnd.ms-powerpoint.comments+xml"/>
  <Override PartName="/ppt/comments/modernComment_25A_FDDDF1B9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599" r:id="rId2"/>
    <p:sldId id="598" r:id="rId3"/>
    <p:sldId id="586" r:id="rId4"/>
    <p:sldId id="601" r:id="rId5"/>
    <p:sldId id="574" r:id="rId6"/>
    <p:sldId id="256" r:id="rId7"/>
    <p:sldId id="576" r:id="rId8"/>
    <p:sldId id="569" r:id="rId9"/>
    <p:sldId id="570" r:id="rId10"/>
    <p:sldId id="571" r:id="rId11"/>
    <p:sldId id="572" r:id="rId12"/>
    <p:sldId id="573" r:id="rId13"/>
    <p:sldId id="765" r:id="rId14"/>
    <p:sldId id="260" r:id="rId15"/>
    <p:sldId id="687" r:id="rId16"/>
    <p:sldId id="568" r:id="rId17"/>
    <p:sldId id="567" r:id="rId18"/>
    <p:sldId id="694" r:id="rId19"/>
    <p:sldId id="580" r:id="rId20"/>
    <p:sldId id="579" r:id="rId21"/>
    <p:sldId id="538" r:id="rId22"/>
    <p:sldId id="565" r:id="rId23"/>
    <p:sldId id="753" r:id="rId24"/>
    <p:sldId id="697" r:id="rId25"/>
    <p:sldId id="698" r:id="rId26"/>
    <p:sldId id="699" r:id="rId27"/>
    <p:sldId id="702" r:id="rId28"/>
    <p:sldId id="703" r:id="rId29"/>
    <p:sldId id="602" r:id="rId30"/>
    <p:sldId id="764" r:id="rId31"/>
    <p:sldId id="257" r:id="rId32"/>
    <p:sldId id="591" r:id="rId33"/>
    <p:sldId id="750" r:id="rId34"/>
    <p:sldId id="274" r:id="rId35"/>
    <p:sldId id="266" r:id="rId36"/>
    <p:sldId id="752" r:id="rId37"/>
    <p:sldId id="743" r:id="rId38"/>
    <p:sldId id="683" r:id="rId39"/>
    <p:sldId id="741" r:id="rId40"/>
    <p:sldId id="742" r:id="rId41"/>
    <p:sldId id="728" r:id="rId42"/>
    <p:sldId id="729" r:id="rId43"/>
    <p:sldId id="524" r:id="rId44"/>
    <p:sldId id="606" r:id="rId45"/>
    <p:sldId id="669" r:id="rId46"/>
    <p:sldId id="737" r:id="rId47"/>
    <p:sldId id="754" r:id="rId48"/>
    <p:sldId id="755" r:id="rId49"/>
    <p:sldId id="756" r:id="rId50"/>
    <p:sldId id="757" r:id="rId51"/>
    <p:sldId id="758" r:id="rId52"/>
    <p:sldId id="759" r:id="rId53"/>
    <p:sldId id="760" r:id="rId54"/>
    <p:sldId id="761" r:id="rId55"/>
    <p:sldId id="762" r:id="rId56"/>
    <p:sldId id="577" r:id="rId57"/>
    <p:sldId id="555" r:id="rId58"/>
    <p:sldId id="259" r:id="rId59"/>
    <p:sldId id="533" r:id="rId60"/>
    <p:sldId id="534" r:id="rId61"/>
    <p:sldId id="540" r:id="rId62"/>
    <p:sldId id="541" r:id="rId63"/>
    <p:sldId id="542" r:id="rId64"/>
    <p:sldId id="543" r:id="rId65"/>
    <p:sldId id="544" r:id="rId66"/>
    <p:sldId id="545" r:id="rId67"/>
    <p:sldId id="528" r:id="rId68"/>
    <p:sldId id="529" r:id="rId69"/>
    <p:sldId id="766" r:id="rId70"/>
    <p:sldId id="744" r:id="rId71"/>
    <p:sldId id="554" r:id="rId72"/>
    <p:sldId id="557" r:id="rId73"/>
    <p:sldId id="558" r:id="rId74"/>
    <p:sldId id="556" r:id="rId75"/>
    <p:sldId id="745" r:id="rId76"/>
    <p:sldId id="746" r:id="rId77"/>
    <p:sldId id="666" r:id="rId78"/>
    <p:sldId id="667" r:id="rId79"/>
    <p:sldId id="726" r:id="rId80"/>
    <p:sldId id="642" r:id="rId81"/>
    <p:sldId id="607" r:id="rId82"/>
    <p:sldId id="747" r:id="rId83"/>
    <p:sldId id="681" r:id="rId84"/>
    <p:sldId id="679" r:id="rId85"/>
    <p:sldId id="749" r:id="rId86"/>
    <p:sldId id="722" r:id="rId87"/>
    <p:sldId id="721" r:id="rId88"/>
    <p:sldId id="725" r:id="rId89"/>
    <p:sldId id="724" r:id="rId90"/>
    <p:sldId id="723" r:id="rId91"/>
    <p:sldId id="664" r:id="rId92"/>
    <p:sldId id="763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320A5B-3949-AE44-1BB8-C2089BA2EC64}" name="Andrea Ferraris" initials="AF" userId="S::10580132@polimi.it::45972460-81b8-4544-9421-0d889965ebe7" providerId="AD"/>
  <p188:author id="{3183CED3-EF3F-D863-C5EC-77490079893E}" name="Simone Mauro" initials="SM" userId="7288c1146a64123d" providerId="Windows Live"/>
  <p188:author id="{71C6AFD9-62BD-8B0A-2A62-89E107C76DE9}" name="Simone Mauro" initials="SM" userId="S::10767574@polimi.it::12f8f890-be46-467a-a1bb-941f5f0f4e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DB6D2-CE70-F5FA-EC53-365F8B15BCF2}" v="152" dt="2026-07-10T15:35:26.301"/>
    <p1510:client id="{8538BF29-D34C-44D7-823C-4397F7EAAF42}" v="1" dt="2026-07-09T17:50:52.622"/>
    <p1510:client id="{872DDDC1-DB75-50C5-EC4A-46BED2637212}" v="2" dt="2026-07-10T11:53:49.936"/>
    <p1510:client id="{98A9BC92-B94B-A8F0-7811-15C30E16FC3F}" v="6" dt="2026-07-09T17:35:32.844"/>
    <p1510:client id="{F71DB314-68F2-954F-BCE3-3C046F9B4DE5}" v="1" dt="2026-07-09T11:14:00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microsoft.com/office/2016/11/relationships/changesInfo" Target="changesInfos/changesInfo1.xml"/><Relationship Id="rId10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Mauro" userId="7288c1146a64123d" providerId="LiveId" clId="{D69BBF6E-8B38-4DA7-9014-4F911DB6F044}"/>
    <pc:docChg chg="undo custSel delSld modSld">
      <pc:chgData name="Simone Mauro" userId="7288c1146a64123d" providerId="LiveId" clId="{D69BBF6E-8B38-4DA7-9014-4F911DB6F044}" dt="2026-07-09T17:50:52.622" v="2" actId="47"/>
      <pc:docMkLst>
        <pc:docMk/>
      </pc:docMkLst>
      <pc:sldChg chg="modSp mod">
        <pc:chgData name="Simone Mauro" userId="7288c1146a64123d" providerId="LiveId" clId="{D69BBF6E-8B38-4DA7-9014-4F911DB6F044}" dt="2026-07-09T17:36:09.817" v="1" actId="1076"/>
        <pc:sldMkLst>
          <pc:docMk/>
          <pc:sldMk cId="2979405191" sldId="567"/>
        </pc:sldMkLst>
        <pc:spChg chg="mod">
          <ac:chgData name="Simone Mauro" userId="7288c1146a64123d" providerId="LiveId" clId="{D69BBF6E-8B38-4DA7-9014-4F911DB6F044}" dt="2026-07-09T17:36:09.817" v="1" actId="1076"/>
          <ac:spMkLst>
            <pc:docMk/>
            <pc:sldMk cId="2979405191" sldId="567"/>
            <ac:spMk id="2" creationId="{0FE604A0-D723-4232-E6DA-E6B146EBBF63}"/>
          </ac:spMkLst>
        </pc:spChg>
      </pc:sldChg>
      <pc:sldChg chg="del">
        <pc:chgData name="Simone Mauro" userId="7288c1146a64123d" providerId="LiveId" clId="{D69BBF6E-8B38-4DA7-9014-4F911DB6F044}" dt="2026-07-09T17:50:52.622" v="2" actId="47"/>
        <pc:sldMkLst>
          <pc:docMk/>
          <pc:sldMk cId="0" sldId="590"/>
        </pc:sldMkLst>
      </pc:sldChg>
    </pc:docChg>
  </pc:docChgLst>
  <pc:docChgLst>
    <pc:chgData name="Simone Mauro" userId="7288c1146a64123d" providerId="Windows Live" clId="Web-{F71DB314-68F2-954F-BCE3-3C046F9B4DE5}"/>
    <pc:docChg chg="modSld">
      <pc:chgData name="Simone Mauro" userId="7288c1146a64123d" providerId="Windows Live" clId="Web-{F71DB314-68F2-954F-BCE3-3C046F9B4DE5}" dt="2026-07-09T11:14:00.589" v="0"/>
      <pc:docMkLst>
        <pc:docMk/>
      </pc:docMkLst>
      <pc:sldChg chg="mod modShow">
        <pc:chgData name="Simone Mauro" userId="7288c1146a64123d" providerId="Windows Live" clId="Web-{F71DB314-68F2-954F-BCE3-3C046F9B4DE5}" dt="2026-07-09T11:14:00.589" v="0"/>
        <pc:sldMkLst>
          <pc:docMk/>
          <pc:sldMk cId="323973469" sldId="576"/>
        </pc:sldMkLst>
      </pc:sldChg>
    </pc:docChg>
  </pc:docChgLst>
  <pc:docChgLst>
    <pc:chgData name="Simone Mauro" userId="7288c1146a64123d" providerId="Windows Live" clId="Web-{872DDDC1-DB75-50C5-EC4A-46BED2637212}"/>
    <pc:docChg chg="addSld delSld">
      <pc:chgData name="Simone Mauro" userId="7288c1146a64123d" providerId="Windows Live" clId="Web-{872DDDC1-DB75-50C5-EC4A-46BED2637212}" dt="2026-07-10T11:53:49.920" v="1"/>
      <pc:docMkLst>
        <pc:docMk/>
      </pc:docMkLst>
      <pc:sldChg chg="add del">
        <pc:chgData name="Simone Mauro" userId="7288c1146a64123d" providerId="Windows Live" clId="Web-{872DDDC1-DB75-50C5-EC4A-46BED2637212}" dt="2026-07-10T11:53:49.920" v="1"/>
        <pc:sldMkLst>
          <pc:docMk/>
          <pc:sldMk cId="4289513115" sldId="599"/>
        </pc:sldMkLst>
      </pc:sldChg>
    </pc:docChg>
  </pc:docChgLst>
  <pc:docChgLst>
    <pc:chgData name="Simone Mauro" userId="7288c1146a64123d" providerId="Windows Live" clId="Web-{98A9BC92-B94B-A8F0-7811-15C30E16FC3F}"/>
    <pc:docChg chg="modSld">
      <pc:chgData name="Simone Mauro" userId="7288c1146a64123d" providerId="Windows Live" clId="Web-{98A9BC92-B94B-A8F0-7811-15C30E16FC3F}" dt="2026-07-09T17:35:32.844" v="5"/>
      <pc:docMkLst>
        <pc:docMk/>
      </pc:docMkLst>
      <pc:sldChg chg="addSp delSp">
        <pc:chgData name="Simone Mauro" userId="7288c1146a64123d" providerId="Windows Live" clId="Web-{98A9BC92-B94B-A8F0-7811-15C30E16FC3F}" dt="2026-07-09T17:35:32.844" v="5"/>
        <pc:sldMkLst>
          <pc:docMk/>
          <pc:sldMk cId="2979405191" sldId="567"/>
        </pc:sldMkLst>
        <pc:spChg chg="add del">
          <ac:chgData name="Simone Mauro" userId="7288c1146a64123d" providerId="Windows Live" clId="Web-{98A9BC92-B94B-A8F0-7811-15C30E16FC3F}" dt="2026-07-09T17:35:32.844" v="4"/>
          <ac:spMkLst>
            <pc:docMk/>
            <pc:sldMk cId="2979405191" sldId="567"/>
            <ac:spMk id="5" creationId="{D3AC9DA0-8555-3936-9D5E-E93E9A1E22AB}"/>
          </ac:spMkLst>
        </pc:spChg>
        <pc:spChg chg="add del">
          <ac:chgData name="Simone Mauro" userId="7288c1146a64123d" providerId="Windows Live" clId="Web-{98A9BC92-B94B-A8F0-7811-15C30E16FC3F}" dt="2026-07-09T17:35:32.844" v="3"/>
          <ac:spMkLst>
            <pc:docMk/>
            <pc:sldMk cId="2979405191" sldId="567"/>
            <ac:spMk id="7" creationId="{0A654662-6E4C-003E-87D2-AC79F5A3081B}"/>
          </ac:spMkLst>
        </pc:spChg>
        <pc:picChg chg="add del">
          <ac:chgData name="Simone Mauro" userId="7288c1146a64123d" providerId="Windows Live" clId="Web-{98A9BC92-B94B-A8F0-7811-15C30E16FC3F}" dt="2026-07-09T17:35:32.844" v="5"/>
          <ac:picMkLst>
            <pc:docMk/>
            <pc:sldMk cId="2979405191" sldId="567"/>
            <ac:picMk id="3" creationId="{715C5F73-F2D2-2280-39E0-DF9FA8310BD3}"/>
          </ac:picMkLst>
        </pc:picChg>
      </pc:sldChg>
    </pc:docChg>
  </pc:docChgLst>
  <pc:docChgLst>
    <pc:chgData name="Simone Mauro" userId="7288c1146a64123d" providerId="Windows Live" clId="Web-{6E5DB6D2-CE70-F5FA-EC53-365F8B15BCF2}"/>
    <pc:docChg chg="addSld delSld modSld">
      <pc:chgData name="Simone Mauro" userId="7288c1146a64123d" providerId="Windows Live" clId="Web-{6E5DB6D2-CE70-F5FA-EC53-365F8B15BCF2}" dt="2026-07-10T15:35:26.301" v="149" actId="20577"/>
      <pc:docMkLst>
        <pc:docMk/>
      </pc:docMkLst>
      <pc:sldChg chg="del">
        <pc:chgData name="Simone Mauro" userId="7288c1146a64123d" providerId="Windows Live" clId="Web-{6E5DB6D2-CE70-F5FA-EC53-365F8B15BCF2}" dt="2026-07-10T15:30:48.032" v="47"/>
        <pc:sldMkLst>
          <pc:docMk/>
          <pc:sldMk cId="2434817174" sldId="641"/>
        </pc:sldMkLst>
      </pc:sldChg>
      <pc:sldChg chg="modSp">
        <pc:chgData name="Simone Mauro" userId="7288c1146a64123d" providerId="Windows Live" clId="Web-{6E5DB6D2-CE70-F5FA-EC53-365F8B15BCF2}" dt="2026-07-10T15:35:26.301" v="149" actId="20577"/>
        <pc:sldMkLst>
          <pc:docMk/>
          <pc:sldMk cId="1448338496" sldId="664"/>
        </pc:sldMkLst>
        <pc:spChg chg="mod">
          <ac:chgData name="Simone Mauro" userId="7288c1146a64123d" providerId="Windows Live" clId="Web-{6E5DB6D2-CE70-F5FA-EC53-365F8B15BCF2}" dt="2026-07-10T15:35:26.301" v="149" actId="20577"/>
          <ac:spMkLst>
            <pc:docMk/>
            <pc:sldMk cId="1448338496" sldId="664"/>
            <ac:spMk id="3" creationId="{797C9D59-98BF-B3E9-C6CE-4943F8CEDBC4}"/>
          </ac:spMkLst>
        </pc:spChg>
      </pc:sldChg>
      <pc:sldChg chg="modSp">
        <pc:chgData name="Simone Mauro" userId="7288c1146a64123d" providerId="Windows Live" clId="Web-{6E5DB6D2-CE70-F5FA-EC53-365F8B15BCF2}" dt="2026-07-10T15:32:15.147" v="101" actId="20577"/>
        <pc:sldMkLst>
          <pc:docMk/>
          <pc:sldMk cId="1208620116" sldId="683"/>
        </pc:sldMkLst>
        <pc:spChg chg="mod">
          <ac:chgData name="Simone Mauro" userId="7288c1146a64123d" providerId="Windows Live" clId="Web-{6E5DB6D2-CE70-F5FA-EC53-365F8B15BCF2}" dt="2026-07-10T15:32:15.147" v="101" actId="20577"/>
          <ac:spMkLst>
            <pc:docMk/>
            <pc:sldMk cId="1208620116" sldId="683"/>
            <ac:spMk id="3" creationId="{16231431-DE5F-3999-3145-A050C6936C4D}"/>
          </ac:spMkLst>
        </pc:spChg>
      </pc:sldChg>
      <pc:sldChg chg="del">
        <pc:chgData name="Simone Mauro" userId="7288c1146a64123d" providerId="Windows Live" clId="Web-{6E5DB6D2-CE70-F5FA-EC53-365F8B15BCF2}" dt="2026-07-10T15:30:42.531" v="46"/>
        <pc:sldMkLst>
          <pc:docMk/>
          <pc:sldMk cId="1572169144" sldId="696"/>
        </pc:sldMkLst>
      </pc:sldChg>
      <pc:sldChg chg="modSp">
        <pc:chgData name="Simone Mauro" userId="7288c1146a64123d" providerId="Windows Live" clId="Web-{6E5DB6D2-CE70-F5FA-EC53-365F8B15BCF2}" dt="2026-07-10T15:31:09.111" v="83" actId="20577"/>
        <pc:sldMkLst>
          <pc:docMk/>
          <pc:sldMk cId="1507682714" sldId="743"/>
        </pc:sldMkLst>
        <pc:spChg chg="mod">
          <ac:chgData name="Simone Mauro" userId="7288c1146a64123d" providerId="Windows Live" clId="Web-{6E5DB6D2-CE70-F5FA-EC53-365F8B15BCF2}" dt="2026-07-10T15:31:09.111" v="83" actId="20577"/>
          <ac:spMkLst>
            <pc:docMk/>
            <pc:sldMk cId="1507682714" sldId="743"/>
            <ac:spMk id="3" creationId="{1C29F28A-D407-05F3-F5A0-079745ACF763}"/>
          </ac:spMkLst>
        </pc:spChg>
      </pc:sldChg>
      <pc:sldChg chg="modSp new">
        <pc:chgData name="Simone Mauro" userId="7288c1146a64123d" providerId="Windows Live" clId="Web-{6E5DB6D2-CE70-F5FA-EC53-365F8B15BCF2}" dt="2026-07-10T15:34:02.170" v="143" actId="20577"/>
        <pc:sldMkLst>
          <pc:docMk/>
          <pc:sldMk cId="4200372808" sldId="766"/>
        </pc:sldMkLst>
        <pc:spChg chg="mod">
          <ac:chgData name="Simone Mauro" userId="7288c1146a64123d" providerId="Windows Live" clId="Web-{6E5DB6D2-CE70-F5FA-EC53-365F8B15BCF2}" dt="2026-07-10T15:34:02.170" v="143" actId="20577"/>
          <ac:spMkLst>
            <pc:docMk/>
            <pc:sldMk cId="4200372808" sldId="766"/>
            <ac:spMk id="2" creationId="{D09AA8C0-E92C-37FF-4042-1FABC2D4B430}"/>
          </ac:spMkLst>
        </pc:spChg>
      </pc:sldChg>
    </pc:docChg>
  </pc:docChgLst>
</pc:chgInfo>
</file>

<file path=ppt/comments/modernComment_25A_FDDDF1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C1A459-BF58-433F-8BD4-5D758CD3A8BB}" authorId="{3183CED3-EF3F-D863-C5EC-77490079893E}" created="2026-05-26T14:23:59.287">
    <pc:sldMkLst xmlns:pc="http://schemas.microsoft.com/office/powerpoint/2013/main/command">
      <pc:docMk/>
      <pc:sldMk cId="4259180985" sldId="602"/>
    </pc:sldMkLst>
    <p188:txBody>
      <a:bodyPr/>
      <a:lstStyle/>
      <a:p>
        <a:r>
          <a:rPr lang="it-IT"/>
          <a:t>This is still a TODO. I think experimental results will confirm this but i would love to see it in practice</a:t>
        </a:r>
      </a:p>
    </p188:txBody>
  </p188:cm>
</p188:cmLst>
</file>

<file path=ppt/comments/modernComment_237_B1961D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DCE699-9D2F-401A-86B0-64CDE26AC7C0}" authorId="{71C6AFD9-62BD-8B0A-2A62-89E107C76DE9}" created="2026-04-19T08:38:02.1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79405191" sldId="567"/>
      <ac:spMk id="8" creationId="{FE110E0D-FCE9-398D-1424-CE05830A09ED}"/>
      <ac:txMk cp="497">
        <ac:context len="498" hash="2417389724"/>
      </ac:txMk>
    </ac:txMkLst>
    <p188:pos x="3921744" y="5189907"/>
    <p188:txBody>
      <a:bodyPr/>
      <a:lstStyle/>
      <a:p>
        <a:r>
          <a:rPr lang="it-IT"/>
          <a:t>risposta nella prossima slide ^_^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11:23:27.3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7C8C7-2B8F-4C21-B2D0-DE1CAF77744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5D911-E966-4B8E-9AA9-400D41C2C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5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1EAE-77C1-3B5D-25DA-7993C988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C3958-BA8D-F045-A0E4-999E14B93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FD5B8-F560-893E-3336-C9DFE5A4D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254DC-63B1-6821-86F8-1403627BB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0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22DE-3345-EB78-5445-6A77D6BE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BFB19-4C4B-DFC5-F8EA-AAB82A20F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83933-9D2F-AAC9-8680-84F45D04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AA75-B8BF-BB44-8C00-ABCAA3B5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B2703-4A1B-1A7A-5884-0F79C8B2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C71A-91B6-5FB7-3B72-56EB80C1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9F0D1-8CB2-B64A-B3F2-2CF6D37CB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1DC19-2D47-337B-03E0-416B3B8F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7C9E-878F-563F-8F9D-1D05ACDE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5CDE-D808-D699-A0A8-7A495EF7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3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D6EE-A37E-8EDF-3A03-CC3E0917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94C4F-F3D3-9BE5-C40F-ECC5F46B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695C7-4A92-9D47-E13C-B427B67C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91833-6DBD-0F75-52F6-C20F9195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94DED-78CF-A56E-0678-8C3965AD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8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2DF33-D5E7-6F18-EB94-EFA949B5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771B-19FC-0C1F-A8F4-AC925EDE1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05CCD-F1F4-6612-E3E0-767215609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B2F65-DE8C-C8E1-C487-C1AB5A03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426A6-9DDA-13DE-C40D-6A3FBF4D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5BEC8-FFAE-58B2-DC43-65C2FE6F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7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D24D-02B8-3005-AEDC-64316C30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871E1-E6DA-09B2-A2E2-FC15DE93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A9CD8-CF33-7802-9043-03266685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BFFC9-0EF8-4814-BE4E-756C50EB7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5512B-28D0-FD34-CEA4-4B4182F7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DE348-8015-6416-1024-82ED00B9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5699C-C3C6-5410-779A-A37CBC43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BD13B-5395-280D-F352-CCC78EDB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8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3CB0-6CCE-FFCF-3E4E-64393230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44857-490D-3A4A-FD14-963489B4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C6B72-2C5B-BC2D-3B52-F9EF7A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D05F4-8AFA-968A-3EDE-CDE10FC1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4491B-6989-0CFB-880E-0D282251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678F7-B1CD-953D-DE1D-2C8EEC8F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47CEF-2DBB-EA42-4CC6-36BB2451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C0AB-9794-A12E-F31D-043D729A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8CFB6-EFE6-D467-AFE0-65D0DBC4B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4F336-EE3B-9982-CA79-13F9BF7CF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6056D-6C75-C2F0-9952-99BC014B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6D34B-C79B-DA4D-1589-C7DCCCF7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792AA-2D77-0660-0C75-F98A615E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6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C419-5654-6282-AEFB-A8847364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886C3-A617-6685-D5A1-5D4BBA2AD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A91CE-724C-6D54-401B-C06CBC3E4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6E016-F660-2661-7407-3C60B06B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60D5B-3F74-C16C-3E77-4F6F175C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FBB83-33E2-06EE-505F-05200787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7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BFC9-0470-6965-06C6-CA0CF39BF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3E869-5445-ED3B-5A7A-700D1FC52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8118-29E6-0404-083C-58C78659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C632E-2AD4-7E38-A58F-97699AD8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E1D91-8E0D-947B-8C5C-76E2DB2C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9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791D3-11EC-0FF1-92CD-8C22E2627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76062-625B-917B-8790-0EE9FBB5C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88775-B351-5572-2E8F-1B7D5DCE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B477-A588-0F2D-F67A-E43210354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C311E-70A0-93BF-8FC5-D6BB6B44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840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CBECA-412D-4333-A097-84FADAC41052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864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3251F-A03D-DA55-3EFD-846FAE2C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9D5B7-AE93-57B9-8B44-34394FB6E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A1253-668B-539F-8102-3A55E98B8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019B-34BD-4655-BA6A-58DA821BBF2E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1F731-D1FE-57FE-85F6-3129CEA1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52E4-B447-5ABB-17E6-26ADF1E3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DEAA3-9E16-477F-B6F2-E9C5D3D5D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3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microsoft.com/office/2018/10/relationships/comments" Target="../comments/modernComment_237_B1961D8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n.wikipedia.org/wiki/Error_exponents_in_hypothesis_testing" TargetMode="External"/><Relationship Id="rId5" Type="http://schemas.openxmlformats.org/officeDocument/2006/relationships/hyperlink" Target="https://www.researchgate.net/publication/282997049_Change_Detection_in_Multivariate_Datastreams_Likelihood_and_Detectability_Loss#:~:text=We%20show%20that%20the%20magnitude,when%20the%20data%2Ddimension%20increases.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chrome-extension/efaidnbmnnnibpcajpcglclefindmkaj/https:/boracchi.faculty.polimi.it/docs/2017_BDR_CCM_Carrera.pdf" TargetMode="External"/><Relationship Id="rId2" Type="http://schemas.openxmlformats.org/officeDocument/2006/relationships/hyperlink" Target="http://chrome-extension:/efaidnbmnnnibpcajpcglclefindmkaj/https:/boracchi.faculty.polimi.it/docs/2017_BDR_CCM_Carrera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ublication/373142498_Multimodal_Batch-Wise_Change_Detec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5A_FDDDF1B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https://doi.org/10.1109/tnn.2011.2160459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3142498_Multimodal_Batch-Wise_Change_Detection" TargetMode="External"/><Relationship Id="rId2" Type="http://schemas.openxmlformats.org/officeDocument/2006/relationships/hyperlink" Target="http://chrome-extension/efaidnbmnnnibpcajpcglclefindmkaj/https:/boracchi.faculty.polimi.it/docs/2017_BDR_CCM_Carrera.pdf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ts.stanford.edu/probabilistic-robotics/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polimi365-my.sharepoint.com/:p:/r/personal/10245349_polimi_it/Documents/%5BProjects%5D/2025_01_CISCO_RON/slides/Simone_ron/Synthethic_data.pptx?d=w2d9a2f4c624045ae96d824d46d95b54b&amp;csf=1&amp;web=1&amp;e=Ka0Kx6&amp;nav=eyJzSWQiOjY0MiwiY0lkIjoyODkwNTAzNTcyfQ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euclid.org/journals/annals-of-mathematical-statistics/volume-42/issue-6/Procedures-for-Reacting-to-a-Change-in-Distribution/10.1214/aoms/1177693055.full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9F20-D412-C78E-2108-308EEB7E8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REQ 2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B472B-9D03-33B1-2340-3FD73F179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To </a:t>
            </a:r>
            <a:r>
              <a:rPr lang="it-IT" err="1"/>
              <a:t>add</a:t>
            </a:r>
            <a:r>
              <a:rPr lang="it-IT"/>
              <a:t> to slides of Luigi, </a:t>
            </a:r>
            <a:r>
              <a:rPr lang="it-IT" err="1"/>
              <a:t>at</a:t>
            </a:r>
            <a:r>
              <a:rPr lang="it-IT"/>
              <a:t> the </a:t>
            </a:r>
            <a:r>
              <a:rPr lang="it-IT" err="1"/>
              <a:t>beginning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951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A7D3D-90BA-94A5-0CF7-23C2AC3F9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826250"/>
            <a:ext cx="10158340" cy="2225233"/>
          </a:xfrm>
          <a:prstGeom prst="rect">
            <a:avLst/>
          </a:prstGeom>
        </p:spPr>
      </p:pic>
      <p:pic>
        <p:nvPicPr>
          <p:cNvPr id="1026" name="Picture 2" descr="Multivariate Normal Distribution | Brilliant Math &amp; Science Wiki">
            <a:extLst>
              <a:ext uri="{FF2B5EF4-FFF2-40B4-BE49-F238E27FC236}">
                <a16:creationId xmlns:a16="http://schemas.microsoft.com/office/drawing/2014/main" id="{7BDFC5BF-EA11-9E66-A494-3D454B563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34" y="2822033"/>
            <a:ext cx="4903400" cy="367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729B97-1A36-6CC3-07DF-22F6A355A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814" y="3334266"/>
            <a:ext cx="3671344" cy="29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16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6FF8-8CCA-8FDA-271A-34C8E023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C113E4-222B-4DD0-6064-1C3A3C1A818F}"/>
              </a:ext>
            </a:extLst>
          </p:cNvPr>
          <p:cNvSpPr txBox="1"/>
          <p:nvPr/>
        </p:nvSpPr>
        <p:spPr>
          <a:xfrm>
            <a:off x="331076" y="299544"/>
            <a:ext cx="11983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How I would set up </a:t>
            </a:r>
            <a:r>
              <a:rPr lang="el-GR" sz="2400"/>
              <a:t>φ</a:t>
            </a:r>
            <a:r>
              <a:rPr lang="en-US" sz="2400" baseline="-25000"/>
              <a:t>0 </a:t>
            </a:r>
            <a:r>
              <a:rPr lang="en-US" sz="2400">
                <a:sym typeface="Wingdings" panose="05000000000000000000" pitchFamily="2" charset="2"/>
              </a:rPr>
              <a:t> the initial distribution</a:t>
            </a:r>
            <a:r>
              <a:rPr lang="en-US" sz="2400" baseline="-25000"/>
              <a:t>  </a:t>
            </a:r>
            <a:r>
              <a:rPr lang="en-US" sz="24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3E16A-E689-4001-C566-5227A695696B}"/>
              </a:ext>
            </a:extLst>
          </p:cNvPr>
          <p:cNvSpPr txBox="1"/>
          <p:nvPr/>
        </p:nvSpPr>
        <p:spPr>
          <a:xfrm>
            <a:off x="331076" y="1225689"/>
            <a:ext cx="11166657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/>
              <a:t>For the </a:t>
            </a:r>
            <a:r>
              <a:rPr lang="en-US" sz="1600" b="1"/>
              <a:t>substitutes</a:t>
            </a:r>
            <a:r>
              <a:rPr lang="en-US" sz="1600"/>
              <a:t> (</a:t>
            </a:r>
            <a:r>
              <a:rPr lang="en-US" sz="1600" err="1"/>
              <a:t>eg</a:t>
            </a:r>
            <a:r>
              <a:rPr lang="en-US" sz="1600"/>
              <a:t> Pepsi and coca cola) that bidders assume can’t bid on both I would model them having an high </a:t>
            </a:r>
            <a:r>
              <a:rPr lang="en-US" sz="1600">
                <a:solidFill>
                  <a:srgbClr val="00B050"/>
                </a:solidFill>
              </a:rPr>
              <a:t>positive correlations</a:t>
            </a:r>
            <a:r>
              <a:rPr lang="en-US" sz="1600"/>
              <a:t>.  WHY? </a:t>
            </a:r>
            <a:r>
              <a:rPr lang="en-US" sz="1600">
                <a:sym typeface="Wingdings" panose="05000000000000000000" pitchFamily="2" charset="2"/>
              </a:rPr>
              <a:t> if they are substitutes they should have similar demands (if one goes up for something special the other should follow)</a:t>
            </a:r>
          </a:p>
          <a:p>
            <a:endParaRPr lang="en-US" sz="1600">
              <a:sym typeface="Wingdings" panose="05000000000000000000" pitchFamily="2" charset="2"/>
            </a:endParaRPr>
          </a:p>
          <a:p>
            <a:r>
              <a:rPr lang="en-US" sz="1600" b="1">
                <a:sym typeface="Wingdings" panose="05000000000000000000" pitchFamily="2" charset="2"/>
              </a:rPr>
              <a:t>Overall</a:t>
            </a:r>
            <a:r>
              <a:rPr lang="en-US" sz="1600">
                <a:sym typeface="Wingdings" panose="05000000000000000000" pitchFamily="2" charset="2"/>
              </a:rPr>
              <a:t> </a:t>
            </a:r>
            <a:r>
              <a:rPr lang="en-US" sz="1600">
                <a:solidFill>
                  <a:srgbClr val="FF0000"/>
                </a:solidFill>
                <a:sym typeface="Wingdings" panose="05000000000000000000" pitchFamily="2" charset="2"/>
              </a:rPr>
              <a:t>negative correlations</a:t>
            </a:r>
            <a:r>
              <a:rPr lang="en-US" sz="1600">
                <a:sym typeface="Wingdings" panose="05000000000000000000" pitchFamily="2" charset="2"/>
              </a:rPr>
              <a:t>: </a:t>
            </a:r>
            <a:r>
              <a:rPr lang="en-US" sz="1600"/>
              <a:t>A single big advertiser's daily budget is finite — if they're bidding hard on campaign A today, they bid less on campaign B.</a:t>
            </a:r>
          </a:p>
          <a:p>
            <a:endParaRPr lang="en-US" sz="1600">
              <a:sym typeface="Wingdings" panose="05000000000000000000" pitchFamily="2" charset="2"/>
            </a:endParaRPr>
          </a:p>
          <a:p>
            <a:r>
              <a:rPr lang="en-US" sz="1600">
                <a:sym typeface="Wingdings" panose="05000000000000000000" pitchFamily="2" charset="2"/>
              </a:rPr>
              <a:t>Some should have </a:t>
            </a:r>
            <a:r>
              <a:rPr lang="en-US" sz="1600">
                <a:solidFill>
                  <a:srgbClr val="00B050"/>
                </a:solidFill>
                <a:sym typeface="Wingdings" panose="05000000000000000000" pitchFamily="2" charset="2"/>
              </a:rPr>
              <a:t>positive correlations </a:t>
            </a:r>
            <a:r>
              <a:rPr lang="en-US" sz="1600">
                <a:sym typeface="Wingdings" panose="05000000000000000000" pitchFamily="2" charset="2"/>
              </a:rPr>
              <a:t>because they are </a:t>
            </a:r>
            <a:r>
              <a:rPr lang="en-US" sz="1600" b="1">
                <a:sym typeface="Wingdings" panose="05000000000000000000" pitchFamily="2" charset="2"/>
              </a:rPr>
              <a:t>complimentary</a:t>
            </a:r>
            <a:r>
              <a:rPr lang="en-US" sz="1600">
                <a:sym typeface="Wingdings" panose="05000000000000000000" pitchFamily="2" charset="2"/>
              </a:rPr>
              <a:t> (</a:t>
            </a:r>
            <a:r>
              <a:rPr lang="en-US" sz="1600" err="1">
                <a:sym typeface="Wingdings" panose="05000000000000000000" pitchFamily="2" charset="2"/>
              </a:rPr>
              <a:t>eg</a:t>
            </a:r>
            <a:r>
              <a:rPr lang="en-US" sz="1600">
                <a:sym typeface="Wingdings" panose="05000000000000000000" pitchFamily="2" charset="2"/>
              </a:rPr>
              <a:t> Hotels &lt;--&gt; Flights)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959D1-38BD-44B2-BDEF-2554075859F2}"/>
              </a:ext>
            </a:extLst>
          </p:cNvPr>
          <p:cNvSpPr txBox="1"/>
          <p:nvPr/>
        </p:nvSpPr>
        <p:spPr>
          <a:xfrm>
            <a:off x="330200" y="3403600"/>
            <a:ext cx="1143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/>
              <a:t>Example Σ for 6 campaigns: C1–C2 substitutes (+), C3–C4 complementary (+), C5–C6 share one advertiser's budget (–)</a:t>
            </a:r>
            <a:endParaRPr lang="it-IT" sz="1400" i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498353-08C4-4E91-B90C-AF9075A96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100374"/>
              </p:ext>
            </p:extLst>
          </p:nvPr>
        </p:nvGraphicFramePr>
        <p:xfrm>
          <a:off x="2286000" y="3873500"/>
          <a:ext cx="7619997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71">
                  <a:extLst>
                    <a:ext uri="{9D8B030D-6E8A-4147-A177-3AD203B41FA5}">
                      <a16:colId xmlns:a16="http://schemas.microsoft.com/office/drawing/2014/main" val="2531062646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3976475990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1417333588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1633962474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1687852546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3556463774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193940839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it-IT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C2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C3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C4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C5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C6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51521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C1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+0.80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+0.05</a:t>
                      </a:r>
                    </a:p>
                  </a:txBody>
                  <a:tcPr anchor="ctr">
                    <a:solidFill>
                      <a:srgbClr val="EAF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-0.10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2401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C2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+0.80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+0.05</a:t>
                      </a:r>
                    </a:p>
                  </a:txBody>
                  <a:tcPr anchor="ctr">
                    <a:solidFill>
                      <a:srgbClr val="EAF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-0.10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9245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C3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+0.05</a:t>
                      </a:r>
                    </a:p>
                  </a:txBody>
                  <a:tcPr anchor="ctr">
                    <a:solidFill>
                      <a:srgbClr val="EAF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+0.60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-0.15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7088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C4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+0.05</a:t>
                      </a:r>
                    </a:p>
                  </a:txBody>
                  <a:tcPr anchor="ctr">
                    <a:solidFill>
                      <a:srgbClr val="EAF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+0.60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-0.15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300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C5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-0.10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-0.15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-0.50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1944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C6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-0.10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-0.15</a:t>
                      </a:r>
                    </a:p>
                  </a:txBody>
                  <a:tcPr anchor="ctr"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-0.50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1.00</a:t>
                      </a:r>
                    </a:p>
                  </a:txBody>
                  <a:tcPr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75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75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9E30-22DB-9AA3-94DC-83058B3F5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err="1"/>
              <a:t>Req</a:t>
            </a:r>
            <a:r>
              <a:rPr lang="it-IT"/>
              <a:t> 4 </a:t>
            </a:r>
            <a:r>
              <a:rPr lang="it-IT" err="1"/>
              <a:t>environment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6CDFA-3D6C-95CE-74A0-E6102A6B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err="1"/>
              <a:t>Previous</a:t>
            </a:r>
            <a:r>
              <a:rPr lang="it-IT"/>
              <a:t> to </a:t>
            </a:r>
            <a:r>
              <a:rPr lang="it-IT" err="1"/>
              <a:t>Ale’s</a:t>
            </a:r>
            <a:r>
              <a:rPr lang="it-IT"/>
              <a:t> talk</a:t>
            </a:r>
          </a:p>
        </p:txBody>
      </p:sp>
    </p:spTree>
    <p:extLst>
      <p:ext uri="{BB962C8B-B14F-4D97-AF65-F5344CB8AC3E}">
        <p14:creationId xmlns:p14="http://schemas.microsoft.com/office/powerpoint/2010/main" val="225764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EE923-51DF-E670-611E-0368DAC6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28F82-EF40-69EC-52E4-EFA9F519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rgbClr val="0070C0"/>
                </a:solidFill>
              </a:rPr>
              <a:t>Gaussian Constellation</a:t>
            </a:r>
            <a:endParaRPr lang="en-US" sz="6600" kern="120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F11821-CC43-3960-8A9A-9D7A63615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3699" y="4631161"/>
            <a:ext cx="6707366" cy="1569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Delicious"/>
              </a:rPr>
              <a:t>The goal: generate a series of gaussians all </a:t>
            </a:r>
            <a:r>
              <a:rPr lang="en-US" err="1">
                <a:solidFill>
                  <a:schemeClr val="tx1"/>
                </a:solidFill>
                <a:latin typeface="Delicious"/>
              </a:rPr>
              <a:t>equi</a:t>
            </a:r>
            <a:r>
              <a:rPr lang="en-US">
                <a:solidFill>
                  <a:schemeClr val="tx1"/>
                </a:solidFill>
                <a:latin typeface="Delicious"/>
              </a:rPr>
              <a:t>-divergent (or with a bounded divergence). They will represent our modes of the market.</a:t>
            </a:r>
            <a:endParaRPr lang="en-US" sz="2400" kern="1200">
              <a:solidFill>
                <a:schemeClr val="tx1"/>
              </a:solidFill>
              <a:latin typeface="Deliciou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9C3A15-C79A-D0A7-3CD9-F8AE34E0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54074"/>
            <a:ext cx="4087368" cy="543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F96228-303F-1075-230A-3B01B43B7D9B}"/>
              </a:ext>
            </a:extLst>
          </p:cNvPr>
          <p:cNvSpPr txBox="1"/>
          <p:nvPr/>
        </p:nvSpPr>
        <p:spPr>
          <a:xfrm>
            <a:off x="331076" y="299544"/>
            <a:ext cx="119835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REQ 4: Environment:</a:t>
            </a:r>
            <a:r>
              <a:rPr lang="zh-CN" altLang="en-US" sz="2000"/>
              <a:t> </a:t>
            </a:r>
            <a:r>
              <a:rPr lang="en-US" sz="2000"/>
              <a:t>Highly Non-Stationary Constellation Model</a:t>
            </a:r>
          </a:p>
          <a:p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229AE8-915E-A0FF-9784-4A00EE42E9B5}"/>
              </a:ext>
            </a:extLst>
          </p:cNvPr>
          <p:cNvSpPr txBox="1"/>
          <p:nvPr/>
        </p:nvSpPr>
        <p:spPr>
          <a:xfrm>
            <a:off x="515007" y="851338"/>
            <a:ext cx="1101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Objective: build a highly-nonstationary multi-campaign environment(competing bids change rapidly over time)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34D1E-6963-018E-9D40-50D96A82371C}"/>
              </a:ext>
            </a:extLst>
          </p:cNvPr>
          <p:cNvSpPr txBox="1"/>
          <p:nvPr/>
        </p:nvSpPr>
        <p:spPr>
          <a:xfrm>
            <a:off x="331076" y="1225689"/>
            <a:ext cx="1198350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Core idea</a:t>
            </a:r>
            <a:r>
              <a:rPr lang="en-US"/>
              <a:t>: Constellation –based environment: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Define a set of fixed “market states”(‘stars’) , where each state(star) is a full competing-bid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example: If we have 4 campaigns: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	</a:t>
            </a:r>
            <a:r>
              <a:rPr lang="en-US" b="1"/>
              <a:t>star_0 </a:t>
            </a:r>
            <a:r>
              <a:rPr lang="en-US"/>
              <a:t>= </a:t>
            </a:r>
            <a:r>
              <a:rPr lang="el-GR"/>
              <a:t>φ</a:t>
            </a:r>
            <a:r>
              <a:rPr lang="en-US" baseline="-25000"/>
              <a:t>0</a:t>
            </a:r>
            <a:r>
              <a:rPr lang="en-US"/>
              <a:t>(</a:t>
            </a:r>
            <a:r>
              <a:rPr lang="el-GR"/>
              <a:t>μ</a:t>
            </a:r>
            <a:r>
              <a:rPr lang="en-US" baseline="-25000"/>
              <a:t>0</a:t>
            </a:r>
            <a:r>
              <a:rPr lang="en-US"/>
              <a:t>, </a:t>
            </a:r>
            <a:r>
              <a:rPr lang="el-GR"/>
              <a:t>Σ</a:t>
            </a:r>
            <a:r>
              <a:rPr lang="en-US" baseline="-25000"/>
              <a:t>0</a:t>
            </a:r>
            <a:r>
              <a:rPr lang="en-US"/>
              <a:t>)   										star_1 = </a:t>
            </a:r>
            <a:r>
              <a:rPr lang="el-GR"/>
              <a:t>φ</a:t>
            </a:r>
            <a:r>
              <a:rPr lang="en-US" baseline="-25000"/>
              <a:t>1</a:t>
            </a:r>
            <a:r>
              <a:rPr lang="en-US"/>
              <a:t>(</a:t>
            </a:r>
            <a:r>
              <a:rPr lang="el-GR"/>
              <a:t>μ</a:t>
            </a:r>
            <a:r>
              <a:rPr lang="en-US" baseline="-25000"/>
              <a:t>1</a:t>
            </a:r>
            <a:r>
              <a:rPr lang="en-US"/>
              <a:t>, </a:t>
            </a:r>
            <a:r>
              <a:rPr lang="el-GR"/>
              <a:t>Σ</a:t>
            </a:r>
            <a:r>
              <a:rPr lang="en-US" baseline="-25000"/>
              <a:t>1</a:t>
            </a:r>
            <a:r>
              <a:rPr lang="en-US"/>
              <a:t>)   										star_2 = </a:t>
            </a:r>
            <a:r>
              <a:rPr lang="el-GR"/>
              <a:t>φ</a:t>
            </a:r>
            <a:r>
              <a:rPr lang="en-US" baseline="-25000"/>
              <a:t>2</a:t>
            </a:r>
            <a:r>
              <a:rPr lang="en-US"/>
              <a:t>(</a:t>
            </a:r>
            <a:r>
              <a:rPr lang="el-GR"/>
              <a:t>μ</a:t>
            </a:r>
            <a:r>
              <a:rPr lang="it-IT" baseline="-25000"/>
              <a:t>2</a:t>
            </a:r>
            <a:r>
              <a:rPr lang="en-US"/>
              <a:t>, </a:t>
            </a:r>
            <a:r>
              <a:rPr lang="el-GR"/>
              <a:t>Σ</a:t>
            </a:r>
            <a:r>
              <a:rPr lang="en-US" baseline="-25000"/>
              <a:t>2</a:t>
            </a:r>
            <a:r>
              <a:rPr lang="en-US"/>
              <a:t>)   										star_4 =</a:t>
            </a:r>
            <a:r>
              <a:rPr lang="el-GR"/>
              <a:t> φ</a:t>
            </a:r>
            <a:r>
              <a:rPr lang="en-US" baseline="-25000"/>
              <a:t>3</a:t>
            </a:r>
            <a:r>
              <a:rPr lang="en-US"/>
              <a:t>(</a:t>
            </a:r>
            <a:r>
              <a:rPr lang="el-GR"/>
              <a:t>μ</a:t>
            </a:r>
            <a:r>
              <a:rPr lang="en-US" baseline="-25000"/>
              <a:t>3</a:t>
            </a:r>
            <a:r>
              <a:rPr lang="en-US"/>
              <a:t>, </a:t>
            </a:r>
            <a:r>
              <a:rPr lang="el-GR"/>
              <a:t>Σ</a:t>
            </a:r>
            <a:r>
              <a:rPr lang="en-US" baseline="-25000"/>
              <a:t>3</a:t>
            </a:r>
            <a:r>
              <a:rPr lang="en-US"/>
              <a:t>) </a:t>
            </a:r>
          </a:p>
          <a:p>
            <a:endParaRPr lang="en-US"/>
          </a:p>
          <a:p>
            <a:r>
              <a:rPr lang="en-US"/>
              <a:t>Where: </a:t>
            </a:r>
          </a:p>
          <a:p>
            <a:r>
              <a:rPr lang="en-US" b="1"/>
              <a:t>star_0</a:t>
            </a:r>
            <a:r>
              <a:rPr lang="en-US"/>
              <a:t>: is a fixed star that could be randomly sampled or even better introduced by hand. From there we </a:t>
            </a:r>
            <a:r>
              <a:rPr lang="en-US" err="1"/>
              <a:t>rototranslate</a:t>
            </a:r>
            <a:r>
              <a:rPr lang="en-US"/>
              <a:t> it to have different kind of distributions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5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57902-0127-8578-2F76-780B3603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293"/>
            <a:ext cx="12192000" cy="622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192AB-826B-66A8-1A60-5061E12A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C49ACD-C1AD-990B-42E3-38B50631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793" y="2133599"/>
            <a:ext cx="5167188" cy="2422077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How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would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it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work?</a:t>
            </a:r>
          </a:p>
        </p:txBody>
      </p:sp>
      <p:pic>
        <p:nvPicPr>
          <p:cNvPr id="3074" name="Picture 2" descr="Elemento Cattivo Punto Interrogativo Disegnato A Mano, Clipart Punto  Interrogativo, Dipinto A Mano, Punto Interrogativo Rosso File PNG e PSD per  download gratuito">
            <a:extLst>
              <a:ext uri="{FF2B5EF4-FFF2-40B4-BE49-F238E27FC236}">
                <a16:creationId xmlns:a16="http://schemas.microsoft.com/office/drawing/2014/main" id="{6D02E177-6D42-4C3D-987A-5D60E8100D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77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0F4B35-DBB1-40F2-27E9-609E5237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455"/>
            <a:ext cx="12192000" cy="584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0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3DF7FB-DA43-640D-9A46-539EB032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172"/>
            <a:ext cx="12192000" cy="58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6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81B025-6759-774D-7DEA-45EB65AC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317"/>
            <a:ext cx="12192000" cy="584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2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5C61BC-D00A-345F-B763-CBB88B58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346"/>
            <a:ext cx="12192000" cy="57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81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8C03A-0E1D-2726-A2F9-370DE8D8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711"/>
            <a:ext cx="12192000" cy="583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719B-81CA-8C18-55CD-B3F26B7E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Switching mechanism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0A144-048A-2719-63AA-893D5C043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Then the environments rapidly switche</a:t>
                </a:r>
                <a:r>
                  <a:rPr lang="en-US" altLang="zh-CN"/>
                  <a:t>s between predefined market states, called stars:</a:t>
                </a:r>
              </a:p>
              <a:p>
                <a:pPr marL="0" indent="0">
                  <a:buNone/>
                </a:pPr>
                <a:r>
                  <a:rPr lang="en-US" altLang="zh-CN"/>
                  <a:t>Given an expected change frequency F=1/M, the switching probability at each round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𝑠𝑤𝑖𝑡𝑐h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The environment is expected to change approximately every M rounds</a:t>
                </a:r>
              </a:p>
              <a:p>
                <a:pPr marL="0" indent="0">
                  <a:buNone/>
                </a:pPr>
                <a:r>
                  <a:rPr lang="en-US" altLang="zh-CN"/>
                  <a:t>At each round,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𝑈𝑛𝑖𝑓𝑜𝑟𝑚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𝑠𝑤𝑖𝑡𝑐h</m:t>
                        </m:r>
                      </m:sub>
                    </m:sSub>
                  </m:oMath>
                </a14:m>
                <a:r>
                  <a:rPr lang="en-US" altLang="zh-CN"/>
                  <a:t>, switch to another star; otherwise, keep the current star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0A144-048A-2719-63AA-893D5C043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73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7A88-7F88-F461-BCD5-A3DE74BB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3AE569-7BC1-5DD2-4C85-9A5DE7A2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793" y="2133599"/>
            <a:ext cx="5167188" cy="2422077"/>
          </a:xfrm>
        </p:spPr>
        <p:txBody>
          <a:bodyPr>
            <a:normAutofit fontScale="90000"/>
          </a:bodyPr>
          <a:lstStyle/>
          <a:p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Why do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we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need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a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Gaussian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Constellation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? </a:t>
            </a:r>
          </a:p>
        </p:txBody>
      </p:sp>
      <p:pic>
        <p:nvPicPr>
          <p:cNvPr id="3074" name="Picture 2" descr="Elemento Cattivo Punto Interrogativo Disegnato A Mano, Clipart Punto  Interrogativo, Dipinto A Mano, Punto Interrogativo Rosso File PNG e PSD per  download gratuito">
            <a:extLst>
              <a:ext uri="{FF2B5EF4-FFF2-40B4-BE49-F238E27FC236}">
                <a16:creationId xmlns:a16="http://schemas.microsoft.com/office/drawing/2014/main" id="{3E95BFCE-7858-98E6-4A2F-15560C41F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>
            <a:fillRect/>
          </a:stretch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65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3862-7FD3-5A1D-BABB-FBE3D8E2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6B73-AE45-96DB-800D-913150A48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Same sKL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C45D-0BA8-B801-BC00-737B69BD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It is crucial that every star (representing a distribution) of our constellation </a:t>
            </a:r>
            <a:r>
              <a:rPr lang="en-US" err="1">
                <a:ea typeface="+mn-lt"/>
                <a:cs typeface="+mn-lt"/>
              </a:rPr>
              <a:t>φi</a:t>
            </a:r>
            <a:r>
              <a:rPr lang="en-US">
                <a:ea typeface="+mn-lt"/>
                <a:cs typeface="+mn-lt"/>
              </a:rPr>
              <a:t> has predefined </a:t>
            </a:r>
            <a:r>
              <a:rPr lang="en-US" err="1">
                <a:ea typeface="+mn-lt"/>
                <a:cs typeface="+mn-lt"/>
              </a:rPr>
              <a:t>sKL</a:t>
            </a:r>
            <a:r>
              <a:rPr lang="en-US">
                <a:ea typeface="+mn-lt"/>
                <a:cs typeface="+mn-lt"/>
              </a:rPr>
              <a:t> from all the other </a:t>
            </a:r>
            <a:r>
              <a:rPr lang="en-US" err="1">
                <a:ea typeface="+mn-lt"/>
                <a:cs typeface="+mn-lt"/>
              </a:rPr>
              <a:t>φj</a:t>
            </a:r>
            <a:r>
              <a:rPr lang="en-US">
                <a:ea typeface="+mn-lt"/>
                <a:cs typeface="+mn-lt"/>
              </a:rPr>
              <a:t>.</a:t>
            </a: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en-US" sz="2600" b="1"/>
              <a:t>WHY? 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600"/>
              <a:t>Because Task 4b will be about change detection test. It could be important then to assess the goodness of the results based on a series of experiments with the same difficulty --&gt; same </a:t>
            </a:r>
            <a:r>
              <a:rPr lang="en-US" sz="2600" err="1"/>
              <a:t>sKL</a:t>
            </a:r>
            <a:endParaRPr lang="en-US" sz="2600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600"/>
              <a:t>On this </a:t>
            </a:r>
            <a:r>
              <a:rPr lang="en-US" sz="2600" err="1"/>
              <a:t>synthethic</a:t>
            </a:r>
            <a:r>
              <a:rPr lang="en-US" sz="2600"/>
              <a:t> data we need to know EVERYTHING and ideally we would love to set how "adversarial" the environment is. This can be controlled through the this framework. As we will see </a:t>
            </a:r>
            <a:r>
              <a:rPr lang="en-US" sz="2600" err="1"/>
              <a:t>sKL</a:t>
            </a:r>
            <a:r>
              <a:rPr lang="en-US" sz="2600"/>
              <a:t> is a good measure for measuring how adversarial the env is.</a:t>
            </a:r>
          </a:p>
          <a:p>
            <a:pPr marL="0" indent="0">
              <a:buNone/>
            </a:pPr>
            <a:r>
              <a:rPr lang="en-US" sz="2600"/>
              <a:t>(why </a:t>
            </a:r>
            <a:r>
              <a:rPr lang="en-US" sz="2600" err="1"/>
              <a:t>sKL</a:t>
            </a:r>
            <a:r>
              <a:rPr lang="en-US" sz="2600"/>
              <a:t> is a good indicator of how adversarial or how hard are the tests is on the next slide)</a:t>
            </a:r>
            <a:endParaRPr lang="en-US"/>
          </a:p>
          <a:p>
            <a:pPr marL="0" indent="0">
              <a:buNone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233188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8AC08F-AAD9-0465-0B22-B326C9B237E0}"/>
              </a:ext>
            </a:extLst>
          </p:cNvPr>
          <p:cNvSpPr txBox="1"/>
          <p:nvPr/>
        </p:nvSpPr>
        <p:spPr>
          <a:xfrm>
            <a:off x="562984" y="1305341"/>
            <a:ext cx="343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.</a:t>
            </a:r>
          </a:p>
        </p:txBody>
      </p:sp>
      <p:pic>
        <p:nvPicPr>
          <p:cNvPr id="1026" name="Picture 2" descr="Introduction to Kullback-Leibler Divergence | by Yian Chen | Medium">
            <a:extLst>
              <a:ext uri="{FF2B5EF4-FFF2-40B4-BE49-F238E27FC236}">
                <a16:creationId xmlns:a16="http://schemas.microsoft.com/office/drawing/2014/main" id="{47E1800A-8CAB-BA39-D888-AFA4DAFA1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365" y="738074"/>
            <a:ext cx="6027499" cy="393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E604A0-D723-4232-E6DA-E6B146EBBF63}"/>
              </a:ext>
            </a:extLst>
          </p:cNvPr>
          <p:cNvSpPr txBox="1"/>
          <p:nvPr/>
        </p:nvSpPr>
        <p:spPr>
          <a:xfrm>
            <a:off x="399584" y="275495"/>
            <a:ext cx="65590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3200" b="1">
                <a:solidFill>
                  <a:srgbClr val="0070C0"/>
                </a:solidFill>
                <a:latin typeface="Delicious"/>
              </a:rPr>
              <a:t>sKL </a:t>
            </a:r>
            <a:r>
              <a:rPr lang="it-IT" sz="3200" b="1" err="1">
                <a:solidFill>
                  <a:srgbClr val="0070C0"/>
                </a:solidFill>
                <a:latin typeface="Delicious"/>
              </a:rPr>
              <a:t>divergence</a:t>
            </a:r>
            <a:endParaRPr lang="it-IT" sz="3200" b="1">
              <a:solidFill>
                <a:srgbClr val="0070C0"/>
              </a:solidFill>
              <a:latin typeface="Deliciou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7577AA-235A-FC3B-F4CD-E4F8EDE7A4D2}"/>
                  </a:ext>
                </a:extLst>
              </p:cNvPr>
              <p:cNvSpPr txBox="1"/>
              <p:nvPr/>
            </p:nvSpPr>
            <p:spPr>
              <a:xfrm>
                <a:off x="6613733" y="5284377"/>
                <a:ext cx="3172728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𝐷𝐾𝐿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7577AA-235A-FC3B-F4CD-E4F8EDE7A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733" y="5284377"/>
                <a:ext cx="3172728" cy="7265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E110E0D-FCE9-398D-1424-CE05830A0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81" y="1569069"/>
            <a:ext cx="449735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Delicious"/>
              </a:rPr>
              <a:t>Simple Shifts Fail</a:t>
            </a:r>
            <a:endParaRPr lang="it-IT" altLang="it-IT" sz="1800" b="0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Deliciou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Manually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adjusting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the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mean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el-GR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μ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or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covariance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el-GR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Σ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is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insufficient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.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Identical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parameter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shifts can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result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in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vastly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different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detection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difficulties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depending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on the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underlying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geometry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of the base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distribution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.</a:t>
            </a:r>
            <a:endParaRPr lang="it-IT" altLang="it-IT" sz="1800" b="0" i="0" u="none" strike="noStrike" cap="none" normalizeH="0" baseline="0">
              <a:ln>
                <a:noFill/>
              </a:ln>
              <a:effectLst/>
              <a:latin typeface="Deliciou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800" b="0" i="0" u="none" strike="noStrike" cap="none" normalizeH="0" baseline="0">
              <a:ln>
                <a:noFill/>
              </a:ln>
              <a:effectLst/>
              <a:latin typeface="Deliciou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b="1">
                <a:solidFill>
                  <a:srgbClr val="0070C0"/>
                </a:solidFill>
                <a:latin typeface="Delicious"/>
              </a:rPr>
              <a:t>KL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Delicious"/>
              </a:rPr>
              <a:t> and </a:t>
            </a:r>
            <a:r>
              <a:rPr kumimoji="0" lang="it-IT" altLang="it-IT" sz="1800" b="1" i="0" u="none" strike="noStrike" cap="none" normalizeH="0" baseline="0" err="1">
                <a:ln>
                  <a:noFill/>
                </a:ln>
                <a:solidFill>
                  <a:srgbClr val="0070C0"/>
                </a:solidFill>
                <a:effectLst/>
                <a:latin typeface="Delicious"/>
              </a:rPr>
              <a:t>Stein’s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Delicious"/>
              </a:rPr>
              <a:t> lemma </a:t>
            </a:r>
            <a:r>
              <a:rPr lang="it-IT" altLang="it-IT" b="1">
                <a:solidFill>
                  <a:srgbClr val="0070C0"/>
                </a:solidFill>
                <a:latin typeface="Delicious"/>
              </a:rPr>
              <a:t>to 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Delicious"/>
              </a:rPr>
              <a:t>the Rescue</a:t>
            </a:r>
            <a:endParaRPr lang="it-IT" altLang="it-IT" sz="1800" b="0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Deliciou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err="1">
                <a:latin typeface="Delicious"/>
              </a:rPr>
              <a:t>Previous</a:t>
            </a:r>
            <a:r>
              <a:rPr lang="it-IT" altLang="it-IT">
                <a:latin typeface="Delicious"/>
              </a:rPr>
              <a:t> </a:t>
            </a:r>
            <a:r>
              <a:rPr lang="it-IT" altLang="it-IT">
                <a:latin typeface="Delicious"/>
                <a:hlinkClick r:id="rId5"/>
              </a:rPr>
              <a:t>works</a:t>
            </a:r>
            <a:r>
              <a:rPr lang="it-IT" altLang="it-IT">
                <a:latin typeface="Delicious"/>
              </a:rPr>
              <a:t>, and </a:t>
            </a:r>
            <a:r>
              <a:rPr lang="it-IT" altLang="it-IT">
                <a:latin typeface="Delicious"/>
                <a:hlinkClick r:id="rId6"/>
              </a:rPr>
              <a:t>Chernoff-Stein Lemma </a:t>
            </a:r>
            <a:r>
              <a:rPr lang="it-IT" altLang="it-IT" err="1">
                <a:latin typeface="Delicious"/>
              </a:rPr>
              <a:t>assures</a:t>
            </a:r>
            <a:r>
              <a:rPr lang="it-IT" altLang="it-IT">
                <a:latin typeface="Delicious"/>
              </a:rPr>
              <a:t> </a:t>
            </a:r>
            <a:r>
              <a:rPr lang="it-IT" altLang="it-IT" err="1">
                <a:latin typeface="Delicious"/>
              </a:rPr>
              <a:t>us</a:t>
            </a:r>
            <a:r>
              <a:rPr lang="it-IT" altLang="it-IT">
                <a:latin typeface="Delicious"/>
              </a:rPr>
              <a:t> </a:t>
            </a:r>
            <a:r>
              <a:rPr lang="it-IT" altLang="it-IT" err="1">
                <a:latin typeface="Delicious"/>
              </a:rPr>
              <a:t>that</a:t>
            </a:r>
            <a:r>
              <a:rPr lang="it-IT" altLang="it-IT">
                <a:latin typeface="Delicious"/>
              </a:rPr>
              <a:t> </a:t>
            </a:r>
            <a:r>
              <a:rPr lang="it-IT" altLang="it-IT" err="1">
                <a:latin typeface="Delicious"/>
              </a:rPr>
              <a:t>detection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difficulty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depends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on the </a:t>
            </a:r>
            <a:r>
              <a:rPr kumimoji="0" lang="it-IT" altLang="it-IT" sz="1800" b="1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Kullback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effectLst/>
                <a:latin typeface="Delicious"/>
              </a:rPr>
              <a:t>–</a:t>
            </a:r>
            <a:r>
              <a:rPr kumimoji="0" lang="it-IT" altLang="it-IT" sz="1800" b="1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Leibler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effectLst/>
                <a:latin typeface="Delicious"/>
              </a:rPr>
              <a:t> (KL) </a:t>
            </a:r>
            <a:r>
              <a:rPr kumimoji="0" lang="it-IT" altLang="it-IT" sz="1800" b="1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divergence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.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Therefore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, the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objective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is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to generate data with a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specific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1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Symmetric</a:t>
            </a:r>
            <a:r>
              <a:rPr kumimoji="0" lang="it-IT" altLang="it-IT" sz="1800" b="1" i="0" u="none" strike="noStrike" cap="none" normalizeH="0" baseline="0">
                <a:ln>
                  <a:noFill/>
                </a:ln>
                <a:effectLst/>
                <a:latin typeface="Delicious"/>
              </a:rPr>
              <a:t> KL (SKL)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divergence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between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 </a:t>
            </a:r>
            <a:r>
              <a:rPr kumimoji="0" lang="it-IT" altLang="it-IT" sz="1800" b="0" i="0" u="none" strike="noStrike" cap="none" normalizeH="0" baseline="0" err="1">
                <a:ln>
                  <a:noFill/>
                </a:ln>
                <a:effectLst/>
                <a:latin typeface="Delicious"/>
              </a:rPr>
              <a:t>pairs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effectLst/>
                <a:latin typeface="Delicious"/>
              </a:rPr>
              <a:t>. </a:t>
            </a:r>
            <a:endParaRPr lang="it-IT" altLang="it-IT" sz="1800" b="0" i="0" u="none" strike="noStrike" cap="none" normalizeH="0" baseline="0">
              <a:ln>
                <a:noFill/>
              </a:ln>
              <a:effectLst/>
              <a:latin typeface="Deliciou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2CBD7D-1865-0404-2D8B-741F2904C914}"/>
                  </a:ext>
                </a:extLst>
              </p:cNvPr>
              <p:cNvSpPr txBox="1"/>
              <p:nvPr/>
            </p:nvSpPr>
            <p:spPr>
              <a:xfrm>
                <a:off x="6379711" y="6185719"/>
                <a:ext cx="4354550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𝑠𝑦𝑚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𝐷𝐾𝐿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𝐷𝐾𝐿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it-IT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2CBD7D-1865-0404-2D8B-741F2904C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711" y="6185719"/>
                <a:ext cx="4354550" cy="391261"/>
              </a:xfrm>
              <a:prstGeom prst="rect">
                <a:avLst/>
              </a:prstGeom>
              <a:blipFill>
                <a:blip r:embed="rId7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4051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2444-9834-2F69-4787-3F41C520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A7E326-4EE3-FC71-F266-CBE14910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5146" y="2089638"/>
            <a:ext cx="5499258" cy="2422077"/>
          </a:xfrm>
        </p:spPr>
        <p:txBody>
          <a:bodyPr>
            <a:normAutofit fontScale="90000"/>
          </a:bodyPr>
          <a:lstStyle/>
          <a:p>
            <a:pPr algn="r"/>
            <a:r>
              <a:rPr lang="it-IT">
                <a:solidFill>
                  <a:srgbClr val="00B050"/>
                </a:solidFill>
                <a:latin typeface="Delicious"/>
                <a:cs typeface="Times New Roman"/>
              </a:rPr>
              <a:t>Solutions to the </a:t>
            </a:r>
            <a:r>
              <a:rPr lang="it-IT" err="1">
                <a:solidFill>
                  <a:srgbClr val="00B050"/>
                </a:solidFill>
                <a:latin typeface="Delicious"/>
                <a:cs typeface="Times New Roman"/>
              </a:rPr>
              <a:t>Gaussian</a:t>
            </a:r>
            <a:r>
              <a:rPr lang="it-IT">
                <a:solidFill>
                  <a:srgbClr val="00B05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B050"/>
                </a:solidFill>
                <a:latin typeface="Delicious"/>
                <a:cs typeface="Times New Roman"/>
              </a:rPr>
              <a:t>constellation</a:t>
            </a:r>
            <a:r>
              <a:rPr lang="it-IT">
                <a:solidFill>
                  <a:srgbClr val="00B05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B050"/>
                </a:solidFill>
                <a:latin typeface="Delicious"/>
                <a:cs typeface="Times New Roman"/>
              </a:rPr>
              <a:t>problem</a:t>
            </a:r>
            <a:endParaRPr lang="it-IT">
              <a:solidFill>
                <a:srgbClr val="00B050"/>
              </a:solidFill>
              <a:latin typeface="Delicious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F1FB3-3A12-8935-C2F7-7FA62CA565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72" t="24814" r="12326" b="15702"/>
          <a:stretch>
            <a:fillRect/>
          </a:stretch>
        </p:blipFill>
        <p:spPr>
          <a:xfrm>
            <a:off x="588193" y="890100"/>
            <a:ext cx="5416953" cy="58336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64BD8D-1D4E-9562-E61A-8508CF9654DD}"/>
              </a:ext>
            </a:extLst>
          </p:cNvPr>
          <p:cNvSpPr/>
          <p:nvPr/>
        </p:nvSpPr>
        <p:spPr>
          <a:xfrm>
            <a:off x="5057451" y="134259"/>
            <a:ext cx="947695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1500" b="1">
                <a:ln/>
                <a:solidFill>
                  <a:srgbClr val="00B05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3635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F747-B90F-5551-FE35-1FE45280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C155-9FD0-0552-3B6A-C3954821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88DC-F698-F926-FBB7-11F2E80BA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>
                <a:ea typeface="+mn-lt"/>
                <a:cs typeface="+mn-lt"/>
              </a:rPr>
              <a:t>Use rejection sampling similar + ccm </a:t>
            </a:r>
            <a:r>
              <a:rPr lang="en-US" sz="1800">
                <a:ea typeface="+mn-lt"/>
                <a:cs typeface="+mn-lt"/>
              </a:rPr>
              <a:t>(</a:t>
            </a:r>
            <a:r>
              <a:rPr lang="en-US" sz="1800">
                <a:latin typeface="Arial"/>
                <a:ea typeface="+mn-lt"/>
                <a:cs typeface="Arial"/>
              </a:rPr>
              <a:t>•</a:t>
            </a:r>
            <a:r>
              <a:rPr lang="en-US" sz="1800" i="1">
                <a:ea typeface="+mn-lt"/>
                <a:cs typeface="+mn-lt"/>
                <a:hlinkClick r:id="rId2"/>
              </a:rPr>
              <a:t>Generating High-Dimensional </a:t>
            </a:r>
            <a:r>
              <a:rPr lang="en-US" sz="1800" i="1" err="1">
                <a:ea typeface="+mn-lt"/>
                <a:cs typeface="+mn-lt"/>
                <a:hlinkClick r:id="rId2"/>
              </a:rPr>
              <a:t>Datastreams</a:t>
            </a:r>
            <a:r>
              <a:rPr lang="en-US" sz="1800" i="1">
                <a:ea typeface="+mn-lt"/>
                <a:cs typeface="+mn-lt"/>
                <a:hlinkClick r:id="rId2"/>
              </a:rPr>
              <a:t> for Change Detection Diego Carrera, Giacomo </a:t>
            </a:r>
            <a:r>
              <a:rPr lang="en-US" sz="1800" i="1" err="1">
                <a:ea typeface="+mn-lt"/>
                <a:cs typeface="+mn-lt"/>
                <a:hlinkClick r:id="rId2"/>
              </a:rPr>
              <a:t>Boracchi</a:t>
            </a:r>
            <a:r>
              <a:rPr lang="en-US" sz="1800" i="1">
                <a:ea typeface="+mn-lt"/>
                <a:cs typeface="+mn-lt"/>
              </a:rPr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ea typeface="+mn-lt"/>
                <a:cs typeface="+mn-lt"/>
              </a:rPr>
              <a:t>Use</a:t>
            </a:r>
            <a:r>
              <a:rPr lang="en-US" sz="2400" i="1">
                <a:ea typeface="+mn-lt"/>
                <a:cs typeface="+mn-lt"/>
              </a:rPr>
              <a:t> </a:t>
            </a:r>
            <a:r>
              <a:rPr lang="en-US" sz="2400" i="1">
                <a:solidFill>
                  <a:srgbClr val="00B050"/>
                </a:solidFill>
                <a:ea typeface="+mn-lt"/>
                <a:cs typeface="+mn-lt"/>
              </a:rPr>
              <a:t>OGD </a:t>
            </a:r>
            <a:r>
              <a:rPr lang="en-US" sz="2400">
                <a:ea typeface="+mn-lt"/>
                <a:cs typeface="+mn-lt"/>
              </a:rPr>
              <a:t>: from our experimentation an upgrade to previous existing versions. </a:t>
            </a:r>
            <a:r>
              <a:rPr lang="en-US" sz="2400" i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On the extra material we have a complete performance analysis + theoretical reasons why we think our method is better.</a:t>
            </a:r>
            <a:endParaRPr lang="en-US" sz="2400" i="1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A91F6-8F91-D33D-1950-CEE79399FDC4}"/>
              </a:ext>
            </a:extLst>
          </p:cNvPr>
          <p:cNvSpPr txBox="1"/>
          <p:nvPr/>
        </p:nvSpPr>
        <p:spPr>
          <a:xfrm>
            <a:off x="944077" y="4793382"/>
            <a:ext cx="9816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Delicious"/>
              </a:rPr>
              <a:t>References:</a:t>
            </a:r>
          </a:p>
          <a:p>
            <a:r>
              <a:rPr lang="en-US" i="1">
                <a:latin typeface="Delicious"/>
                <a:hlinkClick r:id="rId3"/>
              </a:rPr>
              <a:t>Generating High-Dimensional Datastreams for Change Detection</a:t>
            </a:r>
            <a:r>
              <a:rPr lang="en-US" i="1">
                <a:latin typeface="Delicious"/>
              </a:rPr>
              <a:t>  D. Carrera, G. Boracchi</a:t>
            </a:r>
          </a:p>
          <a:p>
            <a:r>
              <a:rPr lang="en-US" i="1">
                <a:latin typeface="Delicious"/>
                <a:hlinkClick r:id="rId4"/>
              </a:rPr>
              <a:t>Multimodal Batch-wise Change Detection</a:t>
            </a:r>
            <a:r>
              <a:rPr lang="en-US" i="1">
                <a:latin typeface="Delicious"/>
              </a:rPr>
              <a:t>  D. Stucchi, G. Boracchi, L. Magri, D. Carrera</a:t>
            </a:r>
            <a:r>
              <a:rPr lang="en-US" i="1">
                <a:solidFill>
                  <a:srgbClr val="7030A0"/>
                </a:solidFill>
                <a:latin typeface="Delicious"/>
              </a:rPr>
              <a:t>*</a:t>
            </a:r>
          </a:p>
          <a:p>
            <a:r>
              <a:rPr lang="en-US" i="1">
                <a:solidFill>
                  <a:srgbClr val="7030A0"/>
                </a:solidFill>
                <a:latin typeface="Delicious"/>
              </a:rPr>
              <a:t>*Note: this paper imposed just a lower bound on the SKL divergence.</a:t>
            </a:r>
          </a:p>
        </p:txBody>
      </p:sp>
    </p:spTree>
    <p:extLst>
      <p:ext uri="{BB962C8B-B14F-4D97-AF65-F5344CB8AC3E}">
        <p14:creationId xmlns:p14="http://schemas.microsoft.com/office/powerpoint/2010/main" val="4149258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A677A8-5476-3E07-A087-BFFD8D0C4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47" y="1110032"/>
            <a:ext cx="3724102" cy="4211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6BAA24-F36C-93D1-D831-17AB4852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949" y="1110032"/>
            <a:ext cx="3724102" cy="4105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47B5D2-534F-412C-9998-A1B840498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51" y="1110032"/>
            <a:ext cx="3599411" cy="4083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25C588-994D-BE0D-5240-398390EFE429}"/>
              </a:ext>
            </a:extLst>
          </p:cNvPr>
          <p:cNvSpPr txBox="1"/>
          <p:nvPr/>
        </p:nvSpPr>
        <p:spPr>
          <a:xfrm>
            <a:off x="432261" y="199506"/>
            <a:ext cx="5536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>
                <a:solidFill>
                  <a:srgbClr val="0070C0"/>
                </a:solidFill>
              </a:rPr>
              <a:t>Online </a:t>
            </a:r>
            <a:r>
              <a:rPr lang="it-IT" sz="3600" err="1">
                <a:solidFill>
                  <a:srgbClr val="0070C0"/>
                </a:solidFill>
              </a:rPr>
              <a:t>Gradient</a:t>
            </a:r>
            <a:r>
              <a:rPr lang="it-IT" sz="3600">
                <a:solidFill>
                  <a:srgbClr val="0070C0"/>
                </a:solidFill>
              </a:rPr>
              <a:t> </a:t>
            </a:r>
            <a:r>
              <a:rPr lang="it-IT" sz="3600" err="1">
                <a:solidFill>
                  <a:srgbClr val="0070C0"/>
                </a:solidFill>
              </a:rPr>
              <a:t>descent</a:t>
            </a:r>
            <a:endParaRPr lang="it-IT" sz="360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53997-24D2-2EDA-262B-5F7271965BEB}"/>
              </a:ext>
            </a:extLst>
          </p:cNvPr>
          <p:cNvSpPr txBox="1"/>
          <p:nvPr/>
        </p:nvSpPr>
        <p:spPr>
          <a:xfrm>
            <a:off x="509847" y="5585594"/>
            <a:ext cx="112220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Instead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adding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a mode one by one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at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beginning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we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randomly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distribute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parameter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all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N of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our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gaussians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then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we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manipulate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gaussians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to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slowly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 converge to the </a:t>
            </a:r>
            <a:r>
              <a:rPr lang="it-IT" err="1">
                <a:solidFill>
                  <a:schemeClr val="bg1">
                    <a:lumMod val="50000"/>
                  </a:schemeClr>
                </a:solidFill>
              </a:rPr>
              <a:t>solution</a:t>
            </a:r>
            <a:r>
              <a:rPr lang="it-IT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it-IT">
                <a:solidFill>
                  <a:schemeClr val="bg1">
                    <a:lumMod val="50000"/>
                  </a:schemeClr>
                </a:solidFill>
              </a:rPr>
              <a:t>Anchor could be a gaussians with good values of mean and std dev. </a:t>
            </a:r>
          </a:p>
        </p:txBody>
      </p:sp>
    </p:spTree>
    <p:extLst>
      <p:ext uri="{BB962C8B-B14F-4D97-AF65-F5344CB8AC3E}">
        <p14:creationId xmlns:p14="http://schemas.microsoft.com/office/powerpoint/2010/main" val="3730277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77A7-7478-7DAC-698F-D2CEEBB8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33EF-2814-944B-3D84-73FCA2B8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>
                <a:solidFill>
                  <a:srgbClr val="0070C0"/>
                </a:solidFill>
                <a:latin typeface="Delicious"/>
              </a:rPr>
              <a:t>How </a:t>
            </a:r>
            <a:r>
              <a:rPr lang="it-IT" sz="4800" err="1">
                <a:solidFill>
                  <a:srgbClr val="0070C0"/>
                </a:solidFill>
                <a:latin typeface="Delicious"/>
              </a:rPr>
              <a:t>it</a:t>
            </a:r>
            <a:r>
              <a:rPr lang="it-IT" sz="4800">
                <a:solidFill>
                  <a:srgbClr val="0070C0"/>
                </a:solidFill>
                <a:latin typeface="Delicious"/>
              </a:rPr>
              <a:t>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FC8B1-B413-F6A7-CD41-644C5608EF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it-IT">
                    <a:latin typeface="Delicious"/>
                  </a:rPr>
                  <a:t>It </a:t>
                </a:r>
                <a:r>
                  <a:rPr lang="it-IT" err="1">
                    <a:latin typeface="Delicious"/>
                  </a:rPr>
                  <a:t>is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possible</a:t>
                </a:r>
                <a:r>
                  <a:rPr lang="it-IT">
                    <a:latin typeface="Delicious"/>
                  </a:rPr>
                  <a:t> to </a:t>
                </a:r>
                <a:r>
                  <a:rPr lang="it-IT" err="1">
                    <a:latin typeface="Delicious"/>
                  </a:rPr>
                  <a:t>approach</a:t>
                </a:r>
                <a:r>
                  <a:rPr lang="it-IT">
                    <a:latin typeface="Delicious"/>
                  </a:rPr>
                  <a:t> the </a:t>
                </a:r>
                <a:r>
                  <a:rPr lang="it-IT" err="1">
                    <a:latin typeface="Delicious"/>
                  </a:rPr>
                  <a:t>problem</a:t>
                </a:r>
                <a:r>
                  <a:rPr lang="it-IT">
                    <a:latin typeface="Delicious"/>
                  </a:rPr>
                  <a:t> like a Machine Learning </a:t>
                </a:r>
                <a:r>
                  <a:rPr lang="it-IT" b="1" err="1">
                    <a:solidFill>
                      <a:srgbClr val="00B050"/>
                    </a:solidFill>
                    <a:latin typeface="Delicious"/>
                  </a:rPr>
                  <a:t>optimization</a:t>
                </a:r>
                <a:r>
                  <a:rPr lang="it-IT" b="1">
                    <a:solidFill>
                      <a:srgbClr val="00B050"/>
                    </a:solidFill>
                    <a:latin typeface="Delicious"/>
                  </a:rPr>
                  <a:t> </a:t>
                </a:r>
                <a:r>
                  <a:rPr lang="it-IT" b="1" err="1">
                    <a:solidFill>
                      <a:srgbClr val="00B050"/>
                    </a:solidFill>
                    <a:latin typeface="Delicious"/>
                  </a:rPr>
                  <a:t>problem</a:t>
                </a:r>
                <a:r>
                  <a:rPr lang="it-IT">
                    <a:latin typeface="Delicious"/>
                  </a:rPr>
                  <a:t>. </a:t>
                </a:r>
              </a:p>
              <a:p>
                <a:pPr marL="0" indent="0">
                  <a:buNone/>
                </a:pPr>
                <a:endParaRPr lang="it-IT">
                  <a:latin typeface="Delicious"/>
                </a:endParaRPr>
              </a:p>
              <a:p>
                <a:pPr marL="0" indent="0">
                  <a:buNone/>
                </a:pPr>
                <a:r>
                  <a:rPr lang="it-IT" err="1">
                    <a:latin typeface="Delicious"/>
                  </a:rPr>
                  <a:t>It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is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possible</a:t>
                </a:r>
                <a:r>
                  <a:rPr lang="it-IT">
                    <a:latin typeface="Delicious"/>
                  </a:rPr>
                  <a:t> to </a:t>
                </a:r>
                <a:r>
                  <a:rPr lang="it-IT" err="1">
                    <a:latin typeface="Delicious"/>
                  </a:rPr>
                  <a:t>define</a:t>
                </a:r>
                <a:r>
                  <a:rPr lang="it-IT">
                    <a:latin typeface="Delicious"/>
                  </a:rPr>
                  <a:t> a </a:t>
                </a:r>
                <a:r>
                  <a:rPr lang="it-IT" err="1">
                    <a:solidFill>
                      <a:srgbClr val="0070C0"/>
                    </a:solidFill>
                    <a:latin typeface="Delicious"/>
                  </a:rPr>
                  <a:t>loss</a:t>
                </a:r>
                <a:r>
                  <a:rPr lang="it-IT">
                    <a:solidFill>
                      <a:srgbClr val="0070C0"/>
                    </a:solidFill>
                    <a:latin typeface="Delicious"/>
                  </a:rPr>
                  <a:t> </a:t>
                </a:r>
                <a:r>
                  <a:rPr lang="it-IT" err="1">
                    <a:solidFill>
                      <a:srgbClr val="0070C0"/>
                    </a:solidFill>
                    <a:latin typeface="Delicious"/>
                  </a:rPr>
                  <a:t>function</a:t>
                </a:r>
                <a:r>
                  <a:rPr lang="it-IT">
                    <a:solidFill>
                      <a:srgbClr val="0070C0"/>
                    </a:solidFill>
                    <a:latin typeface="Delicious"/>
                  </a:rPr>
                  <a:t> L </a:t>
                </a:r>
                <a:r>
                  <a:rPr lang="it-IT" err="1">
                    <a:latin typeface="Delicious"/>
                  </a:rPr>
                  <a:t>as</a:t>
                </a:r>
                <a:r>
                  <a:rPr lang="it-IT">
                    <a:latin typeface="Delicious"/>
                  </a:rPr>
                  <a:t> the MSE </a:t>
                </a:r>
                <a:r>
                  <a:rPr lang="it-IT" err="1">
                    <a:latin typeface="Delicious"/>
                  </a:rPr>
                  <a:t>between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current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solution</a:t>
                </a:r>
                <a:r>
                  <a:rPr lang="it-IT">
                    <a:latin typeface="Delicious"/>
                  </a:rPr>
                  <a:t> and target </a:t>
                </a:r>
                <a:r>
                  <a:rPr lang="it-IT" err="1">
                    <a:latin typeface="Delicious"/>
                  </a:rPr>
                  <a:t>solution</a:t>
                </a:r>
                <a:r>
                  <a:rPr lang="it-IT">
                    <a:latin typeface="Delicious"/>
                  </a:rPr>
                  <a:t>, or, more </a:t>
                </a:r>
                <a:r>
                  <a:rPr lang="it-IT" err="1">
                    <a:latin typeface="Delicious"/>
                  </a:rPr>
                  <a:t>formally</a:t>
                </a:r>
                <a:r>
                  <a:rPr lang="it-IT">
                    <a:latin typeface="Delicious"/>
                  </a:rPr>
                  <a:t>: </a:t>
                </a:r>
              </a:p>
              <a:p>
                <a:pPr marL="0" indent="0">
                  <a:buNone/>
                </a:pPr>
                <a:endParaRPr lang="it-IT">
                  <a:latin typeface="Delicious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5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it-IT" sz="35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3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35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35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𝑠𝐾𝐿</m:t>
                                  </m:r>
                                  <m:d>
                                    <m:dPr>
                                      <m:ctrlPr>
                                        <a:rPr lang="it-IT" sz="35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35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3500" b="0" i="1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it-IT" sz="35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35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</m:t>
                                  </m:r>
                                  <m:sSub>
                                    <m:sSubPr>
                                      <m:ctrlPr>
                                        <a:rPr lang="it-IT" sz="35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35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it-IT" sz="35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𝑡𝑎𝑟𝑔𝑒𝑡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sz="35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>
                  <a:latin typeface="Delicious"/>
                </a:endParaRPr>
              </a:p>
              <a:p>
                <a:pPr marL="0" indent="0">
                  <a:buNone/>
                </a:pPr>
                <a:r>
                  <a:rPr lang="it-IT">
                    <a:latin typeface="Delicious"/>
                  </a:rPr>
                  <a:t>Once </a:t>
                </a:r>
                <a:r>
                  <a:rPr lang="it-IT" err="1">
                    <a:latin typeface="Delicious"/>
                  </a:rPr>
                  <a:t>we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have</a:t>
                </a:r>
                <a:r>
                  <a:rPr lang="it-IT">
                    <a:latin typeface="Delicious"/>
                  </a:rPr>
                  <a:t> a Loss </a:t>
                </a:r>
                <a:r>
                  <a:rPr lang="it-IT" err="1">
                    <a:latin typeface="Delicious"/>
                  </a:rPr>
                  <a:t>function</a:t>
                </a:r>
                <a:r>
                  <a:rPr lang="it-IT">
                    <a:latin typeface="Delicious"/>
                  </a:rPr>
                  <a:t> </a:t>
                </a:r>
                <a:r>
                  <a:rPr lang="it-IT" err="1">
                    <a:latin typeface="Delicious"/>
                  </a:rPr>
                  <a:t>we</a:t>
                </a:r>
                <a:r>
                  <a:rPr lang="it-IT">
                    <a:latin typeface="Delicious"/>
                  </a:rPr>
                  <a:t> can derivate </a:t>
                </a:r>
                <a:r>
                  <a:rPr lang="it-IT" err="1">
                    <a:latin typeface="Delicious"/>
                  </a:rPr>
                  <a:t>it</a:t>
                </a:r>
                <a:r>
                  <a:rPr lang="it-IT">
                    <a:latin typeface="Delicious"/>
                  </a:rPr>
                  <a:t>, compute the </a:t>
                </a:r>
                <a:r>
                  <a:rPr lang="it-IT" b="1" err="1">
                    <a:solidFill>
                      <a:srgbClr val="FF9900"/>
                    </a:solidFill>
                    <a:latin typeface="Delicious"/>
                  </a:rPr>
                  <a:t>gradient</a:t>
                </a:r>
                <a:r>
                  <a:rPr lang="it-IT">
                    <a:solidFill>
                      <a:srgbClr val="FF9900"/>
                    </a:solidFill>
                    <a:latin typeface="Delicious"/>
                  </a:rPr>
                  <a:t> </a:t>
                </a:r>
              </a:p>
              <a:p>
                <a:pPr marL="0" indent="0">
                  <a:buNone/>
                </a:pPr>
                <a:r>
                  <a:rPr lang="it-IT" b="1">
                    <a:solidFill>
                      <a:srgbClr val="FF9900"/>
                    </a:solidFill>
                    <a:latin typeface="Delicious"/>
                  </a:rPr>
                  <a:t>∇L(</a:t>
                </a:r>
                <a:r>
                  <a:rPr lang="it-IT" b="1">
                    <a:solidFill>
                      <a:srgbClr val="FF9900"/>
                    </a:solidFill>
                    <a:ea typeface="+mn-lt"/>
                    <a:cs typeface="+mn-lt"/>
                  </a:rPr>
                  <a:t>φ1…</a:t>
                </a:r>
                <a:r>
                  <a:rPr lang="it-IT" b="1" err="1">
                    <a:solidFill>
                      <a:srgbClr val="FF9900"/>
                    </a:solidFill>
                    <a:ea typeface="+mn-lt"/>
                    <a:cs typeface="+mn-lt"/>
                  </a:rPr>
                  <a:t>φN</a:t>
                </a:r>
                <a:r>
                  <a:rPr lang="it-IT" b="1">
                    <a:solidFill>
                      <a:srgbClr val="FF9900"/>
                    </a:solidFill>
                    <a:ea typeface="+mn-lt"/>
                    <a:cs typeface="+mn-lt"/>
                  </a:rPr>
                  <a:t>) </a:t>
                </a:r>
                <a:r>
                  <a:rPr lang="it-IT">
                    <a:ea typeface="+mn-lt"/>
                    <a:cs typeface="+mn-lt"/>
                  </a:rPr>
                  <a:t>and follow </a:t>
                </a:r>
                <a:r>
                  <a:rPr lang="it-IT" err="1">
                    <a:ea typeface="+mn-lt"/>
                    <a:cs typeface="+mn-lt"/>
                  </a:rPr>
                  <a:t>it</a:t>
                </a:r>
                <a:r>
                  <a:rPr lang="it-IT">
                    <a:ea typeface="+mn-lt"/>
                    <a:cs typeface="+mn-lt"/>
                  </a:rPr>
                  <a:t> </a:t>
                </a:r>
                <a:r>
                  <a:rPr lang="it-IT" err="1">
                    <a:ea typeface="+mn-lt"/>
                    <a:cs typeface="+mn-lt"/>
                  </a:rPr>
                  <a:t>until</a:t>
                </a:r>
                <a:r>
                  <a:rPr lang="it-IT">
                    <a:ea typeface="+mn-lt"/>
                    <a:cs typeface="+mn-lt"/>
                  </a:rPr>
                  <a:t> </a:t>
                </a:r>
                <a:r>
                  <a:rPr lang="it-IT" err="1">
                    <a:ea typeface="+mn-lt"/>
                    <a:cs typeface="+mn-lt"/>
                  </a:rPr>
                  <a:t>we</a:t>
                </a:r>
                <a:r>
                  <a:rPr lang="it-IT">
                    <a:ea typeface="+mn-lt"/>
                    <a:cs typeface="+mn-lt"/>
                  </a:rPr>
                  <a:t> </a:t>
                </a:r>
                <a:r>
                  <a:rPr lang="it-IT" err="1">
                    <a:ea typeface="+mn-lt"/>
                    <a:cs typeface="+mn-lt"/>
                  </a:rPr>
                  <a:t>get</a:t>
                </a:r>
                <a:r>
                  <a:rPr lang="it-IT">
                    <a:ea typeface="+mn-lt"/>
                    <a:cs typeface="+mn-lt"/>
                  </a:rPr>
                  <a:t> to the minima…  </a:t>
                </a:r>
                <a:endParaRPr lang="it-IT">
                  <a:latin typeface="Delicious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D8FC8B1-B413-F6A7-CD41-644C5608E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954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5077A-9143-AC6E-4E98-1588A7BD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22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62062-3EAF-6071-CC77-B9445100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17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96B7DD-24A7-532B-D705-B4B47ED8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07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3B7D77-B0C0-48E3-33A3-4389B59C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2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90114-691E-4C68-C6FC-D7CD78DF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01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628F8-E38D-4B93-C385-FEF0A3BB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2" y="0"/>
            <a:ext cx="11994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56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26FC42-A3B7-AC49-694F-65409A3A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68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DE67EF-263D-08F2-68AC-F320E2F6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" y="0"/>
            <a:ext cx="1198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1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3C28-87AC-AD3A-828F-103F05FD4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of the whole </a:t>
            </a:r>
            <a:r>
              <a:rPr lang="en-US" err="1"/>
              <a:t>Prj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52D1E-200D-AEEB-03B7-3DE9AD1F8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Seen from environment </a:t>
            </a:r>
            <a:r>
              <a:rPr lang="en-US" err="1"/>
              <a:t>persepctive</a:t>
            </a:r>
          </a:p>
        </p:txBody>
      </p:sp>
    </p:spTree>
    <p:extLst>
      <p:ext uri="{BB962C8B-B14F-4D97-AF65-F5344CB8AC3E}">
        <p14:creationId xmlns:p14="http://schemas.microsoft.com/office/powerpoint/2010/main" val="4259180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20B9-667E-46A4-9C7D-222746C8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Idea: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A020-3C10-855F-858C-69E607F97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/>
              <a:t>Like Mengyao </a:t>
            </a:r>
            <a:r>
              <a:rPr lang="it-IT" err="1"/>
              <a:t>did</a:t>
            </a:r>
            <a:r>
              <a:rPr lang="it-IT"/>
              <a:t> use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sKL</a:t>
            </a:r>
            <a:r>
              <a:rPr lang="it-IT"/>
              <a:t> and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train</a:t>
            </a:r>
            <a:r>
              <a:rPr lang="it-IT"/>
              <a:t> frequency and </a:t>
            </a:r>
            <a:r>
              <a:rPr lang="it-IT" err="1"/>
              <a:t>see</a:t>
            </a:r>
            <a:r>
              <a:rPr lang="it-IT"/>
              <a:t> </a:t>
            </a:r>
            <a:r>
              <a:rPr lang="it-IT" err="1"/>
              <a:t>how</a:t>
            </a:r>
            <a:r>
              <a:rPr lang="it-IT"/>
              <a:t> the </a:t>
            </a:r>
            <a:r>
              <a:rPr lang="it-IT" err="1"/>
              <a:t>algorithm</a:t>
            </a:r>
            <a:r>
              <a:rPr lang="it-IT"/>
              <a:t> </a:t>
            </a:r>
            <a:r>
              <a:rPr lang="it-IT" err="1"/>
              <a:t>react</a:t>
            </a:r>
            <a:r>
              <a:rPr lang="it-IT"/>
              <a:t> in </a:t>
            </a:r>
            <a:r>
              <a:rPr lang="it-IT" err="1"/>
              <a:t>mean</a:t>
            </a:r>
            <a:r>
              <a:rPr lang="it-IT"/>
              <a:t> to </a:t>
            </a:r>
            <a:r>
              <a:rPr lang="it-IT" err="1"/>
              <a:t>those</a:t>
            </a:r>
            <a:r>
              <a:rPr lang="it-IT"/>
              <a:t> </a:t>
            </a:r>
            <a:r>
              <a:rPr lang="it-IT" err="1"/>
              <a:t>condition</a:t>
            </a:r>
            <a:r>
              <a:rPr lang="it-IT"/>
              <a:t> (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accumulates</a:t>
            </a:r>
            <a:r>
              <a:rPr lang="it-IT"/>
              <a:t> more </a:t>
            </a:r>
            <a:r>
              <a:rPr lang="it-IT" err="1"/>
              <a:t>regrets</a:t>
            </a:r>
            <a:r>
              <a:rPr lang="it-IT"/>
              <a:t> etc...</a:t>
            </a:r>
          </a:p>
          <a:p>
            <a:pPr marL="0" indent="0">
              <a:buNone/>
            </a:pPr>
            <a:r>
              <a:rPr lang="it-IT" err="1"/>
              <a:t>What</a:t>
            </a:r>
            <a:r>
              <a:rPr lang="it-IT"/>
              <a:t> I </a:t>
            </a:r>
            <a:r>
              <a:rPr lang="it-IT" err="1"/>
              <a:t>expect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something</a:t>
            </a:r>
            <a:r>
              <a:rPr lang="it-IT"/>
              <a:t> close to the slides </a:t>
            </a:r>
            <a:r>
              <a:rPr lang="it-IT" err="1"/>
              <a:t>below</a:t>
            </a:r>
            <a:r>
              <a:rPr lang="it-IT"/>
              <a:t>:</a:t>
            </a:r>
          </a:p>
          <a:p>
            <a:pPr marL="0" indent="0">
              <a:buNone/>
            </a:pPr>
            <a:r>
              <a:rPr lang="it-IT"/>
              <a:t>(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</a:t>
            </a:r>
            <a:r>
              <a:rPr lang="it-IT" err="1"/>
              <a:t>presented</a:t>
            </a:r>
            <a:r>
              <a:rPr lang="it-IT"/>
              <a:t> by </a:t>
            </a:r>
            <a:r>
              <a:rPr lang="it-IT" err="1"/>
              <a:t>every</a:t>
            </a:r>
            <a:r>
              <a:rPr lang="it-IT"/>
              <a:t> component (Luigi, Mengyao and Ale </a:t>
            </a:r>
            <a:r>
              <a:rPr lang="it-IT" err="1"/>
              <a:t>using</a:t>
            </a:r>
            <a:r>
              <a:rPr lang="it-IT"/>
              <a:t>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algorithm</a:t>
            </a:r>
            <a:r>
              <a:rPr lang="it-IT"/>
              <a:t>. Better to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same</a:t>
            </a:r>
            <a:r>
              <a:rPr lang="it-IT"/>
              <a:t> </a:t>
            </a:r>
            <a:r>
              <a:rPr lang="it-IT" err="1"/>
              <a:t>realizations</a:t>
            </a:r>
            <a:r>
              <a:rPr lang="it-IT"/>
              <a:t> to </a:t>
            </a:r>
            <a:r>
              <a:rPr lang="it-IT" err="1"/>
              <a:t>have</a:t>
            </a:r>
            <a:r>
              <a:rPr lang="it-IT"/>
              <a:t> a fair testing):</a:t>
            </a:r>
          </a:p>
        </p:txBody>
      </p:sp>
    </p:spTree>
    <p:extLst>
      <p:ext uri="{BB962C8B-B14F-4D97-AF65-F5344CB8AC3E}">
        <p14:creationId xmlns:p14="http://schemas.microsoft.com/office/powerpoint/2010/main" val="2394141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STORY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algorithm wins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  across the (f, sKL) plane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792480" cy="609600"/>
          </a:xfrm>
          <a:prstGeom prst="rect">
            <a:avLst/>
          </a:prstGeom>
          <a:solidFill>
            <a:srgbClr val="57B29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981200" y="19202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773680" y="19202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566160" y="1920240"/>
            <a:ext cx="792480" cy="609600"/>
          </a:xfrm>
          <a:prstGeom prst="rect">
            <a:avLst/>
          </a:prstGeom>
          <a:solidFill>
            <a:srgbClr val="F9D1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358640" y="19202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151120" y="1920240"/>
            <a:ext cx="792480" cy="609600"/>
          </a:xfrm>
          <a:prstGeom prst="rect">
            <a:avLst/>
          </a:prstGeom>
          <a:solidFill>
            <a:srgbClr val="E85D4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188720" y="25298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1981200" y="2529840"/>
            <a:ext cx="792480" cy="609600"/>
          </a:xfrm>
          <a:prstGeom prst="rect">
            <a:avLst/>
          </a:prstGeom>
          <a:solidFill>
            <a:srgbClr val="9ACE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773680" y="2529840"/>
            <a:ext cx="792480" cy="609600"/>
          </a:xfrm>
          <a:prstGeom prst="rect">
            <a:avLst/>
          </a:prstGeom>
          <a:solidFill>
            <a:srgbClr val="DDE9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566160" y="25298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58640" y="2529840"/>
            <a:ext cx="792480" cy="609600"/>
          </a:xfrm>
          <a:prstGeom prst="rect">
            <a:avLst/>
          </a:prstGeom>
          <a:solidFill>
            <a:srgbClr val="F19B8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151120" y="2529840"/>
            <a:ext cx="792480" cy="609600"/>
          </a:xfrm>
          <a:prstGeom prst="rect">
            <a:avLst/>
          </a:prstGeom>
          <a:solidFill>
            <a:srgbClr val="EA6C5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1188720" y="3139440"/>
            <a:ext cx="792480" cy="609600"/>
          </a:xfrm>
          <a:prstGeom prst="rect">
            <a:avLst/>
          </a:prstGeom>
          <a:solidFill>
            <a:srgbClr val="A5D2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1981200" y="31394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2773680" y="31394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566160" y="31394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358640" y="3139440"/>
            <a:ext cx="792480" cy="609600"/>
          </a:xfrm>
          <a:prstGeom prst="rect">
            <a:avLst/>
          </a:prstGeom>
          <a:solidFill>
            <a:srgbClr val="F5B2A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151120" y="31394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188720" y="3749040"/>
            <a:ext cx="792480" cy="609600"/>
          </a:xfrm>
          <a:prstGeom prst="rect">
            <a:avLst/>
          </a:prstGeom>
          <a:solidFill>
            <a:srgbClr val="D2E5D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981200" y="3749040"/>
            <a:ext cx="792480" cy="609600"/>
          </a:xfrm>
          <a:prstGeom prst="rect">
            <a:avLst/>
          </a:prstGeom>
          <a:solidFill>
            <a:srgbClr val="E9EE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2773680" y="37490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566160" y="37490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358640" y="37490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5151120" y="3749040"/>
            <a:ext cx="792480" cy="609600"/>
          </a:xfrm>
          <a:prstGeom prst="rect">
            <a:avLst/>
          </a:prstGeom>
          <a:solidFill>
            <a:srgbClr val="F4AA9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188720" y="43586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981200" y="43586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2773680" y="43586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3566160" y="43586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358640" y="43586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5151120" y="43586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1188720" y="49682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198120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277368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356616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35864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5151120" y="49682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1188720" y="1920240"/>
            <a:ext cx="4754880" cy="3657600"/>
          </a:xfrm>
          <a:prstGeom prst="rect">
            <a:avLst/>
          </a:prstGeom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1188720" y="5623560"/>
            <a:ext cx="4754880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1005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5577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118872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frequency  f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1143000" y="1920240"/>
            <a:ext cx="0" cy="365760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 rot="16200000">
            <a:off x="-8229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 between regimes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40080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640080" y="5394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13258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13716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13716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45262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45720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45262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2926080" y="4663440"/>
            <a:ext cx="1280160" cy="73152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29718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292608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ENCODING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640080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</a:t>
            </a:r>
            <a:endParaRPr lang="en-US" sz="1400"/>
          </a:p>
        </p:txBody>
      </p:sp>
      <p:sp>
        <p:nvSpPr>
          <p:cNvPr id="61" name="Shape 59"/>
          <p:cNvSpPr/>
          <p:nvPr/>
        </p:nvSpPr>
        <p:spPr>
          <a:xfrm>
            <a:off x="6400800" y="2606040"/>
            <a:ext cx="205740" cy="274320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6606540" y="2606040"/>
            <a:ext cx="205740" cy="274320"/>
          </a:xfrm>
          <a:prstGeom prst="rect">
            <a:avLst/>
          </a:prstGeom>
          <a:solidFill>
            <a:srgbClr val="37A58E"/>
          </a:solidFill>
          <a:ln w="12700">
            <a:solidFill>
              <a:srgbClr val="37A5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6812280" y="2606040"/>
            <a:ext cx="205740" cy="274320"/>
          </a:xfrm>
          <a:prstGeom prst="rect">
            <a:avLst/>
          </a:prstGeom>
          <a:solidFill>
            <a:srgbClr val="4EAE99"/>
          </a:solidFill>
          <a:ln w="12700">
            <a:solidFill>
              <a:srgbClr val="4EAE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/>
          <p:cNvSpPr/>
          <p:nvPr/>
        </p:nvSpPr>
        <p:spPr>
          <a:xfrm>
            <a:off x="7018020" y="2606040"/>
            <a:ext cx="205740" cy="274320"/>
          </a:xfrm>
          <a:prstGeom prst="rect">
            <a:avLst/>
          </a:prstGeom>
          <a:solidFill>
            <a:srgbClr val="66B8A5"/>
          </a:solidFill>
          <a:ln w="12700">
            <a:solidFill>
              <a:srgbClr val="66B8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Shape 63"/>
          <p:cNvSpPr/>
          <p:nvPr/>
        </p:nvSpPr>
        <p:spPr>
          <a:xfrm>
            <a:off x="7223760" y="2606040"/>
            <a:ext cx="205740" cy="274320"/>
          </a:xfrm>
          <a:prstGeom prst="rect">
            <a:avLst/>
          </a:prstGeom>
          <a:solidFill>
            <a:srgbClr val="7DC2B0"/>
          </a:solidFill>
          <a:ln w="12700">
            <a:solidFill>
              <a:srgbClr val="7DC2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/>
          <p:cNvSpPr/>
          <p:nvPr/>
        </p:nvSpPr>
        <p:spPr>
          <a:xfrm>
            <a:off x="7429500" y="2606040"/>
            <a:ext cx="205740" cy="274320"/>
          </a:xfrm>
          <a:prstGeom prst="rect">
            <a:avLst/>
          </a:prstGeom>
          <a:solidFill>
            <a:srgbClr val="95CBBC"/>
          </a:solidFill>
          <a:ln w="12700">
            <a:solidFill>
              <a:srgbClr val="95CB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65"/>
          <p:cNvSpPr/>
          <p:nvPr/>
        </p:nvSpPr>
        <p:spPr>
          <a:xfrm>
            <a:off x="7635240" y="2606040"/>
            <a:ext cx="205740" cy="274320"/>
          </a:xfrm>
          <a:prstGeom prst="rect">
            <a:avLst/>
          </a:prstGeom>
          <a:solidFill>
            <a:srgbClr val="ACD5C7"/>
          </a:solidFill>
          <a:ln w="12700">
            <a:solidFill>
              <a:srgbClr val="ACD5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/>
          <p:cNvSpPr/>
          <p:nvPr/>
        </p:nvSpPr>
        <p:spPr>
          <a:xfrm>
            <a:off x="7840980" y="2606040"/>
            <a:ext cx="205740" cy="274320"/>
          </a:xfrm>
          <a:prstGeom prst="rect">
            <a:avLst/>
          </a:prstGeom>
          <a:solidFill>
            <a:srgbClr val="C4DFD3"/>
          </a:solidFill>
          <a:ln w="12700">
            <a:solidFill>
              <a:srgbClr val="C4DF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67"/>
          <p:cNvSpPr/>
          <p:nvPr/>
        </p:nvSpPr>
        <p:spPr>
          <a:xfrm>
            <a:off x="8046720" y="2606040"/>
            <a:ext cx="205740" cy="274320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Shape 68"/>
          <p:cNvSpPr/>
          <p:nvPr/>
        </p:nvSpPr>
        <p:spPr>
          <a:xfrm>
            <a:off x="8252460" y="2606040"/>
            <a:ext cx="205740" cy="274320"/>
          </a:xfrm>
          <a:prstGeom prst="rect">
            <a:avLst/>
          </a:prstGeom>
          <a:solidFill>
            <a:srgbClr val="F3F2EA"/>
          </a:solidFill>
          <a:ln w="12700">
            <a:solidFill>
              <a:srgbClr val="F3F2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69"/>
          <p:cNvSpPr/>
          <p:nvPr/>
        </p:nvSpPr>
        <p:spPr>
          <a:xfrm>
            <a:off x="8458200" y="2606040"/>
            <a:ext cx="205740" cy="274320"/>
          </a:xfrm>
          <a:prstGeom prst="rect">
            <a:avLst/>
          </a:prstGeom>
          <a:solidFill>
            <a:srgbClr val="FEEFE7"/>
          </a:solidFill>
          <a:ln w="12700">
            <a:solidFill>
              <a:srgbClr val="FEE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/>
          <p:cNvSpPr/>
          <p:nvPr/>
        </p:nvSpPr>
        <p:spPr>
          <a:xfrm>
            <a:off x="8663940" y="2606040"/>
            <a:ext cx="205740" cy="274320"/>
          </a:xfrm>
          <a:prstGeom prst="rect">
            <a:avLst/>
          </a:prstGeom>
          <a:solidFill>
            <a:srgbClr val="FBDFD6"/>
          </a:solidFill>
          <a:ln w="12700">
            <a:solidFill>
              <a:srgbClr val="FBDFD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Shape 71"/>
          <p:cNvSpPr/>
          <p:nvPr/>
        </p:nvSpPr>
        <p:spPr>
          <a:xfrm>
            <a:off x="8869680" y="2606040"/>
            <a:ext cx="205740" cy="274320"/>
          </a:xfrm>
          <a:prstGeom prst="rect">
            <a:avLst/>
          </a:prstGeom>
          <a:solidFill>
            <a:srgbClr val="F9CEC5"/>
          </a:solidFill>
          <a:ln w="12700">
            <a:solidFill>
              <a:srgbClr val="F9CE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Shape 72"/>
          <p:cNvSpPr/>
          <p:nvPr/>
        </p:nvSpPr>
        <p:spPr>
          <a:xfrm>
            <a:off x="9075420" y="2606040"/>
            <a:ext cx="205740" cy="274320"/>
          </a:xfrm>
          <a:prstGeom prst="rect">
            <a:avLst/>
          </a:prstGeom>
          <a:solidFill>
            <a:srgbClr val="F7BEB4"/>
          </a:solidFill>
          <a:ln w="12700">
            <a:solidFill>
              <a:srgbClr val="F7BE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Shape 73"/>
          <p:cNvSpPr/>
          <p:nvPr/>
        </p:nvSpPr>
        <p:spPr>
          <a:xfrm>
            <a:off x="9281160" y="2606040"/>
            <a:ext cx="205740" cy="274320"/>
          </a:xfrm>
          <a:prstGeom prst="rect">
            <a:avLst/>
          </a:prstGeom>
          <a:solidFill>
            <a:srgbClr val="F4AEA3"/>
          </a:solidFill>
          <a:ln w="12700">
            <a:solidFill>
              <a:srgbClr val="F4AE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Shape 74"/>
          <p:cNvSpPr/>
          <p:nvPr/>
        </p:nvSpPr>
        <p:spPr>
          <a:xfrm>
            <a:off x="9486900" y="2606040"/>
            <a:ext cx="205740" cy="274320"/>
          </a:xfrm>
          <a:prstGeom prst="rect">
            <a:avLst/>
          </a:prstGeom>
          <a:solidFill>
            <a:srgbClr val="F29E92"/>
          </a:solidFill>
          <a:ln w="12700">
            <a:solidFill>
              <a:srgbClr val="F29E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75"/>
          <p:cNvSpPr/>
          <p:nvPr/>
        </p:nvSpPr>
        <p:spPr>
          <a:xfrm>
            <a:off x="9692640" y="2606040"/>
            <a:ext cx="205740" cy="274320"/>
          </a:xfrm>
          <a:prstGeom prst="rect">
            <a:avLst/>
          </a:prstGeom>
          <a:solidFill>
            <a:srgbClr val="EF8E81"/>
          </a:solidFill>
          <a:ln w="12700">
            <a:solidFill>
              <a:srgbClr val="EF8E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Shape 76"/>
          <p:cNvSpPr/>
          <p:nvPr/>
        </p:nvSpPr>
        <p:spPr>
          <a:xfrm>
            <a:off x="9898380" y="2606040"/>
            <a:ext cx="205740" cy="274320"/>
          </a:xfrm>
          <a:prstGeom prst="rect">
            <a:avLst/>
          </a:prstGeom>
          <a:solidFill>
            <a:srgbClr val="ED7D70"/>
          </a:solidFill>
          <a:ln w="12700">
            <a:solidFill>
              <a:srgbClr val="ED7D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Shape 77"/>
          <p:cNvSpPr/>
          <p:nvPr/>
        </p:nvSpPr>
        <p:spPr>
          <a:xfrm>
            <a:off x="10104120" y="2606040"/>
            <a:ext cx="205740" cy="274320"/>
          </a:xfrm>
          <a:prstGeom prst="rect">
            <a:avLst/>
          </a:prstGeom>
          <a:solidFill>
            <a:srgbClr val="EA6D5F"/>
          </a:solidFill>
          <a:ln w="12700">
            <a:solidFill>
              <a:srgbClr val="EA6D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78"/>
          <p:cNvSpPr/>
          <p:nvPr/>
        </p:nvSpPr>
        <p:spPr>
          <a:xfrm>
            <a:off x="10309860" y="2606040"/>
            <a:ext cx="205740" cy="27432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79"/>
          <p:cNvSpPr/>
          <p:nvPr/>
        </p:nvSpPr>
        <p:spPr>
          <a:xfrm>
            <a:off x="6400800" y="2606040"/>
            <a:ext cx="4114800" cy="274320"/>
          </a:xfrm>
          <a:prstGeom prst="rect">
            <a:avLst/>
          </a:prstGeom>
          <a:ln w="635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64008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83" name="Text 81"/>
          <p:cNvSpPr/>
          <p:nvPr/>
        </p:nvSpPr>
        <p:spPr>
          <a:xfrm>
            <a:off x="818388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</a:t>
            </a:r>
            <a:endParaRPr lang="en-US" sz="900"/>
          </a:p>
        </p:txBody>
      </p:sp>
      <p:sp>
        <p:nvSpPr>
          <p:cNvPr id="84" name="Text 82"/>
          <p:cNvSpPr/>
          <p:nvPr/>
        </p:nvSpPr>
        <p:spPr>
          <a:xfrm>
            <a:off x="91440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85" name="Shape 83"/>
          <p:cNvSpPr/>
          <p:nvPr/>
        </p:nvSpPr>
        <p:spPr>
          <a:xfrm>
            <a:off x="6400800" y="3410712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672084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band (low sKL)</a:t>
            </a:r>
            <a:endParaRPr lang="en-US" sz="1200"/>
          </a:p>
        </p:txBody>
      </p:sp>
      <p:sp>
        <p:nvSpPr>
          <p:cNvPr id="87" name="Text 85"/>
          <p:cNvSpPr/>
          <p:nvPr/>
        </p:nvSpPr>
        <p:spPr>
          <a:xfrm>
            <a:off x="6720840" y="3630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undetectable by anyone. Both methods perform similarly — Req 2 territory.</a:t>
            </a:r>
            <a:endParaRPr lang="en-US" sz="1100"/>
          </a:p>
        </p:txBody>
      </p:sp>
      <p:sp>
        <p:nvSpPr>
          <p:cNvPr id="88" name="Shape 86"/>
          <p:cNvSpPr/>
          <p:nvPr/>
        </p:nvSpPr>
        <p:spPr>
          <a:xfrm>
            <a:off x="6400800" y="4251960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672084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(low f, high sKL)</a:t>
            </a:r>
            <a:endParaRPr lang="en-US" sz="1200"/>
          </a:p>
        </p:txBody>
      </p:sp>
      <p:sp>
        <p:nvSpPr>
          <p:cNvPr id="90" name="Text 88"/>
          <p:cNvSpPr/>
          <p:nvPr/>
        </p:nvSpPr>
        <p:spPr>
          <a:xfrm>
            <a:off x="672084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stable regimes between sharp changes. CDT detects and adapts — clean Req 4 win.</a:t>
            </a:r>
            <a:endParaRPr lang="en-US" sz="1100"/>
          </a:p>
        </p:txBody>
      </p:sp>
      <p:sp>
        <p:nvSpPr>
          <p:cNvPr id="91" name="Shape 89"/>
          <p:cNvSpPr/>
          <p:nvPr/>
        </p:nvSpPr>
        <p:spPr>
          <a:xfrm>
            <a:off x="6400800" y="5093208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90"/>
          <p:cNvSpPr/>
          <p:nvPr/>
        </p:nvSpPr>
        <p:spPr>
          <a:xfrm>
            <a:off x="6720840" y="50200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(high f, high sKL)</a:t>
            </a:r>
            <a:endParaRPr lang="en-US" sz="1200"/>
          </a:p>
        </p:txBody>
      </p:sp>
      <p:sp>
        <p:nvSpPr>
          <p:cNvPr id="93" name="Text 91"/>
          <p:cNvSpPr/>
          <p:nvPr/>
        </p:nvSpPr>
        <p:spPr>
          <a:xfrm>
            <a:off x="6720840" y="5312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before any window can adapt. Primal-dual's worst-case guarantee shines — Req 3.</a:t>
            </a:r>
            <a:endParaRPr lang="en-US" sz="1100"/>
          </a:p>
        </p:txBody>
      </p:sp>
      <p:sp>
        <p:nvSpPr>
          <p:cNvPr id="94" name="Shape 92"/>
          <p:cNvSpPr/>
          <p:nvPr/>
        </p:nvSpPr>
        <p:spPr>
          <a:xfrm>
            <a:off x="6400800" y="5934456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93"/>
          <p:cNvSpPr/>
          <p:nvPr/>
        </p:nvSpPr>
        <p:spPr>
          <a:xfrm>
            <a:off x="6720840" y="58613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diagonal</a:t>
            </a:r>
            <a:endParaRPr lang="en-US" sz="1200"/>
          </a:p>
        </p:txBody>
      </p:sp>
      <p:sp>
        <p:nvSpPr>
          <p:cNvPr id="96" name="Text 94"/>
          <p:cNvSpPr/>
          <p:nvPr/>
        </p:nvSpPr>
        <p:spPr>
          <a:xfrm>
            <a:off x="6720840" y="6153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one method overtakes the other. The most informative part of the plot.</a:t>
            </a:r>
            <a:endParaRPr lang="en-US" sz="1100"/>
          </a:p>
        </p:txBody>
      </p:sp>
      <p:sp>
        <p:nvSpPr>
          <p:cNvPr id="97" name="Text 95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plot tells the whole story: the regime where best-of-both-worlds guarantees actually pay off.</a:t>
            </a:r>
            <a:endParaRPr lang="en-US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7FA-8246-897E-A786-5A5DF4B7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446594-5451-C370-EA75-0A4AE5D15D09}"/>
              </a:ext>
            </a:extLst>
          </p:cNvPr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STORY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FAB051-DF37-C052-1FFD-73D27A358FA5}"/>
              </a:ext>
            </a:extLst>
          </p:cNvPr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algorithm wins</a:t>
            </a:r>
            <a:endParaRPr lang="en-US" sz="3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2A1B87-FBAF-4883-2E59-9658278915EF}"/>
              </a:ext>
            </a:extLst>
          </p:cNvPr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  across the (f, sKL) plane</a:t>
            </a:r>
            <a:endParaRPr lang="en-US"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20EB90-0B21-243C-1830-7737A9733B5E}"/>
              </a:ext>
            </a:extLst>
          </p:cNvPr>
          <p:cNvSpPr/>
          <p:nvPr/>
        </p:nvSpPr>
        <p:spPr>
          <a:xfrm>
            <a:off x="1188720" y="1920240"/>
            <a:ext cx="792480" cy="609600"/>
          </a:xfrm>
          <a:prstGeom prst="rect">
            <a:avLst/>
          </a:prstGeom>
          <a:solidFill>
            <a:srgbClr val="57B29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0B8532-9191-D285-C38D-C4EA7FA72285}"/>
              </a:ext>
            </a:extLst>
          </p:cNvPr>
          <p:cNvSpPr/>
          <p:nvPr/>
        </p:nvSpPr>
        <p:spPr>
          <a:xfrm>
            <a:off x="1981200" y="19202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F814D1F-DA70-032F-C7C7-0F145DE1734F}"/>
              </a:ext>
            </a:extLst>
          </p:cNvPr>
          <p:cNvSpPr/>
          <p:nvPr/>
        </p:nvSpPr>
        <p:spPr>
          <a:xfrm>
            <a:off x="2773680" y="19202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D09E62-E767-4567-E52B-28A9E7A90FAA}"/>
              </a:ext>
            </a:extLst>
          </p:cNvPr>
          <p:cNvSpPr/>
          <p:nvPr/>
        </p:nvSpPr>
        <p:spPr>
          <a:xfrm>
            <a:off x="3566160" y="1920240"/>
            <a:ext cx="792480" cy="609600"/>
          </a:xfrm>
          <a:prstGeom prst="rect">
            <a:avLst/>
          </a:prstGeom>
          <a:solidFill>
            <a:srgbClr val="F9D1C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80E9054-AB03-EF9E-CC2D-E3562D1282C6}"/>
              </a:ext>
            </a:extLst>
          </p:cNvPr>
          <p:cNvSpPr/>
          <p:nvPr/>
        </p:nvSpPr>
        <p:spPr>
          <a:xfrm>
            <a:off x="4358640" y="19202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710ACB-B45A-8B9A-5F76-81D623E69F74}"/>
              </a:ext>
            </a:extLst>
          </p:cNvPr>
          <p:cNvSpPr/>
          <p:nvPr/>
        </p:nvSpPr>
        <p:spPr>
          <a:xfrm>
            <a:off x="5151120" y="1920240"/>
            <a:ext cx="792480" cy="609600"/>
          </a:xfrm>
          <a:prstGeom prst="rect">
            <a:avLst/>
          </a:prstGeom>
          <a:solidFill>
            <a:srgbClr val="E85D4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37A818D-9F49-9D05-7895-154E68A3D976}"/>
              </a:ext>
            </a:extLst>
          </p:cNvPr>
          <p:cNvSpPr/>
          <p:nvPr/>
        </p:nvSpPr>
        <p:spPr>
          <a:xfrm>
            <a:off x="1188720" y="2529840"/>
            <a:ext cx="792480" cy="609600"/>
          </a:xfrm>
          <a:prstGeom prst="rect">
            <a:avLst/>
          </a:prstGeom>
          <a:solidFill>
            <a:srgbClr val="79C0A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7E36779-A24D-6C71-D074-B51371AD5D48}"/>
              </a:ext>
            </a:extLst>
          </p:cNvPr>
          <p:cNvSpPr/>
          <p:nvPr/>
        </p:nvSpPr>
        <p:spPr>
          <a:xfrm>
            <a:off x="1981200" y="2529840"/>
            <a:ext cx="792480" cy="609600"/>
          </a:xfrm>
          <a:prstGeom prst="rect">
            <a:avLst/>
          </a:prstGeom>
          <a:solidFill>
            <a:srgbClr val="9ACE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205795C-BE0B-DA34-F95E-8C8221B741A1}"/>
              </a:ext>
            </a:extLst>
          </p:cNvPr>
          <p:cNvSpPr/>
          <p:nvPr/>
        </p:nvSpPr>
        <p:spPr>
          <a:xfrm>
            <a:off x="2773680" y="2529840"/>
            <a:ext cx="792480" cy="609600"/>
          </a:xfrm>
          <a:prstGeom prst="rect">
            <a:avLst/>
          </a:prstGeom>
          <a:solidFill>
            <a:srgbClr val="DDE9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7E0DA2C-BC14-0A6C-0EE6-0F0A87088598}"/>
              </a:ext>
            </a:extLst>
          </p:cNvPr>
          <p:cNvSpPr/>
          <p:nvPr/>
        </p:nvSpPr>
        <p:spPr>
          <a:xfrm>
            <a:off x="3566160" y="25298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2C087B0-C1AF-ABD9-7FD5-E43FE74D7EDF}"/>
              </a:ext>
            </a:extLst>
          </p:cNvPr>
          <p:cNvSpPr/>
          <p:nvPr/>
        </p:nvSpPr>
        <p:spPr>
          <a:xfrm>
            <a:off x="4358640" y="2529840"/>
            <a:ext cx="792480" cy="609600"/>
          </a:xfrm>
          <a:prstGeom prst="rect">
            <a:avLst/>
          </a:prstGeom>
          <a:solidFill>
            <a:srgbClr val="F19B8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9F1FAC-F2CE-0C17-D6A1-A7A40595932C}"/>
              </a:ext>
            </a:extLst>
          </p:cNvPr>
          <p:cNvSpPr/>
          <p:nvPr/>
        </p:nvSpPr>
        <p:spPr>
          <a:xfrm>
            <a:off x="5151120" y="2529840"/>
            <a:ext cx="792480" cy="609600"/>
          </a:xfrm>
          <a:prstGeom prst="rect">
            <a:avLst/>
          </a:prstGeom>
          <a:solidFill>
            <a:srgbClr val="EA6C5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C86559B-3352-AE43-298A-782449411595}"/>
              </a:ext>
            </a:extLst>
          </p:cNvPr>
          <p:cNvSpPr/>
          <p:nvPr/>
        </p:nvSpPr>
        <p:spPr>
          <a:xfrm>
            <a:off x="1188720" y="3139440"/>
            <a:ext cx="792480" cy="609600"/>
          </a:xfrm>
          <a:prstGeom prst="rect">
            <a:avLst/>
          </a:prstGeom>
          <a:solidFill>
            <a:srgbClr val="A5D2C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7C47808-514A-156D-97B1-BC91568DB28D}"/>
              </a:ext>
            </a:extLst>
          </p:cNvPr>
          <p:cNvSpPr/>
          <p:nvPr/>
        </p:nvSpPr>
        <p:spPr>
          <a:xfrm>
            <a:off x="1981200" y="3139440"/>
            <a:ext cx="792480" cy="609600"/>
          </a:xfrm>
          <a:prstGeom prst="rect">
            <a:avLst/>
          </a:prstGeom>
          <a:solidFill>
            <a:srgbClr val="C7E0D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75610AF-A092-8787-A0EA-F89D1DAA4A62}"/>
              </a:ext>
            </a:extLst>
          </p:cNvPr>
          <p:cNvSpPr/>
          <p:nvPr/>
        </p:nvSpPr>
        <p:spPr>
          <a:xfrm>
            <a:off x="2773680" y="31394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19A5AC2-689F-4B31-960F-C36D71673E08}"/>
              </a:ext>
            </a:extLst>
          </p:cNvPr>
          <p:cNvSpPr/>
          <p:nvPr/>
        </p:nvSpPr>
        <p:spPr>
          <a:xfrm>
            <a:off x="3566160" y="31394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BBF912-D617-C351-0E5F-4D02A9886CC7}"/>
              </a:ext>
            </a:extLst>
          </p:cNvPr>
          <p:cNvSpPr/>
          <p:nvPr/>
        </p:nvSpPr>
        <p:spPr>
          <a:xfrm>
            <a:off x="4358640" y="3139440"/>
            <a:ext cx="792480" cy="609600"/>
          </a:xfrm>
          <a:prstGeom prst="rect">
            <a:avLst/>
          </a:prstGeom>
          <a:solidFill>
            <a:srgbClr val="F5B2A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4B5F078-FF41-9C99-8DE7-5A423C987D95}"/>
              </a:ext>
            </a:extLst>
          </p:cNvPr>
          <p:cNvSpPr/>
          <p:nvPr/>
        </p:nvSpPr>
        <p:spPr>
          <a:xfrm>
            <a:off x="5151120" y="3139440"/>
            <a:ext cx="792480" cy="609600"/>
          </a:xfrm>
          <a:prstGeom prst="rect">
            <a:avLst/>
          </a:prstGeom>
          <a:solidFill>
            <a:srgbClr val="EF8B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55FA0F5-E453-F086-4794-4110FC02F28A}"/>
              </a:ext>
            </a:extLst>
          </p:cNvPr>
          <p:cNvSpPr/>
          <p:nvPr/>
        </p:nvSpPr>
        <p:spPr>
          <a:xfrm>
            <a:off x="1188720" y="3749040"/>
            <a:ext cx="792480" cy="609600"/>
          </a:xfrm>
          <a:prstGeom prst="rect">
            <a:avLst/>
          </a:prstGeom>
          <a:solidFill>
            <a:srgbClr val="D2E5D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07E4698-5A09-446F-EA23-E91A52AA35E6}"/>
              </a:ext>
            </a:extLst>
          </p:cNvPr>
          <p:cNvSpPr/>
          <p:nvPr/>
        </p:nvSpPr>
        <p:spPr>
          <a:xfrm>
            <a:off x="1981200" y="3749040"/>
            <a:ext cx="792480" cy="609600"/>
          </a:xfrm>
          <a:prstGeom prst="rect">
            <a:avLst/>
          </a:prstGeom>
          <a:solidFill>
            <a:srgbClr val="E9EEE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EA5D893-D027-C2AC-7E0E-D5222448B18F}"/>
              </a:ext>
            </a:extLst>
          </p:cNvPr>
          <p:cNvSpPr/>
          <p:nvPr/>
        </p:nvSpPr>
        <p:spPr>
          <a:xfrm>
            <a:off x="2773680" y="37490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7AD38A4-2546-D6CA-AAD3-5EE037AA1BC7}"/>
              </a:ext>
            </a:extLst>
          </p:cNvPr>
          <p:cNvSpPr/>
          <p:nvPr/>
        </p:nvSpPr>
        <p:spPr>
          <a:xfrm>
            <a:off x="3566160" y="37490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7CDFE58-4686-DE0D-9E94-48C5B3845612}"/>
              </a:ext>
            </a:extLst>
          </p:cNvPr>
          <p:cNvSpPr/>
          <p:nvPr/>
        </p:nvSpPr>
        <p:spPr>
          <a:xfrm>
            <a:off x="4358640" y="37490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B678783-9655-E5D6-CEA6-5920AD07214F}"/>
              </a:ext>
            </a:extLst>
          </p:cNvPr>
          <p:cNvSpPr/>
          <p:nvPr/>
        </p:nvSpPr>
        <p:spPr>
          <a:xfrm>
            <a:off x="5151120" y="3749040"/>
            <a:ext cx="792480" cy="609600"/>
          </a:xfrm>
          <a:prstGeom prst="rect">
            <a:avLst/>
          </a:prstGeom>
          <a:solidFill>
            <a:srgbClr val="F4AA9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A89632F-386B-F6A9-6C76-817C1C0EE1B0}"/>
              </a:ext>
            </a:extLst>
          </p:cNvPr>
          <p:cNvSpPr/>
          <p:nvPr/>
        </p:nvSpPr>
        <p:spPr>
          <a:xfrm>
            <a:off x="1188720" y="4358640"/>
            <a:ext cx="792480" cy="609600"/>
          </a:xfrm>
          <a:prstGeom prst="rect">
            <a:avLst/>
          </a:prstGeom>
          <a:solidFill>
            <a:srgbClr val="F4F2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568E791-8D20-8A13-0A51-9B1D7333DF60}"/>
              </a:ext>
            </a:extLst>
          </p:cNvPr>
          <p:cNvSpPr/>
          <p:nvPr/>
        </p:nvSpPr>
        <p:spPr>
          <a:xfrm>
            <a:off x="1981200" y="43586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2F09A33-B3D0-7759-367B-F074D7A56424}"/>
              </a:ext>
            </a:extLst>
          </p:cNvPr>
          <p:cNvSpPr/>
          <p:nvPr/>
        </p:nvSpPr>
        <p:spPr>
          <a:xfrm>
            <a:off x="2773680" y="43586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06C777E-77A7-1AD5-1AD4-CFEDDE68AB64}"/>
              </a:ext>
            </a:extLst>
          </p:cNvPr>
          <p:cNvSpPr/>
          <p:nvPr/>
        </p:nvSpPr>
        <p:spPr>
          <a:xfrm>
            <a:off x="3566160" y="43586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7DAA865-7892-2649-3110-A2CFBC377C4F}"/>
              </a:ext>
            </a:extLst>
          </p:cNvPr>
          <p:cNvSpPr/>
          <p:nvPr/>
        </p:nvSpPr>
        <p:spPr>
          <a:xfrm>
            <a:off x="4358640" y="4358640"/>
            <a:ext cx="792480" cy="609600"/>
          </a:xfrm>
          <a:prstGeom prst="rect">
            <a:avLst/>
          </a:prstGeom>
          <a:solidFill>
            <a:srgbClr val="FAD8D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F821B64-3AD2-A4CB-5AC8-7E9BB11DDE48}"/>
              </a:ext>
            </a:extLst>
          </p:cNvPr>
          <p:cNvSpPr/>
          <p:nvPr/>
        </p:nvSpPr>
        <p:spPr>
          <a:xfrm>
            <a:off x="5151120" y="4358640"/>
            <a:ext cx="792480" cy="609600"/>
          </a:xfrm>
          <a:prstGeom prst="rect">
            <a:avLst/>
          </a:prstGeom>
          <a:solidFill>
            <a:srgbClr val="F8C9B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7AFE354-57DC-FF1E-028C-98AB2ECCF061}"/>
              </a:ext>
            </a:extLst>
          </p:cNvPr>
          <p:cNvSpPr/>
          <p:nvPr/>
        </p:nvSpPr>
        <p:spPr>
          <a:xfrm>
            <a:off x="1188720" y="4968240"/>
            <a:ext cx="792480" cy="609600"/>
          </a:xfrm>
          <a:prstGeom prst="rect">
            <a:avLst/>
          </a:prstGeom>
          <a:solidFill>
            <a:srgbClr val="FFF7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4A4C844-94CB-B94A-49C5-3A567F94A5F3}"/>
              </a:ext>
            </a:extLst>
          </p:cNvPr>
          <p:cNvSpPr/>
          <p:nvPr/>
        </p:nvSpPr>
        <p:spPr>
          <a:xfrm>
            <a:off x="198120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682E798-0D20-87FC-92E1-73376A3DC521}"/>
              </a:ext>
            </a:extLst>
          </p:cNvPr>
          <p:cNvSpPr/>
          <p:nvPr/>
        </p:nvSpPr>
        <p:spPr>
          <a:xfrm>
            <a:off x="2773680" y="4968240"/>
            <a:ext cx="792480" cy="609600"/>
          </a:xfrm>
          <a:prstGeom prst="rect">
            <a:avLst/>
          </a:prstGeom>
          <a:solidFill>
            <a:srgbClr val="FEEF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9BDB8C8-379F-6421-FD0C-483C21A394E5}"/>
              </a:ext>
            </a:extLst>
          </p:cNvPr>
          <p:cNvSpPr/>
          <p:nvPr/>
        </p:nvSpPr>
        <p:spPr>
          <a:xfrm>
            <a:off x="356616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987AD67-811F-0894-ABEF-654FDD854DB9}"/>
              </a:ext>
            </a:extLst>
          </p:cNvPr>
          <p:cNvSpPr/>
          <p:nvPr/>
        </p:nvSpPr>
        <p:spPr>
          <a:xfrm>
            <a:off x="4358640" y="4968240"/>
            <a:ext cx="792480" cy="609600"/>
          </a:xfrm>
          <a:prstGeom prst="rect">
            <a:avLst/>
          </a:prstGeom>
          <a:solidFill>
            <a:srgbClr val="FDE8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2099391-C982-C51E-F8A7-AF0474F4E2C5}"/>
              </a:ext>
            </a:extLst>
          </p:cNvPr>
          <p:cNvSpPr/>
          <p:nvPr/>
        </p:nvSpPr>
        <p:spPr>
          <a:xfrm>
            <a:off x="5151120" y="4968240"/>
            <a:ext cx="792480" cy="609600"/>
          </a:xfrm>
          <a:prstGeom prst="rect">
            <a:avLst/>
          </a:prstGeom>
          <a:solidFill>
            <a:srgbClr val="FCE0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A4A0623-D16A-0A67-BB86-3BA6040CFFB7}"/>
              </a:ext>
            </a:extLst>
          </p:cNvPr>
          <p:cNvSpPr/>
          <p:nvPr/>
        </p:nvSpPr>
        <p:spPr>
          <a:xfrm>
            <a:off x="1188720" y="1920240"/>
            <a:ext cx="4754880" cy="3657600"/>
          </a:xfrm>
          <a:prstGeom prst="rect">
            <a:avLst/>
          </a:prstGeom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29400CE-F0CE-D540-D6A5-6406D523B8BE}"/>
              </a:ext>
            </a:extLst>
          </p:cNvPr>
          <p:cNvSpPr/>
          <p:nvPr/>
        </p:nvSpPr>
        <p:spPr>
          <a:xfrm>
            <a:off x="1188720" y="5623560"/>
            <a:ext cx="4754880" cy="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C103CB3-A70D-DE7C-A30F-7441683023AF}"/>
              </a:ext>
            </a:extLst>
          </p:cNvPr>
          <p:cNvSpPr/>
          <p:nvPr/>
        </p:nvSpPr>
        <p:spPr>
          <a:xfrm>
            <a:off x="1005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ACA56C0-63BF-2FE2-B1A2-C61A3C669F3E}"/>
              </a:ext>
            </a:extLst>
          </p:cNvPr>
          <p:cNvSpPr/>
          <p:nvPr/>
        </p:nvSpPr>
        <p:spPr>
          <a:xfrm>
            <a:off x="5577840" y="5669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FE9772A-2BDC-3CDA-BEE2-F3F63227DABD}"/>
              </a:ext>
            </a:extLst>
          </p:cNvPr>
          <p:cNvSpPr/>
          <p:nvPr/>
        </p:nvSpPr>
        <p:spPr>
          <a:xfrm>
            <a:off x="1188720" y="5943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frequency  f</a:t>
            </a:r>
            <a:endParaRPr lang="en-US" sz="120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0162EAD-2B8A-C374-13B2-C3CCC182782E}"/>
              </a:ext>
            </a:extLst>
          </p:cNvPr>
          <p:cNvSpPr/>
          <p:nvPr/>
        </p:nvSpPr>
        <p:spPr>
          <a:xfrm>
            <a:off x="1143000" y="1920240"/>
            <a:ext cx="0" cy="3657600"/>
          </a:xfrm>
          <a:prstGeom prst="line">
            <a:avLst/>
          </a:prstGeom>
          <a:noFill/>
          <a:ln w="1270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4746C76-F535-8C92-77CB-C03736DFF5F8}"/>
              </a:ext>
            </a:extLst>
          </p:cNvPr>
          <p:cNvSpPr/>
          <p:nvPr/>
        </p:nvSpPr>
        <p:spPr>
          <a:xfrm rot="16200000">
            <a:off x="-8229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 between regimes</a:t>
            </a:r>
            <a:endParaRPr lang="en-US" sz="12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ECF6910-410F-80CD-113C-89C8EA773769}"/>
              </a:ext>
            </a:extLst>
          </p:cNvPr>
          <p:cNvSpPr/>
          <p:nvPr/>
        </p:nvSpPr>
        <p:spPr>
          <a:xfrm>
            <a:off x="640080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5766A2D-852C-4983-ADB0-0030CE1C61E6}"/>
              </a:ext>
            </a:extLst>
          </p:cNvPr>
          <p:cNvSpPr/>
          <p:nvPr/>
        </p:nvSpPr>
        <p:spPr>
          <a:xfrm>
            <a:off x="640080" y="5394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BE563DD1-5110-39DA-3EE6-B06CCACE336B}"/>
              </a:ext>
            </a:extLst>
          </p:cNvPr>
          <p:cNvSpPr/>
          <p:nvPr/>
        </p:nvSpPr>
        <p:spPr>
          <a:xfrm>
            <a:off x="13258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4A20BAC1-FC1B-8784-CF38-2E9399149E44}"/>
              </a:ext>
            </a:extLst>
          </p:cNvPr>
          <p:cNvSpPr/>
          <p:nvPr/>
        </p:nvSpPr>
        <p:spPr>
          <a:xfrm>
            <a:off x="13716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120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301A47BA-D53A-0E3F-B852-30DB0D4BD85E}"/>
              </a:ext>
            </a:extLst>
          </p:cNvPr>
          <p:cNvSpPr/>
          <p:nvPr/>
        </p:nvSpPr>
        <p:spPr>
          <a:xfrm>
            <a:off x="13716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E1AF4A1-BBF3-9394-DEE5-A1EA05B46846}"/>
              </a:ext>
            </a:extLst>
          </p:cNvPr>
          <p:cNvSpPr/>
          <p:nvPr/>
        </p:nvSpPr>
        <p:spPr>
          <a:xfrm>
            <a:off x="4526280" y="2057400"/>
            <a:ext cx="1280160" cy="82296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B84F192-9444-3CE8-7B6A-D5B00E2B5F75}"/>
              </a:ext>
            </a:extLst>
          </p:cNvPr>
          <p:cNvSpPr/>
          <p:nvPr/>
        </p:nvSpPr>
        <p:spPr>
          <a:xfrm>
            <a:off x="45720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12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70D3921-D42B-051C-06E7-FED16FA93F5A}"/>
              </a:ext>
            </a:extLst>
          </p:cNvPr>
          <p:cNvSpPr/>
          <p:nvPr/>
        </p:nvSpPr>
        <p:spPr>
          <a:xfrm>
            <a:off x="452628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3622B0C-0A11-8E44-6C6A-E21FC950547A}"/>
              </a:ext>
            </a:extLst>
          </p:cNvPr>
          <p:cNvSpPr/>
          <p:nvPr/>
        </p:nvSpPr>
        <p:spPr>
          <a:xfrm>
            <a:off x="2926080" y="4663440"/>
            <a:ext cx="1280160" cy="731520"/>
          </a:xfrm>
          <a:prstGeom prst="ellipse">
            <a:avLst/>
          </a:prstGeom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9E0DE8BD-C522-296C-28AE-FF303B8A3FD2}"/>
              </a:ext>
            </a:extLst>
          </p:cNvPr>
          <p:cNvSpPr/>
          <p:nvPr/>
        </p:nvSpPr>
        <p:spPr>
          <a:xfrm>
            <a:off x="29718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12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EF0A7AE-CDC3-3E59-34A3-F7D516C398C1}"/>
              </a:ext>
            </a:extLst>
          </p:cNvPr>
          <p:cNvSpPr/>
          <p:nvPr/>
        </p:nvSpPr>
        <p:spPr>
          <a:xfrm>
            <a:off x="292608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9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BAA4602-141E-0979-97E2-1560F7D213BE}"/>
              </a:ext>
            </a:extLst>
          </p:cNvPr>
          <p:cNvSpPr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ENCODING</a:t>
            </a:r>
            <a:endParaRPr lang="en-US" sz="100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BF2263B-A2BE-D142-FAA1-52EE84CAB646}"/>
              </a:ext>
            </a:extLst>
          </p:cNvPr>
          <p:cNvSpPr/>
          <p:nvPr/>
        </p:nvSpPr>
        <p:spPr>
          <a:xfrm>
            <a:off x="640080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 CUCB+CDT / Primal-dual</a:t>
            </a:r>
            <a:endParaRPr lang="en-US" sz="140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AF08C5A-296B-DEC7-C4A8-463713670618}"/>
              </a:ext>
            </a:extLst>
          </p:cNvPr>
          <p:cNvSpPr/>
          <p:nvPr/>
        </p:nvSpPr>
        <p:spPr>
          <a:xfrm>
            <a:off x="6400800" y="2606040"/>
            <a:ext cx="205740" cy="274320"/>
          </a:xfrm>
          <a:prstGeom prst="rect">
            <a:avLst/>
          </a:prstGeom>
          <a:solidFill>
            <a:srgbClr val="1F9B82"/>
          </a:solidFill>
          <a:ln w="12700">
            <a:solidFill>
              <a:srgbClr val="1F9B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F8E2DDDE-5642-5658-A86E-70D9204C81C3}"/>
              </a:ext>
            </a:extLst>
          </p:cNvPr>
          <p:cNvSpPr/>
          <p:nvPr/>
        </p:nvSpPr>
        <p:spPr>
          <a:xfrm>
            <a:off x="6606540" y="2606040"/>
            <a:ext cx="205740" cy="274320"/>
          </a:xfrm>
          <a:prstGeom prst="rect">
            <a:avLst/>
          </a:prstGeom>
          <a:solidFill>
            <a:srgbClr val="37A58E"/>
          </a:solidFill>
          <a:ln w="12700">
            <a:solidFill>
              <a:srgbClr val="37A5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A9250DE6-3385-06DA-37F6-5918FECE8D6D}"/>
              </a:ext>
            </a:extLst>
          </p:cNvPr>
          <p:cNvSpPr/>
          <p:nvPr/>
        </p:nvSpPr>
        <p:spPr>
          <a:xfrm>
            <a:off x="6812280" y="2606040"/>
            <a:ext cx="205740" cy="274320"/>
          </a:xfrm>
          <a:prstGeom prst="rect">
            <a:avLst/>
          </a:prstGeom>
          <a:solidFill>
            <a:srgbClr val="4EAE99"/>
          </a:solidFill>
          <a:ln w="12700">
            <a:solidFill>
              <a:srgbClr val="4EAE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CC95CE9-D67A-668F-8C0A-2CE37F3BAFFA}"/>
              </a:ext>
            </a:extLst>
          </p:cNvPr>
          <p:cNvSpPr/>
          <p:nvPr/>
        </p:nvSpPr>
        <p:spPr>
          <a:xfrm>
            <a:off x="7018020" y="2606040"/>
            <a:ext cx="205740" cy="274320"/>
          </a:xfrm>
          <a:prstGeom prst="rect">
            <a:avLst/>
          </a:prstGeom>
          <a:solidFill>
            <a:srgbClr val="66B8A5"/>
          </a:solidFill>
          <a:ln w="12700">
            <a:solidFill>
              <a:srgbClr val="66B8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651276D8-F407-D7CF-831E-C245D22CCA7C}"/>
              </a:ext>
            </a:extLst>
          </p:cNvPr>
          <p:cNvSpPr/>
          <p:nvPr/>
        </p:nvSpPr>
        <p:spPr>
          <a:xfrm>
            <a:off x="7223760" y="2606040"/>
            <a:ext cx="205740" cy="274320"/>
          </a:xfrm>
          <a:prstGeom prst="rect">
            <a:avLst/>
          </a:prstGeom>
          <a:solidFill>
            <a:srgbClr val="7DC2B0"/>
          </a:solidFill>
          <a:ln w="12700">
            <a:solidFill>
              <a:srgbClr val="7DC2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83710A-404D-7BFC-A5BF-7C429E0BC33A}"/>
              </a:ext>
            </a:extLst>
          </p:cNvPr>
          <p:cNvSpPr/>
          <p:nvPr/>
        </p:nvSpPr>
        <p:spPr>
          <a:xfrm>
            <a:off x="7429500" y="2606040"/>
            <a:ext cx="205740" cy="274320"/>
          </a:xfrm>
          <a:prstGeom prst="rect">
            <a:avLst/>
          </a:prstGeom>
          <a:solidFill>
            <a:srgbClr val="95CBBC"/>
          </a:solidFill>
          <a:ln w="12700">
            <a:solidFill>
              <a:srgbClr val="95CB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00DD352A-A194-FF4C-2F29-872147953A5E}"/>
              </a:ext>
            </a:extLst>
          </p:cNvPr>
          <p:cNvSpPr/>
          <p:nvPr/>
        </p:nvSpPr>
        <p:spPr>
          <a:xfrm>
            <a:off x="7635240" y="2606040"/>
            <a:ext cx="205740" cy="274320"/>
          </a:xfrm>
          <a:prstGeom prst="rect">
            <a:avLst/>
          </a:prstGeom>
          <a:solidFill>
            <a:srgbClr val="ACD5C7"/>
          </a:solidFill>
          <a:ln w="12700">
            <a:solidFill>
              <a:srgbClr val="ACD5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14FABB59-4228-C341-AB02-506BE6FBA264}"/>
              </a:ext>
            </a:extLst>
          </p:cNvPr>
          <p:cNvSpPr/>
          <p:nvPr/>
        </p:nvSpPr>
        <p:spPr>
          <a:xfrm>
            <a:off x="7840980" y="2606040"/>
            <a:ext cx="205740" cy="274320"/>
          </a:xfrm>
          <a:prstGeom prst="rect">
            <a:avLst/>
          </a:prstGeom>
          <a:solidFill>
            <a:srgbClr val="C4DFD3"/>
          </a:solidFill>
          <a:ln w="12700">
            <a:solidFill>
              <a:srgbClr val="C4DFD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519E7B9-FC7B-3D63-15FF-01D3292A706C}"/>
              </a:ext>
            </a:extLst>
          </p:cNvPr>
          <p:cNvSpPr/>
          <p:nvPr/>
        </p:nvSpPr>
        <p:spPr>
          <a:xfrm>
            <a:off x="8046720" y="2606040"/>
            <a:ext cx="205740" cy="274320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C1874ED-7C0F-2528-31A9-EE6FB7B82629}"/>
              </a:ext>
            </a:extLst>
          </p:cNvPr>
          <p:cNvSpPr/>
          <p:nvPr/>
        </p:nvSpPr>
        <p:spPr>
          <a:xfrm>
            <a:off x="8252460" y="2606040"/>
            <a:ext cx="205740" cy="274320"/>
          </a:xfrm>
          <a:prstGeom prst="rect">
            <a:avLst/>
          </a:prstGeom>
          <a:solidFill>
            <a:srgbClr val="F3F2EA"/>
          </a:solidFill>
          <a:ln w="12700">
            <a:solidFill>
              <a:srgbClr val="F3F2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5CAFD742-F64C-62B6-0971-456C54AC1395}"/>
              </a:ext>
            </a:extLst>
          </p:cNvPr>
          <p:cNvSpPr/>
          <p:nvPr/>
        </p:nvSpPr>
        <p:spPr>
          <a:xfrm>
            <a:off x="8458200" y="2606040"/>
            <a:ext cx="205740" cy="274320"/>
          </a:xfrm>
          <a:prstGeom prst="rect">
            <a:avLst/>
          </a:prstGeom>
          <a:solidFill>
            <a:srgbClr val="FEEFE7"/>
          </a:solidFill>
          <a:ln w="12700">
            <a:solidFill>
              <a:srgbClr val="FEE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90C42952-E2D2-74D2-D25C-823CA525B0C3}"/>
              </a:ext>
            </a:extLst>
          </p:cNvPr>
          <p:cNvSpPr/>
          <p:nvPr/>
        </p:nvSpPr>
        <p:spPr>
          <a:xfrm>
            <a:off x="8663940" y="2606040"/>
            <a:ext cx="205740" cy="274320"/>
          </a:xfrm>
          <a:prstGeom prst="rect">
            <a:avLst/>
          </a:prstGeom>
          <a:solidFill>
            <a:srgbClr val="FBDFD6"/>
          </a:solidFill>
          <a:ln w="12700">
            <a:solidFill>
              <a:srgbClr val="FBDFD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96985D67-A9DB-766E-D4C4-0259C223C49B}"/>
              </a:ext>
            </a:extLst>
          </p:cNvPr>
          <p:cNvSpPr/>
          <p:nvPr/>
        </p:nvSpPr>
        <p:spPr>
          <a:xfrm>
            <a:off x="8869680" y="2606040"/>
            <a:ext cx="205740" cy="274320"/>
          </a:xfrm>
          <a:prstGeom prst="rect">
            <a:avLst/>
          </a:prstGeom>
          <a:solidFill>
            <a:srgbClr val="F9CEC5"/>
          </a:solidFill>
          <a:ln w="12700">
            <a:solidFill>
              <a:srgbClr val="F9CE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CC03402-44FC-CDF7-C5E3-20756F240E9E}"/>
              </a:ext>
            </a:extLst>
          </p:cNvPr>
          <p:cNvSpPr/>
          <p:nvPr/>
        </p:nvSpPr>
        <p:spPr>
          <a:xfrm>
            <a:off x="9075420" y="2606040"/>
            <a:ext cx="205740" cy="274320"/>
          </a:xfrm>
          <a:prstGeom prst="rect">
            <a:avLst/>
          </a:prstGeom>
          <a:solidFill>
            <a:srgbClr val="F7BEB4"/>
          </a:solidFill>
          <a:ln w="12700">
            <a:solidFill>
              <a:srgbClr val="F7BE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ADCC6038-6434-2B16-6B93-55AE5842E8E4}"/>
              </a:ext>
            </a:extLst>
          </p:cNvPr>
          <p:cNvSpPr/>
          <p:nvPr/>
        </p:nvSpPr>
        <p:spPr>
          <a:xfrm>
            <a:off x="9281160" y="2606040"/>
            <a:ext cx="205740" cy="274320"/>
          </a:xfrm>
          <a:prstGeom prst="rect">
            <a:avLst/>
          </a:prstGeom>
          <a:solidFill>
            <a:srgbClr val="F4AEA3"/>
          </a:solidFill>
          <a:ln w="12700">
            <a:solidFill>
              <a:srgbClr val="F4AE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6C173DDD-1AE8-B5DE-75FE-6AAA7862531C}"/>
              </a:ext>
            </a:extLst>
          </p:cNvPr>
          <p:cNvSpPr/>
          <p:nvPr/>
        </p:nvSpPr>
        <p:spPr>
          <a:xfrm>
            <a:off x="9486900" y="2606040"/>
            <a:ext cx="205740" cy="274320"/>
          </a:xfrm>
          <a:prstGeom prst="rect">
            <a:avLst/>
          </a:prstGeom>
          <a:solidFill>
            <a:srgbClr val="F29E92"/>
          </a:solidFill>
          <a:ln w="12700">
            <a:solidFill>
              <a:srgbClr val="F29E9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E909416F-0053-522F-A577-256CA8DEBB86}"/>
              </a:ext>
            </a:extLst>
          </p:cNvPr>
          <p:cNvSpPr/>
          <p:nvPr/>
        </p:nvSpPr>
        <p:spPr>
          <a:xfrm>
            <a:off x="9692640" y="2606040"/>
            <a:ext cx="205740" cy="274320"/>
          </a:xfrm>
          <a:prstGeom prst="rect">
            <a:avLst/>
          </a:prstGeom>
          <a:solidFill>
            <a:srgbClr val="EF8E81"/>
          </a:solidFill>
          <a:ln w="12700">
            <a:solidFill>
              <a:srgbClr val="EF8E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6DEEABE8-4528-89CB-FDD2-82527E85E8E5}"/>
              </a:ext>
            </a:extLst>
          </p:cNvPr>
          <p:cNvSpPr/>
          <p:nvPr/>
        </p:nvSpPr>
        <p:spPr>
          <a:xfrm>
            <a:off x="9898380" y="2606040"/>
            <a:ext cx="205740" cy="274320"/>
          </a:xfrm>
          <a:prstGeom prst="rect">
            <a:avLst/>
          </a:prstGeom>
          <a:solidFill>
            <a:srgbClr val="ED7D70"/>
          </a:solidFill>
          <a:ln w="12700">
            <a:solidFill>
              <a:srgbClr val="ED7D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EE20896C-EF2C-7D33-482D-6391A61E4C34}"/>
              </a:ext>
            </a:extLst>
          </p:cNvPr>
          <p:cNvSpPr/>
          <p:nvPr/>
        </p:nvSpPr>
        <p:spPr>
          <a:xfrm>
            <a:off x="10104120" y="2606040"/>
            <a:ext cx="205740" cy="274320"/>
          </a:xfrm>
          <a:prstGeom prst="rect">
            <a:avLst/>
          </a:prstGeom>
          <a:solidFill>
            <a:srgbClr val="EA6D5F"/>
          </a:solidFill>
          <a:ln w="12700">
            <a:solidFill>
              <a:srgbClr val="EA6D5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24CFF638-DB5F-B3E6-9C1B-D5CF47394300}"/>
              </a:ext>
            </a:extLst>
          </p:cNvPr>
          <p:cNvSpPr/>
          <p:nvPr/>
        </p:nvSpPr>
        <p:spPr>
          <a:xfrm>
            <a:off x="10309860" y="2606040"/>
            <a:ext cx="205740" cy="274320"/>
          </a:xfrm>
          <a:prstGeom prst="rect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F8FC8787-5E26-30EA-34BF-35094F8A86AB}"/>
              </a:ext>
            </a:extLst>
          </p:cNvPr>
          <p:cNvSpPr/>
          <p:nvPr/>
        </p:nvSpPr>
        <p:spPr>
          <a:xfrm>
            <a:off x="6400800" y="2606040"/>
            <a:ext cx="4114800" cy="274320"/>
          </a:xfrm>
          <a:prstGeom prst="rect">
            <a:avLst/>
          </a:prstGeom>
          <a:ln w="6350">
            <a:solidFill>
              <a:srgbClr val="1A22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3F533FCA-AAE8-C54A-B683-A7ED5FA6C145}"/>
              </a:ext>
            </a:extLst>
          </p:cNvPr>
          <p:cNvSpPr/>
          <p:nvPr/>
        </p:nvSpPr>
        <p:spPr>
          <a:xfrm>
            <a:off x="64008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F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wins</a:t>
            </a:r>
            <a:endParaRPr lang="en-US" sz="90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3BD85C73-F2D6-A08B-3B84-2A00482AA5D2}"/>
              </a:ext>
            </a:extLst>
          </p:cNvPr>
          <p:cNvSpPr/>
          <p:nvPr/>
        </p:nvSpPr>
        <p:spPr>
          <a:xfrm>
            <a:off x="818388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</a:t>
            </a:r>
            <a:endParaRPr lang="en-US" sz="90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033A85DE-63DD-A4B1-45E7-A63395BAF844}"/>
              </a:ext>
            </a:extLst>
          </p:cNvPr>
          <p:cNvSpPr/>
          <p:nvPr/>
        </p:nvSpPr>
        <p:spPr>
          <a:xfrm>
            <a:off x="91440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E85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Primal-dual wins</a:t>
            </a:r>
            <a:endParaRPr lang="en-US" sz="90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5412BF1-5BB2-3E0D-F167-A68178119DEB}"/>
              </a:ext>
            </a:extLst>
          </p:cNvPr>
          <p:cNvSpPr/>
          <p:nvPr/>
        </p:nvSpPr>
        <p:spPr>
          <a:xfrm>
            <a:off x="6400800" y="3410712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4663CCBF-09BD-D59F-2FB5-ED19A4F38A47}"/>
              </a:ext>
            </a:extLst>
          </p:cNvPr>
          <p:cNvSpPr/>
          <p:nvPr/>
        </p:nvSpPr>
        <p:spPr>
          <a:xfrm>
            <a:off x="672084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band (low sKL)</a:t>
            </a:r>
            <a:endParaRPr lang="en-US" sz="120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39E16855-6531-8EEB-903A-652F1FA7FDFC}"/>
              </a:ext>
            </a:extLst>
          </p:cNvPr>
          <p:cNvSpPr/>
          <p:nvPr/>
        </p:nvSpPr>
        <p:spPr>
          <a:xfrm>
            <a:off x="6720840" y="3630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undetectable by anyone. Both methods perform similarly — Req 2 territory.</a:t>
            </a:r>
            <a:endParaRPr lang="en-US" sz="110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344B8876-734C-75E8-4D82-3981C36DD1BF}"/>
              </a:ext>
            </a:extLst>
          </p:cNvPr>
          <p:cNvSpPr/>
          <p:nvPr/>
        </p:nvSpPr>
        <p:spPr>
          <a:xfrm>
            <a:off x="6400800" y="4251960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C4A9CF36-AE9E-6F78-0E74-52448B48244E}"/>
              </a:ext>
            </a:extLst>
          </p:cNvPr>
          <p:cNvSpPr/>
          <p:nvPr/>
        </p:nvSpPr>
        <p:spPr>
          <a:xfrm>
            <a:off x="6720840" y="4178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(low f, high sKL)</a:t>
            </a:r>
            <a:endParaRPr lang="en-US" sz="120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04E32D09-D9AE-C965-4966-88931867BC50}"/>
              </a:ext>
            </a:extLst>
          </p:cNvPr>
          <p:cNvSpPr/>
          <p:nvPr/>
        </p:nvSpPr>
        <p:spPr>
          <a:xfrm>
            <a:off x="672084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stable regimes between sharp changes. CDT detects and adapts — clean Req 4 win.</a:t>
            </a:r>
            <a:endParaRPr lang="en-US" sz="110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1DC9F876-A77B-D1A6-56F3-7A8FC05A6502}"/>
              </a:ext>
            </a:extLst>
          </p:cNvPr>
          <p:cNvSpPr/>
          <p:nvPr/>
        </p:nvSpPr>
        <p:spPr>
          <a:xfrm>
            <a:off x="6400800" y="5093208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881CAA0A-705C-00E6-74D3-1331B94DA78E}"/>
              </a:ext>
            </a:extLst>
          </p:cNvPr>
          <p:cNvSpPr/>
          <p:nvPr/>
        </p:nvSpPr>
        <p:spPr>
          <a:xfrm>
            <a:off x="6720840" y="50200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(high f, high sKL)</a:t>
            </a:r>
            <a:endParaRPr lang="en-US" sz="120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800973E-FB5C-1CF0-EFB0-A2C1429ED63D}"/>
              </a:ext>
            </a:extLst>
          </p:cNvPr>
          <p:cNvSpPr/>
          <p:nvPr/>
        </p:nvSpPr>
        <p:spPr>
          <a:xfrm>
            <a:off x="6720840" y="53126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before any window can adapt. Primal-dual's worst-case guarantee shines — Req 3.</a:t>
            </a:r>
            <a:endParaRPr lang="en-US" sz="110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E62DA2F3-6B4E-8999-7DEA-FA8014A3E5EE}"/>
              </a:ext>
            </a:extLst>
          </p:cNvPr>
          <p:cNvSpPr/>
          <p:nvPr/>
        </p:nvSpPr>
        <p:spPr>
          <a:xfrm>
            <a:off x="6400800" y="5934456"/>
            <a:ext cx="164592" cy="164592"/>
          </a:xfrm>
          <a:prstGeom prst="ellipse">
            <a:avLst/>
          </a:prstGeom>
          <a:solidFill>
            <a:srgbClr val="E85D4E"/>
          </a:solidFill>
          <a:ln w="12700">
            <a:solidFill>
              <a:srgbClr val="E85D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47490E07-6F78-4CA6-867B-6C6846043F91}"/>
              </a:ext>
            </a:extLst>
          </p:cNvPr>
          <p:cNvSpPr/>
          <p:nvPr/>
        </p:nvSpPr>
        <p:spPr>
          <a:xfrm>
            <a:off x="6720840" y="58613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diagonal</a:t>
            </a:r>
            <a:endParaRPr lang="en-US" sz="120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C351C344-4C5F-7C73-517C-B844CA15B8CD}"/>
              </a:ext>
            </a:extLst>
          </p:cNvPr>
          <p:cNvSpPr/>
          <p:nvPr/>
        </p:nvSpPr>
        <p:spPr>
          <a:xfrm>
            <a:off x="6720840" y="6153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one method overtakes the other. The most informative part of the plot.</a:t>
            </a:r>
            <a:endParaRPr lang="en-US" sz="110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FE0619BC-B246-878A-B436-717C8E2CCED8}"/>
              </a:ext>
            </a:extLst>
          </p:cNvPr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plot tells the whole story: the regime where best-of-both-worlds guarantees actually pay off.</a:t>
            </a:r>
            <a:endParaRPr lang="en-US" sz="12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CEF1A2D-657C-7D72-DAAE-B99EDEE582A8}"/>
              </a:ext>
            </a:extLst>
          </p:cNvPr>
          <p:cNvSpPr/>
          <p:nvPr/>
        </p:nvSpPr>
        <p:spPr>
          <a:xfrm>
            <a:off x="1005840" y="4207933"/>
            <a:ext cx="5090160" cy="14765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I suppose </a:t>
            </a:r>
            <a:r>
              <a:rPr lang="it-IT" err="1"/>
              <a:t>here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</a:t>
            </a:r>
            <a:r>
              <a:rPr lang="it-IT" err="1"/>
              <a:t>win</a:t>
            </a:r>
            <a:r>
              <a:rPr lang="it-IT"/>
              <a:t> REQ 2 project.</a:t>
            </a:r>
          </a:p>
        </p:txBody>
      </p:sp>
    </p:spTree>
    <p:extLst>
      <p:ext uri="{BB962C8B-B14F-4D97-AF65-F5344CB8AC3E}">
        <p14:creationId xmlns:p14="http://schemas.microsoft.com/office/powerpoint/2010/main" val="3715400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7C7A-6302-353B-0B51-72CED6317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Future work…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334E6-2A0A-55AC-C403-9DAC2BEB8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it-IT" err="1"/>
              <a:t>Analyze</a:t>
            </a:r>
            <a:r>
              <a:rPr lang="it-IT"/>
              <a:t> </a:t>
            </a:r>
            <a:r>
              <a:rPr lang="it-IT" err="1"/>
              <a:t>behaviour</a:t>
            </a:r>
            <a:r>
              <a:rPr lang="it-IT"/>
              <a:t> with non </a:t>
            </a:r>
            <a:r>
              <a:rPr lang="it-IT" err="1"/>
              <a:t>sudden</a:t>
            </a:r>
            <a:r>
              <a:rPr lang="it-IT"/>
              <a:t> </a:t>
            </a:r>
            <a:r>
              <a:rPr lang="it-IT" err="1"/>
              <a:t>changes</a:t>
            </a:r>
            <a:endParaRPr lang="it-IT"/>
          </a:p>
          <a:p>
            <a:pPr marL="342900" indent="-342900">
              <a:buFontTx/>
              <a:buChar char="-"/>
            </a:pPr>
            <a:r>
              <a:rPr lang="it-IT" err="1"/>
              <a:t>Recurring</a:t>
            </a:r>
            <a:r>
              <a:rPr lang="it-IT"/>
              <a:t> state of the market</a:t>
            </a:r>
          </a:p>
          <a:p>
            <a:pPr marL="342900" indent="-342900">
              <a:buFontTx/>
              <a:buChar char="-"/>
            </a:pPr>
            <a:endParaRPr lang="it-IT"/>
          </a:p>
          <a:p>
            <a:pPr marL="342900" indent="-342900">
              <a:buFontTx/>
              <a:buChar char="-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0649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C234-D30D-5CDB-BA98-E49310BB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28DA-0537-DE18-EB1A-55B64D1D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20" y="439770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Incremental 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B6F47-598C-E2A5-58A1-24C4B0B7DDC3}"/>
              </a:ext>
            </a:extLst>
          </p:cNvPr>
          <p:cNvSpPr txBox="1"/>
          <p:nvPr/>
        </p:nvSpPr>
        <p:spPr>
          <a:xfrm>
            <a:off x="473820" y="2152821"/>
            <a:ext cx="3481054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Tested to make sure that: </a:t>
            </a:r>
          </a:p>
          <a:p>
            <a:pPr marL="285750" indent="-2286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Transition is monotone → if μ1≤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μT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then μ1≤μ2≤…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μT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286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ΔSKL is the same amongst every sample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DDC4D-3E92-4463-9F7C-0FD224DC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603" y="2709993"/>
            <a:ext cx="7423049" cy="253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77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1ACF-988E-A2F0-42FC-B9425B25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68">
            <a:extLst>
              <a:ext uri="{FF2B5EF4-FFF2-40B4-BE49-F238E27FC236}">
                <a16:creationId xmlns:a16="http://schemas.microsoft.com/office/drawing/2014/main" id="{257BBD50-D577-B28C-9C1E-64B8F027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13" b="35478"/>
          <a:stretch>
            <a:fillRect/>
          </a:stretch>
        </p:blipFill>
        <p:spPr>
          <a:xfrm>
            <a:off x="1078481" y="1668780"/>
            <a:ext cx="10035037" cy="251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9F7ED1-800C-B421-CCC0-A1D3C0E3A7FA}"/>
              </a:ext>
            </a:extLst>
          </p:cNvPr>
          <p:cNvSpPr txBox="1"/>
          <p:nvPr/>
        </p:nvSpPr>
        <p:spPr>
          <a:xfrm>
            <a:off x="1078481" y="64743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kern="1200">
                <a:solidFill>
                  <a:srgbClr val="0070C0"/>
                </a:solidFill>
                <a:latin typeface="Delicious"/>
              </a:rPr>
              <a:t>Gradual CD</a:t>
            </a:r>
            <a:endParaRPr lang="it-IT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8A90A-A573-05D6-8895-674B04D482B9}"/>
              </a:ext>
            </a:extLst>
          </p:cNvPr>
          <p:cNvSpPr txBox="1"/>
          <p:nvPr/>
        </p:nvSpPr>
        <p:spPr>
          <a:xfrm>
            <a:off x="1492758" y="4266891"/>
            <a:ext cx="8355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>
                <a:latin typeface="Delicious"/>
                <a:cs typeface="Segoe UI"/>
              </a:rPr>
              <a:t>3 </a:t>
            </a:r>
            <a:r>
              <a:rPr lang="it-IT" err="1">
                <a:latin typeface="Delicious"/>
                <a:cs typeface="Segoe UI"/>
              </a:rPr>
              <a:t>distinct</a:t>
            </a:r>
            <a:r>
              <a:rPr lang="it-IT">
                <a:latin typeface="Delicious"/>
                <a:cs typeface="Segoe UI"/>
              </a:rPr>
              <a:t> </a:t>
            </a:r>
            <a:r>
              <a:rPr lang="it-IT" err="1">
                <a:latin typeface="Delicious"/>
                <a:cs typeface="Segoe UI"/>
              </a:rPr>
              <a:t>phase</a:t>
            </a:r>
            <a:r>
              <a:rPr lang="it-IT">
                <a:latin typeface="Delicious"/>
                <a:cs typeface="Segoe UI"/>
              </a:rPr>
              <a:t>: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t-IT" b="1">
                <a:solidFill>
                  <a:srgbClr val="00B050"/>
                </a:solidFill>
                <a:latin typeface="Delicious"/>
                <a:cs typeface="Segoe UI"/>
              </a:rPr>
              <a:t>In control </a:t>
            </a:r>
            <a:r>
              <a:rPr lang="it-IT" b="1" err="1">
                <a:solidFill>
                  <a:srgbClr val="00B05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just </a:t>
            </a:r>
            <a:r>
              <a:rPr lang="el-GR">
                <a:solidFill>
                  <a:srgbClr val="00B05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0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is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</a:t>
            </a:r>
            <a:r>
              <a:rPr lang="it-IT" err="1">
                <a:solidFill>
                  <a:srgbClr val="00B050"/>
                </a:solidFill>
                <a:latin typeface="Delicious"/>
                <a:cs typeface="Segoe UI"/>
              </a:rPr>
              <a:t>present</a:t>
            </a:r>
            <a:r>
              <a:rPr lang="it-IT">
                <a:solidFill>
                  <a:srgbClr val="00B050"/>
                </a:solidFill>
                <a:latin typeface="Delicious"/>
                <a:cs typeface="Segoe UI"/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t-IT" b="1" err="1">
                <a:solidFill>
                  <a:srgbClr val="C00000"/>
                </a:solidFill>
                <a:latin typeface="Delicious"/>
                <a:cs typeface="Segoe UI"/>
              </a:rPr>
              <a:t>Transition</a:t>
            </a:r>
            <a:r>
              <a:rPr lang="it-IT" b="1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b="1" err="1">
                <a:solidFill>
                  <a:srgbClr val="C0000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C0000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el-GR">
                <a:solidFill>
                  <a:srgbClr val="C0000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0 and </a:t>
            </a:r>
            <a:r>
              <a:rPr lang="el-GR">
                <a:solidFill>
                  <a:srgbClr val="C0000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1 </a:t>
            </a:r>
            <a:r>
              <a:rPr lang="it-IT" err="1">
                <a:solidFill>
                  <a:srgbClr val="C00000"/>
                </a:solidFill>
                <a:latin typeface="Delicious"/>
                <a:cs typeface="Segoe UI"/>
              </a:rPr>
              <a:t>alternates</a:t>
            </a:r>
            <a:r>
              <a:rPr lang="it-IT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(for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each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block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bi a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distribution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is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 </a:t>
            </a:r>
            <a:r>
              <a:rPr lang="it-IT" sz="1200" err="1">
                <a:solidFill>
                  <a:srgbClr val="C00000"/>
                </a:solidFill>
                <a:latin typeface="Delicious"/>
                <a:cs typeface="Segoe UI"/>
              </a:rPr>
              <a:t>sorted</a:t>
            </a:r>
            <a:r>
              <a:rPr lang="it-IT" sz="1200">
                <a:solidFill>
                  <a:srgbClr val="C00000"/>
                </a:solidFill>
                <a:latin typeface="Delicious"/>
                <a:cs typeface="Segoe UI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>
                <a:solidFill>
                  <a:srgbClr val="0070C0"/>
                </a:solidFill>
                <a:latin typeface="Delicious"/>
                <a:cs typeface="Segoe UI"/>
              </a:rPr>
              <a:t>Out of control </a:t>
            </a:r>
            <a:r>
              <a:rPr lang="it-IT" b="1" err="1">
                <a:solidFill>
                  <a:srgbClr val="0070C0"/>
                </a:solidFill>
                <a:latin typeface="Delicious"/>
                <a:cs typeface="Segoe UI"/>
              </a:rPr>
              <a:t>phase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: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where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just </a:t>
            </a:r>
            <a:r>
              <a:rPr lang="el-GR">
                <a:solidFill>
                  <a:srgbClr val="0070C0"/>
                </a:solidFill>
                <a:latin typeface="Delicious"/>
                <a:cs typeface="Segoe UI"/>
              </a:rPr>
              <a:t>φ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1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is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Segoe UI"/>
              </a:rPr>
              <a:t>present</a:t>
            </a:r>
            <a:r>
              <a:rPr lang="it-IT">
                <a:solidFill>
                  <a:srgbClr val="0070C0"/>
                </a:solidFill>
                <a:latin typeface="Delicious"/>
                <a:cs typeface="Segoe UI"/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it-IT">
              <a:latin typeface="Deliciou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5701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12C8-43C2-2EED-5044-A6B971B5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Recurring</a:t>
            </a:r>
            <a:r>
              <a:rPr lang="it-IT"/>
              <a:t> state of the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7D673-0E35-38E2-B1B2-27D3E6A24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/>
              <a:t>In </a:t>
            </a:r>
            <a:r>
              <a:rPr lang="it-IT" err="1"/>
              <a:t>normal</a:t>
            </a:r>
            <a:r>
              <a:rPr lang="it-IT"/>
              <a:t> case scenario </a:t>
            </a:r>
            <a:r>
              <a:rPr lang="it-IT" err="1"/>
              <a:t>we</a:t>
            </a:r>
            <a:r>
              <a:rPr lang="it-IT"/>
              <a:t> know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seasonality</a:t>
            </a:r>
            <a:r>
              <a:rPr lang="it-IT"/>
              <a:t> impose </a:t>
            </a:r>
            <a:r>
              <a:rPr lang="it-IT" err="1"/>
              <a:t>recurring</a:t>
            </a:r>
            <a:r>
              <a:rPr lang="it-IT"/>
              <a:t> </a:t>
            </a:r>
            <a:r>
              <a:rPr lang="it-IT" err="1"/>
              <a:t>states</a:t>
            </a:r>
            <a:r>
              <a:rPr lang="it-IT"/>
              <a:t>.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environment</a:t>
            </a:r>
            <a:r>
              <a:rPr lang="it-IT"/>
              <a:t> of </a:t>
            </a:r>
            <a:r>
              <a:rPr lang="it-IT" b="1" err="1"/>
              <a:t>gaussian</a:t>
            </a:r>
            <a:r>
              <a:rPr lang="it-IT" b="1"/>
              <a:t> </a:t>
            </a:r>
            <a:r>
              <a:rPr lang="it-IT" b="1" err="1"/>
              <a:t>constellation</a:t>
            </a:r>
            <a:r>
              <a:rPr lang="it-IT" b="1"/>
              <a:t> </a:t>
            </a:r>
            <a:r>
              <a:rPr lang="it-IT" err="1"/>
              <a:t>adapts</a:t>
            </a:r>
            <a:r>
              <a:rPr lang="it-IT"/>
              <a:t> </a:t>
            </a:r>
            <a:r>
              <a:rPr lang="it-IT" err="1"/>
              <a:t>very</a:t>
            </a:r>
            <a:r>
              <a:rPr lang="it-IT"/>
              <a:t> </a:t>
            </a:r>
            <a:r>
              <a:rPr lang="it-IT" err="1"/>
              <a:t>well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case. </a:t>
            </a:r>
            <a:r>
              <a:rPr lang="it-IT" err="1"/>
              <a:t>Useful</a:t>
            </a:r>
            <a:r>
              <a:rPr lang="it-IT"/>
              <a:t> </a:t>
            </a:r>
            <a:r>
              <a:rPr lang="it-IT" err="1"/>
              <a:t>tests</a:t>
            </a:r>
            <a:r>
              <a:rPr lang="it-IT"/>
              <a:t> so </a:t>
            </a:r>
            <a:r>
              <a:rPr lang="it-IT" err="1"/>
              <a:t>could</a:t>
            </a:r>
            <a:r>
              <a:rPr lang="it-IT"/>
              <a:t> be to </a:t>
            </a:r>
            <a:r>
              <a:rPr lang="it-IT" err="1"/>
              <a:t>implement</a:t>
            </a:r>
            <a:r>
              <a:rPr lang="it-IT"/>
              <a:t> </a:t>
            </a:r>
            <a:r>
              <a:rPr lang="it-IT" err="1"/>
              <a:t>something</a:t>
            </a:r>
            <a:r>
              <a:rPr lang="it-IT"/>
              <a:t> like </a:t>
            </a:r>
            <a:r>
              <a:rPr lang="it-IT" b="1">
                <a:solidFill>
                  <a:srgbClr val="7030A0"/>
                </a:solidFill>
              </a:rPr>
              <a:t>Learn++.NSE </a:t>
            </a:r>
            <a:r>
              <a:rPr lang="it-IT"/>
              <a:t>to </a:t>
            </a:r>
            <a:r>
              <a:rPr lang="it-IT" err="1"/>
              <a:t>have</a:t>
            </a:r>
            <a:r>
              <a:rPr lang="it-IT"/>
              <a:t> multiple models and updates </a:t>
            </a:r>
            <a:r>
              <a:rPr lang="it-IT" err="1"/>
              <a:t>their</a:t>
            </a:r>
            <a:r>
              <a:rPr lang="it-IT"/>
              <a:t> weights of </a:t>
            </a:r>
            <a:r>
              <a:rPr lang="it-IT" err="1"/>
              <a:t>importance</a:t>
            </a:r>
            <a:r>
              <a:rPr lang="it-IT"/>
              <a:t> </a:t>
            </a:r>
            <a:r>
              <a:rPr lang="it-IT" err="1"/>
              <a:t>when</a:t>
            </a:r>
            <a:r>
              <a:rPr lang="it-IT"/>
              <a:t> the </a:t>
            </a:r>
            <a:r>
              <a:rPr lang="it-IT" err="1"/>
              <a:t>environment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would</a:t>
            </a:r>
            <a:r>
              <a:rPr lang="it-IT"/>
              <a:t> </a:t>
            </a:r>
            <a:r>
              <a:rPr lang="it-IT" err="1"/>
              <a:t>require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eventually</a:t>
            </a:r>
            <a:r>
              <a:rPr lang="it-IT"/>
              <a:t> </a:t>
            </a:r>
            <a:r>
              <a:rPr lang="it-IT" err="1"/>
              <a:t>comes</a:t>
            </a:r>
            <a:r>
              <a:rPr lang="it-IT"/>
              <a:t> up </a:t>
            </a:r>
            <a:r>
              <a:rPr lang="it-IT" err="1"/>
              <a:t>again</a:t>
            </a:r>
            <a:r>
              <a:rPr lang="it-IT"/>
              <a:t>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sz="2200" b="1">
                <a:solidFill>
                  <a:srgbClr val="7030A0"/>
                </a:solidFill>
              </a:rPr>
              <a:t>References</a:t>
            </a:r>
            <a:endParaRPr lang="en-US" sz="2200">
              <a:solidFill>
                <a:srgbClr val="7030A0"/>
              </a:solidFill>
            </a:endParaRPr>
          </a:p>
          <a:p>
            <a:r>
              <a:rPr lang="en-US" sz="2200">
                <a:solidFill>
                  <a:schemeClr val="bg2">
                    <a:lumMod val="50000"/>
                  </a:schemeClr>
                </a:solidFill>
              </a:rPr>
              <a:t>Elwell, R., &amp; </a:t>
            </a:r>
            <a:r>
              <a:rPr lang="en-US" sz="2200" err="1">
                <a:solidFill>
                  <a:schemeClr val="bg2">
                    <a:lumMod val="50000"/>
                  </a:schemeClr>
                </a:solidFill>
              </a:rPr>
              <a:t>Polikar</a:t>
            </a:r>
            <a:r>
              <a:rPr lang="en-US" sz="2200">
                <a:solidFill>
                  <a:schemeClr val="bg2">
                    <a:lumMod val="50000"/>
                  </a:schemeClr>
                </a:solidFill>
              </a:rPr>
              <a:t>, R. (2011). Incremental Learning of Concept Drift in Nonstationary Environments. </a:t>
            </a:r>
            <a:r>
              <a:rPr lang="en-US" sz="2200" i="1">
                <a:solidFill>
                  <a:schemeClr val="bg2">
                    <a:lumMod val="50000"/>
                  </a:schemeClr>
                </a:solidFill>
              </a:rPr>
              <a:t>IEEE Transactions on Neural Networks</a:t>
            </a:r>
            <a:r>
              <a:rPr lang="en-US" sz="220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2200" i="1">
                <a:solidFill>
                  <a:schemeClr val="bg2">
                    <a:lumMod val="50000"/>
                  </a:schemeClr>
                </a:solidFill>
              </a:rPr>
              <a:t>22</a:t>
            </a:r>
            <a:r>
              <a:rPr lang="en-US" sz="2200">
                <a:solidFill>
                  <a:schemeClr val="bg2">
                    <a:lumMod val="50000"/>
                  </a:schemeClr>
                </a:solidFill>
              </a:rPr>
              <a:t>(10), 1517–1531. </a:t>
            </a:r>
            <a:r>
              <a:rPr lang="en-US" sz="220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https://doi.org/10.1109/tnn.2011.2160459</a:t>
            </a:r>
            <a:r>
              <a:rPr lang="en-US" sz="2200">
                <a:solidFill>
                  <a:srgbClr val="00B0F0"/>
                </a:solidFill>
              </a:rPr>
              <a:t> </a:t>
            </a:r>
            <a:r>
              <a:rPr lang="en-US" sz="2200">
                <a:solidFill>
                  <a:schemeClr val="bg2">
                    <a:lumMod val="50000"/>
                  </a:schemeClr>
                </a:solidFill>
              </a:rPr>
              <a:t>Cited by: 1230</a:t>
            </a:r>
          </a:p>
          <a:p>
            <a:pPr marL="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9183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1512-9180-6977-12E2-7E772A66B6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>
                <a:solidFill>
                  <a:srgbClr val="0070C0"/>
                </a:solidFill>
                <a:latin typeface="Delicious"/>
              </a:rPr>
              <a:t>CCM + </a:t>
            </a:r>
            <a:r>
              <a:rPr lang="it-IT" err="1">
                <a:solidFill>
                  <a:srgbClr val="0070C0"/>
                </a:solidFill>
                <a:latin typeface="Delicious"/>
              </a:rPr>
              <a:t>Rejection</a:t>
            </a:r>
            <a:r>
              <a:rPr lang="it-IT">
                <a:solidFill>
                  <a:srgbClr val="0070C0"/>
                </a:solidFill>
                <a:latin typeface="Delicious"/>
              </a:rPr>
              <a:t> sampling</a:t>
            </a:r>
            <a:endParaRPr lang="it-IT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9F28A-D407-05F3-F5A0-079745ACF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Analysis of the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methods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and </a:t>
            </a:r>
            <a:r>
              <a:rPr lang="it-IT" dirty="0" err="1"/>
              <a:t>accepted</a:t>
            </a:r>
            <a:r>
              <a:rPr lang="it-IT" dirty="0"/>
              <a:t> in literature </a:t>
            </a:r>
          </a:p>
        </p:txBody>
      </p:sp>
    </p:spTree>
    <p:extLst>
      <p:ext uri="{BB962C8B-B14F-4D97-AF65-F5344CB8AC3E}">
        <p14:creationId xmlns:p14="http://schemas.microsoft.com/office/powerpoint/2010/main" val="1507682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1C2DCC-F005-6138-4F35-3D6C841D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>
            <a:normAutofit/>
          </a:bodyPr>
          <a:lstStyle/>
          <a:p>
            <a:r>
              <a:rPr lang="it-IT" err="1">
                <a:solidFill>
                  <a:srgbClr val="0070C0"/>
                </a:solidFill>
                <a:latin typeface="Delicious"/>
              </a:rPr>
              <a:t>Previous</a:t>
            </a:r>
            <a:r>
              <a:rPr lang="it-IT">
                <a:solidFill>
                  <a:srgbClr val="0070C0"/>
                </a:solidFill>
                <a:latin typeface="Delicious"/>
              </a:rPr>
              <a:t> work: CCM + </a:t>
            </a:r>
            <a:r>
              <a:rPr lang="it-IT" err="1">
                <a:solidFill>
                  <a:srgbClr val="0070C0"/>
                </a:solidFill>
                <a:latin typeface="Delicious"/>
              </a:rPr>
              <a:t>Rejection</a:t>
            </a:r>
            <a:r>
              <a:rPr lang="it-IT">
                <a:solidFill>
                  <a:srgbClr val="0070C0"/>
                </a:solidFill>
                <a:latin typeface="Delicious"/>
              </a:rPr>
              <a:t> sampling</a:t>
            </a:r>
            <a:endParaRPr lang="it-IT">
              <a:solidFill>
                <a:srgbClr val="0070C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231431-DE5F-3999-3145-A050C693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>
                <a:latin typeface="Delicious"/>
              </a:rPr>
              <a:t>Baseline based on previous literature:</a:t>
            </a:r>
          </a:p>
          <a:p>
            <a:pPr marL="0" indent="0">
              <a:buNone/>
            </a:pPr>
            <a:endParaRPr lang="en-US" sz="1000">
              <a:latin typeface="Delicious"/>
            </a:endParaRPr>
          </a:p>
          <a:p>
            <a:pPr marL="0" indent="0">
              <a:buNone/>
            </a:pPr>
            <a:r>
              <a:rPr lang="en-US" sz="1800" b="1" dirty="0">
                <a:latin typeface="Aptos" panose="020B0004020202020204"/>
              </a:rPr>
              <a:t>while </a:t>
            </a:r>
            <a:r>
              <a:rPr lang="en-US" sz="1800" dirty="0" err="1">
                <a:latin typeface="Aptos" panose="020B0004020202020204"/>
              </a:rPr>
              <a:t>Generated_Gaussians</a:t>
            </a:r>
            <a:r>
              <a:rPr lang="en-US" sz="1800" dirty="0">
                <a:latin typeface="Aptos" panose="020B0004020202020204"/>
              </a:rPr>
              <a:t> &lt; M :</a:t>
            </a:r>
          </a:p>
          <a:p>
            <a:pPr marL="457200" indent="0">
              <a:buNone/>
            </a:pPr>
            <a:r>
              <a:rPr lang="en-US" sz="1800">
                <a:latin typeface="Aptos" panose="020B0004020202020204"/>
              </a:rPr>
              <a:t>1.  Use CCM (explained on slide 59)  to find a new candidate Gaussian </a:t>
            </a:r>
            <a:r>
              <a:rPr lang="el-GR" sz="1800" dirty="0">
                <a:latin typeface="Aptos" panose="020B0004020202020204"/>
              </a:rPr>
              <a:t>φ</a:t>
            </a:r>
            <a:r>
              <a:rPr lang="en-US" sz="1800" baseline="-25000" dirty="0">
                <a:latin typeface="Aptos" panose="020B0004020202020204"/>
              </a:rPr>
              <a:t>N</a:t>
            </a:r>
            <a:r>
              <a:rPr lang="en-US" sz="1800" dirty="0">
                <a:latin typeface="Aptos" panose="020B0004020202020204"/>
              </a:rPr>
              <a:t> at a given SKL from </a:t>
            </a:r>
            <a:r>
              <a:rPr lang="el-GR" sz="1800" dirty="0">
                <a:latin typeface="Aptos" panose="020B0004020202020204"/>
              </a:rPr>
              <a:t>φ</a:t>
            </a:r>
            <a:r>
              <a:rPr lang="it-IT" sz="1800" baseline="-25000" dirty="0">
                <a:latin typeface="Aptos" panose="020B0004020202020204"/>
              </a:rPr>
              <a:t>0 </a:t>
            </a:r>
            <a:endParaRPr lang="en-US" sz="1800" baseline="-25000" dirty="0">
              <a:latin typeface="Aptos" panose="020B0004020202020204"/>
            </a:endParaRPr>
          </a:p>
          <a:p>
            <a:pPr marL="457200" indent="0">
              <a:buNone/>
            </a:pPr>
            <a:r>
              <a:rPr lang="en-US" sz="1800">
                <a:latin typeface="Aptos" panose="020B0004020202020204"/>
              </a:rPr>
              <a:t>2.  Check if all pairwise constraints are satisfied:</a:t>
            </a:r>
          </a:p>
          <a:p>
            <a:pPr marL="914400" indent="0">
              <a:buNone/>
            </a:pPr>
            <a:r>
              <a:rPr lang="en-US" sz="1800" b="1" dirty="0">
                <a:latin typeface="Aptos" panose="020B0004020202020204"/>
              </a:rPr>
              <a:t>if  </a:t>
            </a:r>
            <a:r>
              <a:rPr lang="en-US" sz="1800" dirty="0" err="1">
                <a:solidFill>
                  <a:srgbClr val="7030A0"/>
                </a:solidFill>
                <a:latin typeface="Aptos" panose="020B0004020202020204"/>
              </a:rPr>
              <a:t>SKL</a:t>
            </a:r>
            <a:r>
              <a:rPr lang="en-US" sz="1800" baseline="-25000" dirty="0" err="1">
                <a:solidFill>
                  <a:srgbClr val="7030A0"/>
                </a:solidFill>
                <a:latin typeface="Aptos" panose="020B0004020202020204"/>
              </a:rPr>
              <a:t>min</a:t>
            </a:r>
            <a:r>
              <a:rPr lang="en-US" sz="1800" dirty="0">
                <a:solidFill>
                  <a:srgbClr val="7030A0"/>
                </a:solidFill>
                <a:latin typeface="Aptos" panose="020B0004020202020204"/>
              </a:rPr>
              <a:t> ≤ SKL(</a:t>
            </a:r>
            <a:r>
              <a:rPr lang="el-GR" sz="1800" dirty="0">
                <a:solidFill>
                  <a:srgbClr val="7030A0"/>
                </a:solidFill>
                <a:latin typeface="Aptos" panose="020B0004020202020204"/>
              </a:rPr>
              <a:t>φ</a:t>
            </a:r>
            <a:r>
              <a:rPr lang="en-US" sz="1800" baseline="-25000" dirty="0">
                <a:solidFill>
                  <a:srgbClr val="7030A0"/>
                </a:solidFill>
                <a:latin typeface="Aptos" panose="020B0004020202020204"/>
              </a:rPr>
              <a:t>N</a:t>
            </a:r>
            <a:r>
              <a:rPr lang="en-US" sz="1800" dirty="0">
                <a:solidFill>
                  <a:srgbClr val="7030A0"/>
                </a:solidFill>
                <a:latin typeface="Aptos" panose="020B0004020202020204"/>
              </a:rPr>
              <a:t>, </a:t>
            </a:r>
            <a:r>
              <a:rPr lang="el-GR" sz="1800" dirty="0">
                <a:solidFill>
                  <a:srgbClr val="7030A0"/>
                </a:solidFill>
                <a:latin typeface="Aptos" panose="020B0004020202020204"/>
              </a:rPr>
              <a:t>φ</a:t>
            </a:r>
            <a:r>
              <a:rPr lang="en-US" sz="1800" baseline="-25000" dirty="0" err="1">
                <a:solidFill>
                  <a:srgbClr val="7030A0"/>
                </a:solidFill>
                <a:latin typeface="Aptos" panose="020B0004020202020204"/>
              </a:rPr>
              <a:t>i</a:t>
            </a:r>
            <a:r>
              <a:rPr lang="en-US" sz="1800" dirty="0">
                <a:solidFill>
                  <a:srgbClr val="7030A0"/>
                </a:solidFill>
                <a:latin typeface="Aptos" panose="020B0004020202020204"/>
              </a:rPr>
              <a:t>) </a:t>
            </a:r>
            <a:r>
              <a:rPr lang="en-US" sz="2200" b="1" dirty="0">
                <a:solidFill>
                  <a:srgbClr val="0070C0"/>
                </a:solidFill>
                <a:latin typeface="Aptos" panose="020B0004020202020204"/>
              </a:rPr>
              <a:t>≤ </a:t>
            </a:r>
            <a:r>
              <a:rPr lang="en-US" sz="2200" b="1" dirty="0" err="1">
                <a:solidFill>
                  <a:srgbClr val="0070C0"/>
                </a:solidFill>
                <a:latin typeface="Aptos" panose="020B0004020202020204"/>
              </a:rPr>
              <a:t>SKL</a:t>
            </a:r>
            <a:r>
              <a:rPr lang="en-US" sz="2200" b="1" baseline="-25000" dirty="0" err="1">
                <a:solidFill>
                  <a:srgbClr val="0070C0"/>
                </a:solidFill>
                <a:latin typeface="Aptos" panose="020B0004020202020204"/>
              </a:rPr>
              <a:t>max</a:t>
            </a:r>
            <a:r>
              <a:rPr lang="en-US" sz="2200" b="1" dirty="0">
                <a:solidFill>
                  <a:srgbClr val="0070C0"/>
                </a:solidFill>
                <a:latin typeface="Aptos" panose="020B0004020202020204"/>
              </a:rPr>
              <a:t>  </a:t>
            </a:r>
            <a:r>
              <a:rPr lang="en-US" sz="1800" dirty="0">
                <a:latin typeface="Aptos" panose="020B0004020202020204"/>
              </a:rPr>
              <a:t>∀</a:t>
            </a:r>
            <a:r>
              <a:rPr lang="en-US" sz="1800" dirty="0" err="1">
                <a:latin typeface="Aptos" panose="020B0004020202020204"/>
              </a:rPr>
              <a:t>i</a:t>
            </a:r>
            <a:r>
              <a:rPr lang="en-US" sz="1800" dirty="0">
                <a:latin typeface="Aptos" panose="020B0004020202020204"/>
              </a:rPr>
              <a:t> :</a:t>
            </a:r>
          </a:p>
          <a:p>
            <a:pPr marL="1371600" indent="0">
              <a:buNone/>
            </a:pPr>
            <a:r>
              <a:rPr lang="en-US" sz="1800">
                <a:solidFill>
                  <a:srgbClr val="196B24"/>
                </a:solidFill>
                <a:latin typeface="Aptos" panose="020B0004020202020204"/>
              </a:rPr>
              <a:t>Accept </a:t>
            </a:r>
            <a:r>
              <a:rPr lang="el-GR" sz="1800">
                <a:solidFill>
                  <a:srgbClr val="196B24"/>
                </a:solidFill>
                <a:latin typeface="Aptos" panose="020B0004020202020204"/>
              </a:rPr>
              <a:t>φ</a:t>
            </a:r>
            <a:r>
              <a:rPr lang="en-US" sz="1800" baseline="-25000">
                <a:solidFill>
                  <a:srgbClr val="196B24"/>
                </a:solidFill>
                <a:latin typeface="Aptos" panose="020B0004020202020204"/>
              </a:rPr>
              <a:t>N</a:t>
            </a:r>
            <a:r>
              <a:rPr lang="en-US" sz="1800">
                <a:solidFill>
                  <a:srgbClr val="196B24"/>
                </a:solidFill>
                <a:latin typeface="Aptos" panose="020B0004020202020204"/>
              </a:rPr>
              <a:t> into the constellation</a:t>
            </a:r>
          </a:p>
          <a:p>
            <a:pPr marL="914400" indent="0">
              <a:buNone/>
            </a:pPr>
            <a:r>
              <a:rPr lang="en-US" sz="1800" b="1">
                <a:latin typeface="Aptos" panose="020B0004020202020204"/>
              </a:rPr>
              <a:t>else :</a:t>
            </a:r>
          </a:p>
          <a:p>
            <a:pPr marL="1371600" indent="0">
              <a:buNone/>
            </a:pPr>
            <a:r>
              <a:rPr lang="en-US" sz="1800">
                <a:solidFill>
                  <a:srgbClr val="C00000"/>
                </a:solidFill>
                <a:latin typeface="Aptos" panose="020B0004020202020204"/>
              </a:rPr>
              <a:t>Reject </a:t>
            </a:r>
            <a:r>
              <a:rPr lang="el-GR" sz="1800">
                <a:solidFill>
                  <a:srgbClr val="C00000"/>
                </a:solidFill>
                <a:latin typeface="Aptos" panose="020B0004020202020204"/>
              </a:rPr>
              <a:t>φ</a:t>
            </a:r>
            <a:r>
              <a:rPr lang="en-US" sz="1800" baseline="-25000">
                <a:solidFill>
                  <a:srgbClr val="C00000"/>
                </a:solidFill>
                <a:latin typeface="Aptos" panose="020B0004020202020204"/>
              </a:rPr>
              <a:t>N</a:t>
            </a:r>
            <a:r>
              <a:rPr lang="en-US" sz="1800">
                <a:solidFill>
                  <a:srgbClr val="C00000"/>
                </a:solidFill>
                <a:latin typeface="Aptos" panose="020B0004020202020204"/>
              </a:rPr>
              <a:t> and retry</a:t>
            </a:r>
          </a:p>
          <a:p>
            <a:pPr marL="0" indent="0">
              <a:buNone/>
            </a:pPr>
            <a:endParaRPr lang="en-US" sz="1000">
              <a:latin typeface="Delicious"/>
            </a:endParaRPr>
          </a:p>
          <a:p>
            <a:pPr marL="0" indent="0">
              <a:buNone/>
            </a:pPr>
            <a:r>
              <a:rPr lang="en-US" sz="1400" i="1">
                <a:latin typeface="Delicious"/>
              </a:rPr>
              <a:t>References:</a:t>
            </a:r>
          </a:p>
          <a:p>
            <a:pPr marL="0" indent="0">
              <a:buNone/>
            </a:pPr>
            <a:r>
              <a:rPr lang="en-US" sz="1400" i="1" dirty="0">
                <a:latin typeface="Delicious"/>
                <a:hlinkClick r:id="rId2"/>
              </a:rPr>
              <a:t>Generating High-Dimensional Datastreams for Change Detection</a:t>
            </a:r>
            <a:r>
              <a:rPr lang="en-US" sz="1400" i="1" dirty="0">
                <a:latin typeface="Delicious"/>
              </a:rPr>
              <a:t>  D. Carrera, G. </a:t>
            </a:r>
            <a:r>
              <a:rPr lang="en-US" sz="1400" i="1" dirty="0" err="1">
                <a:latin typeface="Delicious"/>
              </a:rPr>
              <a:t>Boracchi</a:t>
            </a:r>
            <a:endParaRPr lang="en-US" sz="1400" i="1" dirty="0">
              <a:latin typeface="Delicious"/>
            </a:endParaRPr>
          </a:p>
          <a:p>
            <a:pPr marL="0" indent="0">
              <a:buNone/>
            </a:pPr>
            <a:r>
              <a:rPr lang="en-US" sz="1400" i="1" dirty="0">
                <a:latin typeface="Delicious"/>
                <a:hlinkClick r:id="rId3"/>
              </a:rPr>
              <a:t>Multimodal Batch-wise Change Detection</a:t>
            </a:r>
            <a:r>
              <a:rPr lang="en-US" sz="1400" i="1" dirty="0">
                <a:latin typeface="Delicious"/>
              </a:rPr>
              <a:t>  D. Stucchi, G. </a:t>
            </a:r>
            <a:r>
              <a:rPr lang="en-US" sz="1400" i="1" dirty="0" err="1">
                <a:latin typeface="Delicious"/>
              </a:rPr>
              <a:t>Boracchi</a:t>
            </a:r>
            <a:r>
              <a:rPr lang="en-US" sz="1400" i="1" dirty="0">
                <a:latin typeface="Delicious"/>
              </a:rPr>
              <a:t>, L. Magri, D. Carrera</a:t>
            </a:r>
            <a:r>
              <a:rPr lang="en-US" sz="1400" i="1" dirty="0">
                <a:solidFill>
                  <a:srgbClr val="7030A0"/>
                </a:solidFill>
                <a:latin typeface="Delicious"/>
              </a:rPr>
              <a:t>*</a:t>
            </a:r>
          </a:p>
          <a:p>
            <a:pPr marL="0" indent="0">
              <a:buNone/>
            </a:pPr>
            <a:r>
              <a:rPr lang="en-US" sz="1400" i="1">
                <a:solidFill>
                  <a:srgbClr val="7030A0"/>
                </a:solidFill>
                <a:latin typeface="Delicious"/>
              </a:rPr>
              <a:t>*Note: this paper imposed just a lower bound on the SKL divergence.</a:t>
            </a:r>
          </a:p>
        </p:txBody>
      </p:sp>
    </p:spTree>
    <p:extLst>
      <p:ext uri="{BB962C8B-B14F-4D97-AF65-F5344CB8AC3E}">
        <p14:creationId xmlns:p14="http://schemas.microsoft.com/office/powerpoint/2010/main" val="1208620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53D0ED-5438-EB65-7626-D4939DEB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3E9AA2-E3E3-027B-7F77-F1B710ABA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0"/>
            <a:ext cx="12192000" cy="680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14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7AFD05-1BCE-60AC-9424-0C2B1B504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80"/>
            <a:ext cx="12192000" cy="68068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52CDAE-8D62-8CE3-CA25-92E46C625108}"/>
              </a:ext>
            </a:extLst>
          </p:cNvPr>
          <p:cNvSpPr/>
          <p:nvPr/>
        </p:nvSpPr>
        <p:spPr>
          <a:xfrm>
            <a:off x="2454577" y="1633743"/>
            <a:ext cx="7599367" cy="33029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ym typeface="Wingdings" panose="05000000000000000000" pitchFamily="2" charset="2"/>
              </a:rPr>
              <a:t>Whisker plots are bounded. </a:t>
            </a:r>
          </a:p>
        </p:txBody>
      </p:sp>
    </p:spTree>
    <p:extLst>
      <p:ext uri="{BB962C8B-B14F-4D97-AF65-F5344CB8AC3E}">
        <p14:creationId xmlns:p14="http://schemas.microsoft.com/office/powerpoint/2010/main" val="90720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9373F-B393-E6BE-F698-268C685CA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80" y="0"/>
            <a:ext cx="11460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2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A705DC-AD79-2690-97A1-C700626C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4EC08D-F2C8-2799-4C60-E0E6B3525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80" y="0"/>
            <a:ext cx="1146084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7D0725-CF8C-E7AD-412F-F0C2FF4FE636}"/>
              </a:ext>
            </a:extLst>
          </p:cNvPr>
          <p:cNvSpPr/>
          <p:nvPr/>
        </p:nvSpPr>
        <p:spPr>
          <a:xfrm>
            <a:off x="2434641" y="1401067"/>
            <a:ext cx="7556576" cy="33648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>
                <a:ea typeface="+mn-lt"/>
                <a:cs typeface="+mn-lt"/>
              </a:rPr>
              <a:t>⚠️</a:t>
            </a:r>
            <a:endParaRPr lang="en-US" sz="4000"/>
          </a:p>
          <a:p>
            <a:pPr algn="ctr"/>
            <a:endParaRPr lang="en-US"/>
          </a:p>
          <a:p>
            <a:pPr marL="342900" indent="-342900" algn="ctr">
              <a:buAutoNum type="arabicParenR"/>
            </a:pPr>
            <a:r>
              <a:rPr lang="en-US"/>
              <a:t>For lower dimension the in-train modes can be too few.</a:t>
            </a:r>
          </a:p>
          <a:p>
            <a:pPr marL="342900" indent="-342900" algn="ctr">
              <a:buAutoNum type="arabicParenR"/>
            </a:pPr>
            <a:r>
              <a:rPr lang="en-US"/>
              <a:t>We do not have any guarantee on when the algorithm will terminate.</a:t>
            </a:r>
          </a:p>
        </p:txBody>
      </p:sp>
    </p:spTree>
    <p:extLst>
      <p:ext uri="{BB962C8B-B14F-4D97-AF65-F5344CB8AC3E}">
        <p14:creationId xmlns:p14="http://schemas.microsoft.com/office/powerpoint/2010/main" val="224531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069C6-772D-AF37-0A8A-BFF1C7FD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43</a:t>
            </a:fld>
            <a:endParaRPr lang="it-I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AF2856-C203-34DA-3B23-B65F03F2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5" y="1236947"/>
            <a:ext cx="12022057" cy="4606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EA3C-AD6B-F301-1765-09D6E514EE20}"/>
              </a:ext>
            </a:extLst>
          </p:cNvPr>
          <p:cNvSpPr txBox="1"/>
          <p:nvPr/>
        </p:nvSpPr>
        <p:spPr>
          <a:xfrm>
            <a:off x="565265" y="332509"/>
            <a:ext cx="789762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3600">
                <a:solidFill>
                  <a:srgbClr val="0070C0"/>
                </a:solidFill>
                <a:ea typeface="+mn-lt"/>
                <a:cs typeface="+mn-lt"/>
              </a:rPr>
              <a:t>CCM +</a:t>
            </a:r>
            <a:r>
              <a:rPr lang="it-IT" sz="3600">
                <a:solidFill>
                  <a:srgbClr val="0070C0"/>
                </a:solidFill>
                <a:latin typeface="Aptos"/>
              </a:rPr>
              <a:t> </a:t>
            </a:r>
            <a:r>
              <a:rPr lang="it-IT" sz="3600" err="1">
                <a:solidFill>
                  <a:srgbClr val="0070C0"/>
                </a:solidFill>
                <a:latin typeface="Delicious"/>
              </a:rPr>
              <a:t>Rejection</a:t>
            </a:r>
            <a:r>
              <a:rPr lang="it-IT" sz="3600">
                <a:solidFill>
                  <a:srgbClr val="0070C0"/>
                </a:solidFill>
                <a:latin typeface="Delicious"/>
              </a:rPr>
              <a:t> Sampling (Visuals)</a:t>
            </a:r>
            <a:endParaRPr lang="en-US">
              <a:latin typeface="Delicious"/>
            </a:endParaRPr>
          </a:p>
        </p:txBody>
      </p:sp>
    </p:spTree>
    <p:extLst>
      <p:ext uri="{BB962C8B-B14F-4D97-AF65-F5344CB8AC3E}">
        <p14:creationId xmlns:p14="http://schemas.microsoft.com/office/powerpoint/2010/main" val="1250183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F31154-08AF-755F-7485-DD9F87E8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ADF9-25C3-4B53-A3CA-6818113F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>
                <a:solidFill>
                  <a:srgbClr val="0070C0"/>
                </a:solidFill>
              </a:rPr>
              <a:t>Benchmark </a:t>
            </a:r>
            <a:r>
              <a:rPr lang="it-IT" sz="4800" err="1">
                <a:solidFill>
                  <a:srgbClr val="0070C0"/>
                </a:solidFill>
              </a:rPr>
              <a:t>comparison</a:t>
            </a:r>
            <a:endParaRPr lang="it-IT" sz="480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7FEF9-EA92-75C3-5084-F0564A97C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solidFill>
                  <a:schemeClr val="bg2">
                    <a:lumMod val="50000"/>
                  </a:schemeClr>
                </a:solidFill>
              </a:rPr>
              <a:t>OGD VS </a:t>
            </a:r>
            <a:r>
              <a:rPr lang="it-IT" err="1">
                <a:solidFill>
                  <a:schemeClr val="bg2">
                    <a:lumMod val="50000"/>
                  </a:schemeClr>
                </a:solidFill>
              </a:rPr>
              <a:t>rejection</a:t>
            </a:r>
            <a:r>
              <a:rPr lang="it-IT">
                <a:solidFill>
                  <a:schemeClr val="bg2">
                    <a:lumMod val="50000"/>
                  </a:schemeClr>
                </a:solidFill>
              </a:rPr>
              <a:t> sampling</a:t>
            </a:r>
            <a:br>
              <a:rPr lang="it-IT"/>
            </a:b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9158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861944-9569-9970-5928-8604EB5C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721"/>
            <a:ext cx="12192000" cy="60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77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8914A-F1CF-E355-B7E0-65BC4C3DF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"/>
            <a:ext cx="12192000" cy="661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34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F379A0-EDCC-059B-9721-23482B1F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6F308-7A40-D899-9E53-7383E206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</a:rPr>
              <a:t>Geometric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explaination</a:t>
            </a:r>
            <a:r>
              <a:rPr lang="it-IT">
                <a:solidFill>
                  <a:srgbClr val="0070C0"/>
                </a:solidFill>
              </a:rPr>
              <a:t> of </a:t>
            </a:r>
            <a:r>
              <a:rPr lang="it-IT" err="1">
                <a:solidFill>
                  <a:srgbClr val="0070C0"/>
                </a:solidFill>
              </a:rPr>
              <a:t>why</a:t>
            </a:r>
            <a:r>
              <a:rPr lang="it-IT">
                <a:solidFill>
                  <a:srgbClr val="0070C0"/>
                </a:solidFill>
              </a:rPr>
              <a:t> OGD </a:t>
            </a:r>
            <a:r>
              <a:rPr lang="it-IT" err="1">
                <a:solidFill>
                  <a:srgbClr val="0070C0"/>
                </a:solidFill>
              </a:rPr>
              <a:t>is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better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than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rej</a:t>
            </a:r>
            <a:r>
              <a:rPr lang="it-IT">
                <a:solidFill>
                  <a:srgbClr val="0070C0"/>
                </a:solidFill>
              </a:rPr>
              <a:t> sampling.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816426-78FF-9DB0-0497-FB039B72E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Based</a:t>
            </a:r>
            <a:r>
              <a:rPr lang="it-IT"/>
              <a:t> on an easy and </a:t>
            </a:r>
            <a:r>
              <a:rPr lang="it-IT" err="1"/>
              <a:t>reppresentable</a:t>
            </a:r>
            <a:r>
              <a:rPr lang="it-IT"/>
              <a:t> 2d </a:t>
            </a:r>
            <a:r>
              <a:rPr lang="it-IT" err="1"/>
              <a:t>example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5293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AAD264-FF7E-8050-2D53-A519642E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CB79-F287-6067-82A6-114781A2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>
                <a:solidFill>
                  <a:srgbClr val="0070C0"/>
                </a:solidFill>
              </a:rPr>
              <a:t>SKL </a:t>
            </a:r>
            <a:r>
              <a:rPr lang="it-IT" err="1">
                <a:solidFill>
                  <a:srgbClr val="0070C0"/>
                </a:solidFill>
              </a:rPr>
              <a:t>closed</a:t>
            </a:r>
            <a:r>
              <a:rPr lang="it-IT">
                <a:solidFill>
                  <a:srgbClr val="0070C0"/>
                </a:solidFill>
              </a:rPr>
              <a:t> form for 1D </a:t>
            </a:r>
            <a:r>
              <a:rPr lang="it-IT" err="1">
                <a:solidFill>
                  <a:srgbClr val="0070C0"/>
                </a:solidFill>
              </a:rPr>
              <a:t>Gaussians</a:t>
            </a:r>
            <a:endParaRPr lang="it-IT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F497A-53FE-9839-6299-72E2E7857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it-IT" sz="4800" i="1" dirty="0" err="1" smtClean="0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it-IT" sz="4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4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sz="48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48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4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it-IT" sz="4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4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4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t-IT" sz="4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t-IT" sz="4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it-IT" sz="4800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it-IT" sz="4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4800" b="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it-IT" sz="4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it-IT" sz="4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sz="4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sz="4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it-IT" sz="4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it-IT" sz="48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it-IT" sz="4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48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it-IT" sz="4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t-IT" sz="4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sz="48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it-IT">
                    <a:latin typeface="Cambria Math" panose="02040503050406030204" pitchFamily="18" charset="0"/>
                  </a:rPr>
                  <a:t>Fixing first </a:t>
                </a:r>
                <a:r>
                  <a:rPr lang="it-IT" err="1">
                    <a:latin typeface="Cambria Math" panose="02040503050406030204" pitchFamily="18" charset="0"/>
                  </a:rPr>
                  <a:t>gaussian</a:t>
                </a:r>
                <a:r>
                  <a:rPr lang="it-IT">
                    <a:latin typeface="Cambria Math" panose="02040503050406030204" pitchFamily="18" charset="0"/>
                  </a:rPr>
                  <a:t> </a:t>
                </a:r>
                <a:r>
                  <a:rPr lang="el-GR">
                    <a:latin typeface="Cambria Math" panose="02040503050406030204" pitchFamily="18" charset="0"/>
                  </a:rPr>
                  <a:t>μ</a:t>
                </a:r>
                <a:r>
                  <a:rPr lang="it-IT">
                    <a:latin typeface="Cambria Math" panose="02040503050406030204" pitchFamily="18" charset="0"/>
                  </a:rPr>
                  <a:t>1, </a:t>
                </a:r>
                <a:r>
                  <a:rPr lang="el-GR">
                    <a:latin typeface="Cambria Math" panose="02040503050406030204" pitchFamily="18" charset="0"/>
                  </a:rPr>
                  <a:t>σ</a:t>
                </a:r>
                <a:r>
                  <a:rPr lang="it-IT">
                    <a:latin typeface="Cambria Math" panose="02040503050406030204" pitchFamily="18" charset="0"/>
                  </a:rPr>
                  <a:t>1=(0,1) </a:t>
                </a:r>
                <a:r>
                  <a:rPr lang="it-IT" err="1">
                    <a:latin typeface="Cambria Math" panose="02040503050406030204" pitchFamily="18" charset="0"/>
                  </a:rPr>
                  <a:t>we</a:t>
                </a:r>
                <a:r>
                  <a:rPr lang="it-IT">
                    <a:latin typeface="Cambria Math" panose="02040503050406030204" pitchFamily="18" charset="0"/>
                  </a:rPr>
                  <a:t> can study the </a:t>
                </a:r>
                <a:r>
                  <a:rPr lang="it-IT" err="1">
                    <a:latin typeface="Cambria Math" panose="02040503050406030204" pitchFamily="18" charset="0"/>
                  </a:rPr>
                  <a:t>space</a:t>
                </a:r>
                <a:r>
                  <a:rPr lang="it-IT">
                    <a:latin typeface="Cambria Math" panose="02040503050406030204" pitchFamily="18" charset="0"/>
                  </a:rPr>
                  <a:t> (</a:t>
                </a:r>
                <a:r>
                  <a:rPr lang="el-GR">
                    <a:latin typeface="Cambria Math" panose="02040503050406030204" pitchFamily="18" charset="0"/>
                  </a:rPr>
                  <a:t>μ</a:t>
                </a:r>
                <a:r>
                  <a:rPr lang="it-IT">
                    <a:latin typeface="Cambria Math" panose="02040503050406030204" pitchFamily="18" charset="0"/>
                  </a:rPr>
                  <a:t>,</a:t>
                </a:r>
                <a:r>
                  <a:rPr lang="el-GR">
                    <a:latin typeface="Cambria Math" panose="02040503050406030204" pitchFamily="18" charset="0"/>
                  </a:rPr>
                  <a:t>σ</a:t>
                </a:r>
                <a:r>
                  <a:rPr lang="it-IT">
                    <a:latin typeface="Cambria Math" panose="02040503050406030204" pitchFamily="18" charset="0"/>
                  </a:rPr>
                  <a:t>) of </a:t>
                </a:r>
                <a:r>
                  <a:rPr lang="it-IT" err="1">
                    <a:latin typeface="Cambria Math" panose="02040503050406030204" pitchFamily="18" charset="0"/>
                  </a:rPr>
                  <a:t>accepted</a:t>
                </a:r>
                <a:r>
                  <a:rPr lang="it-IT">
                    <a:latin typeface="Cambria Math" panose="02040503050406030204" pitchFamily="18" charset="0"/>
                  </a:rPr>
                  <a:t> </a:t>
                </a:r>
                <a:r>
                  <a:rPr lang="it-IT" err="1">
                    <a:latin typeface="Cambria Math" panose="02040503050406030204" pitchFamily="18" charset="0"/>
                  </a:rPr>
                  <a:t>solutions</a:t>
                </a:r>
                <a:r>
                  <a:rPr lang="it-IT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BF497A-53FE-9839-6299-72E2E7857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645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C468B9-4597-672B-91D9-081C6390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CD318E-9676-BC14-93F6-DFE9B5AA4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8" y="0"/>
            <a:ext cx="10678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89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6501BA-E75D-5E52-F458-FC97329A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C04BB-AC87-7E08-8BDE-14671C15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8" y="0"/>
            <a:ext cx="10678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14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C74360-4D9B-9EE0-0C77-A25280B3B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88087-DCBF-6A7D-105A-1E72D5E9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8" y="0"/>
            <a:ext cx="10678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299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B710AE-6E70-A32C-84F3-E86A653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4657EA-CABF-638C-E2ED-4CB4E69DD4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73"/>
          <a:stretch>
            <a:fillRect/>
          </a:stretch>
        </p:blipFill>
        <p:spPr>
          <a:xfrm>
            <a:off x="975664" y="-2607"/>
            <a:ext cx="10240671" cy="686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5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E696E1-8E6F-D4DE-C543-A3729D51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258736-A0AF-504C-9E7B-D4F0B548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27" y="0"/>
            <a:ext cx="981442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A64D1E-2735-D7D4-55C1-5E6C3B270CAA}"/>
              </a:ext>
            </a:extLst>
          </p:cNvPr>
          <p:cNvSpPr txBox="1"/>
          <p:nvPr/>
        </p:nvSpPr>
        <p:spPr>
          <a:xfrm>
            <a:off x="6642718" y="5646063"/>
            <a:ext cx="55492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To </a:t>
            </a:r>
            <a:r>
              <a:rPr lang="it-IT" err="1"/>
              <a:t>see</a:t>
            </a:r>
            <a:r>
              <a:rPr lang="it-IT"/>
              <a:t> </a:t>
            </a:r>
            <a:r>
              <a:rPr lang="it-IT" err="1"/>
              <a:t>accepted</a:t>
            </a:r>
            <a:r>
              <a:rPr lang="it-IT"/>
              <a:t> </a:t>
            </a:r>
            <a:r>
              <a:rPr lang="it-IT" err="1"/>
              <a:t>space</a:t>
            </a:r>
            <a:r>
              <a:rPr lang="it-IT"/>
              <a:t> with the </a:t>
            </a:r>
            <a:r>
              <a:rPr lang="it-IT" err="1"/>
              <a:t>change</a:t>
            </a:r>
            <a:r>
              <a:rPr lang="it-IT"/>
              <a:t> of </a:t>
            </a:r>
            <a:r>
              <a:rPr lang="el-GR"/>
              <a:t>μ</a:t>
            </a:r>
            <a:r>
              <a:rPr lang="it-IT"/>
              <a:t>, </a:t>
            </a:r>
            <a:r>
              <a:rPr lang="el-GR"/>
              <a:t>σ</a:t>
            </a:r>
            <a:r>
              <a:rPr lang="it-IT"/>
              <a:t>: </a:t>
            </a:r>
          </a:p>
          <a:p>
            <a:r>
              <a:rPr lang="it-IT"/>
              <a:t>https://www.desmos.com/calculator/hudl929q3m</a:t>
            </a:r>
          </a:p>
        </p:txBody>
      </p:sp>
    </p:spTree>
    <p:extLst>
      <p:ext uri="{BB962C8B-B14F-4D97-AF65-F5344CB8AC3E}">
        <p14:creationId xmlns:p14="http://schemas.microsoft.com/office/powerpoint/2010/main" val="3324606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FE9C8B-1CF0-65D9-16F0-9C52EC4F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09FF79-314F-F21B-3963-3F8F761D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8" y="0"/>
            <a:ext cx="10678944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C7BB40-427B-E5A7-AED1-C145AABF9504}"/>
              </a:ext>
            </a:extLst>
          </p:cNvPr>
          <p:cNvSpPr/>
          <p:nvPr/>
        </p:nvSpPr>
        <p:spPr>
          <a:xfrm>
            <a:off x="6917932" y="1024128"/>
            <a:ext cx="4041168" cy="1989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This asymmetric form depends on the distinguishability of the variance…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EA4BA-9692-A20A-E9E9-FB8E17EBF6CF}"/>
              </a:ext>
            </a:extLst>
          </p:cNvPr>
          <p:cNvSpPr/>
          <p:nvPr/>
        </p:nvSpPr>
        <p:spPr>
          <a:xfrm>
            <a:off x="6823752" y="3304853"/>
            <a:ext cx="4263775" cy="32192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6A9788-B74A-B98A-3672-ABF960023DD1}"/>
              </a:ext>
            </a:extLst>
          </p:cNvPr>
          <p:cNvCxnSpPr/>
          <p:nvPr/>
        </p:nvCxnSpPr>
        <p:spPr>
          <a:xfrm flipV="1">
            <a:off x="7568628" y="6155932"/>
            <a:ext cx="2354492" cy="25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5D5055-8631-B646-0BFB-898AA8064A53}"/>
              </a:ext>
            </a:extLst>
          </p:cNvPr>
          <p:cNvCxnSpPr>
            <a:cxnSpLocks/>
          </p:cNvCxnSpPr>
          <p:nvPr/>
        </p:nvCxnSpPr>
        <p:spPr>
          <a:xfrm flipH="1" flipV="1">
            <a:off x="7582130" y="3775664"/>
            <a:ext cx="25776" cy="2413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ADBA0C4-11E6-B1E9-C8FE-6C2F4B0F3C9C}"/>
              </a:ext>
            </a:extLst>
          </p:cNvPr>
          <p:cNvSpPr/>
          <p:nvPr/>
        </p:nvSpPr>
        <p:spPr>
          <a:xfrm rot="-2220000">
            <a:off x="7897154" y="4482410"/>
            <a:ext cx="2071955" cy="1001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9465D8-AD5C-D2C3-D4C2-5716A33B1B62}"/>
              </a:ext>
            </a:extLst>
          </p:cNvPr>
          <p:cNvSpPr/>
          <p:nvPr/>
        </p:nvSpPr>
        <p:spPr>
          <a:xfrm rot="-2220000">
            <a:off x="8393949" y="4665979"/>
            <a:ext cx="1113563" cy="632513"/>
          </a:xfrm>
          <a:prstGeom prst="ellipse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20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CAF1-25F5-E307-7AC0-5DAE61D77A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Last </a:t>
            </a:r>
            <a:r>
              <a:rPr lang="it-IT" err="1"/>
              <a:t>Considerations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D6A6C-C814-CFEB-D52A-76BBB8FB3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OGD VS Rej Sampling</a:t>
            </a:r>
          </a:p>
        </p:txBody>
      </p:sp>
    </p:spTree>
    <p:extLst>
      <p:ext uri="{BB962C8B-B14F-4D97-AF65-F5344CB8AC3E}">
        <p14:creationId xmlns:p14="http://schemas.microsoft.com/office/powerpoint/2010/main" val="33646437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6D0F-9E0A-C31D-FFCA-EE84C34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>
                <a:solidFill>
                  <a:srgbClr val="0070C0"/>
                </a:solidFill>
                <a:latin typeface="Delicious"/>
              </a:rPr>
              <a:t>Known limitations: Strange distributions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ADBF-3E27-4D01-EC48-92DF3E92495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987" y="2417341"/>
            <a:ext cx="4530725" cy="36401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Delicious"/>
              </a:rPr>
              <a:t>This method relies on the closed formula of the SKL. </a:t>
            </a:r>
          </a:p>
          <a:p>
            <a:pPr marL="0" indent="0">
              <a:buNone/>
            </a:pPr>
            <a:r>
              <a:rPr lang="en-US" sz="2000">
                <a:latin typeface="Delicious"/>
              </a:rPr>
              <a:t>For many known distributions there exists a closed formula (Gaussian (Normal) Bernoulli/Binomial, Gamma, Beta, Poisson, Exponential etc...). </a:t>
            </a:r>
          </a:p>
          <a:p>
            <a:pPr marL="0" indent="0">
              <a:buNone/>
            </a:pPr>
            <a:r>
              <a:rPr lang="en-US" sz="2000" b="1">
                <a:latin typeface="Delicious"/>
              </a:rPr>
              <a:t>Unfortunately </a:t>
            </a:r>
            <a:r>
              <a:rPr lang="en-US" sz="2000">
                <a:latin typeface="Delicious"/>
              </a:rPr>
              <a:t>there exists distributions for which a </a:t>
            </a:r>
            <a:r>
              <a:rPr lang="en-US" sz="2000" b="1">
                <a:latin typeface="Delicious"/>
              </a:rPr>
              <a:t>closed formula doesn't exists</a:t>
            </a:r>
            <a:r>
              <a:rPr lang="en-US" sz="2000">
                <a:latin typeface="Delicious"/>
              </a:rPr>
              <a:t> (t-student, GMM, combination of multiple gaussian + exponential etc...).</a:t>
            </a:r>
          </a:p>
          <a:p>
            <a:pPr marL="0" indent="0">
              <a:buNone/>
            </a:pPr>
            <a:endParaRPr lang="en-US" sz="2000">
              <a:solidFill>
                <a:srgbClr val="000000"/>
              </a:solidFill>
              <a:latin typeface="Delicious"/>
            </a:endParaRPr>
          </a:p>
          <a:p>
            <a:pPr marL="0" indent="0">
              <a:buNone/>
            </a:pPr>
            <a:endParaRPr lang="en-US" sz="2000">
              <a:solidFill>
                <a:srgbClr val="7D7D7D"/>
              </a:solidFill>
              <a:latin typeface="Delicious"/>
            </a:endParaRPr>
          </a:p>
        </p:txBody>
      </p:sp>
      <p:pic>
        <p:nvPicPr>
          <p:cNvPr id="4" name="Picture 3" descr="A line drawing of a graph&#10;&#10;AI-generated content may be incorrect.">
            <a:extLst>
              <a:ext uri="{FF2B5EF4-FFF2-40B4-BE49-F238E27FC236}">
                <a16:creationId xmlns:a16="http://schemas.microsoft.com/office/drawing/2014/main" id="{47C93D2E-4E05-457D-DB67-75F7C91C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31488"/>
            <a:ext cx="5150277" cy="2819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7A192F-C1CD-57F8-D13F-31583E312900}"/>
              </a:ext>
            </a:extLst>
          </p:cNvPr>
          <p:cNvSpPr txBox="1"/>
          <p:nvPr/>
        </p:nvSpPr>
        <p:spPr>
          <a:xfrm>
            <a:off x="5959958" y="5866664"/>
            <a:ext cx="506485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chemeClr val="bg1">
                    <a:lumMod val="49000"/>
                  </a:schemeClr>
                </a:solidFill>
                <a:latin typeface="Delicious"/>
              </a:rPr>
              <a:t>Beam sensor model from:</a:t>
            </a:r>
            <a:r>
              <a:rPr lang="en-US" i="1">
                <a:latin typeface="Delicious"/>
              </a:rPr>
              <a:t> </a:t>
            </a:r>
            <a:r>
              <a:rPr lang="en-US" i="1">
                <a:latin typeface="Delicious"/>
                <a:hlinkClick r:id="rId3"/>
              </a:rPr>
              <a:t>Probabilistic Robotics</a:t>
            </a:r>
            <a:endParaRPr lang="en-US" i="1">
              <a:latin typeface="Delicious"/>
            </a:endParaRPr>
          </a:p>
        </p:txBody>
      </p:sp>
    </p:spTree>
    <p:extLst>
      <p:ext uri="{BB962C8B-B14F-4D97-AF65-F5344CB8AC3E}">
        <p14:creationId xmlns:p14="http://schemas.microsoft.com/office/powerpoint/2010/main" val="25655903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1BD149-ADF3-399E-8A7F-5845DA8D7EF4}"/>
              </a:ext>
            </a:extLst>
          </p:cNvPr>
          <p:cNvSpPr txBox="1"/>
          <p:nvPr/>
        </p:nvSpPr>
        <p:spPr>
          <a:xfrm>
            <a:off x="6526602" y="6488668"/>
            <a:ext cx="5665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Delicious"/>
              </a:rPr>
              <a:t>To know more</a:t>
            </a:r>
            <a:r>
              <a:rPr lang="en-US" sz="1800">
                <a:solidFill>
                  <a:srgbClr val="000000"/>
                </a:solidFill>
                <a:latin typeface="Delicious"/>
                <a:sym typeface="Wingdings" panose="05000000000000000000" pitchFamily="2" charset="2"/>
              </a:rPr>
              <a:t> </a:t>
            </a:r>
            <a:r>
              <a:rPr lang="it-IT" sz="1800" i="1" err="1">
                <a:solidFill>
                  <a:srgbClr val="7030A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Hyper-param</a:t>
            </a:r>
            <a:r>
              <a:rPr lang="it-IT" sz="1800" i="1">
                <a:solidFill>
                  <a:srgbClr val="7030A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tuning</a:t>
            </a:r>
            <a:r>
              <a:rPr lang="it-IT" sz="1800" i="1">
                <a:solidFill>
                  <a:srgbClr val="7030A0"/>
                </a:solidFill>
              </a:rPr>
              <a:t>→ Extra </a:t>
            </a:r>
            <a:r>
              <a:rPr lang="it-IT" sz="1800" i="1" err="1">
                <a:solidFill>
                  <a:srgbClr val="7030A0"/>
                </a:solidFill>
              </a:rPr>
              <a:t>materials</a:t>
            </a:r>
            <a:endParaRPr lang="it-IT" sz="1800" i="1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52B3EC-C893-EE23-BFDB-AD3EBB01B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36" y="0"/>
            <a:ext cx="10510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381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EF1EAD9-C789-D6B4-C8AC-FCD463B267A8}"/>
              </a:ext>
            </a:extLst>
          </p:cNvPr>
          <p:cNvGrpSpPr/>
          <p:nvPr/>
        </p:nvGrpSpPr>
        <p:grpSpPr>
          <a:xfrm>
            <a:off x="592282" y="1267694"/>
            <a:ext cx="5268191" cy="4879868"/>
            <a:chOff x="592282" y="1267694"/>
            <a:chExt cx="5268191" cy="4879868"/>
          </a:xfrm>
        </p:grpSpPr>
        <p:sp>
          <p:nvSpPr>
            <p:cNvPr id="2" name="Arrow: Pentagon 1">
              <a:extLst>
                <a:ext uri="{FF2B5EF4-FFF2-40B4-BE49-F238E27FC236}">
                  <a16:creationId xmlns:a16="http://schemas.microsoft.com/office/drawing/2014/main" id="{55385A44-62E1-015B-DDD2-20BB8FD5A034}"/>
                </a:ext>
              </a:extLst>
            </p:cNvPr>
            <p:cNvSpPr/>
            <p:nvPr/>
          </p:nvSpPr>
          <p:spPr>
            <a:xfrm rot="5400000">
              <a:off x="2717225" y="-846858"/>
              <a:ext cx="1018307" cy="5247412"/>
            </a:xfrm>
            <a:prstGeom prst="homePlat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03CC899-8BDF-8670-0275-7F906BC148B4}"/>
                </a:ext>
              </a:extLst>
            </p:cNvPr>
            <p:cNvGrpSpPr/>
            <p:nvPr/>
          </p:nvGrpSpPr>
          <p:grpSpPr>
            <a:xfrm>
              <a:off x="592282" y="2473036"/>
              <a:ext cx="5268191" cy="3674526"/>
              <a:chOff x="592282" y="2473036"/>
              <a:chExt cx="5268191" cy="367452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B90F983-5697-4049-5577-98CB9FBD5877}"/>
                  </a:ext>
                </a:extLst>
              </p:cNvPr>
              <p:cNvGrpSpPr/>
              <p:nvPr/>
            </p:nvGrpSpPr>
            <p:grpSpPr>
              <a:xfrm>
                <a:off x="592282" y="2473036"/>
                <a:ext cx="5268191" cy="675409"/>
                <a:chOff x="592282" y="2473036"/>
                <a:chExt cx="5268191" cy="675409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5B9796D3-9FFB-512A-7D09-1B6FBB2FE581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" name="Arrow: Pentagon 3">
                  <a:extLst>
                    <a:ext uri="{FF2B5EF4-FFF2-40B4-BE49-F238E27FC236}">
                      <a16:creationId xmlns:a16="http://schemas.microsoft.com/office/drawing/2014/main" id="{631BEBAA-C20F-811D-6631-6710B9298C01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F8590E7-2028-7D4C-B1A1-AA511AD8CF2A}"/>
                    </a:ext>
                  </a:extLst>
                </p:cNvPr>
                <p:cNvSpPr txBox="1"/>
                <p:nvPr/>
              </p:nvSpPr>
              <p:spPr>
                <a:xfrm>
                  <a:off x="1415076" y="2596542"/>
                  <a:ext cx="4185623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Faster</a:t>
                  </a:r>
                  <a:endParaRPr lang="en-US" sz="1200" b="1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6DE19CE-6BFB-8E38-8760-11CED37ADE7E}"/>
                  </a:ext>
                </a:extLst>
              </p:cNvPr>
              <p:cNvGrpSpPr/>
              <p:nvPr/>
            </p:nvGrpSpPr>
            <p:grpSpPr>
              <a:xfrm>
                <a:off x="592282" y="3472742"/>
                <a:ext cx="5268191" cy="675409"/>
                <a:chOff x="592282" y="2473036"/>
                <a:chExt cx="5268191" cy="675409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D617EE5-FEDF-0B03-B433-8B26D8F1F689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2" name="Arrow: Pentagon 11">
                  <a:extLst>
                    <a:ext uri="{FF2B5EF4-FFF2-40B4-BE49-F238E27FC236}">
                      <a16:creationId xmlns:a16="http://schemas.microsoft.com/office/drawing/2014/main" id="{6E2B7B03-9A1B-9CEB-3D68-55C0A4DCC741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1F87517-3B84-ADEB-D97B-17639508A2AC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185623" cy="4616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Better performance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: More in train modes. Support precise version. 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C9A7FE0-AA00-3D32-DB68-D49726617CBE}"/>
                  </a:ext>
                </a:extLst>
              </p:cNvPr>
              <p:cNvGrpSpPr/>
              <p:nvPr/>
            </p:nvGrpSpPr>
            <p:grpSpPr>
              <a:xfrm>
                <a:off x="592282" y="4472448"/>
                <a:ext cx="5268191" cy="675409"/>
                <a:chOff x="592282" y="2473036"/>
                <a:chExt cx="5268191" cy="675409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A596DC08-A81E-0ECA-1AAE-153A8A5196A5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" name="Arrow: Pentagon 15">
                  <a:extLst>
                    <a:ext uri="{FF2B5EF4-FFF2-40B4-BE49-F238E27FC236}">
                      <a16:creationId xmlns:a16="http://schemas.microsoft.com/office/drawing/2014/main" id="{329C34CC-49AA-6BBD-67E9-880054BB80BF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819D594-7D84-1E18-D132-1DAB90BA9C82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185623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Soft fail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: Always converge to best solution found. 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245CDB2-94E8-EC0C-A8EF-B6B1F1171B28}"/>
                  </a:ext>
                </a:extLst>
              </p:cNvPr>
              <p:cNvGrpSpPr/>
              <p:nvPr/>
            </p:nvGrpSpPr>
            <p:grpSpPr>
              <a:xfrm>
                <a:off x="592282" y="5472153"/>
                <a:ext cx="5268191" cy="675409"/>
                <a:chOff x="592282" y="2473036"/>
                <a:chExt cx="5268191" cy="675409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18A7337-367B-EB92-7521-7ACEE2D833B5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Arrow: Pentagon 19">
                  <a:extLst>
                    <a:ext uri="{FF2B5EF4-FFF2-40B4-BE49-F238E27FC236}">
                      <a16:creationId xmlns:a16="http://schemas.microsoft.com/office/drawing/2014/main" id="{3869AE0A-08CF-BA1A-4E03-76F8B844AD2E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CD637F7-1308-F263-188D-51B84A9645BC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185623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Settable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 </a:t>
                  </a: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Time VS Accuracy tradeoff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.</a:t>
                  </a:r>
                </a:p>
              </p:txBody>
            </p:sp>
          </p:grp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D3C88C-9AAA-F7FA-B65A-409844EFE603}"/>
                </a:ext>
              </a:extLst>
            </p:cNvPr>
            <p:cNvSpPr txBox="1"/>
            <p:nvPr/>
          </p:nvSpPr>
          <p:spPr>
            <a:xfrm>
              <a:off x="1988127" y="1354618"/>
              <a:ext cx="2476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ea typeface="Roboto" panose="02000000000000000000" pitchFamily="2" charset="0"/>
                  <a:cs typeface="Segoe UI" panose="020B0502040204020203" pitchFamily="34" charset="0"/>
                </a:rPr>
                <a:t>Pros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7A8658D-817F-88CA-C800-AD7985CBA1F6}"/>
              </a:ext>
            </a:extLst>
          </p:cNvPr>
          <p:cNvGrpSpPr/>
          <p:nvPr/>
        </p:nvGrpSpPr>
        <p:grpSpPr>
          <a:xfrm>
            <a:off x="6535882" y="1267694"/>
            <a:ext cx="5268191" cy="4879868"/>
            <a:chOff x="6535882" y="1267694"/>
            <a:chExt cx="5268191" cy="4879868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EA84B1B9-DEBD-2BA1-1ADB-96D2EB09AE07}"/>
                </a:ext>
              </a:extLst>
            </p:cNvPr>
            <p:cNvSpPr/>
            <p:nvPr/>
          </p:nvSpPr>
          <p:spPr>
            <a:xfrm rot="5400000">
              <a:off x="8660825" y="-846858"/>
              <a:ext cx="1018307" cy="5247412"/>
            </a:xfrm>
            <a:prstGeom prst="homePlat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0EC666C-5027-6968-CA9E-B7C60565A45E}"/>
                </a:ext>
              </a:extLst>
            </p:cNvPr>
            <p:cNvGrpSpPr/>
            <p:nvPr/>
          </p:nvGrpSpPr>
          <p:grpSpPr>
            <a:xfrm flipH="1">
              <a:off x="6535882" y="2473036"/>
              <a:ext cx="5268191" cy="3674526"/>
              <a:chOff x="592282" y="2473036"/>
              <a:chExt cx="5268191" cy="3674526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94610882-626A-7F12-185D-7B6A5FCA2AA3}"/>
                  </a:ext>
                </a:extLst>
              </p:cNvPr>
              <p:cNvGrpSpPr/>
              <p:nvPr/>
            </p:nvGrpSpPr>
            <p:grpSpPr>
              <a:xfrm>
                <a:off x="592282" y="2473036"/>
                <a:ext cx="5268191" cy="675409"/>
                <a:chOff x="592282" y="2473036"/>
                <a:chExt cx="5268191" cy="675409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AC44096-FB77-103F-0509-52F1A3826C52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0" name="Arrow: Pentagon 59">
                  <a:extLst>
                    <a:ext uri="{FF2B5EF4-FFF2-40B4-BE49-F238E27FC236}">
                      <a16:creationId xmlns:a16="http://schemas.microsoft.com/office/drawing/2014/main" id="{C9C169DA-A086-BB1E-19E6-4DF09D2D7AB0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653CE56-BCE1-84B8-58D0-7BC74FDA1A6A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070605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Explainability</a:t>
                  </a:r>
                  <a:endParaRPr 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12A1F4B-BE1A-3909-3BD8-5233B553D2C2}"/>
                  </a:ext>
                </a:extLst>
              </p:cNvPr>
              <p:cNvGrpSpPr/>
              <p:nvPr/>
            </p:nvGrpSpPr>
            <p:grpSpPr>
              <a:xfrm>
                <a:off x="592282" y="3472742"/>
                <a:ext cx="5268191" cy="675409"/>
                <a:chOff x="592282" y="2473036"/>
                <a:chExt cx="5268191" cy="675409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ADA074A-54FE-B18A-2AA9-69CA4FF5E910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7" name="Arrow: Pentagon 56">
                  <a:extLst>
                    <a:ext uri="{FF2B5EF4-FFF2-40B4-BE49-F238E27FC236}">
                      <a16:creationId xmlns:a16="http://schemas.microsoft.com/office/drawing/2014/main" id="{A5FF503F-1FB9-056D-42B8-D197230508B1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D0F1125-5A3E-EB45-4F3A-7FDD1CDA3CEB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185623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Every optimization step is: </a:t>
                  </a: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O(N</a:t>
                  </a:r>
                  <a:r>
                    <a:rPr lang="en-US" sz="1200" b="1" baseline="30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2</a:t>
                  </a: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 d</a:t>
                  </a:r>
                  <a:r>
                    <a:rPr lang="en-US" sz="1200" b="1" baseline="30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3</a:t>
                  </a: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+mn-lt"/>
                      <a:cs typeface="+mn-lt"/>
                    </a:rPr>
                    <a:t>)</a:t>
                  </a:r>
                  <a:r>
                    <a:rPr lang="en-US" sz="12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 </a:t>
                  </a: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2FF5538-2A9D-1B48-3D15-23FB7A97A9AD}"/>
                  </a:ext>
                </a:extLst>
              </p:cNvPr>
              <p:cNvGrpSpPr/>
              <p:nvPr/>
            </p:nvGrpSpPr>
            <p:grpSpPr>
              <a:xfrm>
                <a:off x="592282" y="4472448"/>
                <a:ext cx="5268191" cy="675409"/>
                <a:chOff x="592282" y="2473036"/>
                <a:chExt cx="5268191" cy="675409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7F64A36-6119-4432-EFCD-69D8CC9B9909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4" name="Arrow: Pentagon 53">
                  <a:extLst>
                    <a:ext uri="{FF2B5EF4-FFF2-40B4-BE49-F238E27FC236}">
                      <a16:creationId xmlns:a16="http://schemas.microsoft.com/office/drawing/2014/main" id="{03C98775-C977-ED4A-BE02-A7B91F8C423B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E3A9A5F-E5B2-A2BF-B8FB-DF9C0B4B3EB1}"/>
                    </a:ext>
                  </a:extLst>
                </p:cNvPr>
                <p:cNvSpPr txBox="1"/>
                <p:nvPr/>
              </p:nvSpPr>
              <p:spPr>
                <a:xfrm>
                  <a:off x="1415076" y="2579908"/>
                  <a:ext cx="4185623" cy="46166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Can be outperformed for easy tasks</a:t>
                  </a:r>
                  <a:b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</a:b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 (high d low in train modes, generous </a:t>
                  </a:r>
                  <a:r>
                    <a:rPr lang="en-US" sz="120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sKL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 bounds)</a:t>
                  </a:r>
                  <a:endParaRPr 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9E0C8F8-CA27-31E0-E8BD-87229CA29ADE}"/>
                  </a:ext>
                </a:extLst>
              </p:cNvPr>
              <p:cNvGrpSpPr/>
              <p:nvPr/>
            </p:nvGrpSpPr>
            <p:grpSpPr>
              <a:xfrm>
                <a:off x="592282" y="5472153"/>
                <a:ext cx="5268191" cy="675409"/>
                <a:chOff x="592282" y="2473036"/>
                <a:chExt cx="5268191" cy="675409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D9EFAAF-C394-A9B0-623E-B7353294F71A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5268191" cy="6754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1" name="Arrow: Pentagon 50">
                  <a:extLst>
                    <a:ext uri="{FF2B5EF4-FFF2-40B4-BE49-F238E27FC236}">
                      <a16:creationId xmlns:a16="http://schemas.microsoft.com/office/drawing/2014/main" id="{B4555668-CA19-E75B-4565-C3B37E0BEC9A}"/>
                    </a:ext>
                  </a:extLst>
                </p:cNvPr>
                <p:cNvSpPr/>
                <p:nvPr/>
              </p:nvSpPr>
              <p:spPr>
                <a:xfrm>
                  <a:off x="592282" y="2473036"/>
                  <a:ext cx="668583" cy="675409"/>
                </a:xfrm>
                <a:prstGeom prst="homePlat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015C430-CDEE-5E1F-7529-EC8B362D03B5}"/>
                    </a:ext>
                  </a:extLst>
                </p:cNvPr>
                <p:cNvSpPr txBox="1"/>
                <p:nvPr/>
              </p:nvSpPr>
              <p:spPr>
                <a:xfrm>
                  <a:off x="1415076" y="2672241"/>
                  <a:ext cx="4185623" cy="2769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pPr algn="r">
                    <a:spcAft>
                      <a:spcPts val="600"/>
                    </a:spcAft>
                  </a:pP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Requires a closed formula for </a:t>
                  </a:r>
                  <a:r>
                    <a:rPr lang="en-US" sz="120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sKL</a:t>
                  </a: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egoe UI"/>
                      <a:cs typeface="Segoe UI"/>
                    </a:rPr>
                    <a:t>.</a:t>
                  </a:r>
                  <a:endParaRPr 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9442A96-DB71-2669-8C82-B7CC575F5849}"/>
              </a:ext>
            </a:extLst>
          </p:cNvPr>
          <p:cNvSpPr txBox="1"/>
          <p:nvPr/>
        </p:nvSpPr>
        <p:spPr>
          <a:xfrm>
            <a:off x="7931727" y="1354618"/>
            <a:ext cx="24765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Roboto"/>
                <a:cs typeface="Segoe UI"/>
              </a:rPr>
              <a:t>Cons</a:t>
            </a:r>
            <a:endParaRPr 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ea typeface="Roboto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7EDCFA-9EDF-721A-E0C1-1C0472731D6B}"/>
              </a:ext>
            </a:extLst>
          </p:cNvPr>
          <p:cNvSpPr txBox="1"/>
          <p:nvPr/>
        </p:nvSpPr>
        <p:spPr>
          <a:xfrm>
            <a:off x="0" y="322932"/>
            <a:ext cx="1219200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 b="1">
                <a:solidFill>
                  <a:schemeClr val="tx1">
                    <a:lumMod val="85000"/>
                    <a:lumOff val="15000"/>
                  </a:schemeClr>
                </a:solidFill>
                <a:latin typeface="Segoe UI"/>
                <a:ea typeface="Cambria"/>
                <a:cs typeface="Segoe UI"/>
              </a:rPr>
              <a:t>OGD  VS Rej sampling</a:t>
            </a:r>
            <a:endParaRPr lang="en-US" sz="3000" b="1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5122" name="Picture 2" descr="Tick icon PNG and SVG Vector Free Download">
            <a:extLst>
              <a:ext uri="{FF2B5EF4-FFF2-40B4-BE49-F238E27FC236}">
                <a16:creationId xmlns:a16="http://schemas.microsoft.com/office/drawing/2014/main" id="{DBC7BCD6-14E9-3B54-0A92-3CB2BBC7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" y="2649274"/>
            <a:ext cx="361355" cy="32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Tick icon PNG and SVG Vector Free Download">
            <a:extLst>
              <a:ext uri="{FF2B5EF4-FFF2-40B4-BE49-F238E27FC236}">
                <a16:creationId xmlns:a16="http://schemas.microsoft.com/office/drawing/2014/main" id="{90C7BBAB-A2CD-153F-269A-F731ED7DD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" y="3674124"/>
            <a:ext cx="361355" cy="32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Tick icon PNG and SVG Vector Free Download">
            <a:extLst>
              <a:ext uri="{FF2B5EF4-FFF2-40B4-BE49-F238E27FC236}">
                <a16:creationId xmlns:a16="http://schemas.microsoft.com/office/drawing/2014/main" id="{D8F74F00-4E63-BEB2-4777-07161D53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" y="4622099"/>
            <a:ext cx="361355" cy="32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Tick icon PNG and SVG Vector Free Download">
            <a:extLst>
              <a:ext uri="{FF2B5EF4-FFF2-40B4-BE49-F238E27FC236}">
                <a16:creationId xmlns:a16="http://schemas.microsoft.com/office/drawing/2014/main" id="{AE55BB53-CA39-4D31-0ED5-D71935FBF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4" y="5646949"/>
            <a:ext cx="361355" cy="32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ross sign - Free signs icons">
            <a:extLst>
              <a:ext uri="{FF2B5EF4-FFF2-40B4-BE49-F238E27FC236}">
                <a16:creationId xmlns:a16="http://schemas.microsoft.com/office/drawing/2014/main" id="{30FDDB29-9D58-0707-7196-D0BFE946D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8" y="2669973"/>
            <a:ext cx="277094" cy="27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53B0F5-71A5-4E17-E2AD-7BE24713214C}"/>
              </a:ext>
            </a:extLst>
          </p:cNvPr>
          <p:cNvSpPr txBox="1"/>
          <p:nvPr/>
        </p:nvSpPr>
        <p:spPr>
          <a:xfrm>
            <a:off x="11442919" y="5542211"/>
            <a:ext cx="2610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Aptos"/>
                <a:cs typeface="Segoe UI"/>
              </a:rPr>
              <a:t>?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54B0B3-2279-F740-C6E9-1F5CEBA21832}"/>
              </a:ext>
            </a:extLst>
          </p:cNvPr>
          <p:cNvSpPr txBox="1"/>
          <p:nvPr/>
        </p:nvSpPr>
        <p:spPr>
          <a:xfrm>
            <a:off x="7962168" y="6489163"/>
            <a:ext cx="42313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accent2">
                    <a:lumMod val="76000"/>
                  </a:schemeClr>
                </a:solidFill>
                <a:latin typeface="Delicious"/>
              </a:rPr>
              <a:t>*The "?" means possible extensions could deal with the cons. </a:t>
            </a:r>
            <a:r>
              <a:rPr lang="en-US">
                <a:solidFill>
                  <a:srgbClr val="FFC000"/>
                </a:solidFill>
              </a:rPr>
              <a:t> </a:t>
            </a:r>
          </a:p>
        </p:txBody>
      </p:sp>
      <p:pic>
        <p:nvPicPr>
          <p:cNvPr id="24" name="Picture 4" descr="Cross sign - Free signs icons">
            <a:extLst>
              <a:ext uri="{FF2B5EF4-FFF2-40B4-BE49-F238E27FC236}">
                <a16:creationId xmlns:a16="http://schemas.microsoft.com/office/drawing/2014/main" id="{8013D3DA-2E20-A61D-C159-027702D5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8" y="3671205"/>
            <a:ext cx="277094" cy="27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ross sign - Free signs icons">
            <a:extLst>
              <a:ext uri="{FF2B5EF4-FFF2-40B4-BE49-F238E27FC236}">
                <a16:creationId xmlns:a16="http://schemas.microsoft.com/office/drawing/2014/main" id="{7C7D699E-3375-9D4A-8A41-EABE13E88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919" y="4680807"/>
            <a:ext cx="277094" cy="27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482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5D2ABA-4991-D91D-A508-45F6E0BA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DEF88-C636-BB35-44F3-B17BCDC3B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How CCM works?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92BF96-B295-C8C6-6CDB-0BF84A87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How can </a:t>
            </a:r>
            <a:r>
              <a:rPr lang="it-IT" err="1"/>
              <a:t>we</a:t>
            </a:r>
            <a:r>
              <a:rPr lang="it-IT"/>
              <a:t> generate N multivariate </a:t>
            </a:r>
            <a:r>
              <a:rPr lang="it-IT" err="1"/>
              <a:t>gaussians</a:t>
            </a:r>
            <a:r>
              <a:rPr lang="it-IT"/>
              <a:t> with the </a:t>
            </a:r>
            <a:r>
              <a:rPr lang="it-IT" err="1"/>
              <a:t>same</a:t>
            </a:r>
            <a:r>
              <a:rPr lang="it-IT"/>
              <a:t> SKL?</a:t>
            </a:r>
          </a:p>
        </p:txBody>
      </p:sp>
    </p:spTree>
    <p:extLst>
      <p:ext uri="{BB962C8B-B14F-4D97-AF65-F5344CB8AC3E}">
        <p14:creationId xmlns:p14="http://schemas.microsoft.com/office/powerpoint/2010/main" val="6920297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FEEEB-1CF7-A936-3759-6B92E2FB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60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91A57F-4632-64D3-0528-CACE4E971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72" y="321310"/>
            <a:ext cx="6973608" cy="6035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CF2E9-76F6-0EFC-0124-71F4B2D61712}"/>
              </a:ext>
            </a:extLst>
          </p:cNvPr>
          <p:cNvSpPr txBox="1"/>
          <p:nvPr/>
        </p:nvSpPr>
        <p:spPr>
          <a:xfrm>
            <a:off x="8239125" y="1733550"/>
            <a:ext cx="3238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Randomly</a:t>
            </a:r>
            <a:r>
              <a:rPr lang="it-IT"/>
              <a:t> </a:t>
            </a:r>
            <a:r>
              <a:rPr lang="it-IT" err="1"/>
              <a:t>chose</a:t>
            </a:r>
            <a:r>
              <a:rPr lang="it-IT"/>
              <a:t> a </a:t>
            </a:r>
            <a:r>
              <a:rPr lang="it-IT" err="1"/>
              <a:t>direction</a:t>
            </a:r>
            <a:r>
              <a:rPr lang="it-IT"/>
              <a:t> </a:t>
            </a:r>
            <a:r>
              <a:rPr lang="it-IT" b="1" i="1"/>
              <a:t>d</a:t>
            </a:r>
            <a:r>
              <a:rPr lang="it-IT"/>
              <a:t> </a:t>
            </a:r>
            <a:r>
              <a:rPr lang="it-IT" err="1"/>
              <a:t>where</a:t>
            </a:r>
            <a:r>
              <a:rPr lang="it-IT"/>
              <a:t> to </a:t>
            </a:r>
            <a:r>
              <a:rPr lang="it-IT" err="1"/>
              <a:t>move</a:t>
            </a:r>
            <a:r>
              <a:rPr lang="it-IT"/>
              <a:t> the </a:t>
            </a:r>
            <a:r>
              <a:rPr lang="it-IT" err="1"/>
              <a:t>mean</a:t>
            </a:r>
            <a:r>
              <a:rPr lang="it-IT"/>
              <a:t> of the </a:t>
            </a:r>
            <a:r>
              <a:rPr lang="it-IT" err="1"/>
              <a:t>gaussian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8650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8AB7FB-289C-D560-AC38-14623D00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FAD03-C032-389F-999C-73FCBEB0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61</a:t>
            </a:fld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62A73-A676-60AD-2EF6-7907C8D7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89" y="681643"/>
            <a:ext cx="5999739" cy="5228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BB8F05-9D43-E28B-417B-AF2767EA4D7A}"/>
              </a:ext>
            </a:extLst>
          </p:cNvPr>
          <p:cNvSpPr txBox="1"/>
          <p:nvPr/>
        </p:nvSpPr>
        <p:spPr>
          <a:xfrm>
            <a:off x="8239125" y="1733550"/>
            <a:ext cx="3238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Randomly</a:t>
            </a:r>
            <a:r>
              <a:rPr lang="it-IT"/>
              <a:t> </a:t>
            </a:r>
            <a:r>
              <a:rPr lang="it-IT" err="1"/>
              <a:t>chose</a:t>
            </a:r>
            <a:r>
              <a:rPr lang="it-IT"/>
              <a:t> </a:t>
            </a:r>
            <a:r>
              <a:rPr lang="it-IT" err="1"/>
              <a:t>rotation</a:t>
            </a:r>
            <a:r>
              <a:rPr lang="it-IT"/>
              <a:t> </a:t>
            </a:r>
            <a:r>
              <a:rPr lang="it-IT" err="1"/>
              <a:t>angles</a:t>
            </a:r>
            <a:r>
              <a:rPr lang="it-IT"/>
              <a:t> </a:t>
            </a:r>
            <a:r>
              <a:rPr lang="el-GR" b="1" i="1"/>
              <a:t>ϑ</a:t>
            </a:r>
            <a:r>
              <a:rPr lang="it-IT"/>
              <a:t> to </a:t>
            </a:r>
            <a:r>
              <a:rPr lang="it-IT" err="1"/>
              <a:t>change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the </a:t>
            </a:r>
            <a:r>
              <a:rPr lang="it-IT" err="1"/>
              <a:t>covariance</a:t>
            </a:r>
            <a:r>
              <a:rPr lang="it-IT"/>
              <a:t> </a:t>
            </a:r>
            <a:r>
              <a:rPr lang="it-IT" err="1"/>
              <a:t>matrix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09974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1707F3-BA59-3324-C05F-475739EC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0A8EC-0816-C582-0172-C3D91A91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62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BFF3E-A3F7-73D3-398A-BBD2F4FC1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595312"/>
            <a:ext cx="6306724" cy="5667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65F9D-1373-F9E7-1488-0A424D9B0F40}"/>
              </a:ext>
            </a:extLst>
          </p:cNvPr>
          <p:cNvSpPr txBox="1"/>
          <p:nvPr/>
        </p:nvSpPr>
        <p:spPr>
          <a:xfrm>
            <a:off x="8239125" y="1733550"/>
            <a:ext cx="3238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Move</a:t>
            </a:r>
            <a:r>
              <a:rPr lang="it-IT"/>
              <a:t> the </a:t>
            </a:r>
            <a:r>
              <a:rPr lang="it-IT" err="1"/>
              <a:t>rotated</a:t>
            </a:r>
            <a:r>
              <a:rPr lang="it-IT"/>
              <a:t> </a:t>
            </a:r>
            <a:r>
              <a:rPr lang="it-IT" err="1"/>
              <a:t>gaussian</a:t>
            </a:r>
            <a:r>
              <a:rPr lang="it-IT"/>
              <a:t> </a:t>
            </a:r>
            <a:r>
              <a:rPr lang="it-IT" err="1"/>
              <a:t>doubling</a:t>
            </a:r>
            <a:r>
              <a:rPr lang="it-IT"/>
              <a:t> </a:t>
            </a:r>
            <a:r>
              <a:rPr lang="it-IT" err="1"/>
              <a:t>each</a:t>
            </a:r>
            <a:r>
              <a:rPr lang="it-IT"/>
              <a:t> time </a:t>
            </a:r>
            <a:r>
              <a:rPr lang="el-GR" b="1"/>
              <a:t>ρ</a:t>
            </a:r>
            <a:r>
              <a:rPr lang="it-IT" b="1"/>
              <a:t>d</a:t>
            </a:r>
            <a:r>
              <a:rPr lang="it-IT"/>
              <a:t>, the </a:t>
            </a:r>
            <a:r>
              <a:rPr lang="it-IT" err="1"/>
              <a:t>distance</a:t>
            </a:r>
            <a:r>
              <a:rPr lang="it-IT"/>
              <a:t> in the </a:t>
            </a:r>
            <a:r>
              <a:rPr lang="it-IT" err="1"/>
              <a:t>direction</a:t>
            </a:r>
            <a:r>
              <a:rPr lang="it-IT"/>
              <a:t> </a:t>
            </a:r>
            <a:r>
              <a:rPr lang="it-IT" err="1"/>
              <a:t>chosen</a:t>
            </a:r>
            <a:r>
              <a:rPr lang="it-IT"/>
              <a:t> </a:t>
            </a:r>
            <a:r>
              <a:rPr lang="it-IT" err="1"/>
              <a:t>until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get</a:t>
            </a:r>
            <a:r>
              <a:rPr lang="it-IT"/>
              <a:t> a SKL0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higher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the target.</a:t>
            </a:r>
          </a:p>
        </p:txBody>
      </p:sp>
    </p:spTree>
    <p:extLst>
      <p:ext uri="{BB962C8B-B14F-4D97-AF65-F5344CB8AC3E}">
        <p14:creationId xmlns:p14="http://schemas.microsoft.com/office/powerpoint/2010/main" val="27881776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2C66C1-6F07-C946-8493-1F063D8B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350E9-DA59-879D-D6E8-AD7A3EC3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63</a:t>
            </a:fld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E37EC-D856-4FA0-23BE-375221D320B2}"/>
              </a:ext>
            </a:extLst>
          </p:cNvPr>
          <p:cNvSpPr txBox="1"/>
          <p:nvPr/>
        </p:nvSpPr>
        <p:spPr>
          <a:xfrm>
            <a:off x="7972425" y="1571625"/>
            <a:ext cx="3238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In </a:t>
            </a:r>
            <a:r>
              <a:rPr lang="it-IT" err="1"/>
              <a:t>this</a:t>
            </a:r>
            <a:r>
              <a:rPr lang="it-IT"/>
              <a:t> second step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</a:t>
            </a:r>
            <a:r>
              <a:rPr lang="it-IT" err="1"/>
              <a:t>refine</a:t>
            </a:r>
            <a:r>
              <a:rPr lang="it-IT"/>
              <a:t> the </a:t>
            </a:r>
            <a:r>
              <a:rPr lang="it-IT" err="1"/>
              <a:t>gaussian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found</a:t>
            </a:r>
            <a:r>
              <a:rPr lang="it-IT"/>
              <a:t>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has</a:t>
            </a:r>
            <a:r>
              <a:rPr lang="it-IT"/>
              <a:t> a SKL0(</a:t>
            </a:r>
            <a:r>
              <a:rPr lang="el-GR"/>
              <a:t>φ</a:t>
            </a:r>
            <a:r>
              <a:rPr lang="it-IT"/>
              <a:t>0,</a:t>
            </a:r>
            <a:r>
              <a:rPr lang="el-GR"/>
              <a:t>φ</a:t>
            </a:r>
            <a:r>
              <a:rPr lang="it-IT"/>
              <a:t>N)≥</a:t>
            </a:r>
            <a:r>
              <a:rPr lang="it-IT" err="1"/>
              <a:t>SKLtarget</a:t>
            </a:r>
            <a:r>
              <a:rPr lang="it-IT"/>
              <a:t> </a:t>
            </a:r>
            <a:r>
              <a:rPr lang="it-IT" err="1"/>
              <a:t>finding</a:t>
            </a:r>
            <a:r>
              <a:rPr lang="it-IT"/>
              <a:t> a </a:t>
            </a:r>
            <a:r>
              <a:rPr lang="it-IT" err="1"/>
              <a:t>gaussian</a:t>
            </a:r>
            <a:r>
              <a:rPr lang="it-IT"/>
              <a:t> </a:t>
            </a:r>
            <a:r>
              <a:rPr lang="it-IT" i="1"/>
              <a:t>«in </a:t>
            </a:r>
            <a:r>
              <a:rPr lang="it-IT" i="1" err="1"/>
              <a:t>between</a:t>
            </a:r>
            <a:r>
              <a:rPr lang="it-IT" i="1"/>
              <a:t>» </a:t>
            </a:r>
            <a:r>
              <a:rPr lang="el-GR"/>
              <a:t>φ</a:t>
            </a:r>
            <a:r>
              <a:rPr lang="it-IT"/>
              <a:t>0 and </a:t>
            </a:r>
            <a:r>
              <a:rPr lang="el-GR"/>
              <a:t>φ</a:t>
            </a:r>
            <a:r>
              <a:rPr lang="it-IT"/>
              <a:t>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D685AE-46A6-086B-50DA-8B3A867C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787"/>
            <a:ext cx="6986867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642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378D10-97F7-0672-E1A9-A9D65647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0C89B-5BB3-710E-0A5E-AE6E5412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64</a:t>
            </a:fld>
            <a:endParaRPr lang="it-IT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CEF8A3-497E-3816-A19B-72A60879C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871537"/>
            <a:ext cx="5465263" cy="5114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5AD34-ECB0-DCED-B303-32B4A8B84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86" y="-1"/>
            <a:ext cx="6159414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106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29D2FC-1727-429A-4805-6FE5616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669BB-1131-8BCD-3486-B3531D90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65</a:t>
            </a:fld>
            <a:endParaRPr lang="it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22394-94B4-51E5-FF81-EAB9BE4D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191375" cy="676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28D327-2812-C9BE-7296-93E33BF8CDD8}"/>
              </a:ext>
            </a:extLst>
          </p:cNvPr>
          <p:cNvSpPr txBox="1"/>
          <p:nvPr/>
        </p:nvSpPr>
        <p:spPr>
          <a:xfrm>
            <a:off x="8458200" y="2914650"/>
            <a:ext cx="323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… </a:t>
            </a:r>
            <a:r>
              <a:rPr lang="it-IT" err="1"/>
              <a:t>Until</a:t>
            </a:r>
            <a:r>
              <a:rPr lang="it-IT"/>
              <a:t> </a:t>
            </a:r>
            <a:r>
              <a:rPr lang="it-IT" err="1"/>
              <a:t>convergence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5205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87DC71-8423-3D10-2E02-A68886B2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BF7AD-07AA-02C4-C0A2-D9A8702B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66</a:t>
            </a:fld>
            <a:endParaRPr lang="it-I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8E9C1-1512-ABEC-3EE8-A3E64B8D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734" y="0"/>
            <a:ext cx="5126531" cy="679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266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D3E90-3B46-664A-2530-C8451EB2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67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F689C-EB35-03D6-512F-0CFB53DAF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78" y="108483"/>
            <a:ext cx="6507521" cy="661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220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33777-C1D9-555C-63C2-40A536C0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68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F0E8E-7A75-4D72-8CE6-9B54993F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34" y="66208"/>
            <a:ext cx="4910083" cy="679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958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A8C0-E92C-37FF-4042-1FABC2D4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Derivations of </a:t>
            </a:r>
            <a:r>
              <a:rPr lang="en-US" err="1"/>
              <a:t>sKL</a:t>
            </a:r>
            <a:r>
              <a:rPr lang="en-US"/>
              <a:t> gradient from MSE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006D2-A0F2-3E10-3148-59A94E00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728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496F-B9BF-A425-0B2D-2D0A050A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Derivations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2DFE1-CEB0-78C8-F787-B4F9ABD0F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>
                    <a:latin typeface="Cambria Math" panose="02040503050406030204" pitchFamily="18" charset="0"/>
                  </a:rPr>
                  <a:t>We </a:t>
                </a:r>
                <a:r>
                  <a:rPr lang="it-IT" err="1">
                    <a:latin typeface="Cambria Math" panose="02040503050406030204" pitchFamily="18" charset="0"/>
                  </a:rPr>
                  <a:t>need</a:t>
                </a:r>
                <a:r>
                  <a:rPr lang="it-IT">
                    <a:latin typeface="Cambria Math" panose="02040503050406030204" pitchFamily="18" charset="0"/>
                  </a:rPr>
                  <a:t> to derive the following formula: </a:t>
                </a:r>
                <a:br>
                  <a:rPr lang="it-IT">
                    <a:latin typeface="Cambria Math" panose="02040503050406030204" pitchFamily="18" charset="0"/>
                  </a:rPr>
                </a:br>
                <a:endParaRPr lang="it-IT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it-I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𝑠𝐾𝐿</m:t>
                                  </m:r>
                                  <m:d>
                                    <m:dPr>
                                      <m:ctrlPr>
                                        <a:rPr lang="it-IT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it-IT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it-IT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𝑠𝐾</m:t>
                                  </m:r>
                                  <m:sSub>
                                    <m:sSubPr>
                                      <m:ctrlPr>
                                        <a:rPr lang="it-IT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it-IT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𝑡𝑎𝑟𝑔𝑒𝑡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0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t-IT" sz="2000"/>
                  <a:t>First </a:t>
                </a:r>
                <a:r>
                  <a:rPr lang="it-IT" sz="2000" err="1"/>
                  <a:t>let’s</a:t>
                </a:r>
                <a:r>
                  <a:rPr lang="it-IT" sz="2000"/>
                  <a:t> derive </a:t>
                </a:r>
                <a:r>
                  <a:rPr lang="it-IT" sz="2000" err="1"/>
                  <a:t>it</a:t>
                </a:r>
                <a:r>
                  <a:rPr lang="it-IT" sz="2000"/>
                  <a:t> for the MSE </a:t>
                </a:r>
                <a:r>
                  <a:rPr lang="it-IT" sz="2000" err="1"/>
                  <a:t>obtaining</a:t>
                </a:r>
                <a:r>
                  <a:rPr lang="it-IT" sz="2000"/>
                  <a:t>:</a:t>
                </a:r>
                <a:endParaRPr lang="it-IT" sz="20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it-IT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it-IT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𝑠𝐾𝐿</m:t>
                          </m:r>
                          <m:d>
                            <m:d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𝑠𝐾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2000"/>
              </a:p>
              <a:p>
                <a:pPr marL="0" indent="0">
                  <a:buNone/>
                </a:pPr>
                <a:endParaRPr lang="it-IT" sz="20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it-IT" sz="2000"/>
                  <a:t>Then </a:t>
                </a:r>
                <a:r>
                  <a:rPr lang="it-IT" sz="2000" err="1"/>
                  <a:t>we</a:t>
                </a:r>
                <a:r>
                  <a:rPr lang="it-IT" sz="2000"/>
                  <a:t> </a:t>
                </a:r>
                <a:r>
                  <a:rPr lang="it-IT" sz="2000" err="1"/>
                  <a:t>will</a:t>
                </a:r>
                <a:r>
                  <a:rPr lang="it-IT" sz="2000"/>
                  <a:t> </a:t>
                </a:r>
                <a:r>
                  <a:rPr lang="it-IT" sz="2000" err="1"/>
                  <a:t>need</a:t>
                </a:r>
                <a:r>
                  <a:rPr lang="it-IT" sz="2000"/>
                  <a:t> to derive for the </a:t>
                </a:r>
                <a:r>
                  <a:rPr lang="el-GR" sz="2000"/>
                  <a:t>μ</a:t>
                </a:r>
                <a:r>
                  <a:rPr lang="it-IT" sz="2000"/>
                  <a:t> </a:t>
                </a:r>
                <a:r>
                  <a:rPr lang="it-IT" sz="2000" err="1"/>
                  <a:t>parameter</a:t>
                </a:r>
                <a:r>
                  <a:rPr lang="it-IT" sz="2000"/>
                  <a:t> and the </a:t>
                </a:r>
                <a:r>
                  <a:rPr lang="it-IT" sz="2000" err="1"/>
                  <a:t>parameter</a:t>
                </a:r>
                <a:r>
                  <a:rPr lang="it-IT" sz="2000"/>
                  <a:t> of the </a:t>
                </a:r>
                <a:r>
                  <a:rPr lang="it-IT" sz="2000" err="1"/>
                  <a:t>covariance</a:t>
                </a:r>
                <a:r>
                  <a:rPr lang="it-IT" sz="2000"/>
                  <a:t> </a:t>
                </a:r>
                <a:r>
                  <a:rPr lang="it-IT" sz="2000" err="1"/>
                  <a:t>matrix</a:t>
                </a:r>
                <a:r>
                  <a:rPr lang="it-IT" sz="2000"/>
                  <a:t> </a:t>
                </a:r>
                <a:r>
                  <a:rPr lang="it-IT" sz="2000" err="1"/>
                  <a:t>applying</a:t>
                </a:r>
                <a:r>
                  <a:rPr lang="it-IT" sz="2000"/>
                  <a:t> the chain rule. </a:t>
                </a:r>
                <a:r>
                  <a:rPr lang="it-IT" sz="2000" err="1"/>
                  <a:t>We</a:t>
                </a:r>
                <a:r>
                  <a:rPr lang="it-IT" sz="2000"/>
                  <a:t> </a:t>
                </a:r>
                <a:r>
                  <a:rPr lang="it-IT" sz="2000" err="1"/>
                  <a:t>will</a:t>
                </a:r>
                <a:r>
                  <a:rPr lang="it-IT" sz="2000"/>
                  <a:t> do </a:t>
                </a:r>
                <a:r>
                  <a:rPr lang="it-IT" sz="2000" err="1"/>
                  <a:t>that</a:t>
                </a:r>
                <a:r>
                  <a:rPr lang="it-IT" sz="2000"/>
                  <a:t> in the following slides. </a:t>
                </a:r>
                <a:endParaRPr lang="it-IT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2DFE1-CEB0-78C8-F787-B4F9ABD0F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8004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AD022C-B0AB-19D1-CBC0-ABD65A44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246" y="0"/>
            <a:ext cx="9275508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BE894-BA50-2327-F6E0-641104BD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71</a:t>
            </a:fld>
            <a:endParaRPr lang="it-I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0D908A-8BE1-E08E-7EEF-8EFDCB080498}"/>
                  </a:ext>
                </a:extLst>
              </p14:cNvPr>
              <p14:cNvContentPartPr/>
              <p14:nvPr/>
            </p14:nvContentPartPr>
            <p14:xfrm>
              <a:off x="6187280" y="287524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0D908A-8BE1-E08E-7EEF-8EFDCB0804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2960" y="2870920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44019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1E7A30-0E70-9813-A3E1-E1FAF31B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22" y="0"/>
            <a:ext cx="696515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F1336A-161B-1DB8-8A04-F482F5C5FFBD}"/>
              </a:ext>
            </a:extLst>
          </p:cNvPr>
          <p:cNvSpPr txBox="1"/>
          <p:nvPr/>
        </p:nvSpPr>
        <p:spPr>
          <a:xfrm>
            <a:off x="8056572" y="5245735"/>
            <a:ext cx="10020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/>
              <a:t>Note </a:t>
            </a:r>
            <a:r>
              <a:rPr lang="it-IT" sz="700" err="1"/>
              <a:t>here</a:t>
            </a:r>
            <a:r>
              <a:rPr lang="it-IT" sz="700"/>
              <a:t> </a:t>
            </a:r>
            <a:r>
              <a:rPr lang="it-IT" sz="700" err="1"/>
              <a:t>that</a:t>
            </a:r>
            <a:r>
              <a:rPr lang="it-IT" sz="700"/>
              <a:t> </a:t>
            </a:r>
            <a:r>
              <a:rPr lang="el-GR" sz="700"/>
              <a:t>Σ</a:t>
            </a:r>
            <a:r>
              <a:rPr lang="it-IT" sz="700"/>
              <a:t>i and </a:t>
            </a:r>
            <a:r>
              <a:rPr lang="el-GR" sz="700"/>
              <a:t>Σ</a:t>
            </a:r>
            <a:r>
              <a:rPr lang="it-IT" sz="700"/>
              <a:t>j are the </a:t>
            </a:r>
            <a:r>
              <a:rPr lang="it-IT" sz="700" err="1"/>
              <a:t>previous</a:t>
            </a:r>
            <a:r>
              <a:rPr lang="it-IT" sz="700"/>
              <a:t> </a:t>
            </a:r>
            <a:r>
              <a:rPr lang="it-IT" sz="700" err="1"/>
              <a:t>ones</a:t>
            </a:r>
            <a:r>
              <a:rPr lang="it-IT" sz="7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65251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56DD9F08-2EED-DA40-BB5A-4F3EB33A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0"/>
            <a:ext cx="59436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BAEF9-E18F-8290-37FC-F26D95F8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73</a:t>
            </a:fld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8123C-8ECF-8024-992C-0A71C289A8DC}"/>
              </a:ext>
            </a:extLst>
          </p:cNvPr>
          <p:cNvSpPr txBox="1"/>
          <p:nvPr/>
        </p:nvSpPr>
        <p:spPr>
          <a:xfrm>
            <a:off x="7076776" y="2417191"/>
            <a:ext cx="16466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/>
              <a:t>and </a:t>
            </a:r>
            <a:r>
              <a:rPr lang="it-IT" sz="700" err="1"/>
              <a:t>noting</a:t>
            </a:r>
            <a:r>
              <a:rPr lang="it-IT" sz="700"/>
              <a:t> </a:t>
            </a:r>
            <a:r>
              <a:rPr lang="it-IT" sz="700" err="1"/>
              <a:t>how</a:t>
            </a:r>
            <a:r>
              <a:rPr lang="it-IT" sz="700"/>
              <a:t>: </a:t>
            </a:r>
            <a:br>
              <a:rPr lang="it-IT" sz="700"/>
            </a:br>
            <a:r>
              <a:rPr lang="it-IT" sz="700"/>
              <a:t>- </a:t>
            </a:r>
            <a:r>
              <a:rPr lang="el-GR" sz="700"/>
              <a:t>Σ</a:t>
            </a:r>
            <a:r>
              <a:rPr lang="it-IT" sz="700"/>
              <a:t>=</a:t>
            </a:r>
            <a:r>
              <a:rPr lang="el-GR" sz="700"/>
              <a:t>Σ</a:t>
            </a:r>
            <a:r>
              <a:rPr lang="it-IT" sz="700" baseline="30000"/>
              <a:t>T</a:t>
            </a:r>
          </a:p>
          <a:p>
            <a:r>
              <a:rPr lang="it-IT" sz="700"/>
              <a:t>- ln|</a:t>
            </a:r>
            <a:r>
              <a:rPr lang="el-GR" sz="700"/>
              <a:t>Σ</a:t>
            </a:r>
            <a:r>
              <a:rPr lang="it-IT" sz="700"/>
              <a:t>j/</a:t>
            </a:r>
            <a:r>
              <a:rPr lang="el-GR" sz="700"/>
              <a:t>Σ</a:t>
            </a:r>
            <a:r>
              <a:rPr lang="it-IT" sz="700"/>
              <a:t>i|=ln|</a:t>
            </a:r>
            <a:r>
              <a:rPr lang="el-GR" sz="700"/>
              <a:t>Σ</a:t>
            </a:r>
            <a:r>
              <a:rPr lang="it-IT" sz="700"/>
              <a:t>j|-ln|</a:t>
            </a:r>
            <a:r>
              <a:rPr lang="el-GR" sz="700"/>
              <a:t>Σ</a:t>
            </a:r>
            <a:r>
              <a:rPr lang="it-IT" sz="700"/>
              <a:t>i|</a:t>
            </a:r>
          </a:p>
        </p:txBody>
      </p:sp>
    </p:spTree>
    <p:extLst>
      <p:ext uri="{BB962C8B-B14F-4D97-AF65-F5344CB8AC3E}">
        <p14:creationId xmlns:p14="http://schemas.microsoft.com/office/powerpoint/2010/main" val="31122945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A3F2C-1F85-858C-D626-0C9697DC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74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657BE-D70A-82C3-BBD3-F4290DE6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008" y="35168"/>
            <a:ext cx="6977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715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1D104-7928-7B53-6C93-6A5AC7EE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55"/>
          <a:stretch>
            <a:fillRect/>
          </a:stretch>
        </p:blipFill>
        <p:spPr>
          <a:xfrm>
            <a:off x="2863026" y="400050"/>
            <a:ext cx="6465947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229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464E5-4791-E381-EACA-18B786CA6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008" y="0"/>
            <a:ext cx="6977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286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246A27-2455-7501-DFD0-D8C241DC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42528E-579D-5BA9-851E-E0C05AD0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</a:rPr>
              <a:t>Rotation</a:t>
            </a:r>
            <a:r>
              <a:rPr lang="it-IT">
                <a:solidFill>
                  <a:srgbClr val="0070C0"/>
                </a:solidFill>
              </a:rPr>
              <a:t> OGD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0C37C-6009-1977-97F2-2A4445554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Based</a:t>
            </a:r>
            <a:r>
              <a:rPr lang="it-IT"/>
              <a:t> on </a:t>
            </a:r>
            <a:r>
              <a:rPr lang="it-IT" err="1"/>
              <a:t>parametrizing</a:t>
            </a:r>
            <a:r>
              <a:rPr lang="it-IT"/>
              <a:t> the </a:t>
            </a:r>
            <a:r>
              <a:rPr lang="it-IT" err="1"/>
              <a:t>covariance</a:t>
            </a:r>
            <a:r>
              <a:rPr lang="it-IT"/>
              <a:t> of </a:t>
            </a:r>
            <a:r>
              <a:rPr lang="it-IT" err="1"/>
              <a:t>all</a:t>
            </a:r>
            <a:r>
              <a:rPr lang="it-IT"/>
              <a:t> the </a:t>
            </a:r>
            <a:r>
              <a:rPr lang="it-IT" err="1"/>
              <a:t>gaussian</a:t>
            </a:r>
            <a:r>
              <a:rPr lang="it-IT"/>
              <a:t> </a:t>
            </a:r>
            <a:r>
              <a:rPr lang="it-IT" err="1"/>
              <a:t>find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rototranslation</a:t>
            </a:r>
            <a:r>
              <a:rPr lang="it-IT"/>
              <a:t> of a </a:t>
            </a:r>
            <a:r>
              <a:rPr lang="it-IT" err="1"/>
              <a:t>fixed</a:t>
            </a:r>
            <a:r>
              <a:rPr lang="it-IT"/>
              <a:t> anchor </a:t>
            </a:r>
            <a:r>
              <a:rPr lang="el-GR"/>
              <a:t>φ</a:t>
            </a:r>
            <a:r>
              <a:rPr lang="it-IT"/>
              <a:t>0, in formula: </a:t>
            </a:r>
          </a:p>
          <a:p>
            <a:r>
              <a:rPr lang="el-GR"/>
              <a:t>Σ</a:t>
            </a:r>
            <a:r>
              <a:rPr lang="it-IT"/>
              <a:t>i= Q(</a:t>
            </a:r>
            <a:r>
              <a:rPr lang="el-GR"/>
              <a:t>ϑ</a:t>
            </a:r>
            <a:r>
              <a:rPr lang="it-IT"/>
              <a:t>)</a:t>
            </a:r>
            <a:r>
              <a:rPr lang="it-IT" baseline="30000"/>
              <a:t>T</a:t>
            </a:r>
            <a:r>
              <a:rPr lang="it-IT"/>
              <a:t> Σ0 Q(</a:t>
            </a:r>
            <a:r>
              <a:rPr lang="el-GR"/>
              <a:t>ϑ</a:t>
            </a:r>
            <a:r>
              <a:rPr lang="it-IT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88406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6B983-78AD-4AF0-1243-B53A9ED3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06"/>
            <a:ext cx="12192000" cy="666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894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03D22A-53CC-EA04-6BFB-73EC41F5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703E-5CCA-C696-81D0-9BF1FB76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err="1">
                <a:solidFill>
                  <a:srgbClr val="0070C0"/>
                </a:solidFill>
              </a:rPr>
              <a:t>Why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imposing</a:t>
            </a:r>
            <a:r>
              <a:rPr lang="it-IT">
                <a:solidFill>
                  <a:srgbClr val="0070C0"/>
                </a:solidFill>
              </a:rPr>
              <a:t> just </a:t>
            </a:r>
            <a:r>
              <a:rPr lang="it-IT" err="1">
                <a:solidFill>
                  <a:srgbClr val="0070C0"/>
                </a:solidFill>
              </a:rPr>
              <a:t>rotation</a:t>
            </a:r>
            <a:r>
              <a:rPr lang="it-IT">
                <a:solidFill>
                  <a:srgbClr val="0070C0"/>
                </a:solidFill>
              </a:rPr>
              <a:t> make setting </a:t>
            </a:r>
            <a:r>
              <a:rPr lang="it-IT" err="1">
                <a:solidFill>
                  <a:srgbClr val="0070C0"/>
                </a:solidFill>
              </a:rPr>
              <a:t>harder</a:t>
            </a:r>
            <a:r>
              <a:rPr lang="it-IT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4F1F-39B8-C8EB-4568-50873DFC9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/>
              <a:t>Using a </a:t>
            </a:r>
            <a:r>
              <a:rPr lang="it-IT" err="1"/>
              <a:t>rotation</a:t>
            </a:r>
            <a:r>
              <a:rPr lang="it-IT"/>
              <a:t> of the </a:t>
            </a:r>
            <a:r>
              <a:rPr lang="it-IT" err="1"/>
              <a:t>covariance</a:t>
            </a:r>
            <a:r>
              <a:rPr lang="it-IT"/>
              <a:t> </a:t>
            </a:r>
            <a:r>
              <a:rPr lang="it-IT" err="1"/>
              <a:t>matrix</a:t>
            </a:r>
            <a:r>
              <a:rPr lang="it-IT"/>
              <a:t> makes </a:t>
            </a:r>
            <a:r>
              <a:rPr lang="it-IT" err="1"/>
              <a:t>inefficient</a:t>
            </a:r>
            <a:r>
              <a:rPr lang="it-IT"/>
              <a:t> </a:t>
            </a:r>
            <a:r>
              <a:rPr lang="it-IT" err="1"/>
              <a:t>tests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consider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the </a:t>
            </a:r>
            <a:r>
              <a:rPr lang="it-IT" err="1"/>
              <a:t>metrics</a:t>
            </a:r>
            <a:r>
              <a:rPr lang="it-IT"/>
              <a:t> </a:t>
            </a:r>
            <a:r>
              <a:rPr lang="it-IT" err="1"/>
              <a:t>together</a:t>
            </a:r>
            <a:r>
              <a:rPr lang="it-IT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023200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525E3C-2F01-24B3-CE4B-7EF5A027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E4D8-CFB7-15D8-4E62-4A847B68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err="1">
                <a:solidFill>
                  <a:srgbClr val="0070C0"/>
                </a:solidFill>
              </a:rPr>
              <a:t>Hyper-parameter</a:t>
            </a:r>
            <a:r>
              <a:rPr lang="it-IT" sz="4800">
                <a:solidFill>
                  <a:srgbClr val="0070C0"/>
                </a:solidFill>
              </a:rPr>
              <a:t> tuning</a:t>
            </a:r>
          </a:p>
        </p:txBody>
      </p:sp>
    </p:spTree>
    <p:extLst>
      <p:ext uri="{BB962C8B-B14F-4D97-AF65-F5344CB8AC3E}">
        <p14:creationId xmlns:p14="http://schemas.microsoft.com/office/powerpoint/2010/main" val="28905035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1CEB-9332-EF10-1622-207DD63C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err="1">
                <a:solidFill>
                  <a:srgbClr val="0070C0"/>
                </a:solidFill>
              </a:rPr>
              <a:t>Summary</a:t>
            </a:r>
            <a:endParaRPr lang="it-IT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4F8E-A4C7-41C7-94D8-35BCD277C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it-IT" sz="2400" err="1">
                <a:solidFill>
                  <a:srgbClr val="0070C0"/>
                </a:solidFill>
                <a:latin typeface="Delicious"/>
              </a:rPr>
              <a:t>max_iter</a:t>
            </a:r>
            <a:r>
              <a:rPr lang="it-IT" sz="2400">
                <a:latin typeface="Delicious"/>
              </a:rPr>
              <a:t>: </a:t>
            </a:r>
            <a:r>
              <a:rPr lang="it-IT" sz="2400" err="1">
                <a:latin typeface="Delicious"/>
              </a:rPr>
              <a:t>absolute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bound</a:t>
            </a:r>
            <a:r>
              <a:rPr lang="it-IT" sz="2400">
                <a:latin typeface="Delicious"/>
              </a:rPr>
              <a:t> in </a:t>
            </a:r>
            <a:r>
              <a:rPr lang="it-IT" sz="2400" err="1">
                <a:latin typeface="Delicious"/>
              </a:rPr>
              <a:t>term</a:t>
            </a:r>
            <a:r>
              <a:rPr lang="it-IT" sz="2400">
                <a:latin typeface="Delicious"/>
              </a:rPr>
              <a:t> of </a:t>
            </a:r>
            <a:r>
              <a:rPr lang="it-IT" sz="2400" err="1">
                <a:latin typeface="Delicious"/>
              </a:rPr>
              <a:t>number</a:t>
            </a:r>
            <a:r>
              <a:rPr lang="it-IT" sz="2400">
                <a:latin typeface="Delicious"/>
              </a:rPr>
              <a:t> of </a:t>
            </a:r>
            <a:r>
              <a:rPr lang="it-IT" sz="2400" err="1">
                <a:latin typeface="Delicious"/>
              </a:rPr>
              <a:t>iteration</a:t>
            </a:r>
            <a:r>
              <a:rPr lang="it-IT" sz="2400">
                <a:latin typeface="Delicious"/>
              </a:rPr>
              <a:t>. I </a:t>
            </a:r>
            <a:r>
              <a:rPr lang="it-IT" sz="2400" err="1">
                <a:latin typeface="Delicious"/>
              </a:rPr>
              <a:t>would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suggest</a:t>
            </a:r>
            <a:r>
              <a:rPr lang="it-IT" sz="2400">
                <a:latin typeface="Delicious"/>
              </a:rPr>
              <a:t> to </a:t>
            </a:r>
            <a:r>
              <a:rPr lang="it-IT" sz="2400" err="1">
                <a:latin typeface="Delicious"/>
              </a:rPr>
              <a:t>leave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this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parameter</a:t>
            </a:r>
            <a:r>
              <a:rPr lang="it-IT" sz="2400">
                <a:latin typeface="Delicious"/>
              </a:rPr>
              <a:t> high </a:t>
            </a:r>
            <a:r>
              <a:rPr lang="it-IT" sz="2400" err="1">
                <a:latin typeface="Delicious"/>
              </a:rPr>
              <a:t>because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patience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will</a:t>
            </a:r>
            <a:r>
              <a:rPr lang="it-IT" sz="2400">
                <a:latin typeface="Delicious"/>
              </a:rPr>
              <a:t> stop the </a:t>
            </a:r>
            <a:r>
              <a:rPr lang="it-IT" sz="2400" err="1">
                <a:latin typeface="Delicious"/>
              </a:rPr>
              <a:t>execution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well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before</a:t>
            </a:r>
            <a:r>
              <a:rPr lang="it-IT" sz="2400">
                <a:latin typeface="Delicious"/>
              </a:rPr>
              <a:t>.</a:t>
            </a:r>
          </a:p>
          <a:p>
            <a:r>
              <a:rPr lang="it-IT" sz="2400" err="1">
                <a:solidFill>
                  <a:srgbClr val="F59905"/>
                </a:solidFill>
                <a:latin typeface="Delicious"/>
              </a:rPr>
              <a:t>patience</a:t>
            </a:r>
            <a:r>
              <a:rPr lang="it-IT" sz="2400">
                <a:latin typeface="Delicious"/>
              </a:rPr>
              <a:t>: </a:t>
            </a:r>
            <a:r>
              <a:rPr lang="it-IT" sz="2400" err="1">
                <a:latin typeface="Delicious"/>
              </a:rPr>
              <a:t>if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do </a:t>
            </a:r>
            <a:r>
              <a:rPr lang="it-IT" sz="2400" err="1">
                <a:latin typeface="Delicious"/>
              </a:rPr>
              <a:t>not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improve</a:t>
            </a:r>
            <a:r>
              <a:rPr lang="it-IT" sz="2400">
                <a:latin typeface="Delicious"/>
              </a:rPr>
              <a:t> on </a:t>
            </a:r>
            <a:r>
              <a:rPr lang="it-IT" sz="2400" err="1">
                <a:latin typeface="Delicious"/>
              </a:rPr>
              <a:t>loss</a:t>
            </a:r>
            <a:r>
              <a:rPr lang="it-IT" sz="2400">
                <a:latin typeface="Delicious"/>
              </a:rPr>
              <a:t> after </a:t>
            </a:r>
            <a:r>
              <a:rPr lang="it-IT" sz="2400" u="sng" err="1">
                <a:latin typeface="Delicious"/>
              </a:rPr>
              <a:t>patience</a:t>
            </a:r>
            <a:r>
              <a:rPr lang="it-IT" sz="2400">
                <a:latin typeface="Delicious"/>
              </a:rPr>
              <a:t> iter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will</a:t>
            </a:r>
            <a:r>
              <a:rPr lang="it-IT" sz="2400">
                <a:latin typeface="Delicious"/>
              </a:rPr>
              <a:t> stop. With </a:t>
            </a:r>
            <a:r>
              <a:rPr lang="it-IT" sz="2400" err="1">
                <a:latin typeface="Delicious"/>
              </a:rPr>
              <a:t>this</a:t>
            </a:r>
            <a:r>
              <a:rPr lang="it-IT" sz="2400">
                <a:latin typeface="Delicious"/>
              </a:rPr>
              <a:t> setting </a:t>
            </a:r>
            <a:r>
              <a:rPr lang="it-IT" sz="2400" err="1">
                <a:latin typeface="Delicious"/>
              </a:rPr>
              <a:t>if</a:t>
            </a:r>
            <a:r>
              <a:rPr lang="it-IT" sz="2400">
                <a:latin typeface="Delicious"/>
              </a:rPr>
              <a:t> a </a:t>
            </a:r>
            <a:r>
              <a:rPr lang="it-IT" sz="2400" err="1">
                <a:latin typeface="Delicious"/>
              </a:rPr>
              <a:t>solution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founded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will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immediately</a:t>
            </a:r>
            <a:r>
              <a:rPr lang="it-IT" sz="2400">
                <a:latin typeface="Delicious"/>
              </a:rPr>
              <a:t> stop and </a:t>
            </a:r>
            <a:r>
              <a:rPr lang="it-IT" sz="2400" err="1">
                <a:latin typeface="Delicious"/>
              </a:rPr>
              <a:t>lets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us</a:t>
            </a:r>
            <a:r>
              <a:rPr lang="it-IT" sz="2400">
                <a:latin typeface="Delicious"/>
              </a:rPr>
              <a:t> set </a:t>
            </a:r>
            <a:r>
              <a:rPr lang="it-IT" sz="2400" err="1">
                <a:latin typeface="Delicious"/>
              </a:rPr>
              <a:t>max_iter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parameter</a:t>
            </a:r>
            <a:r>
              <a:rPr lang="it-IT" sz="2400">
                <a:latin typeface="Delicious"/>
              </a:rPr>
              <a:t> a </a:t>
            </a:r>
            <a:r>
              <a:rPr lang="it-IT" sz="2400" err="1">
                <a:latin typeface="Delicious"/>
              </a:rPr>
              <a:t>little</a:t>
            </a:r>
            <a:r>
              <a:rPr lang="it-IT" sz="2400">
                <a:latin typeface="Delicious"/>
              </a:rPr>
              <a:t> bit more </a:t>
            </a:r>
            <a:r>
              <a:rPr lang="it-IT" sz="2400" err="1">
                <a:latin typeface="Delicious"/>
              </a:rPr>
              <a:t>losely</a:t>
            </a:r>
            <a:r>
              <a:rPr lang="it-IT" sz="2400">
                <a:latin typeface="Delicious"/>
              </a:rPr>
              <a:t> </a:t>
            </a:r>
          </a:p>
          <a:p>
            <a:r>
              <a:rPr lang="it-IT" sz="2400" err="1">
                <a:solidFill>
                  <a:srgbClr val="00B050"/>
                </a:solidFill>
                <a:latin typeface="Delicious"/>
              </a:rPr>
              <a:t>n_restart</a:t>
            </a:r>
            <a:r>
              <a:rPr lang="it-IT" sz="2400">
                <a:latin typeface="Delicious"/>
              </a:rPr>
              <a:t>: </a:t>
            </a:r>
            <a:r>
              <a:rPr lang="it-IT" sz="2400" err="1">
                <a:latin typeface="Delicious"/>
              </a:rPr>
              <a:t>if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are </a:t>
            </a:r>
            <a:r>
              <a:rPr lang="it-IT" sz="2400" err="1">
                <a:latin typeface="Delicious"/>
              </a:rPr>
              <a:t>interested</a:t>
            </a:r>
            <a:r>
              <a:rPr lang="it-IT" sz="2400">
                <a:latin typeface="Delicious"/>
              </a:rPr>
              <a:t> in a </a:t>
            </a:r>
            <a:r>
              <a:rPr lang="it-IT" sz="2400" err="1">
                <a:latin typeface="Delicious"/>
              </a:rPr>
              <a:t>particular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solution</a:t>
            </a:r>
            <a:r>
              <a:rPr lang="it-IT" sz="2400">
                <a:latin typeface="Delicious"/>
              </a:rPr>
              <a:t> and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have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plenty</a:t>
            </a:r>
            <a:r>
              <a:rPr lang="it-IT" sz="2400">
                <a:latin typeface="Delicious"/>
              </a:rPr>
              <a:t> of time </a:t>
            </a:r>
            <a:r>
              <a:rPr lang="it-IT" sz="2400" err="1">
                <a:latin typeface="Delicious"/>
              </a:rPr>
              <a:t>we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could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try</a:t>
            </a:r>
            <a:r>
              <a:rPr lang="it-IT" sz="2400">
                <a:latin typeface="Delicious"/>
              </a:rPr>
              <a:t> to </a:t>
            </a:r>
            <a:r>
              <a:rPr lang="it-IT" sz="2400" err="1">
                <a:latin typeface="Delicious"/>
              </a:rPr>
              <a:t>see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if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increasing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this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parameter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will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increase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slightly</a:t>
            </a:r>
            <a:r>
              <a:rPr lang="it-IT" sz="2400">
                <a:latin typeface="Delicious"/>
              </a:rPr>
              <a:t> the </a:t>
            </a:r>
            <a:r>
              <a:rPr lang="it-IT" sz="2400" err="1">
                <a:latin typeface="Delicious"/>
              </a:rPr>
              <a:t>solution</a:t>
            </a:r>
            <a:r>
              <a:rPr lang="it-IT" sz="2400">
                <a:latin typeface="Delicious"/>
              </a:rPr>
              <a:t>. </a:t>
            </a:r>
            <a:r>
              <a:rPr lang="it-IT" sz="2400" err="1">
                <a:latin typeface="Delicious"/>
              </a:rPr>
              <a:t>It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particularly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helpful</a:t>
            </a:r>
            <a:r>
              <a:rPr lang="it-IT" sz="2400">
                <a:latin typeface="Delicious"/>
              </a:rPr>
              <a:t> in </a:t>
            </a:r>
            <a:r>
              <a:rPr lang="it-IT" sz="2400" err="1">
                <a:latin typeface="Delicious"/>
              </a:rPr>
              <a:t>lower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dimensions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were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convergence</a:t>
            </a:r>
            <a:r>
              <a:rPr lang="it-IT" sz="2400">
                <a:latin typeface="Delicious"/>
              </a:rPr>
              <a:t> time </a:t>
            </a:r>
            <a:r>
              <a:rPr lang="it-IT" sz="2400" err="1">
                <a:latin typeface="Delicious"/>
              </a:rPr>
              <a:t>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very</a:t>
            </a:r>
            <a:r>
              <a:rPr lang="it-IT" sz="2400">
                <a:latin typeface="Delicious"/>
              </a:rPr>
              <a:t> low. </a:t>
            </a:r>
          </a:p>
          <a:p>
            <a:r>
              <a:rPr lang="it-IT" sz="2400" err="1">
                <a:solidFill>
                  <a:schemeClr val="accent5">
                    <a:lumMod val="75000"/>
                  </a:schemeClr>
                </a:solidFill>
                <a:latin typeface="Delicious"/>
              </a:rPr>
              <a:t>lr</a:t>
            </a:r>
            <a:r>
              <a:rPr lang="it-IT" sz="2400">
                <a:latin typeface="Delicious"/>
              </a:rPr>
              <a:t>: I </a:t>
            </a:r>
            <a:r>
              <a:rPr lang="it-IT" sz="2400" err="1">
                <a:latin typeface="Delicious"/>
              </a:rPr>
              <a:t>tried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different</a:t>
            </a:r>
            <a:r>
              <a:rPr lang="it-IT" sz="2400">
                <a:latin typeface="Delicious"/>
              </a:rPr>
              <a:t> learning rates </a:t>
            </a:r>
            <a:r>
              <a:rPr lang="it-IT" sz="2400" err="1">
                <a:latin typeface="Delicious"/>
              </a:rPr>
              <a:t>but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usually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they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won’t</a:t>
            </a:r>
            <a:r>
              <a:rPr lang="it-IT" sz="2400">
                <a:latin typeface="Delicious"/>
              </a:rPr>
              <a:t> make </a:t>
            </a:r>
            <a:r>
              <a:rPr lang="it-IT" sz="2400" err="1">
                <a:latin typeface="Delicious"/>
              </a:rPr>
              <a:t>much</a:t>
            </a:r>
            <a:r>
              <a:rPr lang="it-IT" sz="2400">
                <a:latin typeface="Delicious"/>
              </a:rPr>
              <a:t> of a </a:t>
            </a:r>
            <a:r>
              <a:rPr lang="it-IT" sz="2400" err="1">
                <a:latin typeface="Delicious"/>
              </a:rPr>
              <a:t>difference</a:t>
            </a:r>
            <a:r>
              <a:rPr lang="it-IT" sz="2400">
                <a:latin typeface="Delicious"/>
              </a:rPr>
              <a:t>. ADAM handles </a:t>
            </a:r>
            <a:r>
              <a:rPr lang="it-IT" sz="2400" err="1">
                <a:latin typeface="Delicious"/>
              </a:rPr>
              <a:t>this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hyper</a:t>
            </a:r>
            <a:r>
              <a:rPr lang="it-IT" sz="2400">
                <a:latin typeface="Delicious"/>
              </a:rPr>
              <a:t> </a:t>
            </a:r>
            <a:r>
              <a:rPr lang="it-IT" sz="2400" err="1">
                <a:latin typeface="Delicious"/>
              </a:rPr>
              <a:t>parameter</a:t>
            </a:r>
            <a:r>
              <a:rPr lang="it-IT" sz="2400">
                <a:latin typeface="Delicious"/>
              </a:rPr>
              <a:t> tuning so </a:t>
            </a:r>
            <a:r>
              <a:rPr lang="it-IT" sz="2400" err="1">
                <a:latin typeface="Delicious"/>
              </a:rPr>
              <a:t>most</a:t>
            </a:r>
            <a:r>
              <a:rPr lang="it-IT" sz="2400">
                <a:latin typeface="Delicious"/>
              </a:rPr>
              <a:t> of the time </a:t>
            </a:r>
            <a:r>
              <a:rPr lang="it-IT" sz="2400" err="1">
                <a:latin typeface="Delicious"/>
              </a:rPr>
              <a:t>this</a:t>
            </a:r>
            <a:r>
              <a:rPr lang="it-IT" sz="2400">
                <a:latin typeface="Delicious"/>
              </a:rPr>
              <a:t> can be </a:t>
            </a:r>
            <a:r>
              <a:rPr lang="it-IT" sz="2400" err="1">
                <a:latin typeface="Delicious"/>
              </a:rPr>
              <a:t>left</a:t>
            </a:r>
            <a:r>
              <a:rPr lang="it-IT" sz="2400">
                <a:latin typeface="Delicious"/>
              </a:rPr>
              <a:t> to default.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20472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E4E987-7037-9D18-41E4-09F7FAA5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3BCD-09E9-447C-BB4D-BE3A8C3C7290}" type="slidenum">
              <a:rPr lang="it-IT" smtClean="0"/>
              <a:t>82</a:t>
            </a:fld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87E2E-B363-1C35-2E46-0E794594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8" y="0"/>
            <a:ext cx="1198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304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54A580-E93C-BAE2-0A06-B21CAE09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8C49-BBD6-9714-20ED-FB7A8CDD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>
                  <a:srgbClr val="0070C0"/>
                </a:solidFill>
              </a:rPr>
              <a:t>Extra: </a:t>
            </a:r>
            <a:r>
              <a:rPr lang="it-IT" err="1">
                <a:solidFill>
                  <a:srgbClr val="0070C0"/>
                </a:solidFill>
              </a:rPr>
              <a:t>Finding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closed</a:t>
            </a:r>
            <a:r>
              <a:rPr lang="it-IT">
                <a:solidFill>
                  <a:srgbClr val="0070C0"/>
                </a:solidFill>
              </a:rPr>
              <a:t> formula for 1d </a:t>
            </a:r>
            <a:r>
              <a:rPr lang="it-IT" err="1">
                <a:solidFill>
                  <a:srgbClr val="0070C0"/>
                </a:solidFill>
              </a:rPr>
              <a:t>sKL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gaussian</a:t>
            </a:r>
            <a:endParaRPr lang="it-IT">
              <a:solidFill>
                <a:srgbClr val="0070C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66831D-35F5-A0BE-FF38-FF6B571D2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it-IT" err="1"/>
              <a:t>Finding</a:t>
            </a:r>
            <a:r>
              <a:rPr lang="it-IT"/>
              <a:t> KL(N1,N2)</a:t>
            </a:r>
          </a:p>
          <a:p>
            <a:pPr marL="457200" indent="-457200">
              <a:buAutoNum type="arabicParenR"/>
            </a:pPr>
            <a:r>
              <a:rPr lang="it-IT" err="1"/>
              <a:t>Finding</a:t>
            </a:r>
            <a:r>
              <a:rPr lang="it-IT"/>
              <a:t> SKL(N1,N2)</a:t>
            </a:r>
          </a:p>
        </p:txBody>
      </p:sp>
    </p:spTree>
    <p:extLst>
      <p:ext uri="{BB962C8B-B14F-4D97-AF65-F5344CB8AC3E}">
        <p14:creationId xmlns:p14="http://schemas.microsoft.com/office/powerpoint/2010/main" val="32794538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B1F2A-12EC-F356-3A3A-3ED6AD9C09BC}"/>
              </a:ext>
            </a:extLst>
          </p:cNvPr>
          <p:cNvSpPr txBox="1"/>
          <p:nvPr/>
        </p:nvSpPr>
        <p:spPr>
          <a:xfrm>
            <a:off x="781226" y="3059668"/>
            <a:ext cx="10287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/>
              <a:t>https://stats.stackexchange.com/questions/7440/kl-divergence-between-two-univariate-gaussians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90D04-3254-54AE-5066-7F10BAD0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79" y="1827197"/>
            <a:ext cx="4794548" cy="112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947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B059-6666-395A-FDC4-2D5F0F0E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/>
              <a:t>From KL to sKL — Gaussian case</a:t>
            </a:r>
          </a:p>
          <a:p>
            <a:pPr algn="l">
              <a:buNone/>
            </a:pPr>
            <a:r>
              <a:rPr lang="en-US" sz="1600" i="1">
                <a:solidFill>
                  <a:srgbClr val="595959"/>
                </a:solidFill>
              </a:rPr>
              <a:t>p = N(μ₁, σ₁), q = N(μ₂, σ₂), Δμ = μ₁ − μ₂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B401B7-A9AE-4FCB-9353-8312A2B1F882}"/>
              </a:ext>
            </a:extLst>
          </p:cNvPr>
          <p:cNvSpPr/>
          <p:nvPr/>
        </p:nvSpPr>
        <p:spPr>
          <a:xfrm>
            <a:off x="635000" y="1841500"/>
            <a:ext cx="406400" cy="4064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70A7D-1179-4607-80E0-DD694F829B1C}"/>
              </a:ext>
            </a:extLst>
          </p:cNvPr>
          <p:cNvSpPr txBox="1"/>
          <p:nvPr/>
        </p:nvSpPr>
        <p:spPr>
          <a:xfrm>
            <a:off x="1206500" y="18669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500" b="1">
                <a:solidFill>
                  <a:srgbClr val="1F4E79"/>
                </a:solidFill>
              </a:rPr>
              <a:t>KL divergence (Gaussian)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7F27D-4169-49B3-893F-B7D1341645E3}"/>
              </a:ext>
            </a:extLst>
          </p:cNvPr>
          <p:cNvSpPr txBox="1"/>
          <p:nvPr/>
        </p:nvSpPr>
        <p:spPr>
          <a:xfrm>
            <a:off x="1206500" y="22479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>
                <a:latin typeface="Cambria Math"/>
                <a:ea typeface="Cambria Math"/>
              </a:rPr>
              <a:t>KL(p, q) = log(</a:t>
            </a:r>
            <a:r>
              <a:rPr lang="el-GR">
                <a:latin typeface="Cambria Math"/>
                <a:ea typeface="Cambria Math"/>
              </a:rPr>
              <a:t>σ₂ ⁄ σ₁) + (σ₁² + Δμ²) ⁄ (2σ₂²) − 1⁄2</a:t>
            </a:r>
            <a:endParaRPr lang="it-IT">
              <a:latin typeface="Cambria Math"/>
              <a:ea typeface="Cambria Math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DB89F8-A543-4511-A644-2DFD3C595759}"/>
              </a:ext>
            </a:extLst>
          </p:cNvPr>
          <p:cNvSpPr/>
          <p:nvPr/>
        </p:nvSpPr>
        <p:spPr>
          <a:xfrm>
            <a:off x="635000" y="2794000"/>
            <a:ext cx="406400" cy="4064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7DEF8-2E97-4441-B055-F083A2A90297}"/>
              </a:ext>
            </a:extLst>
          </p:cNvPr>
          <p:cNvSpPr txBox="1"/>
          <p:nvPr/>
        </p:nvSpPr>
        <p:spPr>
          <a:xfrm>
            <a:off x="1206500" y="28194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500" b="1">
                <a:solidFill>
                  <a:srgbClr val="1F4E79"/>
                </a:solidFill>
              </a:rPr>
              <a:t>Symmetrize: sKL = KL(p,q) + KL(q,p)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9393B-AED8-4B0E-BD61-E6741B55209B}"/>
              </a:ext>
            </a:extLst>
          </p:cNvPr>
          <p:cNvSpPr txBox="1"/>
          <p:nvPr/>
        </p:nvSpPr>
        <p:spPr>
          <a:xfrm>
            <a:off x="1206500" y="32004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>
                <a:latin typeface="Cambria Math"/>
                <a:ea typeface="Cambria Math"/>
              </a:rPr>
              <a:t>sKL(p, q) = log(</a:t>
            </a:r>
            <a:r>
              <a:rPr lang="el-GR">
                <a:latin typeface="Cambria Math"/>
                <a:ea typeface="Cambria Math"/>
              </a:rPr>
              <a:t>σ₂ ⁄ σ₁) + </a:t>
            </a:r>
            <a:r>
              <a:rPr lang="it-IT">
                <a:latin typeface="Cambria Math"/>
                <a:ea typeface="Cambria Math"/>
              </a:rPr>
              <a:t>log(</a:t>
            </a:r>
            <a:r>
              <a:rPr lang="el-GR">
                <a:latin typeface="Cambria Math"/>
                <a:ea typeface="Cambria Math"/>
              </a:rPr>
              <a:t>σ₁ ⁄ σ₂) + (σ₁² + Δμ²) ⁄ (2σ₂²) + (σ₂² + Δμ²) ⁄ (2σ₁²) − 1</a:t>
            </a:r>
            <a:endParaRPr lang="it-IT">
              <a:latin typeface="Cambria Math"/>
              <a:ea typeface="Cambria Math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96B87A-EB3B-49D0-BDB3-77878954439E}"/>
              </a:ext>
            </a:extLst>
          </p:cNvPr>
          <p:cNvSpPr/>
          <p:nvPr/>
        </p:nvSpPr>
        <p:spPr>
          <a:xfrm>
            <a:off x="635000" y="3746500"/>
            <a:ext cx="406400" cy="4064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68A0EC-5FD5-48C9-A4FB-7A1F3F73E265}"/>
              </a:ext>
            </a:extLst>
          </p:cNvPr>
          <p:cNvSpPr txBox="1"/>
          <p:nvPr/>
        </p:nvSpPr>
        <p:spPr>
          <a:xfrm>
            <a:off x="1206500" y="37719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500" b="1">
                <a:solidFill>
                  <a:srgbClr val="1F4E79"/>
                </a:solidFill>
              </a:rPr>
              <a:t>Logs cancel: log(</a:t>
            </a:r>
            <a:r>
              <a:rPr lang="el-GR" sz="1500" b="1">
                <a:solidFill>
                  <a:srgbClr val="1F4E79"/>
                </a:solidFill>
              </a:rPr>
              <a:t>σ₂ ⁄ σ₁) + </a:t>
            </a:r>
            <a:r>
              <a:rPr lang="it-IT" sz="1500" b="1">
                <a:solidFill>
                  <a:srgbClr val="1F4E79"/>
                </a:solidFill>
              </a:rPr>
              <a:t>log(</a:t>
            </a:r>
            <a:r>
              <a:rPr lang="el-GR" sz="1500" b="1">
                <a:solidFill>
                  <a:srgbClr val="1F4E79"/>
                </a:solidFill>
              </a:rPr>
              <a:t>σ₁ ⁄ σ₂) = 0</a:t>
            </a:r>
            <a:endParaRPr lang="it-IT" sz="1500" b="1">
              <a:solidFill>
                <a:srgbClr val="1F4E7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641F5-846E-4B4A-BE76-415913E64FCF}"/>
              </a:ext>
            </a:extLst>
          </p:cNvPr>
          <p:cNvSpPr txBox="1"/>
          <p:nvPr/>
        </p:nvSpPr>
        <p:spPr>
          <a:xfrm>
            <a:off x="1206500" y="41529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>
                <a:latin typeface="Cambria Math"/>
                <a:ea typeface="Cambria Math"/>
              </a:rPr>
              <a:t>sKL(p, q) = (</a:t>
            </a:r>
            <a:r>
              <a:rPr lang="el-GR">
                <a:latin typeface="Cambria Math"/>
                <a:ea typeface="Cambria Math"/>
              </a:rPr>
              <a:t>σ₁² + Δμ²) ⁄ (2σ₂²) + (σ₂² + Δμ²) ⁄ (2σ₁²) − 1</a:t>
            </a:r>
            <a:endParaRPr lang="it-IT">
              <a:latin typeface="Cambria Math"/>
              <a:ea typeface="Cambria Math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38B15F-B544-470C-BE07-5BD29DBBD5C2}"/>
              </a:ext>
            </a:extLst>
          </p:cNvPr>
          <p:cNvSpPr/>
          <p:nvPr/>
        </p:nvSpPr>
        <p:spPr>
          <a:xfrm>
            <a:off x="635000" y="4699000"/>
            <a:ext cx="406400" cy="406400"/>
          </a:xfrm>
          <a:prstGeom prst="ellipse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BB5D2-5CBC-48C0-A869-C526191CD7C9}"/>
              </a:ext>
            </a:extLst>
          </p:cNvPr>
          <p:cNvSpPr txBox="1"/>
          <p:nvPr/>
        </p:nvSpPr>
        <p:spPr>
          <a:xfrm>
            <a:off x="1206500" y="47244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500" b="1">
                <a:solidFill>
                  <a:srgbClr val="1F4E79"/>
                </a:solidFill>
              </a:rPr>
              <a:t>Fix p = N(0, 1): </a:t>
            </a:r>
            <a:r>
              <a:rPr lang="el-GR" sz="1500" b="1">
                <a:solidFill>
                  <a:srgbClr val="1F4E79"/>
                </a:solidFill>
              </a:rPr>
              <a:t>σ₁ = 1, μ₁ = 0, </a:t>
            </a:r>
            <a:r>
              <a:rPr lang="it-IT" sz="1500" b="1">
                <a:solidFill>
                  <a:srgbClr val="1F4E79"/>
                </a:solidFill>
              </a:rPr>
              <a:t>so </a:t>
            </a:r>
            <a:r>
              <a:rPr lang="el-GR" sz="1500" b="1">
                <a:solidFill>
                  <a:srgbClr val="1F4E79"/>
                </a:solidFill>
              </a:rPr>
              <a:t>Δμ = −μ₂</a:t>
            </a:r>
            <a:endParaRPr lang="it-IT" sz="1500" b="1">
              <a:solidFill>
                <a:srgbClr val="1F4E79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7B2C1-7EB2-4E89-ABE4-E8A762412563}"/>
              </a:ext>
            </a:extLst>
          </p:cNvPr>
          <p:cNvSpPr txBox="1"/>
          <p:nvPr/>
        </p:nvSpPr>
        <p:spPr>
          <a:xfrm>
            <a:off x="1206500" y="51054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l-GR">
                <a:latin typeface="Cambria Math"/>
                <a:ea typeface="Cambria Math"/>
              </a:rPr>
              <a:t>sKL(μ, σ) = (1 + μ²) ⁄ (2σ²) + (σ² + μ²) ⁄ 2 − 1   where q = N(μ, σ)</a:t>
            </a:r>
            <a:endParaRPr lang="it-IT">
              <a:latin typeface="Cambria Math"/>
              <a:ea typeface="Cambria Math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C06653-B482-47A6-9110-C9CC37C59822}"/>
              </a:ext>
            </a:extLst>
          </p:cNvPr>
          <p:cNvSpPr/>
          <p:nvPr/>
        </p:nvSpPr>
        <p:spPr>
          <a:xfrm>
            <a:off x="1206500" y="5778500"/>
            <a:ext cx="9779000" cy="762000"/>
          </a:xfrm>
          <a:prstGeom prst="rect">
            <a:avLst/>
          </a:prstGeom>
          <a:solidFill>
            <a:srgbClr val="FFF2CC"/>
          </a:solidFill>
          <a:ln w="19050" cap="flat" cmpd="sng" algn="ctr">
            <a:solidFill>
              <a:srgbClr val="BF9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l-GR" sz="2200" b="1">
                <a:solidFill>
                  <a:srgbClr val="7F6000"/>
                </a:solidFill>
                <a:latin typeface="Cambria Math"/>
                <a:ea typeface="Cambria Math"/>
              </a:rPr>
              <a:t>sKL(μ, σ) = (1 + μ²) ⁄ (2σ²) + (σ² + μ²) ⁄ 2 − 1</a:t>
            </a:r>
            <a:endParaRPr lang="it-IT" sz="2200" b="1">
              <a:solidFill>
                <a:srgbClr val="7F6000"/>
              </a:solidFill>
              <a:latin typeface="Cambria Math"/>
              <a:ea typeface="Cambria Math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7575C-2A5B-45A9-BA5A-2D24B4943384}"/>
              </a:ext>
            </a:extLst>
          </p:cNvPr>
          <p:cNvSpPr txBox="1"/>
          <p:nvPr/>
        </p:nvSpPr>
        <p:spPr>
          <a:xfrm>
            <a:off x="1206500" y="5397500"/>
            <a:ext cx="977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400" i="1">
                <a:solidFill>
                  <a:srgbClr val="595959"/>
                </a:solidFill>
              </a:rPr>
              <a:t>Parametric level curve in (</a:t>
            </a:r>
            <a:r>
              <a:rPr lang="el-GR" sz="1400" i="1">
                <a:solidFill>
                  <a:srgbClr val="595959"/>
                </a:solidFill>
              </a:rPr>
              <a:t>μ, σ): {(μ, σ) : </a:t>
            </a:r>
            <a:r>
              <a:rPr lang="it-IT" sz="1400" i="1">
                <a:solidFill>
                  <a:srgbClr val="595959"/>
                </a:solidFill>
              </a:rPr>
              <a:t>sKL(</a:t>
            </a:r>
            <a:r>
              <a:rPr lang="el-GR" sz="1400" i="1">
                <a:solidFill>
                  <a:srgbClr val="595959"/>
                </a:solidFill>
              </a:rPr>
              <a:t>μ, σ) = </a:t>
            </a:r>
            <a:r>
              <a:rPr lang="it-IT" sz="1400" i="1">
                <a:solidFill>
                  <a:srgbClr val="595959"/>
                </a:solidFill>
              </a:rPr>
              <a:t>c}</a:t>
            </a:r>
          </a:p>
        </p:txBody>
      </p:sp>
    </p:spTree>
    <p:extLst>
      <p:ext uri="{BB962C8B-B14F-4D97-AF65-F5344CB8AC3E}">
        <p14:creationId xmlns:p14="http://schemas.microsoft.com/office/powerpoint/2010/main" val="9160768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C96B2D-661C-DF08-281F-A7E685F3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98F59-9812-F079-4ED3-CE2BD8A7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</a:rPr>
              <a:t>Why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using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sKL</a:t>
            </a:r>
            <a:r>
              <a:rPr lang="it-IT">
                <a:solidFill>
                  <a:srgbClr val="0070C0"/>
                </a:solidFill>
              </a:rPr>
              <a:t> </a:t>
            </a:r>
            <a:r>
              <a:rPr lang="it-IT" err="1">
                <a:solidFill>
                  <a:srgbClr val="0070C0"/>
                </a:solidFill>
              </a:rPr>
              <a:t>instead</a:t>
            </a:r>
            <a:r>
              <a:rPr lang="it-IT">
                <a:solidFill>
                  <a:srgbClr val="0070C0"/>
                </a:solidFill>
              </a:rPr>
              <a:t> of KL? </a:t>
            </a:r>
          </a:p>
        </p:txBody>
      </p:sp>
    </p:spTree>
    <p:extLst>
      <p:ext uri="{BB962C8B-B14F-4D97-AF65-F5344CB8AC3E}">
        <p14:creationId xmlns:p14="http://schemas.microsoft.com/office/powerpoint/2010/main" val="21734939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44A1-185B-6E4B-1FDA-E48D65B1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Understanding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why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using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KL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could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be </a:t>
            </a:r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better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0A85-8358-F164-CB9B-13C081AD6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err="1"/>
              <a:t>Stein’s</a:t>
            </a:r>
            <a:r>
              <a:rPr lang="it-IT"/>
              <a:t> lemma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based</a:t>
            </a:r>
            <a:r>
              <a:rPr lang="it-IT"/>
              <a:t> on the KL. </a:t>
            </a:r>
            <a:br>
              <a:rPr lang="it-IT"/>
            </a:br>
            <a:r>
              <a:rPr lang="it-IT" err="1"/>
              <a:t>Stein’s</a:t>
            </a:r>
            <a:r>
              <a:rPr lang="it-IT"/>
              <a:t> lemma </a:t>
            </a:r>
            <a:r>
              <a:rPr lang="it-IT" err="1"/>
              <a:t>tells</a:t>
            </a:r>
            <a:r>
              <a:rPr lang="it-IT"/>
              <a:t> </a:t>
            </a:r>
            <a:r>
              <a:rPr lang="it-IT" err="1"/>
              <a:t>us</a:t>
            </a:r>
            <a:r>
              <a:rPr lang="it-IT"/>
              <a:t> </a:t>
            </a:r>
            <a:r>
              <a:rPr lang="it-IT" err="1"/>
              <a:t>together</a:t>
            </a:r>
            <a:r>
              <a:rPr lang="it-IT"/>
              <a:t> with </a:t>
            </a:r>
            <a:r>
              <a:rPr lang="it-IT" err="1"/>
              <a:t>Lourden</a:t>
            </a:r>
            <a:r>
              <a:rPr lang="it-IT"/>
              <a:t> works on CUSUM </a:t>
            </a:r>
            <a:r>
              <a:rPr lang="it-IT" err="1"/>
              <a:t>will</a:t>
            </a:r>
            <a:r>
              <a:rPr lang="it-IT"/>
              <a:t> point </a:t>
            </a:r>
            <a:r>
              <a:rPr lang="it-IT" err="1"/>
              <a:t>us</a:t>
            </a:r>
            <a:r>
              <a:rPr lang="it-IT"/>
              <a:t> to use </a:t>
            </a:r>
            <a:r>
              <a:rPr lang="it-IT" err="1"/>
              <a:t>directly</a:t>
            </a:r>
            <a:r>
              <a:rPr lang="it-IT"/>
              <a:t> to KL </a:t>
            </a:r>
            <a:r>
              <a:rPr lang="it-IT" err="1"/>
              <a:t>but</a:t>
            </a:r>
            <a:r>
              <a:rPr lang="it-IT"/>
              <a:t>… 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>
                <a:hlinkClick r:id="rId2"/>
              </a:rPr>
              <a:t>https://projecteuclid.org/journals/annals-of-mathematical-statistics/volume-42/issue-6/Procedures-for-Reacting-to-a-Change-in-Distribution/10.1214/aoms/1177693055.full</a:t>
            </a:r>
            <a:r>
              <a:rPr lang="it-IT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19425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83EFA8-CDB4-AA9A-CB40-830D5A60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85C2-33B5-EE9D-917E-52C9BFAA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Reason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#1 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DDB3-C768-4A4A-8C5B-60FCDAD42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err="1"/>
              <a:t>Lourden</a:t>
            </a:r>
            <a:r>
              <a:rPr lang="it-IT"/>
              <a:t> works </a:t>
            </a:r>
            <a:r>
              <a:rPr lang="it-IT" err="1"/>
              <a:t>was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on </a:t>
            </a:r>
            <a:r>
              <a:rPr lang="it-IT" err="1"/>
              <a:t>CuSUM</a:t>
            </a:r>
            <a:r>
              <a:rPr lang="it-IT"/>
              <a:t>. </a:t>
            </a:r>
            <a:r>
              <a:rPr lang="it-IT" err="1"/>
              <a:t>We</a:t>
            </a:r>
            <a:r>
              <a:rPr lang="it-IT"/>
              <a:t> use ND </a:t>
            </a:r>
            <a:r>
              <a:rPr lang="it-IT" err="1"/>
              <a:t>as</a:t>
            </a:r>
            <a:r>
              <a:rPr lang="it-IT"/>
              <a:t> test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more </a:t>
            </a:r>
            <a:r>
              <a:rPr lang="it-IT" err="1"/>
              <a:t>symmetric</a:t>
            </a:r>
            <a:r>
              <a:rPr lang="it-IT"/>
              <a:t> (the </a:t>
            </a:r>
            <a:r>
              <a:rPr lang="it-IT" err="1"/>
              <a:t>peak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reached</a:t>
            </a:r>
            <a:r>
              <a:rPr lang="it-IT"/>
              <a:t> in N/2 </a:t>
            </a:r>
            <a:r>
              <a:rPr lang="it-IT" err="1"/>
              <a:t>where</a:t>
            </a:r>
            <a:r>
              <a:rPr lang="it-IT"/>
              <a:t> N </a:t>
            </a:r>
            <a:r>
              <a:rPr lang="it-IT" err="1"/>
              <a:t>is</a:t>
            </a:r>
            <a:r>
              <a:rPr lang="it-IT"/>
              <a:t> the window </a:t>
            </a:r>
            <a:r>
              <a:rPr lang="it-IT" err="1"/>
              <a:t>lenght</a:t>
            </a:r>
            <a:r>
              <a:rPr lang="it-IT"/>
              <a:t>). 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r>
              <a:rPr lang="it-IT" err="1"/>
              <a:t>Since</a:t>
            </a:r>
            <a:r>
              <a:rPr lang="it-IT"/>
              <a:t> </a:t>
            </a:r>
            <a:r>
              <a:rPr lang="it-IT" err="1"/>
              <a:t>our</a:t>
            </a:r>
            <a:r>
              <a:rPr lang="it-IT"/>
              <a:t> scenario can </a:t>
            </a:r>
            <a:r>
              <a:rPr lang="it-IT" err="1"/>
              <a:t>also</a:t>
            </a:r>
            <a:r>
              <a:rPr lang="it-IT"/>
              <a:t> be offline </a:t>
            </a:r>
            <a:r>
              <a:rPr lang="it-IT" err="1"/>
              <a:t>as</a:t>
            </a:r>
            <a:r>
              <a:rPr lang="it-IT"/>
              <a:t> pure </a:t>
            </a:r>
            <a:r>
              <a:rPr lang="it-IT" err="1"/>
              <a:t>analysis</a:t>
            </a:r>
            <a:r>
              <a:rPr lang="it-IT"/>
              <a:t> and ND </a:t>
            </a:r>
            <a:r>
              <a:rPr lang="it-IT" err="1"/>
              <a:t>reach</a:t>
            </a:r>
            <a:r>
              <a:rPr lang="it-IT"/>
              <a:t> maximum in N/2 </a:t>
            </a:r>
            <a:r>
              <a:rPr lang="it-IT" err="1"/>
              <a:t>it</a:t>
            </a:r>
            <a:r>
              <a:rPr lang="it-IT"/>
              <a:t> makes </a:t>
            </a:r>
            <a:r>
              <a:rPr lang="it-IT" err="1"/>
              <a:t>sense</a:t>
            </a:r>
            <a:r>
              <a:rPr lang="it-IT"/>
              <a:t> to use a </a:t>
            </a:r>
            <a:r>
              <a:rPr lang="it-IT" err="1"/>
              <a:t>distance</a:t>
            </a:r>
            <a:r>
              <a:rPr lang="it-IT"/>
              <a:t>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symmetric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87651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5A45C3-08AC-288F-9AEB-1C930547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1F43-8A30-28E2-FAF8-287EC2E1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Reason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#2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F709B-16AF-7D9B-2475-B6E6B64280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/>
                  <a:t>Because </a:t>
                </a:r>
                <a:r>
                  <a:rPr lang="it-IT" err="1"/>
                  <a:t>it</a:t>
                </a:r>
                <a:r>
                  <a:rPr lang="it-IT"/>
                  <a:t> </a:t>
                </a:r>
                <a:r>
                  <a:rPr lang="it-IT" err="1"/>
                  <a:t>is</a:t>
                </a:r>
                <a:r>
                  <a:rPr lang="it-IT"/>
                  <a:t> </a:t>
                </a:r>
                <a:r>
                  <a:rPr lang="it-IT" err="1"/>
                  <a:t>symmetric</a:t>
                </a:r>
                <a:r>
                  <a:rPr lang="it-IT"/>
                  <a:t> and </a:t>
                </a:r>
                <a:r>
                  <a:rPr lang="it-IT" err="1"/>
                  <a:t>this</a:t>
                </a:r>
                <a:r>
                  <a:rPr lang="it-IT"/>
                  <a:t> </a:t>
                </a:r>
                <a:r>
                  <a:rPr lang="it-IT" err="1"/>
                  <a:t>allowed</a:t>
                </a:r>
                <a:r>
                  <a:rPr lang="it-IT"/>
                  <a:t> </a:t>
                </a:r>
                <a:r>
                  <a:rPr lang="it-IT" err="1"/>
                  <a:t>us</a:t>
                </a:r>
                <a:r>
                  <a:rPr lang="it-IT"/>
                  <a:t> to cover </a:t>
                </a:r>
                <a:r>
                  <a:rPr lang="it-IT" err="1"/>
                  <a:t>both</a:t>
                </a:r>
                <a:r>
                  <a:rPr lang="it-IT"/>
                  <a:t> KL(</a:t>
                </a:r>
                <a:r>
                  <a:rPr lang="el-GR"/>
                  <a:t>φ</a:t>
                </a:r>
                <a:r>
                  <a:rPr lang="it-IT"/>
                  <a:t>i||</a:t>
                </a:r>
                <a:r>
                  <a:rPr lang="el-GR"/>
                  <a:t>φ</a:t>
                </a:r>
                <a:r>
                  <a:rPr lang="it-IT"/>
                  <a:t>k) and KL(</a:t>
                </a:r>
                <a:r>
                  <a:rPr lang="el-GR"/>
                  <a:t>φ</a:t>
                </a:r>
                <a:r>
                  <a:rPr lang="it-IT"/>
                  <a:t>j||</a:t>
                </a:r>
                <a:r>
                  <a:rPr lang="el-GR"/>
                  <a:t>φ</a:t>
                </a:r>
                <a:r>
                  <a:rPr lang="it-IT"/>
                  <a:t>i). For </a:t>
                </a:r>
                <a:r>
                  <a:rPr lang="it-IT" err="1"/>
                  <a:t>being</a:t>
                </a:r>
                <a:r>
                  <a:rPr lang="it-IT"/>
                  <a:t> more precise </a:t>
                </a:r>
                <a:r>
                  <a:rPr lang="it-IT" err="1"/>
                  <a:t>we</a:t>
                </a:r>
                <a:r>
                  <a:rPr lang="it-IT"/>
                  <a:t> </a:t>
                </a:r>
                <a:r>
                  <a:rPr lang="it-IT" err="1"/>
                  <a:t>could</a:t>
                </a:r>
                <a:r>
                  <a:rPr lang="it-IT"/>
                  <a:t> </a:t>
                </a:r>
                <a:r>
                  <a:rPr lang="it-IT" err="1"/>
                  <a:t>have</a:t>
                </a:r>
                <a:r>
                  <a:rPr lang="it-IT"/>
                  <a:t> </a:t>
                </a:r>
                <a:r>
                  <a:rPr lang="it-IT" err="1"/>
                  <a:t>imposed</a:t>
                </a:r>
                <a:r>
                  <a:rPr lang="it-IT"/>
                  <a:t> a range on </a:t>
                </a:r>
                <a:r>
                  <a:rPr lang="it-IT" err="1"/>
                  <a:t>all</a:t>
                </a:r>
                <a:r>
                  <a:rPr lang="it-IT"/>
                  <a:t> KL(</a:t>
                </a:r>
                <a:r>
                  <a:rPr lang="el-GR"/>
                  <a:t>φ</a:t>
                </a:r>
                <a:r>
                  <a:rPr lang="it-IT"/>
                  <a:t>i, </a:t>
                </a:r>
                <a:r>
                  <a:rPr lang="el-GR"/>
                  <a:t>φ</a:t>
                </a:r>
                <a:r>
                  <a:rPr lang="it-IT"/>
                  <a:t>j) </a:t>
                </a:r>
                <a:r>
                  <a:rPr lang="it-IT" err="1"/>
                  <a:t>but</a:t>
                </a:r>
                <a:r>
                  <a:rPr lang="it-IT"/>
                  <a:t> </a:t>
                </a:r>
                <a:r>
                  <a:rPr lang="it-IT" err="1"/>
                  <a:t>this</a:t>
                </a:r>
                <a:r>
                  <a:rPr lang="it-IT"/>
                  <a:t> </a:t>
                </a:r>
                <a:r>
                  <a:rPr lang="it-IT" err="1"/>
                  <a:t>requires</a:t>
                </a:r>
                <a:r>
                  <a:rPr lang="it-IT"/>
                  <a:t> 4x the </a:t>
                </a:r>
                <a:r>
                  <a:rPr lang="it-IT" err="1"/>
                  <a:t>computational</a:t>
                </a:r>
                <a:r>
                  <a:rPr lang="it-IT"/>
                  <a:t> cost </a:t>
                </a:r>
                <a:r>
                  <a:rPr lang="it-IT" err="1"/>
                  <a:t>since</a:t>
                </a:r>
                <a:r>
                  <a:rPr lang="it-IT"/>
                  <a:t> </a:t>
                </a:r>
                <a:endParaRPr lang="it-IT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4 </m:t>
                      </m:r>
                    </m:oMath>
                  </m:oMathPara>
                </a14:m>
                <a:endParaRPr lang="it-IT"/>
              </a:p>
              <a:p>
                <a:pPr marL="0" indent="0">
                  <a:buNone/>
                </a:pPr>
                <a:r>
                  <a:rPr lang="it-IT" err="1"/>
                  <a:t>as</a:t>
                </a:r>
                <a:r>
                  <a:rPr lang="it-IT"/>
                  <a:t> N </a:t>
                </a:r>
                <a:r>
                  <a:rPr lang="it-IT" err="1"/>
                  <a:t>goes</a:t>
                </a:r>
                <a:r>
                  <a:rPr lang="it-IT"/>
                  <a:t> to </a:t>
                </a:r>
                <a:r>
                  <a:rPr lang="it-IT" err="1"/>
                  <a:t>infinity</a:t>
                </a:r>
                <a:r>
                  <a:rPr lang="it-IT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F709B-16AF-7D9B-2475-B6E6B6428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5775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D21714-7B37-6D3B-79E8-A569A3BC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1E24-F5AF-B44B-77DF-ADEA88ED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solidFill>
                  <a:srgbClr val="0070C0"/>
                </a:solidFill>
                <a:latin typeface="Delicious"/>
                <a:cs typeface="Times New Roman"/>
              </a:rPr>
              <a:t>Reason</a:t>
            </a:r>
            <a:r>
              <a:rPr lang="it-IT">
                <a:solidFill>
                  <a:srgbClr val="0070C0"/>
                </a:solidFill>
                <a:latin typeface="Delicious"/>
                <a:cs typeface="Times New Roman"/>
              </a:rPr>
              <a:t> #3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F02F0-BDCB-1F08-8474-1AAD3674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prefered</a:t>
            </a:r>
            <a:r>
              <a:rPr lang="it-IT"/>
              <a:t> range OGD for </a:t>
            </a:r>
            <a:r>
              <a:rPr lang="it-IT" err="1"/>
              <a:t>its</a:t>
            </a:r>
            <a:r>
              <a:rPr lang="it-IT"/>
              <a:t> </a:t>
            </a:r>
            <a:r>
              <a:rPr lang="it-IT" err="1"/>
              <a:t>flexibility</a:t>
            </a:r>
            <a:r>
              <a:rPr lang="it-IT"/>
              <a:t>. </a:t>
            </a:r>
            <a:r>
              <a:rPr lang="it-IT" err="1"/>
              <a:t>We</a:t>
            </a:r>
            <a:r>
              <a:rPr lang="it-IT"/>
              <a:t> are </a:t>
            </a:r>
            <a:r>
              <a:rPr lang="it-IT" err="1"/>
              <a:t>already</a:t>
            </a:r>
            <a:r>
              <a:rPr lang="it-IT"/>
              <a:t> </a:t>
            </a:r>
            <a:r>
              <a:rPr lang="it-IT" err="1"/>
              <a:t>accepting</a:t>
            </a:r>
            <a:r>
              <a:rPr lang="it-IT"/>
              <a:t> the </a:t>
            </a:r>
            <a:r>
              <a:rPr lang="it-IT" err="1"/>
              <a:t>fact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some </a:t>
            </a:r>
            <a:r>
              <a:rPr lang="it-IT" err="1"/>
              <a:t>detections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be </a:t>
            </a:r>
            <a:r>
              <a:rPr lang="it-IT" err="1"/>
              <a:t>harder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other</a:t>
            </a:r>
            <a:r>
              <a:rPr lang="it-IT"/>
              <a:t> </a:t>
            </a:r>
            <a:r>
              <a:rPr lang="it-IT" err="1"/>
              <a:t>but</a:t>
            </a:r>
            <a:r>
              <a:rPr lang="it-IT"/>
              <a:t>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allow</a:t>
            </a:r>
            <a:r>
              <a:rPr lang="it-IT"/>
              <a:t> </a:t>
            </a:r>
            <a:r>
              <a:rPr lang="it-IT" err="1"/>
              <a:t>us</a:t>
            </a:r>
            <a:r>
              <a:rPr lang="it-IT"/>
              <a:t> to </a:t>
            </a:r>
            <a:r>
              <a:rPr lang="it-IT" err="1"/>
              <a:t>have</a:t>
            </a:r>
            <a:r>
              <a:rPr lang="it-IT"/>
              <a:t> more </a:t>
            </a:r>
            <a:r>
              <a:rPr lang="it-IT" err="1"/>
              <a:t>gaussian</a:t>
            </a:r>
            <a:r>
              <a:rPr lang="it-IT"/>
              <a:t> in the </a:t>
            </a:r>
            <a:r>
              <a:rPr lang="it-IT" err="1"/>
              <a:t>constellation</a:t>
            </a:r>
            <a:r>
              <a:rPr lang="it-IT"/>
              <a:t>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key for </a:t>
            </a:r>
            <a:r>
              <a:rPr lang="it-IT" err="1"/>
              <a:t>our</a:t>
            </a:r>
            <a:r>
              <a:rPr lang="it-IT"/>
              <a:t> </a:t>
            </a:r>
            <a:r>
              <a:rPr lang="it-IT" err="1"/>
              <a:t>purposes</a:t>
            </a:r>
            <a:r>
              <a:rPr lang="it-IT"/>
              <a:t> of </a:t>
            </a:r>
            <a:r>
              <a:rPr lang="it-IT" err="1"/>
              <a:t>defining</a:t>
            </a:r>
            <a:r>
              <a:rPr lang="it-IT"/>
              <a:t> a </a:t>
            </a:r>
            <a:r>
              <a:rPr lang="it-IT" err="1"/>
              <a:t>meaningful</a:t>
            </a:r>
            <a:r>
              <a:rPr lang="it-IT"/>
              <a:t> embedded </a:t>
            </a:r>
            <a:r>
              <a:rPr lang="it-IT" err="1"/>
              <a:t>space</a:t>
            </a:r>
            <a:r>
              <a:rPr lang="it-IT"/>
              <a:t> of features.</a:t>
            </a:r>
          </a:p>
        </p:txBody>
      </p:sp>
    </p:spTree>
    <p:extLst>
      <p:ext uri="{BB962C8B-B14F-4D97-AF65-F5344CB8AC3E}">
        <p14:creationId xmlns:p14="http://schemas.microsoft.com/office/powerpoint/2010/main" val="26787191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A63F5D-EE98-D769-61DD-254987C6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5A4A10-C218-AA8D-05BD-7FDADF69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>
                  <a:srgbClr val="0070C0"/>
                </a:solidFill>
              </a:rPr>
              <a:t>Range </a:t>
            </a:r>
            <a:r>
              <a:rPr lang="it-IT" err="1">
                <a:solidFill>
                  <a:srgbClr val="0070C0"/>
                </a:solidFill>
              </a:rPr>
              <a:t>loss</a:t>
            </a:r>
            <a:endParaRPr lang="it-IT">
              <a:solidFill>
                <a:srgbClr val="0070C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7C9D59-98BF-B3E9-C6CE-4943F8CED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The </a:t>
            </a:r>
            <a:r>
              <a:rPr lang="it-IT" dirty="0" err="1"/>
              <a:t>loss</a:t>
            </a:r>
            <a:r>
              <a:rPr lang="it-IT" dirty="0"/>
              <a:t> of the range </a:t>
            </a:r>
            <a:r>
              <a:rPr lang="it-IT" dirty="0" err="1"/>
              <a:t>version</a:t>
            </a:r>
            <a:r>
              <a:rPr lang="it-IT" dirty="0"/>
              <a:t> of OGD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harder</a:t>
            </a:r>
            <a:r>
              <a:rPr lang="it-IT" dirty="0"/>
              <a:t> and </a:t>
            </a:r>
            <a:r>
              <a:rPr lang="it-IT" dirty="0" err="1"/>
              <a:t>relies</a:t>
            </a:r>
            <a:r>
              <a:rPr lang="it-IT" dirty="0"/>
              <a:t> on the sum on the sum of the MSE </a:t>
            </a:r>
            <a:r>
              <a:rPr lang="it-IT" dirty="0" err="1"/>
              <a:t>if</a:t>
            </a:r>
            <a:r>
              <a:rPr lang="it-IT" dirty="0"/>
              <a:t> SKL are </a:t>
            </a:r>
            <a:r>
              <a:rPr lang="it-IT" dirty="0" err="1"/>
              <a:t>outside</a:t>
            </a:r>
            <a:r>
              <a:rPr lang="it-IT" dirty="0"/>
              <a:t> </a:t>
            </a:r>
            <a:r>
              <a:rPr lang="it-IT" dirty="0" err="1"/>
              <a:t>lower</a:t>
            </a:r>
            <a:r>
              <a:rPr lang="it-IT" dirty="0"/>
              <a:t> or upper </a:t>
            </a:r>
            <a:r>
              <a:rPr lang="it-IT" dirty="0" err="1"/>
              <a:t>bound</a:t>
            </a:r>
            <a:r>
              <a:rPr lang="it-IT" dirty="0"/>
              <a:t>. </a:t>
            </a:r>
            <a:br>
              <a:rPr lang="it-IT" dirty="0"/>
            </a:br>
            <a:r>
              <a:rPr lang="it-IT" dirty="0" err="1"/>
              <a:t>Derivations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too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83384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91CD9-FE97-FC94-580D-1AFD5D40F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54" y="0"/>
            <a:ext cx="11072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E4FBF3-2CDF-49B9-BCC2-E82F2AB9710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b09bebd-5000-435e-bba9-91bc7dd68299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92</Slides>
  <Notes>2</Notes>
  <HiddenSlides>55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3" baseType="lpstr">
      <vt:lpstr>Office Theme</vt:lpstr>
      <vt:lpstr>REQ 2 Environment</vt:lpstr>
      <vt:lpstr>PowerPoint Presentation</vt:lpstr>
      <vt:lpstr>PowerPoint Presentation</vt:lpstr>
      <vt:lpstr>Req 4 environment</vt:lpstr>
      <vt:lpstr>Gaussian Constellation</vt:lpstr>
      <vt:lpstr>PowerPoint Presentation</vt:lpstr>
      <vt:lpstr>PowerPoint Presentation</vt:lpstr>
      <vt:lpstr>How would it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Switching mechanism</vt:lpstr>
      <vt:lpstr>Why do we need a Gaussian Constellation? </vt:lpstr>
      <vt:lpstr>Same sKL </vt:lpstr>
      <vt:lpstr>PowerPoint Presentation</vt:lpstr>
      <vt:lpstr>Solutions to the Gaussian constellation problem</vt:lpstr>
      <vt:lpstr>Possible solutions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 of the whole Prj</vt:lpstr>
      <vt:lpstr>Idea: </vt:lpstr>
      <vt:lpstr>PowerPoint Presentation</vt:lpstr>
      <vt:lpstr>PowerPoint Presentation</vt:lpstr>
      <vt:lpstr>Future work…</vt:lpstr>
      <vt:lpstr>Incremental CD</vt:lpstr>
      <vt:lpstr>PowerPoint Presentation</vt:lpstr>
      <vt:lpstr>Recurring state of the market</vt:lpstr>
      <vt:lpstr>CCM + Rejection sampling</vt:lpstr>
      <vt:lpstr>Previous work: CCM + Rejection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 comparison</vt:lpstr>
      <vt:lpstr>PowerPoint Presentation</vt:lpstr>
      <vt:lpstr>PowerPoint Presentation</vt:lpstr>
      <vt:lpstr>Geometric explaination of why OGD is better than rej sampling.</vt:lpstr>
      <vt:lpstr>SKL closed form for 1D Gaussians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Last Considerations</vt:lpstr>
      <vt:lpstr>Known limitations: Strange distributions</vt:lpstr>
      <vt:lpstr>PowerPoint Presentation</vt:lpstr>
      <vt:lpstr>PowerPoint Presentation</vt:lpstr>
      <vt:lpstr>How CCM works?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Derivations of sKL gradient from MSE</vt:lpstr>
      <vt:lpstr>Derivations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Rotation OGD</vt:lpstr>
      <vt:lpstr>PowerPoint Presentation</vt:lpstr>
      <vt:lpstr>Why imposing just rotation make setting harder?</vt:lpstr>
      <vt:lpstr>Hyper-parameter tuning</vt:lpstr>
      <vt:lpstr>Summary</vt:lpstr>
      <vt:lpstr>PowerPoint Presentation</vt:lpstr>
      <vt:lpstr>Extra: Finding closed formula for 1d sKL gaussian</vt:lpstr>
      <vt:lpstr>PowerPoint Presentation</vt:lpstr>
      <vt:lpstr>From KL to sKL — Gaussian case p = N(μ₁, σ₁), q = N(μ₂, σ₂), Δμ = μ₁ − μ₂</vt:lpstr>
      <vt:lpstr>Why using sKL instead of KL? </vt:lpstr>
      <vt:lpstr>Understanding why using KL could be better</vt:lpstr>
      <vt:lpstr>Reason #1 </vt:lpstr>
      <vt:lpstr>Reason #2</vt:lpstr>
      <vt:lpstr>Reason #3</vt:lpstr>
      <vt:lpstr>Range loss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梦瑶 李</dc:creator>
  <cp:revision>25</cp:revision>
  <dcterms:created xsi:type="dcterms:W3CDTF">2026-04-27T13:33:29Z</dcterms:created>
  <dcterms:modified xsi:type="dcterms:W3CDTF">2026-07-10T15:35:28Z</dcterms:modified>
</cp:coreProperties>
</file>