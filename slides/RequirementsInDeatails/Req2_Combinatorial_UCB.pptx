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60" r:id="rId4"/>
    <p:sldId id="262" r:id="rId5"/>
    <p:sldId id="269" r:id="rId6"/>
    <p:sldId id="274" r:id="rId7"/>
    <p:sldId id="259" r:id="rId8"/>
    <p:sldId id="268" r:id="rId9"/>
    <p:sldId id="264" r:id="rId10"/>
    <p:sldId id="263" r:id="rId11"/>
    <p:sldId id="272" r:id="rId12"/>
    <p:sldId id="273" r:id="rId13"/>
    <p:sldId id="265" r:id="rId14"/>
    <p:sldId id="266" r:id="rId15"/>
    <p:sldId id="270" r:id="rId16"/>
    <p:sldId id="271" r:id="rId17"/>
    <p:sldId id="261" r:id="rId18"/>
    <p:sldId id="26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D72FF-AAAF-A0ED-6F55-F0097652C60E}" v="2" dt="2026-07-09T13:43:39.020"/>
    <p1510:client id="{2C92A04B-FAE1-32CF-9E72-618D06B700E9}" v="36" dt="2026-07-09T16:28:58.7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33" autoAdjust="0"/>
    <p:restoredTop sz="94660"/>
  </p:normalViewPr>
  <p:slideViewPr>
    <p:cSldViewPr snapToGrid="0" snapToObjects="1">
      <p:cViewPr>
        <p:scale>
          <a:sx n="75" d="100"/>
          <a:sy n="75" d="100"/>
        </p:scale>
        <p:origin x="-96" y="-3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gi Cavuto" userId="379d51b900c69bf6" providerId="Windows Live" clId="Web-{00CD72FF-AAAF-A0ED-6F55-F0097652C60E}"/>
    <pc:docChg chg="modSld">
      <pc:chgData name="Luigi Cavuto" userId="379d51b900c69bf6" providerId="Windows Live" clId="Web-{00CD72FF-AAAF-A0ED-6F55-F0097652C60E}" dt="2026-07-09T13:43:39.020" v="1" actId="20577"/>
      <pc:docMkLst>
        <pc:docMk/>
      </pc:docMkLst>
      <pc:sldChg chg="modSp">
        <pc:chgData name="Luigi Cavuto" userId="379d51b900c69bf6" providerId="Windows Live" clId="Web-{00CD72FF-AAAF-A0ED-6F55-F0097652C60E}" dt="2026-07-09T13:43:39.020" v="1" actId="20577"/>
        <pc:sldMkLst>
          <pc:docMk/>
          <pc:sldMk cId="0" sldId="263"/>
        </pc:sldMkLst>
        <pc:spChg chg="mod">
          <ac:chgData name="Luigi Cavuto" userId="379d51b900c69bf6" providerId="Windows Live" clId="Web-{00CD72FF-AAAF-A0ED-6F55-F0097652C60E}" dt="2026-07-09T13:43:39.020" v="1" actId="20577"/>
          <ac:spMkLst>
            <pc:docMk/>
            <pc:sldMk cId="0" sldId="263"/>
            <ac:spMk id="54" creationId="{00000000-0000-0000-0000-000000000000}"/>
          </ac:spMkLst>
        </pc:spChg>
      </pc:sldChg>
    </pc:docChg>
  </pc:docChgLst>
  <pc:docChgLst>
    <pc:chgData name="Simone Mauro" userId="7288c1146a64123d" providerId="Windows Live" clId="Web-{2C92A04B-FAE1-32CF-9E72-618D06B700E9}"/>
    <pc:docChg chg="addSld delSld">
      <pc:chgData name="Simone Mauro" userId="7288c1146a64123d" providerId="Windows Live" clId="Web-{2C92A04B-FAE1-32CF-9E72-618D06B700E9}" dt="2026-07-09T16:28:58.508" v="35"/>
      <pc:docMkLst>
        <pc:docMk/>
      </pc:docMkLst>
      <pc:sldChg chg="add del">
        <pc:chgData name="Simone Mauro" userId="7288c1146a64123d" providerId="Windows Live" clId="Web-{2C92A04B-FAE1-32CF-9E72-618D06B700E9}" dt="2026-07-09T16:28:52.977" v="18"/>
        <pc:sldMkLst>
          <pc:docMk/>
          <pc:sldMk cId="0" sldId="256"/>
        </pc:sldMkLst>
      </pc:sldChg>
      <pc:sldChg chg="add del">
        <pc:chgData name="Simone Mauro" userId="7288c1146a64123d" providerId="Windows Live" clId="Web-{2C92A04B-FAE1-32CF-9E72-618D06B700E9}" dt="2026-07-09T16:28:53.164" v="19"/>
        <pc:sldMkLst>
          <pc:docMk/>
          <pc:sldMk cId="0" sldId="258"/>
        </pc:sldMkLst>
      </pc:sldChg>
      <pc:sldChg chg="add del">
        <pc:chgData name="Simone Mauro" userId="7288c1146a64123d" providerId="Windows Live" clId="Web-{2C92A04B-FAE1-32CF-9E72-618D06B700E9}" dt="2026-07-09T16:28:54.742" v="24"/>
        <pc:sldMkLst>
          <pc:docMk/>
          <pc:sldMk cId="0" sldId="259"/>
        </pc:sldMkLst>
      </pc:sldChg>
      <pc:sldChg chg="add del">
        <pc:chgData name="Simone Mauro" userId="7288c1146a64123d" providerId="Windows Live" clId="Web-{2C92A04B-FAE1-32CF-9E72-618D06B700E9}" dt="2026-07-09T16:28:53.430" v="20"/>
        <pc:sldMkLst>
          <pc:docMk/>
          <pc:sldMk cId="0" sldId="260"/>
        </pc:sldMkLst>
      </pc:sldChg>
      <pc:sldChg chg="add del">
        <pc:chgData name="Simone Mauro" userId="7288c1146a64123d" providerId="Windows Live" clId="Web-{2C92A04B-FAE1-32CF-9E72-618D06B700E9}" dt="2026-07-09T16:28:58.164" v="34"/>
        <pc:sldMkLst>
          <pc:docMk/>
          <pc:sldMk cId="0" sldId="261"/>
        </pc:sldMkLst>
      </pc:sldChg>
      <pc:sldChg chg="add del">
        <pc:chgData name="Simone Mauro" userId="7288c1146a64123d" providerId="Windows Live" clId="Web-{2C92A04B-FAE1-32CF-9E72-618D06B700E9}" dt="2026-07-09T16:28:53.773" v="21"/>
        <pc:sldMkLst>
          <pc:docMk/>
          <pc:sldMk cId="0" sldId="262"/>
        </pc:sldMkLst>
      </pc:sldChg>
      <pc:sldChg chg="add del">
        <pc:chgData name="Simone Mauro" userId="7288c1146a64123d" providerId="Windows Live" clId="Web-{2C92A04B-FAE1-32CF-9E72-618D06B700E9}" dt="2026-07-09T16:28:55.539" v="27"/>
        <pc:sldMkLst>
          <pc:docMk/>
          <pc:sldMk cId="0" sldId="263"/>
        </pc:sldMkLst>
      </pc:sldChg>
      <pc:sldChg chg="add del">
        <pc:chgData name="Simone Mauro" userId="7288c1146a64123d" providerId="Windows Live" clId="Web-{2C92A04B-FAE1-32CF-9E72-618D06B700E9}" dt="2026-07-09T16:28:55.227" v="26"/>
        <pc:sldMkLst>
          <pc:docMk/>
          <pc:sldMk cId="0" sldId="264"/>
        </pc:sldMkLst>
      </pc:sldChg>
      <pc:sldChg chg="add del">
        <pc:chgData name="Simone Mauro" userId="7288c1146a64123d" providerId="Windows Live" clId="Web-{2C92A04B-FAE1-32CF-9E72-618D06B700E9}" dt="2026-07-09T16:28:56.524" v="30"/>
        <pc:sldMkLst>
          <pc:docMk/>
          <pc:sldMk cId="0" sldId="265"/>
        </pc:sldMkLst>
      </pc:sldChg>
      <pc:sldChg chg="add del">
        <pc:chgData name="Simone Mauro" userId="7288c1146a64123d" providerId="Windows Live" clId="Web-{2C92A04B-FAE1-32CF-9E72-618D06B700E9}" dt="2026-07-09T16:28:56.977" v="31"/>
        <pc:sldMkLst>
          <pc:docMk/>
          <pc:sldMk cId="0" sldId="266"/>
        </pc:sldMkLst>
      </pc:sldChg>
      <pc:sldChg chg="add del">
        <pc:chgData name="Simone Mauro" userId="7288c1146a64123d" providerId="Windows Live" clId="Web-{2C92A04B-FAE1-32CF-9E72-618D06B700E9}" dt="2026-07-09T16:28:58.508" v="35"/>
        <pc:sldMkLst>
          <pc:docMk/>
          <pc:sldMk cId="0" sldId="267"/>
        </pc:sldMkLst>
      </pc:sldChg>
      <pc:sldChg chg="add del">
        <pc:chgData name="Simone Mauro" userId="7288c1146a64123d" providerId="Windows Live" clId="Web-{2C92A04B-FAE1-32CF-9E72-618D06B700E9}" dt="2026-07-09T16:28:55.024" v="25"/>
        <pc:sldMkLst>
          <pc:docMk/>
          <pc:sldMk cId="0" sldId="268"/>
        </pc:sldMkLst>
      </pc:sldChg>
      <pc:sldChg chg="add del">
        <pc:chgData name="Simone Mauro" userId="7288c1146a64123d" providerId="Windows Live" clId="Web-{2C92A04B-FAE1-32CF-9E72-618D06B700E9}" dt="2026-07-09T16:28:54.070" v="22"/>
        <pc:sldMkLst>
          <pc:docMk/>
          <pc:sldMk cId="0" sldId="269"/>
        </pc:sldMkLst>
      </pc:sldChg>
      <pc:sldChg chg="add del">
        <pc:chgData name="Simone Mauro" userId="7288c1146a64123d" providerId="Windows Live" clId="Web-{2C92A04B-FAE1-32CF-9E72-618D06B700E9}" dt="2026-07-09T16:28:57.399" v="32"/>
        <pc:sldMkLst>
          <pc:docMk/>
          <pc:sldMk cId="0" sldId="270"/>
        </pc:sldMkLst>
      </pc:sldChg>
      <pc:sldChg chg="add del">
        <pc:chgData name="Simone Mauro" userId="7288c1146a64123d" providerId="Windows Live" clId="Web-{2C92A04B-FAE1-32CF-9E72-618D06B700E9}" dt="2026-07-09T16:28:57.774" v="33"/>
        <pc:sldMkLst>
          <pc:docMk/>
          <pc:sldMk cId="0" sldId="271"/>
        </pc:sldMkLst>
      </pc:sldChg>
      <pc:sldChg chg="add del">
        <pc:chgData name="Simone Mauro" userId="7288c1146a64123d" providerId="Windows Live" clId="Web-{2C92A04B-FAE1-32CF-9E72-618D06B700E9}" dt="2026-07-09T16:28:55.836" v="28"/>
        <pc:sldMkLst>
          <pc:docMk/>
          <pc:sldMk cId="0" sldId="272"/>
        </pc:sldMkLst>
      </pc:sldChg>
      <pc:sldChg chg="add del">
        <pc:chgData name="Simone Mauro" userId="7288c1146a64123d" providerId="Windows Live" clId="Web-{2C92A04B-FAE1-32CF-9E72-618D06B700E9}" dt="2026-07-09T16:28:56.164" v="29"/>
        <pc:sldMkLst>
          <pc:docMk/>
          <pc:sldMk cId="0" sldId="273"/>
        </pc:sldMkLst>
      </pc:sldChg>
      <pc:sldChg chg="add del">
        <pc:chgData name="Simone Mauro" userId="7288c1146a64123d" providerId="Windows Live" clId="Web-{2C92A04B-FAE1-32CF-9E72-618D06B700E9}" dt="2026-07-09T16:28:54.336" v="23"/>
        <pc:sldMkLst>
          <pc:docMk/>
          <pc:sldMk cId="0"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796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0454335" y="640080"/>
            <a:ext cx="1097280" cy="1097280"/>
          </a:xfrm>
          <a:prstGeom prst="ellipse">
            <a:avLst/>
          </a:prstGeom>
          <a:noFill/>
          <a:ln w="8890">
            <a:solidFill>
              <a:srgbClr val="E11D48">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997135" y="182879"/>
            <a:ext cx="2011680" cy="2011680"/>
          </a:xfrm>
          <a:prstGeom prst="ellipse">
            <a:avLst/>
          </a:prstGeom>
          <a:noFill/>
          <a:ln w="8890">
            <a:solidFill>
              <a:srgbClr val="E11D48">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9539935" y="-274320"/>
            <a:ext cx="2926080" cy="2926080"/>
          </a:xfrm>
          <a:prstGeom prst="ellipse">
            <a:avLst/>
          </a:prstGeom>
          <a:noFill/>
          <a:ln w="8890">
            <a:solidFill>
              <a:srgbClr val="E11D48">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9082735" y="-731520"/>
            <a:ext cx="3840480" cy="3840480"/>
          </a:xfrm>
          <a:prstGeom prst="ellipse">
            <a:avLst/>
          </a:prstGeom>
          <a:noFill/>
          <a:ln w="8890">
            <a:solidFill>
              <a:srgbClr val="E11D48">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8625535" y="-1188720"/>
            <a:ext cx="4754880" cy="4754880"/>
          </a:xfrm>
          <a:prstGeom prst="ellipse">
            <a:avLst/>
          </a:prstGeom>
          <a:noFill/>
          <a:ln w="8890">
            <a:solidFill>
              <a:srgbClr val="E11D48">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168335" y="-1645920"/>
            <a:ext cx="5669280" cy="5669280"/>
          </a:xfrm>
          <a:prstGeom prst="ellipse">
            <a:avLst/>
          </a:prstGeom>
          <a:noFill/>
          <a:ln w="8890">
            <a:solidFill>
              <a:srgbClr val="E11D48">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0911535" y="1097280"/>
            <a:ext cx="182880" cy="182880"/>
          </a:xfrm>
          <a:prstGeom prst="ellipse">
            <a:avLst/>
          </a:prstGeom>
          <a:solidFill>
            <a:srgbClr val="E11D48">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114800" y="1737360"/>
            <a:ext cx="7589520" cy="457200"/>
          </a:xfrm>
          <a:prstGeom prst="rect">
            <a:avLst/>
          </a:prstGeom>
          <a:noFill/>
        </p:spPr>
        <p:txBody>
          <a:bodyPr wrap="square" lIns="0" tIns="0" rIns="0" bIns="0" anchor="t">
            <a:noAutofit/>
          </a:bodyPr>
          <a:lstStyle/>
          <a:p>
            <a:pPr algn="l">
              <a:lnSpc>
                <a:spcPct val="100000"/>
              </a:lnSpc>
              <a:spcBef>
                <a:spcPts val="0"/>
              </a:spcBef>
              <a:spcAft>
                <a:spcPts val="200"/>
              </a:spcAft>
            </a:pPr>
            <a:r>
              <a:rPr sz="1500" b="1" i="0">
                <a:solidFill>
                  <a:srgbClr val="E11D48"/>
                </a:solidFill>
                <a:latin typeface="Times New Roman"/>
              </a:rPr>
              <a:t>REQUIREMENT 2</a:t>
            </a:r>
          </a:p>
        </p:txBody>
      </p:sp>
      <p:sp>
        <p:nvSpPr>
          <p:cNvPr id="61" name="TextBox 60"/>
          <p:cNvSpPr txBox="1"/>
          <p:nvPr/>
        </p:nvSpPr>
        <p:spPr>
          <a:xfrm>
            <a:off x="4114800" y="2194560"/>
            <a:ext cx="7726679" cy="822960"/>
          </a:xfrm>
          <a:prstGeom prst="rect">
            <a:avLst/>
          </a:prstGeom>
          <a:noFill/>
        </p:spPr>
        <p:txBody>
          <a:bodyPr wrap="square" lIns="0" tIns="0" rIns="0" bIns="0" anchor="t">
            <a:noAutofit/>
          </a:bodyPr>
          <a:lstStyle/>
          <a:p>
            <a:pPr algn="l">
              <a:lnSpc>
                <a:spcPct val="100000"/>
              </a:lnSpc>
              <a:spcBef>
                <a:spcPts val="0"/>
              </a:spcBef>
              <a:spcAft>
                <a:spcPts val="200"/>
              </a:spcAft>
            </a:pPr>
            <a:r>
              <a:rPr sz="4000" b="1" i="0">
                <a:solidFill>
                  <a:srgbClr val="F0F0F5"/>
                </a:solidFill>
                <a:latin typeface="Times New Roman"/>
              </a:rPr>
              <a:t>COMBINATORIAL UCB</a:t>
            </a:r>
          </a:p>
        </p:txBody>
      </p:sp>
      <p:sp>
        <p:nvSpPr>
          <p:cNvPr id="62" name="TextBox 61"/>
          <p:cNvSpPr txBox="1"/>
          <p:nvPr/>
        </p:nvSpPr>
        <p:spPr>
          <a:xfrm>
            <a:off x="4114800" y="2857500"/>
            <a:ext cx="7589520" cy="457200"/>
          </a:xfrm>
          <a:prstGeom prst="rect">
            <a:avLst/>
          </a:prstGeom>
          <a:noFill/>
        </p:spPr>
        <p:txBody>
          <a:bodyPr wrap="square" lIns="0" tIns="0" rIns="0" bIns="0" anchor="t">
            <a:noAutofit/>
          </a:bodyPr>
          <a:lstStyle/>
          <a:p>
            <a:pPr algn="l">
              <a:lnSpc>
                <a:spcPct val="100000"/>
              </a:lnSpc>
              <a:spcBef>
                <a:spcPts val="0"/>
              </a:spcBef>
              <a:spcAft>
                <a:spcPts val="200"/>
              </a:spcAft>
            </a:pPr>
            <a:r>
              <a:rPr sz="1800" b="0" i="1" dirty="0">
                <a:solidFill>
                  <a:srgbClr val="9A9AA6"/>
                </a:solidFill>
                <a:latin typeface="Times New Roman"/>
              </a:rPr>
              <a:t>for multi-campaign bidding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6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Goal &amp; Setting</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First the aim and the objects; then the rules, the benchmark, the algorithm, the results</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2/18</a:t>
            </a:r>
          </a:p>
        </p:txBody>
      </p:sp>
      <p:sp>
        <p:nvSpPr>
          <p:cNvPr id="58" name="Rectangle 57"/>
          <p:cNvSpPr/>
          <p:nvPr/>
        </p:nvSpPr>
        <p:spPr>
          <a:xfrm>
            <a:off x="502920" y="1225296"/>
            <a:ext cx="3545738" cy="242316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225296"/>
            <a:ext cx="32004" cy="242316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 y="1316736"/>
            <a:ext cx="3298850" cy="227685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01 · THE SETTING</a:t>
            </a:r>
          </a:p>
          <a:p>
            <a:pPr algn="l">
              <a:lnSpc>
                <a:spcPct val="100000"/>
              </a:lnSpc>
              <a:spcBef>
                <a:spcPts val="0"/>
              </a:spcBef>
              <a:spcAft>
                <a:spcPts val="400"/>
              </a:spcAft>
            </a:pPr>
            <a:r>
              <a:rPr sz="1400" b="1" i="0">
                <a:solidFill>
                  <a:srgbClr val="F0F0F5"/>
                </a:solidFill>
                <a:latin typeface="Times New Roman"/>
              </a:rPr>
              <a:t>5 campaigns, 1000 rounds, 1 budget</a:t>
            </a:r>
          </a:p>
          <a:p>
            <a:pPr algn="l">
              <a:lnSpc>
                <a:spcPct val="108000"/>
              </a:lnSpc>
              <a:spcBef>
                <a:spcPts val="0"/>
              </a:spcBef>
              <a:spcAft>
                <a:spcPts val="0"/>
              </a:spcAft>
            </a:pPr>
            <a:r>
              <a:rPr sz="1200" b="0" i="0">
                <a:solidFill>
                  <a:srgbClr val="F0F0F5"/>
                </a:solidFill>
                <a:latin typeface="Times New Roman"/>
              </a:rPr>
              <a:t>We run N = 5 advertising campaigns for T = 1000 rounds, sharing one budget B = 850. Each round, every campaign we enter is a first-price auction against a rival bid drawn from a Gaussian: per-campaign means (0.44 to 0.60), std 0.1, clipped to [0,1] so it stays a valid bid (formula below).</a:t>
            </a:r>
          </a:p>
        </p:txBody>
      </p:sp>
      <p:sp>
        <p:nvSpPr>
          <p:cNvPr id="61" name="Rectangle 60"/>
          <p:cNvSpPr/>
          <p:nvPr/>
        </p:nvSpPr>
        <p:spPr>
          <a:xfrm>
            <a:off x="4322978" y="1225296"/>
            <a:ext cx="3545738" cy="242316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322978" y="1225296"/>
            <a:ext cx="32004" cy="242316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460138" y="1316736"/>
            <a:ext cx="3298850" cy="227685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02 · THE MOVES</a:t>
            </a:r>
          </a:p>
          <a:p>
            <a:pPr algn="l">
              <a:lnSpc>
                <a:spcPct val="100000"/>
              </a:lnSpc>
              <a:spcBef>
                <a:spcPts val="0"/>
              </a:spcBef>
              <a:spcAft>
                <a:spcPts val="400"/>
              </a:spcAft>
            </a:pPr>
            <a:r>
              <a:rPr sz="1400" b="1" i="0">
                <a:solidFill>
                  <a:srgbClr val="F0F0F5"/>
                </a:solidFill>
                <a:latin typeface="Times New Roman"/>
              </a:rPr>
              <a:t>Arms and super-arms</a:t>
            </a:r>
          </a:p>
          <a:p>
            <a:pPr algn="l">
              <a:lnSpc>
                <a:spcPct val="108000"/>
              </a:lnSpc>
              <a:spcBef>
                <a:spcPts val="0"/>
              </a:spcBef>
              <a:spcAft>
                <a:spcPts val="0"/>
              </a:spcAft>
            </a:pPr>
            <a:r>
              <a:rPr sz="1200" b="0" i="0">
                <a:solidFill>
                  <a:srgbClr val="F0F0F5"/>
                </a:solidFill>
                <a:latin typeface="Times New Roman"/>
              </a:rPr>
              <a:t>An arm is one (campaign, bid) pair, bids on the grid {0, 0.1, ..., 1}: 55 arms in total. A super-arm is the set of campaigns played in one round, one bid each. A conflict graph forbids some pairs: next slide.</a:t>
            </a:r>
          </a:p>
        </p:txBody>
      </p:sp>
      <p:sp>
        <p:nvSpPr>
          <p:cNvPr id="64" name="Rectangle 63"/>
          <p:cNvSpPr/>
          <p:nvPr/>
        </p:nvSpPr>
        <p:spPr>
          <a:xfrm>
            <a:off x="8143036" y="1225296"/>
            <a:ext cx="3545738" cy="242316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143036" y="1225296"/>
            <a:ext cx="32004" cy="242316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80196" y="1316736"/>
            <a:ext cx="3298850" cy="227685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03 · THE GOAL</a:t>
            </a:r>
          </a:p>
          <a:p>
            <a:pPr algn="l">
              <a:lnSpc>
                <a:spcPct val="100000"/>
              </a:lnSpc>
              <a:spcBef>
                <a:spcPts val="0"/>
              </a:spcBef>
              <a:spcAft>
                <a:spcPts val="400"/>
              </a:spcAft>
            </a:pPr>
            <a:r>
              <a:rPr sz="1400" b="1" i="0">
                <a:solidFill>
                  <a:srgbClr val="F0F0F5"/>
                </a:solidFill>
                <a:latin typeface="Times New Roman"/>
              </a:rPr>
              <a:t>Max reward, budget safe</a:t>
            </a:r>
          </a:p>
          <a:p>
            <a:pPr algn="l">
              <a:lnSpc>
                <a:spcPct val="108000"/>
              </a:lnSpc>
              <a:spcBef>
                <a:spcPts val="0"/>
              </a:spcBef>
              <a:spcAft>
                <a:spcPts val="0"/>
              </a:spcAft>
            </a:pPr>
            <a:r>
              <a:rPr sz="1200" b="0" i="0">
                <a:solidFill>
                  <a:srgbClr val="F0F0F5"/>
                </a:solidFill>
                <a:latin typeface="Times New Roman"/>
              </a:rPr>
              <a:t>A win earns v = 1 and costs the bid. The aim: maximize total reward over the 1000 rounds, never exceed the budget (0.85 per round on average; results over 20 seeds), always play allowed super-arms.</a:t>
            </a:r>
          </a:p>
        </p:txBody>
      </p:sp>
      <p:sp>
        <p:nvSpPr>
          <p:cNvPr id="67" name="Rectangle 66"/>
          <p:cNvSpPr/>
          <p:nvPr/>
        </p:nvSpPr>
        <p:spPr>
          <a:xfrm>
            <a:off x="502920" y="3941064"/>
            <a:ext cx="11185855" cy="1380744"/>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502920" y="3941064"/>
            <a:ext cx="45719" cy="138074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7512" y="4014216"/>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OBJECTIVE</a:t>
            </a:r>
          </a:p>
        </p:txBody>
      </p:sp>
      <p:cxnSp>
        <p:nvCxnSpPr>
          <p:cNvPr id="70" name="Connector 69"/>
          <p:cNvCxnSpPr/>
          <p:nvPr/>
        </p:nvCxnSpPr>
        <p:spPr>
          <a:xfrm>
            <a:off x="667512" y="4270248"/>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667512" y="4361688"/>
            <a:ext cx="10893247" cy="1197864"/>
          </a:xfrm>
          <a:prstGeom prst="rect">
            <a:avLst/>
          </a:prstGeom>
          <a:noFill/>
        </p:spPr>
        <p:txBody>
          <a:bodyPr wrap="square" lIns="0" tIns="0" rIns="0" bIns="0" anchor="t">
            <a:noAutofit/>
          </a:bodyPr>
          <a:lstStyle/>
          <a:p>
            <a:pPr algn="ctr">
              <a:lnSpc>
                <a:spcPct val="100000"/>
              </a:lnSpc>
              <a:spcBef>
                <a:spcPts val="0"/>
              </a:spcBef>
              <a:spcAft>
                <a:spcPts val="500"/>
              </a:spcAft>
            </a:pPr>
            <a:r>
              <a:rPr sz="1500" b="1" i="0">
                <a:solidFill>
                  <a:srgbClr val="E11D48"/>
                </a:solidFill>
                <a:latin typeface="Times New Roman"/>
              </a:rPr>
              <a:t> </a:t>
            </a:r>
          </a:p>
          <a:p>
            <a:pPr algn="ctr">
              <a:lnSpc>
                <a:spcPct val="100000"/>
              </a:lnSpc>
              <a:spcBef>
                <a:spcPts val="0"/>
              </a:spcBef>
              <a:spcAft>
                <a:spcPts val="500"/>
              </a:spcAft>
            </a:pPr>
            <a:r>
              <a:rPr sz="1500" b="1" i="0">
                <a:solidFill>
                  <a:srgbClr val="E11D48"/>
                </a:solidFill>
                <a:latin typeface="Times New Roman"/>
              </a:rPr>
              <a:t> </a:t>
            </a:r>
          </a:p>
          <a:p>
            <a:pPr algn="l">
              <a:lnSpc>
                <a:spcPct val="108000"/>
              </a:lnSpc>
              <a:spcBef>
                <a:spcPts val="0"/>
              </a:spcBef>
              <a:spcAft>
                <a:spcPts val="300"/>
              </a:spcAft>
            </a:pPr>
            <a:r>
              <a:rPr sz="1300" b="1" i="0">
                <a:solidFill>
                  <a:srgbClr val="F0F0F5"/>
                </a:solidFill>
                <a:latin typeface="Times New Roman"/>
              </a:rPr>
              <a:t>In one line: earn as much as possible, never exceed the budget, never play a forbidden pair.</a:t>
            </a:r>
          </a:p>
        </p:txBody>
      </p:sp>
      <p:pic>
        <p:nvPicPr>
          <p:cNvPr id="72" name="Picture 71" descr="f_obj.png"/>
          <p:cNvPicPr>
            <a:picLocks noChangeAspect="1"/>
          </p:cNvPicPr>
          <p:nvPr/>
        </p:nvPicPr>
        <p:blipFill>
          <a:blip r:embed="rId3"/>
          <a:stretch>
            <a:fillRect/>
          </a:stretch>
        </p:blipFill>
        <p:spPr>
          <a:xfrm>
            <a:off x="4331803" y="4379976"/>
            <a:ext cx="3564664" cy="475488"/>
          </a:xfrm>
          <a:prstGeom prst="rect">
            <a:avLst/>
          </a:prstGeom>
        </p:spPr>
      </p:pic>
      <p:pic>
        <p:nvPicPr>
          <p:cNvPr id="73" name="Picture 72" descr="f_market.png"/>
          <p:cNvPicPr>
            <a:picLocks noChangeAspect="1"/>
          </p:cNvPicPr>
          <p:nvPr/>
        </p:nvPicPr>
        <p:blipFill>
          <a:blip r:embed="rId4"/>
          <a:stretch>
            <a:fillRect/>
          </a:stretch>
        </p:blipFill>
        <p:spPr>
          <a:xfrm>
            <a:off x="728129" y="3127248"/>
            <a:ext cx="3097454"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Conflict Graph</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Rule one, the graph: only conflict-free sets of campaigns can be played</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3/18</a:t>
            </a:r>
          </a:p>
        </p:txBody>
      </p:sp>
      <p:sp>
        <p:nvSpPr>
          <p:cNvPr id="58" name="Rectangle 57"/>
          <p:cNvSpPr/>
          <p:nvPr/>
        </p:nvSpPr>
        <p:spPr>
          <a:xfrm>
            <a:off x="502920" y="1207008"/>
            <a:ext cx="3545738" cy="17830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207008"/>
            <a:ext cx="32004" cy="17830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 y="1298448"/>
            <a:ext cx="3298850" cy="163677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01 • GRAPH</a:t>
            </a:r>
          </a:p>
          <a:p>
            <a:pPr algn="l">
              <a:lnSpc>
                <a:spcPct val="100000"/>
              </a:lnSpc>
              <a:spcBef>
                <a:spcPts val="0"/>
              </a:spcBef>
              <a:spcAft>
                <a:spcPts val="400"/>
              </a:spcAft>
            </a:pPr>
            <a:r>
              <a:rPr sz="1400" b="1" i="0">
                <a:solidFill>
                  <a:srgbClr val="F0F0F5"/>
                </a:solidFill>
                <a:latin typeface="Times New Roman"/>
              </a:rPr>
              <a:t>V = {0,1,2,3,4},  E = 5-cycle</a:t>
            </a:r>
          </a:p>
          <a:p>
            <a:pPr algn="l">
              <a:lnSpc>
                <a:spcPct val="108000"/>
              </a:lnSpc>
              <a:spcBef>
                <a:spcPts val="0"/>
              </a:spcBef>
              <a:spcAft>
                <a:spcPts val="0"/>
              </a:spcAft>
            </a:pPr>
            <a:r>
              <a:rPr sz="1200" b="0" i="0">
                <a:solidFill>
                  <a:srgbClr val="F0F0F5"/>
                </a:solidFill>
                <a:latin typeface="Times New Roman"/>
              </a:rPr>
              <a:t>Vertices are the campaigns; an edge joins two that cannot be served together. The five edges form a cycle 0-1-2-3-4-0, so each campaign conflicts with its two neighbours.</a:t>
            </a:r>
          </a:p>
        </p:txBody>
      </p:sp>
      <p:sp>
        <p:nvSpPr>
          <p:cNvPr id="61" name="Rectangle 60"/>
          <p:cNvSpPr/>
          <p:nvPr/>
        </p:nvSpPr>
        <p:spPr>
          <a:xfrm>
            <a:off x="4322978" y="1207008"/>
            <a:ext cx="3545738" cy="17830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322978" y="1207008"/>
            <a:ext cx="32004" cy="17830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460138" y="1298448"/>
            <a:ext cx="3298850" cy="163677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02 • FEASIBILITY</a:t>
            </a:r>
          </a:p>
          <a:p>
            <a:pPr algn="l">
              <a:lnSpc>
                <a:spcPct val="100000"/>
              </a:lnSpc>
              <a:spcBef>
                <a:spcPts val="0"/>
              </a:spcBef>
              <a:spcAft>
                <a:spcPts val="400"/>
              </a:spcAft>
            </a:pPr>
            <a:r>
              <a:rPr sz="1400" b="1" i="0">
                <a:solidFill>
                  <a:srgbClr val="F0F0F5"/>
                </a:solidFill>
                <a:latin typeface="Times New Roman"/>
              </a:rPr>
              <a:t>{i,j} ⊄ S  for every edge</a:t>
            </a:r>
          </a:p>
          <a:p>
            <a:pPr algn="l">
              <a:lnSpc>
                <a:spcPct val="108000"/>
              </a:lnSpc>
              <a:spcBef>
                <a:spcPts val="0"/>
              </a:spcBef>
              <a:spcAft>
                <a:spcPts val="0"/>
              </a:spcAft>
            </a:pPr>
            <a:r>
              <a:rPr sz="1200" b="0" i="0">
                <a:solidFill>
                  <a:srgbClr val="F0F0F5"/>
                </a:solidFill>
                <a:latin typeface="Times New Roman"/>
              </a:rPr>
              <a:t>A super-arm S is playable only if it is an independent set of the graph: it must contain no conflicting pair, for every edge (i,j) ∈ E.</a:t>
            </a:r>
          </a:p>
        </p:txBody>
      </p:sp>
      <p:sp>
        <p:nvSpPr>
          <p:cNvPr id="64" name="Rectangle 63"/>
          <p:cNvSpPr/>
          <p:nvPr/>
        </p:nvSpPr>
        <p:spPr>
          <a:xfrm>
            <a:off x="8143036" y="1207008"/>
            <a:ext cx="3545738" cy="17830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143036" y="1207008"/>
            <a:ext cx="32004" cy="17830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80196" y="1298448"/>
            <a:ext cx="3298850" cy="163677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03 • EFFECT</a:t>
            </a:r>
          </a:p>
          <a:p>
            <a:pPr algn="l">
              <a:lnSpc>
                <a:spcPct val="100000"/>
              </a:lnSpc>
              <a:spcBef>
                <a:spcPts val="0"/>
              </a:spcBef>
              <a:spcAft>
                <a:spcPts val="400"/>
              </a:spcAft>
            </a:pPr>
            <a:r>
              <a:rPr sz="1400" b="1" i="0">
                <a:solidFill>
                  <a:srgbClr val="F0F0F5"/>
                </a:solidFill>
                <a:latin typeface="Times New Roman"/>
              </a:rPr>
              <a:t>10 feasible super-arms</a:t>
            </a:r>
          </a:p>
          <a:p>
            <a:pPr algn="l">
              <a:lnSpc>
                <a:spcPct val="108000"/>
              </a:lnSpc>
              <a:spcBef>
                <a:spcPts val="0"/>
              </a:spcBef>
              <a:spcAft>
                <a:spcPts val="0"/>
              </a:spcAft>
            </a:pPr>
            <a:r>
              <a:rPr sz="1200" b="0" i="0">
                <a:solidFill>
                  <a:srgbClr val="F0F0F5"/>
                </a:solidFill>
                <a:latin typeface="Times New Roman"/>
              </a:rPr>
              <a:t>On a 5-cycle the independent sets are the 5 singletons plus the 5 non-adjacent pairs, so 10 non-empty super-arms remain feasible.</a:t>
            </a:r>
          </a:p>
        </p:txBody>
      </p:sp>
      <p:sp>
        <p:nvSpPr>
          <p:cNvPr id="67" name="Rectangle 66"/>
          <p:cNvSpPr/>
          <p:nvPr/>
        </p:nvSpPr>
        <p:spPr>
          <a:xfrm>
            <a:off x="502920" y="3264408"/>
            <a:ext cx="4474342" cy="242316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502920" y="3264408"/>
            <a:ext cx="32004" cy="242316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04088" y="4928616"/>
            <a:ext cx="4108582" cy="685800"/>
          </a:xfrm>
          <a:prstGeom prst="rect">
            <a:avLst/>
          </a:prstGeom>
          <a:noFill/>
        </p:spPr>
        <p:txBody>
          <a:bodyPr wrap="square" lIns="0" tIns="0" rIns="0" bIns="0" anchor="t">
            <a:noAutofit/>
          </a:bodyPr>
          <a:lstStyle/>
          <a:p>
            <a:pPr algn="l">
              <a:lnSpc>
                <a:spcPct val="105000"/>
              </a:lnSpc>
              <a:spcBef>
                <a:spcPts val="0"/>
              </a:spcBef>
              <a:spcAft>
                <a:spcPts val="300"/>
              </a:spcAft>
            </a:pPr>
            <a:r>
              <a:rPr sz="1200" b="0" i="0">
                <a:solidFill>
                  <a:srgbClr val="E11D48"/>
                </a:solidFill>
                <a:latin typeface="Times New Roman"/>
              </a:rPr>
              <a:t>Forbidden:</a:t>
            </a:r>
            <a:r>
              <a:rPr sz="1200" b="0" i="0">
                <a:solidFill>
                  <a:srgbClr val="F0F0F5"/>
                </a:solidFill>
                <a:latin typeface="Times New Roman"/>
              </a:rPr>
              <a:t> adjacent pairs (the 5 cycle edges)</a:t>
            </a:r>
          </a:p>
          <a:p>
            <a:pPr algn="l">
              <a:lnSpc>
                <a:spcPct val="105000"/>
              </a:lnSpc>
              <a:spcBef>
                <a:spcPts val="0"/>
              </a:spcBef>
              <a:spcAft>
                <a:spcPts val="0"/>
              </a:spcAft>
            </a:pPr>
            <a:r>
              <a:rPr sz="1200" b="0" i="0">
                <a:solidFill>
                  <a:srgbClr val="E11D48"/>
                </a:solidFill>
                <a:latin typeface="Times New Roman"/>
              </a:rPr>
              <a:t>Allowed:</a:t>
            </a:r>
            <a:r>
              <a:rPr sz="1200" b="0" i="0">
                <a:solidFill>
                  <a:srgbClr val="F0F0F5"/>
                </a:solidFill>
                <a:latin typeface="Times New Roman"/>
              </a:rPr>
              <a:t> ∅, 5 singletons, 5 non-adjacent pairs</a:t>
            </a:r>
          </a:p>
        </p:txBody>
      </p:sp>
      <p:sp>
        <p:nvSpPr>
          <p:cNvPr id="80" name="Rectangle 79"/>
          <p:cNvSpPr/>
          <p:nvPr/>
        </p:nvSpPr>
        <p:spPr>
          <a:xfrm>
            <a:off x="5251582" y="3264408"/>
            <a:ext cx="6437193" cy="242316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5251582" y="3264408"/>
            <a:ext cx="32004" cy="242316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5361310" y="3319272"/>
            <a:ext cx="6254313"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FEASIBLE (GREEN) VS BLOCKED (RED) SUPER-ARMS</a:t>
            </a:r>
          </a:p>
        </p:txBody>
      </p:sp>
      <p:pic>
        <p:nvPicPr>
          <p:cNvPr id="84" name="Picture 83" descr="c5_graph.png"/>
          <p:cNvPicPr>
            <a:picLocks noChangeAspect="1"/>
          </p:cNvPicPr>
          <p:nvPr/>
        </p:nvPicPr>
        <p:blipFill>
          <a:blip r:embed="rId3"/>
          <a:stretch>
            <a:fillRect/>
          </a:stretch>
        </p:blipFill>
        <p:spPr>
          <a:xfrm>
            <a:off x="1325880" y="3401568"/>
            <a:ext cx="2651760" cy="1463040"/>
          </a:xfrm>
          <a:prstGeom prst="rect">
            <a:avLst/>
          </a:prstGeom>
        </p:spPr>
      </p:pic>
      <p:pic>
        <p:nvPicPr>
          <p:cNvPr id="85" name="Picture 84" descr="c5_feasible.png"/>
          <p:cNvPicPr>
            <a:picLocks noChangeAspect="1"/>
          </p:cNvPicPr>
          <p:nvPr/>
        </p:nvPicPr>
        <p:blipFill>
          <a:blip r:embed="rId4"/>
          <a:stretch>
            <a:fillRect/>
          </a:stretch>
        </p:blipFill>
        <p:spPr>
          <a:xfrm>
            <a:off x="5653287" y="3575303"/>
            <a:ext cx="5633781" cy="2057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The Algorithm</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Our answer: learn at ARM level, decide at SUPER-ARM level</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5/18</a:t>
            </a:r>
          </a:p>
        </p:txBody>
      </p:sp>
      <p:sp>
        <p:nvSpPr>
          <p:cNvPr id="58" name="Rectangle 57"/>
          <p:cNvSpPr/>
          <p:nvPr/>
        </p:nvSpPr>
        <p:spPr>
          <a:xfrm>
            <a:off x="502920" y="1170432"/>
            <a:ext cx="2590723" cy="22402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70432"/>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 y="1261872"/>
            <a:ext cx="2343835" cy="209397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01 · WARM-UP (ROUNDS 1-55)</a:t>
            </a:r>
          </a:p>
          <a:p>
            <a:pPr algn="l">
              <a:lnSpc>
                <a:spcPct val="100000"/>
              </a:lnSpc>
              <a:spcBef>
                <a:spcPts val="0"/>
              </a:spcBef>
              <a:spcAft>
                <a:spcPts val="400"/>
              </a:spcAft>
            </a:pPr>
            <a:r>
              <a:rPr sz="1400" b="1" i="0">
                <a:solidFill>
                  <a:srgbClr val="F0F0F5"/>
                </a:solidFill>
                <a:latin typeface="Times New Roman"/>
              </a:rPr>
              <a:t>Arms play alone</a:t>
            </a:r>
          </a:p>
          <a:p>
            <a:pPr algn="l">
              <a:lnSpc>
                <a:spcPct val="108000"/>
              </a:lnSpc>
              <a:spcBef>
                <a:spcPts val="0"/>
              </a:spcBef>
              <a:spcAft>
                <a:spcPts val="0"/>
              </a:spcAft>
            </a:pPr>
            <a:r>
              <a:rPr sz="1200" b="0" i="0">
                <a:solidFill>
                  <a:srgbClr val="F0F0F5"/>
                </a:solidFill>
                <a:latin typeface="Times New Roman"/>
              </a:rPr>
              <a:t>Each of the 55 arms is played once, as a singleton, so every arm gets one real observation. No sets yet: this phase is pure arm level.</a:t>
            </a:r>
          </a:p>
        </p:txBody>
      </p:sp>
      <p:sp>
        <p:nvSpPr>
          <p:cNvPr id="61" name="Rectangle 60"/>
          <p:cNvSpPr/>
          <p:nvPr/>
        </p:nvSpPr>
        <p:spPr>
          <a:xfrm>
            <a:off x="3367963" y="1170432"/>
            <a:ext cx="2590723" cy="22402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3367963" y="1170432"/>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505123" y="1261872"/>
            <a:ext cx="2343835" cy="209397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02 · EACH ROUND · ARM LEVEL</a:t>
            </a:r>
          </a:p>
          <a:p>
            <a:pPr algn="l">
              <a:lnSpc>
                <a:spcPct val="100000"/>
              </a:lnSpc>
              <a:spcBef>
                <a:spcPts val="0"/>
              </a:spcBef>
              <a:spcAft>
                <a:spcPts val="400"/>
              </a:spcAft>
            </a:pPr>
            <a:r>
              <a:rPr sz="1400" b="1" i="0">
                <a:solidFill>
                  <a:srgbClr val="F0F0F5"/>
                </a:solidFill>
                <a:latin typeface="Times New Roman"/>
              </a:rPr>
              <a:t>Score every arm</a:t>
            </a:r>
          </a:p>
          <a:p>
            <a:pPr algn="l">
              <a:lnSpc>
                <a:spcPct val="108000"/>
              </a:lnSpc>
              <a:spcBef>
                <a:spcPts val="0"/>
              </a:spcBef>
              <a:spcAft>
                <a:spcPts val="0"/>
              </a:spcAft>
            </a:pPr>
            <a:r>
              <a:rPr sz="1200" b="0" i="0">
                <a:solidFill>
                  <a:srgbClr val="F0F0F5"/>
                </a:solidFill>
                <a:latin typeface="Times New Roman"/>
              </a:rPr>
              <a:t>Every arm gets two scores from its own history: UCB = average reward + w (optimistic) and LCB = average cost − w (careful). The bonus w shrinks as the arm is tried. Formulas below.</a:t>
            </a:r>
          </a:p>
        </p:txBody>
      </p:sp>
      <p:sp>
        <p:nvSpPr>
          <p:cNvPr id="64" name="Rectangle 63"/>
          <p:cNvSpPr/>
          <p:nvPr/>
        </p:nvSpPr>
        <p:spPr>
          <a:xfrm>
            <a:off x="6233007" y="1170432"/>
            <a:ext cx="2590723" cy="22402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33007" y="1170432"/>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370167" y="1261872"/>
            <a:ext cx="2343835" cy="209397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03 · EACH ROUND · SUPER-ARM LEVEL</a:t>
            </a:r>
          </a:p>
          <a:p>
            <a:pPr algn="l">
              <a:lnSpc>
                <a:spcPct val="100000"/>
              </a:lnSpc>
              <a:spcBef>
                <a:spcPts val="0"/>
              </a:spcBef>
              <a:spcAft>
                <a:spcPts val="400"/>
              </a:spcAft>
            </a:pPr>
            <a:r>
              <a:rPr sz="1400" b="1" i="0">
                <a:solidFill>
                  <a:srgbClr val="F0F0F5"/>
                </a:solidFill>
                <a:latin typeface="Times New Roman"/>
              </a:rPr>
              <a:t>Combine and play</a:t>
            </a:r>
          </a:p>
          <a:p>
            <a:pPr algn="l">
              <a:lnSpc>
                <a:spcPct val="108000"/>
              </a:lnSpc>
              <a:spcBef>
                <a:spcPts val="0"/>
              </a:spcBef>
              <a:spcAft>
                <a:spcPts val="0"/>
              </a:spcAft>
            </a:pPr>
            <a:r>
              <a:rPr sz="1200" b="0" i="0">
                <a:solidFill>
                  <a:srgbClr val="F0F0F5"/>
                </a:solidFill>
                <a:latin typeface="Times New Roman"/>
              </a:rPr>
              <a:t>Here the sets enter the game: every feasible set is scored by SUMMING the UCBs of its arms; sets failing the three budget checks are dropped; we play the argmax, usually a non-adjacent pair.</a:t>
            </a:r>
          </a:p>
        </p:txBody>
      </p:sp>
      <p:sp>
        <p:nvSpPr>
          <p:cNvPr id="67" name="Rectangle 66"/>
          <p:cNvSpPr/>
          <p:nvPr/>
        </p:nvSpPr>
        <p:spPr>
          <a:xfrm>
            <a:off x="9098051" y="1170432"/>
            <a:ext cx="2590723" cy="22402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9098051" y="1170432"/>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235211" y="1261872"/>
            <a:ext cx="2343835" cy="209397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04 · AFTER THE ROUND</a:t>
            </a:r>
          </a:p>
          <a:p>
            <a:pPr algn="l">
              <a:lnSpc>
                <a:spcPct val="100000"/>
              </a:lnSpc>
              <a:spcBef>
                <a:spcPts val="0"/>
              </a:spcBef>
              <a:spcAft>
                <a:spcPts val="400"/>
              </a:spcAft>
            </a:pPr>
            <a:r>
              <a:rPr sz="1400" b="1" i="0">
                <a:solidFill>
                  <a:srgbClr val="F0F0F5"/>
                </a:solidFill>
                <a:latin typeface="Times New Roman"/>
              </a:rPr>
              <a:t>Update the arms</a:t>
            </a:r>
          </a:p>
          <a:p>
            <a:pPr algn="l">
              <a:lnSpc>
                <a:spcPct val="108000"/>
              </a:lnSpc>
              <a:spcBef>
                <a:spcPts val="0"/>
              </a:spcBef>
              <a:spcAft>
                <a:spcPts val="0"/>
              </a:spcAft>
            </a:pPr>
            <a:r>
              <a:rPr sz="1200" b="0" i="0">
                <a:solidFill>
                  <a:srgbClr val="F0F0F5"/>
                </a:solidFill>
                <a:latin typeface="Times New Roman"/>
              </a:rPr>
              <a:t>We observe win/lose for each campaign played, never the rival bid (semi-bandit): untried bids teach us nothing, which is why we must explore. We update ONLY the played arms</a:t>
            </a:r>
          </a:p>
        </p:txBody>
      </p:sp>
      <p:sp>
        <p:nvSpPr>
          <p:cNvPr id="70" name="Rectangle 69"/>
          <p:cNvSpPr/>
          <p:nvPr/>
        </p:nvSpPr>
        <p:spPr>
          <a:xfrm>
            <a:off x="502920" y="3666744"/>
            <a:ext cx="5145493" cy="224028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502920" y="3666744"/>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12648" y="3721608"/>
            <a:ext cx="4962613"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CONFIDENCE WIDTH SHRINKS AS 1/√N(T)</a:t>
            </a:r>
          </a:p>
        </p:txBody>
      </p:sp>
      <p:pic>
        <p:nvPicPr>
          <p:cNvPr id="73" name="Picture 72" descr="ucb_intuition.png"/>
          <p:cNvPicPr>
            <a:picLocks noChangeAspect="1"/>
          </p:cNvPicPr>
          <p:nvPr/>
        </p:nvPicPr>
        <p:blipFill>
          <a:blip r:embed="rId3"/>
          <a:stretch>
            <a:fillRect/>
          </a:stretch>
        </p:blipFill>
        <p:spPr>
          <a:xfrm>
            <a:off x="1167969" y="3977640"/>
            <a:ext cx="3815394" cy="1874520"/>
          </a:xfrm>
          <a:prstGeom prst="rect">
            <a:avLst/>
          </a:prstGeom>
        </p:spPr>
      </p:pic>
      <p:sp>
        <p:nvSpPr>
          <p:cNvPr id="74" name="Rectangle 73"/>
          <p:cNvSpPr/>
          <p:nvPr/>
        </p:nvSpPr>
        <p:spPr>
          <a:xfrm>
            <a:off x="5922733" y="3666744"/>
            <a:ext cx="5766041" cy="1078992"/>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5922733" y="3666744"/>
            <a:ext cx="32004" cy="10789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069037" y="3739896"/>
            <a:ext cx="5510009"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REWARD INDEX (UPPER CONFIDENCE)</a:t>
            </a:r>
          </a:p>
        </p:txBody>
      </p:sp>
      <p:cxnSp>
        <p:nvCxnSpPr>
          <p:cNvPr id="77" name="Connector 76"/>
          <p:cNvCxnSpPr/>
          <p:nvPr/>
        </p:nvCxnSpPr>
        <p:spPr>
          <a:xfrm>
            <a:off x="6069037" y="3995928"/>
            <a:ext cx="5510010"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6069037" y="4069080"/>
            <a:ext cx="5510009" cy="603503"/>
          </a:xfrm>
          <a:prstGeom prst="rect">
            <a:avLst/>
          </a:prstGeom>
          <a:noFill/>
        </p:spPr>
        <p:txBody>
          <a:bodyPr wrap="square" lIns="0" tIns="0" rIns="0" bIns="0" anchor="t">
            <a:noAutofit/>
          </a:bodyPr>
          <a:lstStyle/>
          <a:p>
            <a:pPr algn="ctr">
              <a:lnSpc>
                <a:spcPct val="100000"/>
              </a:lnSpc>
              <a:spcBef>
                <a:spcPts val="200"/>
              </a:spcBef>
              <a:spcAft>
                <a:spcPts val="500"/>
              </a:spcAft>
            </a:pPr>
            <a:r>
              <a:rPr sz="1400" b="1" i="0" dirty="0">
                <a:solidFill>
                  <a:srgbClr val="E11D48"/>
                </a:solidFill>
                <a:latin typeface="Times New Roman"/>
              </a:rPr>
              <a:t> </a:t>
            </a:r>
          </a:p>
          <a:p>
            <a:pPr algn="ctr">
              <a:lnSpc>
                <a:spcPct val="100000"/>
              </a:lnSpc>
              <a:spcBef>
                <a:spcPts val="200"/>
              </a:spcBef>
              <a:spcAft>
                <a:spcPts val="500"/>
              </a:spcAft>
            </a:pPr>
            <a:r>
              <a:rPr sz="1400" b="1" i="0" dirty="0">
                <a:solidFill>
                  <a:srgbClr val="E11D48"/>
                </a:solidFill>
                <a:latin typeface="Times New Roman"/>
              </a:rPr>
              <a:t> </a:t>
            </a:r>
            <a:r>
              <a:rPr sz="1200" b="0" i="0" dirty="0">
                <a:solidFill>
                  <a:srgbClr val="F0F0F5"/>
                </a:solidFill>
                <a:latin typeface="Times New Roman"/>
              </a:rPr>
              <a:t>Optimism makes the learner explore under-sampled but potentially profitable arms.</a:t>
            </a:r>
          </a:p>
        </p:txBody>
      </p:sp>
      <p:sp>
        <p:nvSpPr>
          <p:cNvPr id="79" name="Rectangle 78"/>
          <p:cNvSpPr/>
          <p:nvPr/>
        </p:nvSpPr>
        <p:spPr>
          <a:xfrm>
            <a:off x="5922733" y="4828032"/>
            <a:ext cx="5766041" cy="1078992"/>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5922733" y="4828032"/>
            <a:ext cx="32004" cy="10789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069037" y="4901184"/>
            <a:ext cx="5510009"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COST INDEX (LOWER CONFIDENCE)</a:t>
            </a:r>
          </a:p>
        </p:txBody>
      </p:sp>
      <p:cxnSp>
        <p:nvCxnSpPr>
          <p:cNvPr id="82" name="Connector 81"/>
          <p:cNvCxnSpPr/>
          <p:nvPr/>
        </p:nvCxnSpPr>
        <p:spPr>
          <a:xfrm>
            <a:off x="6069037" y="5157216"/>
            <a:ext cx="5510010"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6069037" y="5303520"/>
            <a:ext cx="5510009" cy="530351"/>
          </a:xfrm>
          <a:prstGeom prst="rect">
            <a:avLst/>
          </a:prstGeom>
          <a:noFill/>
        </p:spPr>
        <p:txBody>
          <a:bodyPr wrap="square" lIns="0" tIns="0" rIns="0" bIns="0" anchor="t">
            <a:noAutofit/>
          </a:bodyPr>
          <a:lstStyle/>
          <a:p>
            <a:pPr algn="ctr">
              <a:lnSpc>
                <a:spcPct val="100000"/>
              </a:lnSpc>
              <a:spcBef>
                <a:spcPts val="200"/>
              </a:spcBef>
              <a:spcAft>
                <a:spcPts val="500"/>
              </a:spcAft>
            </a:pPr>
            <a:r>
              <a:rPr sz="1400" b="1" i="0" dirty="0">
                <a:solidFill>
                  <a:srgbClr val="E11D48"/>
                </a:solidFill>
                <a:latin typeface="Times New Roman"/>
              </a:rPr>
              <a:t> </a:t>
            </a:r>
          </a:p>
          <a:p>
            <a:pPr algn="ctr">
              <a:lnSpc>
                <a:spcPct val="100000"/>
              </a:lnSpc>
              <a:spcBef>
                <a:spcPts val="200"/>
              </a:spcBef>
              <a:spcAft>
                <a:spcPts val="500"/>
              </a:spcAft>
            </a:pPr>
            <a:r>
              <a:rPr sz="1400" b="1" i="0" dirty="0">
                <a:solidFill>
                  <a:srgbClr val="E11D48"/>
                </a:solidFill>
                <a:latin typeface="Times New Roman"/>
              </a:rPr>
              <a:t> </a:t>
            </a:r>
            <a:r>
              <a:rPr sz="1200" b="0" i="0" dirty="0">
                <a:solidFill>
                  <a:srgbClr val="F0F0F5"/>
                </a:solidFill>
                <a:latin typeface="Times New Roman"/>
              </a:rPr>
              <a:t>Pessimism on cost stops a few lucky cheap rounds from fooling the budget filters.</a:t>
            </a:r>
          </a:p>
        </p:txBody>
      </p:sp>
      <p:pic>
        <p:nvPicPr>
          <p:cNvPr id="84" name="Picture 83" descr="f_ucb.png"/>
          <p:cNvPicPr>
            <a:picLocks noChangeAspect="1"/>
          </p:cNvPicPr>
          <p:nvPr/>
        </p:nvPicPr>
        <p:blipFill>
          <a:blip r:embed="rId4"/>
          <a:stretch>
            <a:fillRect/>
          </a:stretch>
        </p:blipFill>
        <p:spPr>
          <a:xfrm>
            <a:off x="7771857" y="3998977"/>
            <a:ext cx="2104368" cy="420624"/>
          </a:xfrm>
          <a:prstGeom prst="rect">
            <a:avLst/>
          </a:prstGeom>
        </p:spPr>
      </p:pic>
      <p:pic>
        <p:nvPicPr>
          <p:cNvPr id="85" name="Picture 84" descr="f_lcb.png"/>
          <p:cNvPicPr>
            <a:picLocks noChangeAspect="1"/>
          </p:cNvPicPr>
          <p:nvPr/>
        </p:nvPicPr>
        <p:blipFill>
          <a:blip r:embed="rId5"/>
          <a:stretch>
            <a:fillRect/>
          </a:stretch>
        </p:blipFill>
        <p:spPr>
          <a:xfrm>
            <a:off x="7451709" y="5219395"/>
            <a:ext cx="2744665" cy="4206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Clairvoyant &amp; Regret</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The yardstick: the best mixed policy that fits the budget rate</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4/18</a:t>
            </a:r>
          </a:p>
        </p:txBody>
      </p:sp>
      <p:sp>
        <p:nvSpPr>
          <p:cNvPr id="58" name="Rectangle 57"/>
          <p:cNvSpPr/>
          <p:nvPr/>
        </p:nvSpPr>
        <p:spPr>
          <a:xfrm>
            <a:off x="502920"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9224"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1 · FULL KNOWLEDGE</a:t>
            </a:r>
          </a:p>
        </p:txBody>
      </p:sp>
      <p:cxnSp>
        <p:nvCxnSpPr>
          <p:cNvPr id="61" name="Connector 60"/>
          <p:cNvCxnSpPr/>
          <p:nvPr/>
        </p:nvCxnSpPr>
        <p:spPr>
          <a:xfrm>
            <a:off x="649224"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9224"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The clairvoyant knows the true market distribution, so for every (campaign, bid) it computes the exact expected reward (v − b) · p(b) and cost b · p(b): it is handed the table the learner must estimate from wins and losses.</a:t>
            </a:r>
          </a:p>
        </p:txBody>
      </p:sp>
      <p:sp>
        <p:nvSpPr>
          <p:cNvPr id="63" name="Rectangle 62"/>
          <p:cNvSpPr/>
          <p:nvPr/>
        </p:nvSpPr>
        <p:spPr>
          <a:xfrm>
            <a:off x="4322978"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322978"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469282"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2 · LINEAR PROGRAM</a:t>
            </a:r>
          </a:p>
        </p:txBody>
      </p:sp>
      <p:cxnSp>
        <p:nvCxnSpPr>
          <p:cNvPr id="66" name="Connector 65"/>
          <p:cNvCxnSpPr/>
          <p:nvPr/>
        </p:nvCxnSpPr>
        <p:spPr>
          <a:xfrm>
            <a:off x="4469282"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469282"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The variables x(S) form a distribution over feasible super-arms: the LP finds the best mix whose expected per-round cost stays within ρ = B/T = 0.85, so expensive rounds can be balanced by cheap ones.</a:t>
            </a:r>
          </a:p>
        </p:txBody>
      </p:sp>
      <p:sp>
        <p:nvSpPr>
          <p:cNvPr id="68" name="Rectangle 67"/>
          <p:cNvSpPr/>
          <p:nvPr/>
        </p:nvSpPr>
        <p:spPr>
          <a:xfrm>
            <a:off x="8143036"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143036"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89340"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3 · VALUE</a:t>
            </a:r>
          </a:p>
        </p:txBody>
      </p:sp>
      <p:cxnSp>
        <p:nvCxnSpPr>
          <p:cNvPr id="71" name="Connector 70"/>
          <p:cNvCxnSpPr/>
          <p:nvPr/>
        </p:nvCxnSpPr>
        <p:spPr>
          <a:xfrm>
            <a:off x="8289340" y="1517904"/>
            <a:ext cx="3289707"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289340"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OPT = 0.705 per round</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The best fixed super-arm within the cap reaches 0.65 (the cheapest pair {0,2}). The 0.053 difference is the value of mixing: a structural gap that no policy playing one super-arm per round can close.</a:t>
            </a:r>
          </a:p>
        </p:txBody>
      </p:sp>
      <p:sp>
        <p:nvSpPr>
          <p:cNvPr id="73" name="Rectangle 72"/>
          <p:cNvSpPr/>
          <p:nvPr/>
        </p:nvSpPr>
        <p:spPr>
          <a:xfrm>
            <a:off x="502920" y="3840480"/>
            <a:ext cx="11185855" cy="141732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02920" y="3840480"/>
            <a:ext cx="45720"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67512" y="3913632"/>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PSEUDO-REGRET</a:t>
            </a:r>
          </a:p>
        </p:txBody>
      </p:sp>
      <p:cxnSp>
        <p:nvCxnSpPr>
          <p:cNvPr id="76" name="Connector 75"/>
          <p:cNvCxnSpPr/>
          <p:nvPr/>
        </p:nvCxnSpPr>
        <p:spPr>
          <a:xfrm>
            <a:off x="667512" y="4169664"/>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7512" y="4261104"/>
            <a:ext cx="10893247" cy="923544"/>
          </a:xfrm>
          <a:prstGeom prst="rect">
            <a:avLst/>
          </a:prstGeom>
          <a:noFill/>
        </p:spPr>
        <p:txBody>
          <a:bodyPr wrap="square" lIns="0" tIns="0" rIns="0" bIns="0" anchor="t">
            <a:noAutofit/>
          </a:bodyPr>
          <a:lstStyle/>
          <a:p>
            <a:pPr algn="ctr">
              <a:lnSpc>
                <a:spcPct val="100000"/>
              </a:lnSpc>
              <a:spcBef>
                <a:spcPts val="0"/>
              </a:spcBef>
              <a:spcAft>
                <a:spcPts val="500"/>
              </a:spcAft>
            </a:pPr>
            <a:r>
              <a:rPr sz="1500" b="1" i="0">
                <a:solidFill>
                  <a:srgbClr val="E11D48"/>
                </a:solidFill>
                <a:latin typeface="Times New Roman"/>
              </a:rPr>
              <a:t> </a:t>
            </a:r>
          </a:p>
          <a:p>
            <a:pPr algn="ctr">
              <a:lnSpc>
                <a:spcPct val="100000"/>
              </a:lnSpc>
              <a:spcBef>
                <a:spcPts val="0"/>
              </a:spcBef>
              <a:spcAft>
                <a:spcPts val="500"/>
              </a:spcAft>
            </a:pPr>
            <a:r>
              <a:rPr sz="1500" b="1" i="0">
                <a:solidFill>
                  <a:srgbClr val="E11D48"/>
                </a:solidFill>
                <a:latin typeface="Times New Roman"/>
              </a:rPr>
              <a:t> </a:t>
            </a:r>
          </a:p>
          <a:p>
            <a:pPr algn="l">
              <a:lnSpc>
                <a:spcPct val="108000"/>
              </a:lnSpc>
              <a:spcBef>
                <a:spcPts val="0"/>
              </a:spcBef>
              <a:spcAft>
                <a:spcPts val="300"/>
              </a:spcAft>
            </a:pPr>
            <a:r>
              <a:rPr sz="1300" b="1" i="0">
                <a:solidFill>
                  <a:srgbClr val="F0F0F5"/>
                </a:solidFill>
                <a:latin typeface="Times New Roman"/>
              </a:rPr>
              <a:t>The comparator r★ = OPTˢ is the per-round optimum of the budgeted problem (Bandits with Knapsacks). The pseudo-regret is measured on expected rewards, so it is non-negative and monotone non-decreasing: sub-linear growth means the learner is converging.</a:t>
            </a:r>
          </a:p>
        </p:txBody>
      </p:sp>
      <p:pic>
        <p:nvPicPr>
          <p:cNvPr id="78" name="Picture 77" descr="f_winprob.png"/>
          <p:cNvPicPr>
            <a:picLocks noChangeAspect="1"/>
          </p:cNvPicPr>
          <p:nvPr/>
        </p:nvPicPr>
        <p:blipFill>
          <a:blip r:embed="rId3"/>
          <a:stretch>
            <a:fillRect/>
          </a:stretch>
        </p:blipFill>
        <p:spPr>
          <a:xfrm>
            <a:off x="562309" y="1636776"/>
            <a:ext cx="3463536" cy="274320"/>
          </a:xfrm>
          <a:prstGeom prst="rect">
            <a:avLst/>
          </a:prstGeom>
        </p:spPr>
      </p:pic>
      <p:pic>
        <p:nvPicPr>
          <p:cNvPr id="79" name="Picture 78" descr="f_lp.png"/>
          <p:cNvPicPr>
            <a:picLocks noChangeAspect="1"/>
          </p:cNvPicPr>
          <p:nvPr/>
        </p:nvPicPr>
        <p:blipFill>
          <a:blip r:embed="rId4"/>
          <a:stretch>
            <a:fillRect/>
          </a:stretch>
        </p:blipFill>
        <p:spPr>
          <a:xfrm>
            <a:off x="4743791" y="1618488"/>
            <a:ext cx="2740688" cy="310896"/>
          </a:xfrm>
          <a:prstGeom prst="rect">
            <a:avLst/>
          </a:prstGeom>
        </p:spPr>
      </p:pic>
      <p:pic>
        <p:nvPicPr>
          <p:cNvPr id="80" name="Picture 79" descr="f_regret.png"/>
          <p:cNvPicPr>
            <a:picLocks noChangeAspect="1"/>
          </p:cNvPicPr>
          <p:nvPr/>
        </p:nvPicPr>
        <p:blipFill>
          <a:blip r:embed="rId5"/>
          <a:stretch>
            <a:fillRect/>
          </a:stretch>
        </p:blipFill>
        <p:spPr>
          <a:xfrm>
            <a:off x="5292728" y="4297680"/>
            <a:ext cx="1642814" cy="4206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Results</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The verdict: sub-linear regret, and a hard cap never crossed</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6/18</a:t>
            </a:r>
          </a:p>
        </p:txBody>
      </p:sp>
      <p:sp>
        <p:nvSpPr>
          <p:cNvPr id="58" name="Rectangle 57"/>
          <p:cNvSpPr/>
          <p:nvPr/>
        </p:nvSpPr>
        <p:spPr>
          <a:xfrm>
            <a:off x="502920" y="1170432"/>
            <a:ext cx="5455767" cy="3429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70432"/>
            <a:ext cx="32004" cy="3429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1225296"/>
            <a:ext cx="5272887"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CUMULATIVE PSEUDO-REGRET VS CLAIRVOYANT (LP)</a:t>
            </a:r>
          </a:p>
        </p:txBody>
      </p:sp>
      <p:sp>
        <p:nvSpPr>
          <p:cNvPr id="62" name="Rectangle 61"/>
          <p:cNvSpPr/>
          <p:nvPr/>
        </p:nvSpPr>
        <p:spPr>
          <a:xfrm>
            <a:off x="6233007" y="1170432"/>
            <a:ext cx="5455767" cy="3429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233007" y="1170432"/>
            <a:ext cx="32004" cy="3429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342735" y="1225296"/>
            <a:ext cx="5272887"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BUDGET REMAINING OVER TIME</a:t>
            </a:r>
          </a:p>
        </p:txBody>
      </p:sp>
      <p:sp>
        <p:nvSpPr>
          <p:cNvPr id="66" name="Rectangle 65"/>
          <p:cNvSpPr/>
          <p:nvPr/>
        </p:nvSpPr>
        <p:spPr>
          <a:xfrm>
            <a:off x="502920" y="4782312"/>
            <a:ext cx="11185855" cy="94366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02919" y="4782312"/>
            <a:ext cx="53035" cy="94366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67512" y="4855464"/>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READING</a:t>
            </a:r>
          </a:p>
        </p:txBody>
      </p:sp>
      <p:cxnSp>
        <p:nvCxnSpPr>
          <p:cNvPr id="69" name="Connector 68"/>
          <p:cNvCxnSpPr/>
          <p:nvPr/>
        </p:nvCxnSpPr>
        <p:spPr>
          <a:xfrm>
            <a:off x="667512" y="5111496"/>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67512" y="5202936"/>
            <a:ext cx="10893247" cy="694944"/>
          </a:xfrm>
          <a:prstGeom prst="rect">
            <a:avLst/>
          </a:prstGeom>
          <a:noFill/>
        </p:spPr>
        <p:txBody>
          <a:bodyPr wrap="square" lIns="0" tIns="0" rIns="0" bIns="0" anchor="t">
            <a:noAutofit/>
          </a:bodyPr>
          <a:lstStyle/>
          <a:p>
            <a:pPr algn="l">
              <a:lnSpc>
                <a:spcPct val="108000"/>
              </a:lnSpc>
              <a:spcBef>
                <a:spcPts val="0"/>
              </a:spcBef>
              <a:spcAft>
                <a:spcPts val="300"/>
              </a:spcAft>
            </a:pPr>
            <a:r>
              <a:rPr sz="1250" b="1" i="0" dirty="0">
                <a:solidFill>
                  <a:srgbClr val="F0F0F5"/>
                </a:solidFill>
                <a:latin typeface="Times New Roman"/>
              </a:rPr>
              <a:t>Left: the regret ends at 296.7 ± 3.0 and grows sub-linearly: steep while exploring, then it flattens as the arms are learned. Right: the budget falls smoothly to 1.9 unused out of 850, and the hard cap is never crossed on any of the 20 seeds. Final reward 405.3 ± 6.9. Req2 is the stochastic baseline that Requirements 3 and 4 build on.</a:t>
            </a:r>
          </a:p>
        </p:txBody>
      </p:sp>
      <p:pic>
        <p:nvPicPr>
          <p:cNvPr id="73" name="Picture 72" descr="req2_cumulative_regret.png"/>
          <p:cNvPicPr>
            <a:picLocks noChangeAspect="1"/>
          </p:cNvPicPr>
          <p:nvPr/>
        </p:nvPicPr>
        <p:blipFill>
          <a:blip r:embed="rId2"/>
          <a:stretch>
            <a:fillRect/>
          </a:stretch>
        </p:blipFill>
        <p:spPr>
          <a:xfrm>
            <a:off x="678103" y="1481328"/>
            <a:ext cx="5105400" cy="3063240"/>
          </a:xfrm>
          <a:prstGeom prst="rect">
            <a:avLst/>
          </a:prstGeom>
        </p:spPr>
      </p:pic>
      <p:pic>
        <p:nvPicPr>
          <p:cNvPr id="74" name="Picture 73" descr="req2_budget_left.png"/>
          <p:cNvPicPr>
            <a:picLocks noChangeAspect="1"/>
          </p:cNvPicPr>
          <p:nvPr/>
        </p:nvPicPr>
        <p:blipFill>
          <a:blip r:embed="rId3"/>
          <a:stretch>
            <a:fillRect/>
          </a:stretch>
        </p:blipFill>
        <p:spPr>
          <a:xfrm>
            <a:off x="6408191" y="1481328"/>
            <a:ext cx="5105400" cy="3063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832"/>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Auction mechanics</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Rule two, the auction: first-price, and we only observe win or lose (semi-bandit)</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7/18</a:t>
            </a:r>
          </a:p>
        </p:txBody>
      </p:sp>
      <p:sp>
        <p:nvSpPr>
          <p:cNvPr id="58" name="Rectangle 57"/>
          <p:cNvSpPr/>
          <p:nvPr/>
        </p:nvSpPr>
        <p:spPr>
          <a:xfrm>
            <a:off x="609447" y="1188720"/>
            <a:ext cx="2331720" cy="960120"/>
          </a:xfrm>
          <a:prstGeom prst="rect">
            <a:avLst/>
          </a:prstGeom>
          <a:solidFill>
            <a:srgbClr val="18181F"/>
          </a:solidFill>
          <a:ln w="1016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609447" y="1188720"/>
            <a:ext cx="32004" cy="9601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00887" y="1188720"/>
            <a:ext cx="2167127" cy="960120"/>
          </a:xfrm>
          <a:prstGeom prst="rect">
            <a:avLst/>
          </a:prstGeom>
          <a:noFill/>
        </p:spPr>
        <p:txBody>
          <a:bodyPr wrap="square" lIns="0" tIns="0" rIns="0" bIns="0" anchor="ctr">
            <a:noAutofit/>
          </a:bodyPr>
          <a:lstStyle/>
          <a:p>
            <a:pPr algn="ctr">
              <a:lnSpc>
                <a:spcPct val="100000"/>
              </a:lnSpc>
              <a:spcBef>
                <a:spcPts val="0"/>
              </a:spcBef>
              <a:spcAft>
                <a:spcPts val="200"/>
              </a:spcAft>
            </a:pPr>
            <a:r>
              <a:rPr sz="1400" b="1" i="0">
                <a:solidFill>
                  <a:srgbClr val="F0F0F5"/>
                </a:solidFill>
                <a:latin typeface="Times New Roman"/>
              </a:rPr>
              <a:t>1 · CHOOSE</a:t>
            </a:r>
          </a:p>
          <a:p>
            <a:pPr algn="ctr">
              <a:lnSpc>
                <a:spcPct val="100000"/>
              </a:lnSpc>
              <a:spcBef>
                <a:spcPts val="0"/>
              </a:spcBef>
              <a:spcAft>
                <a:spcPts val="0"/>
              </a:spcAft>
            </a:pPr>
            <a:r>
              <a:rPr sz="1200" b="0" i="0">
                <a:solidFill>
                  <a:srgbClr val="E11D48"/>
                </a:solidFill>
                <a:latin typeface="Times New Roman"/>
              </a:rPr>
              <a:t>sum UCBs, pick best set</a:t>
            </a:r>
          </a:p>
        </p:txBody>
      </p:sp>
      <p:sp>
        <p:nvSpPr>
          <p:cNvPr id="61" name="Rectangle 60"/>
          <p:cNvSpPr/>
          <p:nvPr/>
        </p:nvSpPr>
        <p:spPr>
          <a:xfrm>
            <a:off x="3489807" y="1188720"/>
            <a:ext cx="2331720" cy="960120"/>
          </a:xfrm>
          <a:prstGeom prst="rect">
            <a:avLst/>
          </a:prstGeom>
          <a:solidFill>
            <a:srgbClr val="18181F"/>
          </a:solidFill>
          <a:ln w="1016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3489807" y="1188720"/>
            <a:ext cx="32004" cy="9601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581247" y="1188720"/>
            <a:ext cx="2167127" cy="960120"/>
          </a:xfrm>
          <a:prstGeom prst="rect">
            <a:avLst/>
          </a:prstGeom>
          <a:noFill/>
        </p:spPr>
        <p:txBody>
          <a:bodyPr wrap="square" lIns="0" tIns="0" rIns="0" bIns="0" anchor="ctr">
            <a:noAutofit/>
          </a:bodyPr>
          <a:lstStyle/>
          <a:p>
            <a:pPr algn="ctr">
              <a:lnSpc>
                <a:spcPct val="100000"/>
              </a:lnSpc>
              <a:spcBef>
                <a:spcPts val="0"/>
              </a:spcBef>
              <a:spcAft>
                <a:spcPts val="200"/>
              </a:spcAft>
            </a:pPr>
            <a:r>
              <a:rPr sz="1400" b="1" i="0">
                <a:solidFill>
                  <a:srgbClr val="F0F0F5"/>
                </a:solidFill>
                <a:latin typeface="Times New Roman"/>
              </a:rPr>
              <a:t>2 · MARKET</a:t>
            </a:r>
          </a:p>
          <a:p>
            <a:pPr algn="ctr">
              <a:lnSpc>
                <a:spcPct val="100000"/>
              </a:lnSpc>
              <a:spcBef>
                <a:spcPts val="0"/>
              </a:spcBef>
              <a:spcAft>
                <a:spcPts val="0"/>
              </a:spcAft>
            </a:pPr>
            <a:r>
              <a:rPr sz="1200" b="0" i="0">
                <a:solidFill>
                  <a:srgbClr val="E11D48"/>
                </a:solidFill>
                <a:latin typeface="Times New Roman"/>
              </a:rPr>
              <a:t>rivals sample bids</a:t>
            </a:r>
          </a:p>
        </p:txBody>
      </p:sp>
      <p:sp>
        <p:nvSpPr>
          <p:cNvPr id="64" name="Rectangle 63"/>
          <p:cNvSpPr/>
          <p:nvPr/>
        </p:nvSpPr>
        <p:spPr>
          <a:xfrm>
            <a:off x="6370167" y="1188720"/>
            <a:ext cx="2331720" cy="960120"/>
          </a:xfrm>
          <a:prstGeom prst="rect">
            <a:avLst/>
          </a:prstGeom>
          <a:solidFill>
            <a:srgbClr val="18181F"/>
          </a:solidFill>
          <a:ln w="1016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370167" y="1188720"/>
            <a:ext cx="32004" cy="9601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61607" y="1188720"/>
            <a:ext cx="2167127" cy="960120"/>
          </a:xfrm>
          <a:prstGeom prst="rect">
            <a:avLst/>
          </a:prstGeom>
          <a:noFill/>
        </p:spPr>
        <p:txBody>
          <a:bodyPr wrap="square" lIns="0" tIns="0" rIns="0" bIns="0" anchor="ctr">
            <a:noAutofit/>
          </a:bodyPr>
          <a:lstStyle/>
          <a:p>
            <a:pPr algn="ctr">
              <a:lnSpc>
                <a:spcPct val="100000"/>
              </a:lnSpc>
              <a:spcBef>
                <a:spcPts val="0"/>
              </a:spcBef>
              <a:spcAft>
                <a:spcPts val="200"/>
              </a:spcAft>
            </a:pPr>
            <a:r>
              <a:rPr sz="1400" b="1" i="0">
                <a:solidFill>
                  <a:srgbClr val="F0F0F5"/>
                </a:solidFill>
                <a:latin typeface="Times New Roman"/>
              </a:rPr>
              <a:t>3 · OUTCOME</a:t>
            </a:r>
          </a:p>
          <a:p>
            <a:pPr algn="ctr">
              <a:lnSpc>
                <a:spcPct val="100000"/>
              </a:lnSpc>
              <a:spcBef>
                <a:spcPts val="0"/>
              </a:spcBef>
              <a:spcAft>
                <a:spcPts val="0"/>
              </a:spcAft>
            </a:pPr>
            <a:r>
              <a:rPr sz="1200" b="0" i="0">
                <a:solidFill>
                  <a:srgbClr val="E11D48"/>
                </a:solidFill>
                <a:latin typeface="Times New Roman"/>
              </a:rPr>
              <a:t>win if bid ≥ rival</a:t>
            </a:r>
          </a:p>
        </p:txBody>
      </p:sp>
      <p:sp>
        <p:nvSpPr>
          <p:cNvPr id="67" name="Rectangle 66"/>
          <p:cNvSpPr/>
          <p:nvPr/>
        </p:nvSpPr>
        <p:spPr>
          <a:xfrm>
            <a:off x="9250527" y="1188720"/>
            <a:ext cx="2331720" cy="960120"/>
          </a:xfrm>
          <a:prstGeom prst="rect">
            <a:avLst/>
          </a:prstGeom>
          <a:solidFill>
            <a:srgbClr val="18181F"/>
          </a:solidFill>
          <a:ln w="1016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9250527" y="1188720"/>
            <a:ext cx="32004" cy="9601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341967" y="1188720"/>
            <a:ext cx="2167127" cy="960120"/>
          </a:xfrm>
          <a:prstGeom prst="rect">
            <a:avLst/>
          </a:prstGeom>
          <a:noFill/>
        </p:spPr>
        <p:txBody>
          <a:bodyPr wrap="square" lIns="0" tIns="0" rIns="0" bIns="0" anchor="ctr">
            <a:noAutofit/>
          </a:bodyPr>
          <a:lstStyle/>
          <a:p>
            <a:pPr algn="ctr">
              <a:lnSpc>
                <a:spcPct val="100000"/>
              </a:lnSpc>
              <a:spcBef>
                <a:spcPts val="0"/>
              </a:spcBef>
              <a:spcAft>
                <a:spcPts val="200"/>
              </a:spcAft>
            </a:pPr>
            <a:r>
              <a:rPr sz="1400" b="1" i="0">
                <a:solidFill>
                  <a:srgbClr val="F0F0F5"/>
                </a:solidFill>
                <a:latin typeface="Times New Roman"/>
              </a:rPr>
              <a:t>4 · UPDATE</a:t>
            </a:r>
          </a:p>
          <a:p>
            <a:pPr algn="ctr">
              <a:lnSpc>
                <a:spcPct val="100000"/>
              </a:lnSpc>
              <a:spcBef>
                <a:spcPts val="0"/>
              </a:spcBef>
              <a:spcAft>
                <a:spcPts val="0"/>
              </a:spcAft>
            </a:pPr>
            <a:r>
              <a:rPr sz="1200" b="0" i="0">
                <a:solidFill>
                  <a:srgbClr val="E11D48"/>
                </a:solidFill>
                <a:latin typeface="Times New Roman"/>
              </a:rPr>
              <a:t>refresh played arms</a:t>
            </a:r>
          </a:p>
        </p:txBody>
      </p:sp>
      <p:cxnSp>
        <p:nvCxnSpPr>
          <p:cNvPr id="70" name="Connector 69"/>
          <p:cNvCxnSpPr/>
          <p:nvPr/>
        </p:nvCxnSpPr>
        <p:spPr>
          <a:xfrm>
            <a:off x="2941167" y="1668780"/>
            <a:ext cx="548640" cy="0"/>
          </a:xfrm>
          <a:prstGeom prst="bentConnector3">
            <a:avLst/>
          </a:prstGeom>
          <a:ln w="1778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1" name="Isosceles Triangle 70"/>
          <p:cNvSpPr/>
          <p:nvPr/>
        </p:nvSpPr>
        <p:spPr>
          <a:xfrm rot="5400000">
            <a:off x="3352647" y="1600200"/>
            <a:ext cx="137160" cy="137160"/>
          </a:xfrm>
          <a:prstGeom prst="triangl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a:off x="5821527" y="1668780"/>
            <a:ext cx="548640" cy="0"/>
          </a:xfrm>
          <a:prstGeom prst="bentConnector3">
            <a:avLst/>
          </a:prstGeom>
          <a:ln w="1778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3" name="Isosceles Triangle 72"/>
          <p:cNvSpPr/>
          <p:nvPr/>
        </p:nvSpPr>
        <p:spPr>
          <a:xfrm rot="5400000">
            <a:off x="6233007" y="1600200"/>
            <a:ext cx="137160" cy="137160"/>
          </a:xfrm>
          <a:prstGeom prst="triangl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a:off x="8701887" y="1668780"/>
            <a:ext cx="548640" cy="0"/>
          </a:xfrm>
          <a:prstGeom prst="bentConnector3">
            <a:avLst/>
          </a:prstGeom>
          <a:ln w="1778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5" name="Isosceles Triangle 74"/>
          <p:cNvSpPr/>
          <p:nvPr/>
        </p:nvSpPr>
        <p:spPr>
          <a:xfrm rot="5400000">
            <a:off x="9113367" y="1600200"/>
            <a:ext cx="137160" cy="137160"/>
          </a:xfrm>
          <a:prstGeom prst="triangl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502920" y="2606040"/>
            <a:ext cx="4138766" cy="274320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502920" y="2606040"/>
            <a:ext cx="45720" cy="27432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67512" y="2679192"/>
            <a:ext cx="3846158"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THE ROUND, STEP BY STEP</a:t>
            </a:r>
          </a:p>
        </p:txBody>
      </p:sp>
      <p:cxnSp>
        <p:nvCxnSpPr>
          <p:cNvPr id="79" name="Connector 78"/>
          <p:cNvCxnSpPr/>
          <p:nvPr/>
        </p:nvCxnSpPr>
        <p:spPr>
          <a:xfrm>
            <a:off x="667512" y="2935224"/>
            <a:ext cx="3846158"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67512" y="3026664"/>
            <a:ext cx="3846158" cy="2249424"/>
          </a:xfrm>
          <a:prstGeom prst="rect">
            <a:avLst/>
          </a:prstGeom>
          <a:noFill/>
        </p:spPr>
        <p:txBody>
          <a:bodyPr wrap="square" lIns="0" tIns="0" rIns="0" bIns="0" anchor="t">
            <a:noAutofit/>
          </a:bodyPr>
          <a:lstStyle/>
          <a:p>
            <a:pPr algn="l">
              <a:lnSpc>
                <a:spcPct val="108000"/>
              </a:lnSpc>
              <a:spcBef>
                <a:spcPts val="0"/>
              </a:spcBef>
              <a:spcAft>
                <a:spcPts val="300"/>
              </a:spcAft>
            </a:pPr>
            <a:r>
              <a:rPr sz="1250" b="1" i="0" dirty="0">
                <a:solidFill>
                  <a:srgbClr val="F0F0F5"/>
                </a:solidFill>
                <a:latin typeface="Times New Roman"/>
              </a:rPr>
              <a:t>1. CHOOSE: score every arm (UCB for reward, LCB for cost), sum the scores over each feasible set, drop the sets that break the budget, and play the best one.</a:t>
            </a:r>
          </a:p>
          <a:p>
            <a:pPr algn="l">
              <a:lnSpc>
                <a:spcPct val="108000"/>
              </a:lnSpc>
              <a:spcBef>
                <a:spcPts val="0"/>
              </a:spcBef>
              <a:spcAft>
                <a:spcPts val="300"/>
              </a:spcAft>
            </a:pPr>
            <a:r>
              <a:rPr sz="1250" b="1" i="0" dirty="0">
                <a:solidFill>
                  <a:srgbClr val="F0F0F5"/>
                </a:solidFill>
                <a:latin typeface="Times New Roman"/>
              </a:rPr>
              <a:t>2. MARKET</a:t>
            </a:r>
            <a:r>
              <a:rPr lang="it-IT" sz="1250" b="1" i="0" dirty="0">
                <a:solidFill>
                  <a:srgbClr val="F0F0F5"/>
                </a:solidFill>
                <a:latin typeface="Times New Roman"/>
              </a:rPr>
              <a:t>: </a:t>
            </a:r>
            <a:r>
              <a:rPr sz="1250" b="1" i="0" dirty="0">
                <a:solidFill>
                  <a:srgbClr val="F0F0F5"/>
                </a:solidFill>
                <a:latin typeface="Times New Roman"/>
              </a:rPr>
              <a:t>draws the rival bids. </a:t>
            </a:r>
            <a:endParaRPr lang="it-IT" sz="1250" b="1" i="0" dirty="0">
              <a:solidFill>
                <a:srgbClr val="F0F0F5"/>
              </a:solidFill>
              <a:latin typeface="Times New Roman"/>
            </a:endParaRPr>
          </a:p>
          <a:p>
            <a:pPr algn="l">
              <a:lnSpc>
                <a:spcPct val="108000"/>
              </a:lnSpc>
              <a:spcBef>
                <a:spcPts val="0"/>
              </a:spcBef>
              <a:spcAft>
                <a:spcPts val="300"/>
              </a:spcAft>
            </a:pPr>
            <a:r>
              <a:rPr sz="1250" b="1" i="0" dirty="0">
                <a:solidFill>
                  <a:srgbClr val="F0F0F5"/>
                </a:solidFill>
                <a:latin typeface="Times New Roman"/>
              </a:rPr>
              <a:t>3. OUTCOME: you win a campaign where your bid ≥ the rival’s, and you pay your own bid.  </a:t>
            </a:r>
            <a:endParaRPr lang="it-IT" sz="1250" b="1" i="0" dirty="0">
              <a:solidFill>
                <a:srgbClr val="F0F0F5"/>
              </a:solidFill>
              <a:latin typeface="Times New Roman"/>
            </a:endParaRPr>
          </a:p>
          <a:p>
            <a:pPr algn="l">
              <a:lnSpc>
                <a:spcPct val="108000"/>
              </a:lnSpc>
              <a:spcBef>
                <a:spcPts val="0"/>
              </a:spcBef>
              <a:spcAft>
                <a:spcPts val="300"/>
              </a:spcAft>
            </a:pPr>
            <a:r>
              <a:rPr sz="1250" b="1" i="0" dirty="0">
                <a:solidFill>
                  <a:srgbClr val="F0F0F5"/>
                </a:solidFill>
                <a:latin typeface="Times New Roman"/>
              </a:rPr>
              <a:t>4. UPDATE: you see only win/lose per played campaign and refresh those arms; the rival bid stays hidden, so this is semi-bandit.</a:t>
            </a:r>
          </a:p>
        </p:txBody>
      </p:sp>
      <p:sp>
        <p:nvSpPr>
          <p:cNvPr id="81" name="Rectangle 80"/>
          <p:cNvSpPr/>
          <p:nvPr/>
        </p:nvSpPr>
        <p:spPr>
          <a:xfrm>
            <a:off x="4916006" y="2606040"/>
            <a:ext cx="3249224" cy="274320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4916006" y="2606040"/>
            <a:ext cx="32004" cy="27432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062310" y="2679192"/>
            <a:ext cx="299319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REWARD (SURPLUS ON WINS)</a:t>
            </a:r>
          </a:p>
        </p:txBody>
      </p:sp>
      <p:cxnSp>
        <p:nvCxnSpPr>
          <p:cNvPr id="84" name="Connector 83"/>
          <p:cNvCxnSpPr/>
          <p:nvPr/>
        </p:nvCxnSpPr>
        <p:spPr>
          <a:xfrm>
            <a:off x="5062310" y="2935224"/>
            <a:ext cx="2993192"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5062310" y="3008376"/>
            <a:ext cx="2993192" cy="226771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The indicator 𝟙[·] is 1 only when you win. The surplus v</a:t>
            </a:r>
            <a:r>
              <a:rPr sz="975" b="0" i="0" baseline="-25000">
                <a:solidFill>
                  <a:srgbClr val="F0F0F5"/>
                </a:solidFill>
                <a:latin typeface="Times New Roman"/>
              </a:rPr>
              <a:t>i</a:t>
            </a:r>
            <a:r>
              <a:rPr sz="1250" b="0" i="0">
                <a:solidFill>
                  <a:srgbClr val="F0F0F5"/>
                </a:solidFill>
                <a:latin typeface="Times New Roman"/>
              </a:rPr>
              <a:t> − b</a:t>
            </a:r>
            <a:r>
              <a:rPr sz="975" b="0" i="0" baseline="-25000">
                <a:solidFill>
                  <a:srgbClr val="F0F0F5"/>
                </a:solidFill>
                <a:latin typeface="Times New Roman"/>
              </a:rPr>
              <a:t>t,i</a:t>
            </a:r>
            <a:r>
              <a:rPr sz="1250" b="0" i="0">
                <a:solidFill>
                  <a:srgbClr val="F0F0F5"/>
                </a:solidFill>
                <a:latin typeface="Times New Roman"/>
              </a:rPr>
              <a:t> is positive only when you bid below the campaign value, so it rewards winning cheaply rather than just winning.</a:t>
            </a:r>
          </a:p>
        </p:txBody>
      </p:sp>
      <p:sp>
        <p:nvSpPr>
          <p:cNvPr id="86" name="Rectangle 85"/>
          <p:cNvSpPr/>
          <p:nvPr/>
        </p:nvSpPr>
        <p:spPr>
          <a:xfrm>
            <a:off x="8439550" y="2606040"/>
            <a:ext cx="3249224" cy="274320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8439550" y="2606040"/>
            <a:ext cx="32004" cy="27432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585854" y="2679192"/>
            <a:ext cx="299319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COST (FIRST-PRICE)</a:t>
            </a:r>
          </a:p>
        </p:txBody>
      </p:sp>
      <p:cxnSp>
        <p:nvCxnSpPr>
          <p:cNvPr id="89" name="Connector 88"/>
          <p:cNvCxnSpPr/>
          <p:nvPr/>
        </p:nvCxnSpPr>
        <p:spPr>
          <a:xfrm>
            <a:off x="8585854" y="2935224"/>
            <a:ext cx="299319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8585854" y="3008376"/>
            <a:ext cx="2993192" cy="226771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Auctions are first-price: on every win you pay exactly your own bid b</a:t>
            </a:r>
            <a:r>
              <a:rPr sz="975" b="0" i="0" baseline="-25000">
                <a:solidFill>
                  <a:srgbClr val="F0F0F5"/>
                </a:solidFill>
                <a:latin typeface="Times New Roman"/>
              </a:rPr>
              <a:t>t,i</a:t>
            </a:r>
            <a:r>
              <a:rPr sz="1250" b="0" i="0">
                <a:solidFill>
                  <a:srgbClr val="F0F0F5"/>
                </a:solidFill>
                <a:latin typeface="Times New Roman"/>
              </a:rPr>
              <a:t>. A higher bid raises the win probability but also the price, which is the core tension the learner must balance.</a:t>
            </a:r>
          </a:p>
        </p:txBody>
      </p:sp>
      <p:pic>
        <p:nvPicPr>
          <p:cNvPr id="91" name="Picture 90" descr="f_reward.png"/>
          <p:cNvPicPr>
            <a:picLocks noChangeAspect="1"/>
          </p:cNvPicPr>
          <p:nvPr/>
        </p:nvPicPr>
        <p:blipFill>
          <a:blip r:embed="rId3"/>
          <a:stretch>
            <a:fillRect/>
          </a:stretch>
        </p:blipFill>
        <p:spPr>
          <a:xfrm>
            <a:off x="5570679" y="3035808"/>
            <a:ext cx="1976453" cy="329184"/>
          </a:xfrm>
          <a:prstGeom prst="rect">
            <a:avLst/>
          </a:prstGeom>
        </p:spPr>
      </p:pic>
      <p:pic>
        <p:nvPicPr>
          <p:cNvPr id="92" name="Picture 91" descr="f_cost.png"/>
          <p:cNvPicPr>
            <a:picLocks noChangeAspect="1"/>
          </p:cNvPicPr>
          <p:nvPr/>
        </p:nvPicPr>
        <p:blipFill>
          <a:blip r:embed="rId4"/>
          <a:stretch>
            <a:fillRect/>
          </a:stretch>
        </p:blipFill>
        <p:spPr>
          <a:xfrm>
            <a:off x="9279052" y="3035808"/>
            <a:ext cx="1606796" cy="3291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Takeaways</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What to remember: it learns, it obeys the graph, it never overspends</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8/18</a:t>
            </a:r>
          </a:p>
        </p:txBody>
      </p:sp>
      <p:sp>
        <p:nvSpPr>
          <p:cNvPr id="58" name="Rectangle 57"/>
          <p:cNvSpPr/>
          <p:nvPr/>
        </p:nvSpPr>
        <p:spPr>
          <a:xfrm>
            <a:off x="502920" y="1225296"/>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225296"/>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 y="1316736"/>
            <a:ext cx="3298850" cy="223113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01 • LEARNING</a:t>
            </a:r>
          </a:p>
          <a:p>
            <a:pPr algn="l">
              <a:lnSpc>
                <a:spcPct val="100000"/>
              </a:lnSpc>
              <a:spcBef>
                <a:spcPts val="0"/>
              </a:spcBef>
              <a:spcAft>
                <a:spcPts val="400"/>
              </a:spcAft>
            </a:pPr>
            <a:r>
              <a:rPr sz="1400" b="1" i="0">
                <a:solidFill>
                  <a:srgbClr val="F0F0F5"/>
                </a:solidFill>
                <a:latin typeface="Times New Roman"/>
              </a:rPr>
              <a:t>Fast convergence</a:t>
            </a:r>
          </a:p>
          <a:p>
            <a:pPr algn="l">
              <a:lnSpc>
                <a:spcPct val="108000"/>
              </a:lnSpc>
              <a:spcBef>
                <a:spcPts val="0"/>
              </a:spcBef>
              <a:spcAft>
                <a:spcPts val="0"/>
              </a:spcAft>
            </a:pPr>
            <a:r>
              <a:rPr sz="1200" b="0" i="0">
                <a:solidFill>
                  <a:srgbClr val="F0F0F5"/>
                </a:solidFill>
                <a:latin typeface="Times New Roman"/>
              </a:rPr>
              <a:t>CUCB estimates each arm from semi-bandit feedback and quickly shifts from exploration to exploitation, so the reward curve climbs early and then steadily improves over the horizon.</a:t>
            </a:r>
          </a:p>
        </p:txBody>
      </p:sp>
      <p:sp>
        <p:nvSpPr>
          <p:cNvPr id="61" name="Rectangle 60"/>
          <p:cNvSpPr/>
          <p:nvPr/>
        </p:nvSpPr>
        <p:spPr>
          <a:xfrm>
            <a:off x="4322978" y="1225296"/>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322978" y="1225296"/>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460138" y="1316736"/>
            <a:ext cx="3298850" cy="223113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02 • FEASIBILITY</a:t>
            </a:r>
          </a:p>
          <a:p>
            <a:pPr algn="l">
              <a:lnSpc>
                <a:spcPct val="100000"/>
              </a:lnSpc>
              <a:spcBef>
                <a:spcPts val="0"/>
              </a:spcBef>
              <a:spcAft>
                <a:spcPts val="400"/>
              </a:spcAft>
            </a:pPr>
            <a:r>
              <a:rPr sz="1400" b="1" i="0">
                <a:solidFill>
                  <a:srgbClr val="F0F0F5"/>
                </a:solidFill>
                <a:latin typeface="Times New Roman"/>
              </a:rPr>
              <a:t>Graph enforced</a:t>
            </a:r>
          </a:p>
          <a:p>
            <a:pPr algn="l">
              <a:lnSpc>
                <a:spcPct val="108000"/>
              </a:lnSpc>
              <a:spcBef>
                <a:spcPts val="0"/>
              </a:spcBef>
              <a:spcAft>
                <a:spcPts val="0"/>
              </a:spcAft>
            </a:pPr>
            <a:r>
              <a:rPr sz="1200" b="0" i="0">
                <a:solidFill>
                  <a:srgbClr val="F0F0F5"/>
                </a:solidFill>
                <a:latin typeface="Times New Roman"/>
              </a:rPr>
              <a:t>The conflict graph is checked at selection time, so an infeasible super-arm is never played, not even once across all 20 seeds and 1000 rounds.</a:t>
            </a:r>
          </a:p>
        </p:txBody>
      </p:sp>
      <p:sp>
        <p:nvSpPr>
          <p:cNvPr id="64" name="Rectangle 63"/>
          <p:cNvSpPr/>
          <p:nvPr/>
        </p:nvSpPr>
        <p:spPr>
          <a:xfrm>
            <a:off x="8143036" y="1225296"/>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143036" y="1225296"/>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80196" y="1316736"/>
            <a:ext cx="3298850" cy="2231136"/>
          </a:xfrm>
          <a:prstGeom prst="rect">
            <a:avLst/>
          </a:prstGeom>
          <a:noFill/>
        </p:spPr>
        <p:txBody>
          <a:bodyPr wrap="square" lIns="0" tIns="0" rIns="0" bIns="0" anchor="t">
            <a:noAutofit/>
          </a:bodyPr>
          <a:lstStyle/>
          <a:p>
            <a:pPr algn="l">
              <a:lnSpc>
                <a:spcPct val="100000"/>
              </a:lnSpc>
              <a:spcBef>
                <a:spcPts val="0"/>
              </a:spcBef>
              <a:spcAft>
                <a:spcPts val="300"/>
              </a:spcAft>
            </a:pPr>
            <a:r>
              <a:rPr sz="1050" b="1" i="0">
                <a:solidFill>
                  <a:srgbClr val="E11D48"/>
                </a:solidFill>
                <a:latin typeface="Times New Roman"/>
              </a:rPr>
              <a:t>03 • BUDGET</a:t>
            </a:r>
          </a:p>
          <a:p>
            <a:pPr algn="l">
              <a:lnSpc>
                <a:spcPct val="100000"/>
              </a:lnSpc>
              <a:spcBef>
                <a:spcPts val="0"/>
              </a:spcBef>
              <a:spcAft>
                <a:spcPts val="400"/>
              </a:spcAft>
            </a:pPr>
            <a:r>
              <a:rPr sz="1400" b="1" i="0">
                <a:solidFill>
                  <a:srgbClr val="F0F0F5"/>
                </a:solidFill>
                <a:latin typeface="Times New Roman"/>
              </a:rPr>
              <a:t>No overspend</a:t>
            </a:r>
          </a:p>
          <a:p>
            <a:pPr algn="l">
              <a:lnSpc>
                <a:spcPct val="108000"/>
              </a:lnSpc>
              <a:spcBef>
                <a:spcPts val="0"/>
              </a:spcBef>
              <a:spcAft>
                <a:spcPts val="0"/>
              </a:spcAft>
            </a:pPr>
            <a:r>
              <a:rPr sz="1200" b="0" i="0">
                <a:solidFill>
                  <a:srgbClr val="F0F0F5"/>
                </a:solidFill>
                <a:latin typeface="Times New Roman"/>
              </a:rPr>
              <a:t>The rate cap, pacing guard and affordability filter act together so the budget is almost fully used yet the hard cap is never exceeded on any run.</a:t>
            </a:r>
          </a:p>
        </p:txBody>
      </p:sp>
      <p:sp>
        <p:nvSpPr>
          <p:cNvPr id="67" name="Rectangle 66"/>
          <p:cNvSpPr/>
          <p:nvPr/>
        </p:nvSpPr>
        <p:spPr>
          <a:xfrm>
            <a:off x="502920" y="3895344"/>
            <a:ext cx="11185855" cy="160020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502920" y="3895344"/>
            <a:ext cx="45720" cy="16002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7512" y="3968496"/>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FINAL TAKEAWAY</a:t>
            </a:r>
          </a:p>
        </p:txBody>
      </p:sp>
      <p:cxnSp>
        <p:nvCxnSpPr>
          <p:cNvPr id="70" name="Connector 69"/>
          <p:cNvCxnSpPr/>
          <p:nvPr/>
        </p:nvCxnSpPr>
        <p:spPr>
          <a:xfrm>
            <a:off x="667512" y="4224528"/>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667512" y="4315968"/>
            <a:ext cx="10893247" cy="1106424"/>
          </a:xfrm>
          <a:prstGeom prst="rect">
            <a:avLst/>
          </a:prstGeom>
          <a:noFill/>
        </p:spPr>
        <p:txBody>
          <a:bodyPr wrap="square" lIns="0" tIns="0" rIns="0" bIns="0" anchor="t">
            <a:noAutofit/>
          </a:bodyPr>
          <a:lstStyle/>
          <a:p>
            <a:pPr algn="l">
              <a:lnSpc>
                <a:spcPct val="108000"/>
              </a:lnSpc>
              <a:spcBef>
                <a:spcPts val="0"/>
              </a:spcBef>
              <a:spcAft>
                <a:spcPts val="300"/>
              </a:spcAft>
            </a:pPr>
            <a:r>
              <a:rPr sz="1300" b="1" i="0">
                <a:solidFill>
                  <a:srgbClr val="F0F0F5"/>
                </a:solidFill>
                <a:latin typeface="Times New Roman"/>
              </a:rPr>
              <a:t>Req2 is the stochastic baseline for everything that follows: CUCB maximizes reward while respecting campaign incompatibilities and pacing a finite budget safely over T rounds. Its pseudo-regret against the clairvoyant LP optimum stays non-negative and grows sub-linearly, flattening as the learner converges to the best feasible super-arm.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Experiment setup in detail</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The test bench: 1000 rounds, budget 850, 20 seeds, 11 bids</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9/18</a:t>
            </a:r>
          </a:p>
        </p:txBody>
      </p:sp>
      <p:sp>
        <p:nvSpPr>
          <p:cNvPr id="58" name="Rectangle 57"/>
          <p:cNvSpPr/>
          <p:nvPr/>
        </p:nvSpPr>
        <p:spPr>
          <a:xfrm>
            <a:off x="502920" y="1207008"/>
            <a:ext cx="2032345" cy="14630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207008"/>
            <a:ext cx="32004" cy="14630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0936" y="1298448"/>
            <a:ext cx="1831177" cy="1316736"/>
          </a:xfrm>
          <a:prstGeom prst="rect">
            <a:avLst/>
          </a:prstGeom>
          <a:noFill/>
        </p:spPr>
        <p:txBody>
          <a:bodyPr wrap="square" lIns="0" tIns="0" rIns="0" bIns="0" anchor="ctr">
            <a:noAutofit/>
          </a:bodyPr>
          <a:lstStyle/>
          <a:p>
            <a:pPr algn="l">
              <a:lnSpc>
                <a:spcPct val="100000"/>
              </a:lnSpc>
              <a:spcBef>
                <a:spcPts val="0"/>
              </a:spcBef>
              <a:spcAft>
                <a:spcPts val="300"/>
              </a:spcAft>
            </a:pPr>
            <a:r>
              <a:rPr sz="1000" b="1" i="0">
                <a:solidFill>
                  <a:srgbClr val="E11D48"/>
                </a:solidFill>
                <a:latin typeface="Times New Roman"/>
              </a:rPr>
              <a:t>HORIZON</a:t>
            </a:r>
          </a:p>
          <a:p>
            <a:pPr algn="l">
              <a:lnSpc>
                <a:spcPct val="100000"/>
              </a:lnSpc>
              <a:spcBef>
                <a:spcPts val="0"/>
              </a:spcBef>
              <a:spcAft>
                <a:spcPts val="300"/>
              </a:spcAft>
            </a:pPr>
            <a:r>
              <a:rPr sz="2000" b="1" i="0">
                <a:solidFill>
                  <a:srgbClr val="F0F0F5"/>
                </a:solidFill>
                <a:latin typeface="Times New Roman"/>
              </a:rPr>
              <a:t>T = 1000</a:t>
            </a:r>
          </a:p>
          <a:p>
            <a:pPr algn="l">
              <a:lnSpc>
                <a:spcPct val="100000"/>
              </a:lnSpc>
              <a:spcBef>
                <a:spcPts val="0"/>
              </a:spcBef>
              <a:spcAft>
                <a:spcPts val="0"/>
              </a:spcAft>
            </a:pPr>
            <a:r>
              <a:rPr sz="1000" b="0" i="0">
                <a:solidFill>
                  <a:srgbClr val="9A9AA6"/>
                </a:solidFill>
                <a:latin typeface="Times New Roman"/>
              </a:rPr>
              <a:t>rounds</a:t>
            </a:r>
          </a:p>
        </p:txBody>
      </p:sp>
      <p:sp>
        <p:nvSpPr>
          <p:cNvPr id="61" name="Rectangle 60"/>
          <p:cNvSpPr/>
          <p:nvPr/>
        </p:nvSpPr>
        <p:spPr>
          <a:xfrm>
            <a:off x="2791297" y="1207008"/>
            <a:ext cx="2032345" cy="14630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2791297" y="1207008"/>
            <a:ext cx="32004" cy="14630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919313" y="1298448"/>
            <a:ext cx="1831177" cy="1316736"/>
          </a:xfrm>
          <a:prstGeom prst="rect">
            <a:avLst/>
          </a:prstGeom>
          <a:noFill/>
        </p:spPr>
        <p:txBody>
          <a:bodyPr wrap="square" lIns="0" tIns="0" rIns="0" bIns="0" anchor="ctr">
            <a:noAutofit/>
          </a:bodyPr>
          <a:lstStyle/>
          <a:p>
            <a:pPr algn="l">
              <a:lnSpc>
                <a:spcPct val="100000"/>
              </a:lnSpc>
              <a:spcBef>
                <a:spcPts val="0"/>
              </a:spcBef>
              <a:spcAft>
                <a:spcPts val="300"/>
              </a:spcAft>
            </a:pPr>
            <a:r>
              <a:rPr sz="1000" b="1" i="0">
                <a:solidFill>
                  <a:srgbClr val="E11D48"/>
                </a:solidFill>
                <a:latin typeface="Times New Roman"/>
              </a:rPr>
              <a:t>CAMPAIGNS</a:t>
            </a:r>
          </a:p>
          <a:p>
            <a:pPr algn="l">
              <a:lnSpc>
                <a:spcPct val="100000"/>
              </a:lnSpc>
              <a:spcBef>
                <a:spcPts val="0"/>
              </a:spcBef>
              <a:spcAft>
                <a:spcPts val="300"/>
              </a:spcAft>
            </a:pPr>
            <a:r>
              <a:rPr sz="2000" b="1" i="0">
                <a:solidFill>
                  <a:srgbClr val="F0F0F5"/>
                </a:solidFill>
                <a:latin typeface="Times New Roman"/>
              </a:rPr>
              <a:t>N = 5</a:t>
            </a:r>
          </a:p>
          <a:p>
            <a:pPr algn="l">
              <a:lnSpc>
                <a:spcPct val="100000"/>
              </a:lnSpc>
              <a:spcBef>
                <a:spcPts val="0"/>
              </a:spcBef>
              <a:spcAft>
                <a:spcPts val="0"/>
              </a:spcAft>
            </a:pPr>
            <a:r>
              <a:rPr sz="1000" b="0" i="0">
                <a:solidFill>
                  <a:srgbClr val="9A9AA6"/>
                </a:solidFill>
                <a:latin typeface="Times New Roman"/>
              </a:rPr>
              <a:t>5-cycle (5 edges)</a:t>
            </a:r>
          </a:p>
        </p:txBody>
      </p:sp>
      <p:sp>
        <p:nvSpPr>
          <p:cNvPr id="64" name="Rectangle 63"/>
          <p:cNvSpPr/>
          <p:nvPr/>
        </p:nvSpPr>
        <p:spPr>
          <a:xfrm>
            <a:off x="5079674" y="1207008"/>
            <a:ext cx="2032345" cy="14630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79674" y="1207008"/>
            <a:ext cx="32004" cy="14630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207690" y="1298448"/>
            <a:ext cx="1831177" cy="1316736"/>
          </a:xfrm>
          <a:prstGeom prst="rect">
            <a:avLst/>
          </a:prstGeom>
          <a:noFill/>
        </p:spPr>
        <p:txBody>
          <a:bodyPr wrap="square" lIns="0" tIns="0" rIns="0" bIns="0" anchor="ctr">
            <a:noAutofit/>
          </a:bodyPr>
          <a:lstStyle/>
          <a:p>
            <a:pPr algn="l">
              <a:lnSpc>
                <a:spcPct val="100000"/>
              </a:lnSpc>
              <a:spcBef>
                <a:spcPts val="0"/>
              </a:spcBef>
              <a:spcAft>
                <a:spcPts val="300"/>
              </a:spcAft>
            </a:pPr>
            <a:r>
              <a:rPr sz="1000" b="1" i="0">
                <a:solidFill>
                  <a:srgbClr val="E11D48"/>
                </a:solidFill>
                <a:latin typeface="Times New Roman"/>
              </a:rPr>
              <a:t>BUDGET</a:t>
            </a:r>
          </a:p>
          <a:p>
            <a:pPr algn="l">
              <a:lnSpc>
                <a:spcPct val="100000"/>
              </a:lnSpc>
              <a:spcBef>
                <a:spcPts val="0"/>
              </a:spcBef>
              <a:spcAft>
                <a:spcPts val="300"/>
              </a:spcAft>
            </a:pPr>
            <a:r>
              <a:rPr sz="2000" b="1" i="0">
                <a:solidFill>
                  <a:srgbClr val="F0F0F5"/>
                </a:solidFill>
                <a:latin typeface="Times New Roman"/>
              </a:rPr>
              <a:t>B = 850</a:t>
            </a:r>
          </a:p>
          <a:p>
            <a:pPr algn="l">
              <a:lnSpc>
                <a:spcPct val="100000"/>
              </a:lnSpc>
              <a:spcBef>
                <a:spcPts val="0"/>
              </a:spcBef>
              <a:spcAft>
                <a:spcPts val="0"/>
              </a:spcAft>
            </a:pPr>
            <a:r>
              <a:rPr sz="1000" b="0" i="0">
                <a:solidFill>
                  <a:srgbClr val="9A9AA6"/>
                </a:solidFill>
                <a:latin typeface="Times New Roman"/>
              </a:rPr>
              <a:t>ρ = 0.85</a:t>
            </a:r>
          </a:p>
        </p:txBody>
      </p:sp>
      <p:sp>
        <p:nvSpPr>
          <p:cNvPr id="67" name="Rectangle 66"/>
          <p:cNvSpPr/>
          <p:nvPr/>
        </p:nvSpPr>
        <p:spPr>
          <a:xfrm>
            <a:off x="7368052" y="1207008"/>
            <a:ext cx="2032345" cy="14630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7368052" y="1207008"/>
            <a:ext cx="32004" cy="14630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96068" y="1298448"/>
            <a:ext cx="1831177" cy="1316736"/>
          </a:xfrm>
          <a:prstGeom prst="rect">
            <a:avLst/>
          </a:prstGeom>
          <a:noFill/>
        </p:spPr>
        <p:txBody>
          <a:bodyPr wrap="square" lIns="0" tIns="0" rIns="0" bIns="0" anchor="ctr">
            <a:noAutofit/>
          </a:bodyPr>
          <a:lstStyle/>
          <a:p>
            <a:pPr algn="l">
              <a:lnSpc>
                <a:spcPct val="100000"/>
              </a:lnSpc>
              <a:spcBef>
                <a:spcPts val="0"/>
              </a:spcBef>
              <a:spcAft>
                <a:spcPts val="300"/>
              </a:spcAft>
            </a:pPr>
            <a:r>
              <a:rPr sz="1000" b="1" i="0">
                <a:solidFill>
                  <a:srgbClr val="E11D48"/>
                </a:solidFill>
                <a:latin typeface="Times New Roman"/>
              </a:rPr>
              <a:t>SEEDS</a:t>
            </a:r>
          </a:p>
          <a:p>
            <a:pPr algn="l">
              <a:lnSpc>
                <a:spcPct val="100000"/>
              </a:lnSpc>
              <a:spcBef>
                <a:spcPts val="0"/>
              </a:spcBef>
              <a:spcAft>
                <a:spcPts val="300"/>
              </a:spcAft>
            </a:pPr>
            <a:r>
              <a:rPr sz="2000" b="1" i="0">
                <a:solidFill>
                  <a:srgbClr val="F0F0F5"/>
                </a:solidFill>
                <a:latin typeface="Times New Roman"/>
              </a:rPr>
              <a:t>20</a:t>
            </a:r>
          </a:p>
          <a:p>
            <a:pPr algn="l">
              <a:lnSpc>
                <a:spcPct val="100000"/>
              </a:lnSpc>
              <a:spcBef>
                <a:spcPts val="0"/>
              </a:spcBef>
              <a:spcAft>
                <a:spcPts val="0"/>
              </a:spcAft>
            </a:pPr>
            <a:r>
              <a:rPr sz="1000" b="0" i="0">
                <a:solidFill>
                  <a:srgbClr val="9A9AA6"/>
                </a:solidFill>
                <a:latin typeface="Times New Roman"/>
              </a:rPr>
              <a:t>mean ± std</a:t>
            </a:r>
          </a:p>
        </p:txBody>
      </p:sp>
      <p:sp>
        <p:nvSpPr>
          <p:cNvPr id="70" name="Rectangle 69"/>
          <p:cNvSpPr/>
          <p:nvPr/>
        </p:nvSpPr>
        <p:spPr>
          <a:xfrm>
            <a:off x="9656429" y="1207008"/>
            <a:ext cx="2032345" cy="14630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656429" y="1207008"/>
            <a:ext cx="32004" cy="14630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784445" y="1298448"/>
            <a:ext cx="1831177" cy="1316736"/>
          </a:xfrm>
          <a:prstGeom prst="rect">
            <a:avLst/>
          </a:prstGeom>
          <a:noFill/>
        </p:spPr>
        <p:txBody>
          <a:bodyPr wrap="square" lIns="0" tIns="0" rIns="0" bIns="0" anchor="ctr">
            <a:noAutofit/>
          </a:bodyPr>
          <a:lstStyle/>
          <a:p>
            <a:pPr algn="l">
              <a:lnSpc>
                <a:spcPct val="100000"/>
              </a:lnSpc>
              <a:spcBef>
                <a:spcPts val="0"/>
              </a:spcBef>
              <a:spcAft>
                <a:spcPts val="300"/>
              </a:spcAft>
            </a:pPr>
            <a:r>
              <a:rPr sz="1000" b="1" i="0">
                <a:solidFill>
                  <a:srgbClr val="E11D48"/>
                </a:solidFill>
                <a:latin typeface="Times New Roman"/>
              </a:rPr>
              <a:t>BIDS</a:t>
            </a:r>
          </a:p>
          <a:p>
            <a:pPr algn="l">
              <a:lnSpc>
                <a:spcPct val="100000"/>
              </a:lnSpc>
              <a:spcBef>
                <a:spcPts val="0"/>
              </a:spcBef>
              <a:spcAft>
                <a:spcPts val="300"/>
              </a:spcAft>
            </a:pPr>
            <a:r>
              <a:rPr sz="2000" b="1" i="0">
                <a:solidFill>
                  <a:srgbClr val="F0F0F5"/>
                </a:solidFill>
                <a:latin typeface="Times New Roman"/>
              </a:rPr>
              <a:t>11</a:t>
            </a:r>
          </a:p>
          <a:p>
            <a:pPr algn="l">
              <a:lnSpc>
                <a:spcPct val="100000"/>
              </a:lnSpc>
              <a:spcBef>
                <a:spcPts val="0"/>
              </a:spcBef>
              <a:spcAft>
                <a:spcPts val="0"/>
              </a:spcAft>
            </a:pPr>
            <a:r>
              <a:rPr sz="1000" b="0" i="0">
                <a:solidFill>
                  <a:srgbClr val="9A9AA6"/>
                </a:solidFill>
                <a:latin typeface="Times New Roman"/>
              </a:rPr>
              <a:t>0.0 to 1.0</a:t>
            </a:r>
          </a:p>
        </p:txBody>
      </p:sp>
      <p:sp>
        <p:nvSpPr>
          <p:cNvPr id="73" name="Rectangle 72"/>
          <p:cNvSpPr/>
          <p:nvPr/>
        </p:nvSpPr>
        <p:spPr>
          <a:xfrm>
            <a:off x="502920" y="2999232"/>
            <a:ext cx="5455767" cy="26060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02920" y="2999232"/>
            <a:ext cx="32004" cy="26060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49224" y="3072384"/>
            <a:ext cx="5199735"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ENVIRONMENT</a:t>
            </a:r>
          </a:p>
        </p:txBody>
      </p:sp>
      <p:cxnSp>
        <p:nvCxnSpPr>
          <p:cNvPr id="76" name="Connector 75"/>
          <p:cNvCxnSpPr/>
          <p:nvPr/>
        </p:nvCxnSpPr>
        <p:spPr>
          <a:xfrm>
            <a:off x="649224" y="3328415"/>
            <a:ext cx="5199735"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9224" y="3401568"/>
            <a:ext cx="5199735" cy="2130552"/>
          </a:xfrm>
          <a:prstGeom prst="rect">
            <a:avLst/>
          </a:prstGeom>
          <a:noFill/>
        </p:spPr>
        <p:txBody>
          <a:bodyPr wrap="square" lIns="0" tIns="0" rIns="0" bIns="0" anchor="t">
            <a:noAutofit/>
          </a:bodyPr>
          <a:lstStyle/>
          <a:p>
            <a:pPr algn="l">
              <a:lnSpc>
                <a:spcPct val="120000"/>
              </a:lnSpc>
              <a:spcBef>
                <a:spcPts val="0"/>
              </a:spcBef>
              <a:spcAft>
                <a:spcPts val="300"/>
              </a:spcAft>
            </a:pPr>
            <a:r>
              <a:rPr sz="1250" b="0" i="0">
                <a:solidFill>
                  <a:srgbClr val="F0F0F5"/>
                </a:solidFill>
                <a:latin typeface="Times New Roman"/>
              </a:rPr>
              <a:t>Every campaign has a common value v</a:t>
            </a:r>
            <a:r>
              <a:rPr sz="975" b="0" i="0" baseline="-25000">
                <a:solidFill>
                  <a:srgbClr val="F0F0F5"/>
                </a:solidFill>
                <a:latin typeface="Times New Roman"/>
              </a:rPr>
              <a:t>i</a:t>
            </a:r>
            <a:r>
              <a:rPr sz="1250" b="0" i="0">
                <a:solidFill>
                  <a:srgbClr val="F0F0F5"/>
                </a:solidFill>
                <a:latin typeface="Times New Roman"/>
              </a:rPr>
              <a:t> = 1.</a:t>
            </a:r>
          </a:p>
          <a:p>
            <a:pPr algn="l">
              <a:lnSpc>
                <a:spcPct val="100000"/>
              </a:lnSpc>
              <a:spcBef>
                <a:spcPts val="0"/>
              </a:spcBef>
              <a:spcAft>
                <a:spcPts val="200"/>
              </a:spcAft>
            </a:pPr>
            <a:r>
              <a:rPr sz="400" b="0" i="0">
                <a:solidFill>
                  <a:srgbClr val="F0F0F5"/>
                </a:solidFill>
                <a:latin typeface="Times New Roman"/>
              </a:rPr>
              <a:t> </a:t>
            </a:r>
          </a:p>
          <a:p>
            <a:pPr algn="l">
              <a:lnSpc>
                <a:spcPct val="120000"/>
              </a:lnSpc>
              <a:spcBef>
                <a:spcPts val="0"/>
              </a:spcBef>
              <a:spcAft>
                <a:spcPts val="300"/>
              </a:spcAft>
            </a:pPr>
            <a:r>
              <a:rPr sz="1250" b="0" i="0">
                <a:solidFill>
                  <a:srgbClr val="F0F0F5"/>
                </a:solidFill>
                <a:latin typeface="Times New Roman"/>
              </a:rPr>
              <a:t>Rival bids have per-campaign means from 0.44 to 0.60 with std σ = 0.1: the cheapest markets, campaigns 0 and 2, form the best pair. Each conflicting pair on the 5-cycle carries a strong edge correlation α = 0.8.</a:t>
            </a:r>
          </a:p>
        </p:txBody>
      </p:sp>
      <p:sp>
        <p:nvSpPr>
          <p:cNvPr id="78" name="Rectangle 77"/>
          <p:cNvSpPr/>
          <p:nvPr/>
        </p:nvSpPr>
        <p:spPr>
          <a:xfrm>
            <a:off x="6233007" y="2999232"/>
            <a:ext cx="5455767" cy="26060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6233007" y="2999232"/>
            <a:ext cx="32004" cy="26060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379311" y="3072384"/>
            <a:ext cx="5199735"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AGGREGATION</a:t>
            </a:r>
          </a:p>
        </p:txBody>
      </p:sp>
      <p:cxnSp>
        <p:nvCxnSpPr>
          <p:cNvPr id="81" name="Connector 80"/>
          <p:cNvCxnSpPr/>
          <p:nvPr/>
        </p:nvCxnSpPr>
        <p:spPr>
          <a:xfrm>
            <a:off x="6379311" y="3328415"/>
            <a:ext cx="519973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379311" y="3401568"/>
            <a:ext cx="5199735" cy="2130552"/>
          </a:xfrm>
          <a:prstGeom prst="rect">
            <a:avLst/>
          </a:prstGeom>
          <a:noFill/>
        </p:spPr>
        <p:txBody>
          <a:bodyPr wrap="square" lIns="0" tIns="0" rIns="0" bIns="0" anchor="t">
            <a:noAutofit/>
          </a:bodyPr>
          <a:lstStyle/>
          <a:p>
            <a:pPr algn="l">
              <a:lnSpc>
                <a:spcPct val="120000"/>
              </a:lnSpc>
              <a:spcBef>
                <a:spcPts val="0"/>
              </a:spcBef>
              <a:spcAft>
                <a:spcPts val="300"/>
              </a:spcAft>
            </a:pPr>
            <a:r>
              <a:rPr sz="1250" b="0" i="0">
                <a:solidFill>
                  <a:srgbClr val="F0F0F5"/>
                </a:solidFill>
                <a:latin typeface="Times New Roman"/>
              </a:rPr>
              <a:t>All curves are the mean ± std over 20 independent random seeds.</a:t>
            </a:r>
          </a:p>
          <a:p>
            <a:pPr algn="l">
              <a:lnSpc>
                <a:spcPct val="100000"/>
              </a:lnSpc>
              <a:spcBef>
                <a:spcPts val="0"/>
              </a:spcBef>
              <a:spcAft>
                <a:spcPts val="200"/>
              </a:spcAft>
            </a:pPr>
            <a:r>
              <a:rPr sz="400" b="0" i="0">
                <a:solidFill>
                  <a:srgbClr val="F0F0F5"/>
                </a:solidFill>
                <a:latin typeface="Times New Roman"/>
              </a:rPr>
              <a:t> </a:t>
            </a:r>
          </a:p>
          <a:p>
            <a:pPr algn="l">
              <a:lnSpc>
                <a:spcPct val="120000"/>
              </a:lnSpc>
              <a:spcBef>
                <a:spcPts val="0"/>
              </a:spcBef>
              <a:spcAft>
                <a:spcPts val="300"/>
              </a:spcAft>
            </a:pPr>
            <a:r>
              <a:rPr sz="1250" b="0" i="0">
                <a:solidFill>
                  <a:srgbClr val="F0F0F5"/>
                </a:solidFill>
                <a:latin typeface="Times New Roman"/>
              </a:rPr>
              <a:t>Each series is carried to the full horizon T even when the budget is depleted early, so the runs stay directly comparable, and the shaded bands in every plot show the spread across the 20 seeds.</a:t>
            </a:r>
          </a:p>
        </p:txBody>
      </p:sp>
      <p:pic>
        <p:nvPicPr>
          <p:cNvPr id="83" name="Picture 82" descr="cov_matrix.png"/>
          <p:cNvPicPr>
            <a:picLocks noChangeAspect="1"/>
          </p:cNvPicPr>
          <p:nvPr/>
        </p:nvPicPr>
        <p:blipFill>
          <a:blip r:embed="rId3"/>
          <a:stretch>
            <a:fillRect/>
          </a:stretch>
        </p:blipFill>
        <p:spPr>
          <a:xfrm>
            <a:off x="2468880" y="4334256"/>
            <a:ext cx="1517904" cy="12618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The three budget filters</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lang="en-US" sz="1200" i="1">
                <a:solidFill>
                  <a:srgbClr val="9A9AA6"/>
                </a:solidFill>
                <a:latin typeface="Times New Roman"/>
              </a:rPr>
              <a:t>Three</a:t>
            </a:r>
            <a:r>
              <a:rPr sz="1200" b="0" i="1">
                <a:solidFill>
                  <a:srgbClr val="9A9AA6"/>
                </a:solidFill>
                <a:latin typeface="Times New Roman"/>
              </a:rPr>
              <a:t> budget checks before any bid is placed</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10/18</a:t>
            </a:r>
          </a:p>
        </p:txBody>
      </p:sp>
      <p:sp>
        <p:nvSpPr>
          <p:cNvPr id="58" name="Rectangle 57"/>
          <p:cNvSpPr/>
          <p:nvPr/>
        </p:nvSpPr>
        <p:spPr>
          <a:xfrm>
            <a:off x="502920"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9224"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1 · RATE CAP</a:t>
            </a:r>
          </a:p>
        </p:txBody>
      </p:sp>
      <p:cxnSp>
        <p:nvCxnSpPr>
          <p:cNvPr id="61" name="Connector 60"/>
          <p:cNvCxnSpPr/>
          <p:nvPr/>
        </p:nvCxnSpPr>
        <p:spPr>
          <a:xfrm>
            <a:off x="649224"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9224"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Using a pessimistic (lower-confidence) cost keeps the expected per-round spend within the average rate ρ. This is the long-run pacing target that must hold on a typical round.</a:t>
            </a:r>
          </a:p>
        </p:txBody>
      </p:sp>
      <p:sp>
        <p:nvSpPr>
          <p:cNvPr id="63" name="Rectangle 62"/>
          <p:cNvSpPr/>
          <p:nvPr/>
        </p:nvSpPr>
        <p:spPr>
          <a:xfrm>
            <a:off x="4322978"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322978"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469282"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2 · PACING GUARD</a:t>
            </a:r>
          </a:p>
        </p:txBody>
      </p:sp>
      <p:cxnSp>
        <p:nvCxnSpPr>
          <p:cNvPr id="66" name="Connector 65"/>
          <p:cNvCxnSpPr/>
          <p:nvPr/>
        </p:nvCxnSpPr>
        <p:spPr>
          <a:xfrm>
            <a:off x="4469282"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469282"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A dynamic check that re-budgets on the fly: it adapts to how much money is still available and how many rounds are still left, tightening near the end of the run.</a:t>
            </a:r>
          </a:p>
        </p:txBody>
      </p:sp>
      <p:sp>
        <p:nvSpPr>
          <p:cNvPr id="68" name="Rectangle 67"/>
          <p:cNvSpPr/>
          <p:nvPr/>
        </p:nvSpPr>
        <p:spPr>
          <a:xfrm>
            <a:off x="8143036"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143036"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89340"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3 · AFFORDABILITY</a:t>
            </a:r>
          </a:p>
        </p:txBody>
      </p:sp>
      <p:cxnSp>
        <p:nvCxnSpPr>
          <p:cNvPr id="71" name="Connector 70"/>
          <p:cNvCxnSpPr/>
          <p:nvPr/>
        </p:nvCxnSpPr>
        <p:spPr>
          <a:xfrm>
            <a:off x="8289340" y="1517904"/>
            <a:ext cx="3289707"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289340"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The final hard constraint on the actual bids placed this round: they can never exceed the remaining budget, so the cap is guaranteed and not merely expected.</a:t>
            </a:r>
          </a:p>
        </p:txBody>
      </p:sp>
      <p:sp>
        <p:nvSpPr>
          <p:cNvPr id="73" name="Rectangle 72"/>
          <p:cNvSpPr/>
          <p:nvPr/>
        </p:nvSpPr>
        <p:spPr>
          <a:xfrm>
            <a:off x="502920" y="3840480"/>
            <a:ext cx="11185855" cy="141732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02920" y="3840480"/>
            <a:ext cx="45720"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67512" y="3913632"/>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WHY THREE FILTERS TOGETHER</a:t>
            </a:r>
          </a:p>
        </p:txBody>
      </p:sp>
      <p:cxnSp>
        <p:nvCxnSpPr>
          <p:cNvPr id="76" name="Connector 75"/>
          <p:cNvCxnSpPr/>
          <p:nvPr/>
        </p:nvCxnSpPr>
        <p:spPr>
          <a:xfrm>
            <a:off x="667512" y="4169664"/>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7512" y="4261104"/>
            <a:ext cx="10893247" cy="923544"/>
          </a:xfrm>
          <a:prstGeom prst="rect">
            <a:avLst/>
          </a:prstGeom>
          <a:noFill/>
        </p:spPr>
        <p:txBody>
          <a:bodyPr wrap="square" lIns="0" tIns="0" rIns="0" bIns="0" anchor="t">
            <a:noAutofit/>
          </a:bodyPr>
          <a:lstStyle/>
          <a:p>
            <a:pPr algn="ctr">
              <a:lnSpc>
                <a:spcPct val="100000"/>
              </a:lnSpc>
              <a:spcBef>
                <a:spcPts val="0"/>
              </a:spcBef>
              <a:spcAft>
                <a:spcPts val="500"/>
              </a:spcAft>
            </a:pPr>
            <a:r>
              <a:rPr sz="1500" b="1" i="0">
                <a:solidFill>
                  <a:srgbClr val="E11D48"/>
                </a:solidFill>
                <a:latin typeface="Times New Roman"/>
              </a:rPr>
              <a:t>Rate cap on estimates  ·  pacing on money left  ·  affordability on real bids</a:t>
            </a:r>
          </a:p>
          <a:p>
            <a:pPr algn="l">
              <a:lnSpc>
                <a:spcPct val="108000"/>
              </a:lnSpc>
              <a:spcBef>
                <a:spcPts val="0"/>
              </a:spcBef>
              <a:spcAft>
                <a:spcPts val="300"/>
              </a:spcAft>
            </a:pPr>
            <a:r>
              <a:rPr sz="1300" b="1" i="0">
                <a:solidFill>
                  <a:srgbClr val="F0F0F5"/>
                </a:solidFill>
                <a:latin typeface="Times New Roman"/>
              </a:rPr>
              <a:t>All three checks act on the whole set, summing over its members: the rate cap on pessimistic cost estimates, the pacing guard on the money actually left, affordability on the real bids. Estimates can be wrong, money cannot: the hard cap was never violated on any of the 20 seeds.</a:t>
            </a:r>
          </a:p>
        </p:txBody>
      </p:sp>
      <p:pic>
        <p:nvPicPr>
          <p:cNvPr id="78" name="Picture 77" descr="f_f1.png"/>
          <p:cNvPicPr>
            <a:picLocks noChangeAspect="1"/>
          </p:cNvPicPr>
          <p:nvPr/>
        </p:nvPicPr>
        <p:blipFill>
          <a:blip r:embed="rId3"/>
          <a:stretch>
            <a:fillRect/>
          </a:stretch>
        </p:blipFill>
        <p:spPr>
          <a:xfrm>
            <a:off x="1626526" y="1618488"/>
            <a:ext cx="1335102" cy="274320"/>
          </a:xfrm>
          <a:prstGeom prst="rect">
            <a:avLst/>
          </a:prstGeom>
        </p:spPr>
      </p:pic>
      <p:pic>
        <p:nvPicPr>
          <p:cNvPr id="79" name="Picture 78" descr="f_f2.png"/>
          <p:cNvPicPr>
            <a:picLocks noChangeAspect="1"/>
          </p:cNvPicPr>
          <p:nvPr/>
        </p:nvPicPr>
        <p:blipFill>
          <a:blip r:embed="rId4"/>
          <a:stretch>
            <a:fillRect/>
          </a:stretch>
        </p:blipFill>
        <p:spPr>
          <a:xfrm>
            <a:off x="5461889" y="1618488"/>
            <a:ext cx="1304492" cy="274320"/>
          </a:xfrm>
          <a:prstGeom prst="rect">
            <a:avLst/>
          </a:prstGeom>
        </p:spPr>
      </p:pic>
      <p:pic>
        <p:nvPicPr>
          <p:cNvPr id="80" name="Picture 79" descr="f_f3.png"/>
          <p:cNvPicPr>
            <a:picLocks noChangeAspect="1"/>
          </p:cNvPicPr>
          <p:nvPr/>
        </p:nvPicPr>
        <p:blipFill>
          <a:blip r:embed="rId5"/>
          <a:stretch>
            <a:fillRect/>
          </a:stretch>
        </p:blipFill>
        <p:spPr>
          <a:xfrm>
            <a:off x="9588055" y="1618488"/>
            <a:ext cx="692275" cy="2560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Why optimism works</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The theory behind UCB and regret, as in the course</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11/18</a:t>
            </a:r>
          </a:p>
        </p:txBody>
      </p:sp>
      <p:sp>
        <p:nvSpPr>
          <p:cNvPr id="58" name="Rectangle 57"/>
          <p:cNvSpPr/>
          <p:nvPr/>
        </p:nvSpPr>
        <p:spPr>
          <a:xfrm>
            <a:off x="502920"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9224"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1 · CONFIDENCE</a:t>
            </a:r>
          </a:p>
        </p:txBody>
      </p:sp>
      <p:cxnSp>
        <p:nvCxnSpPr>
          <p:cNvPr id="61" name="Connector 60"/>
          <p:cNvCxnSpPr/>
          <p:nvPr/>
        </p:nvCxnSpPr>
        <p:spPr>
          <a:xfrm>
            <a:off x="649224"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9224"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After N pulls, Hoeffding bounds the error of the empirical mean. With width w = c sqrt(2 log t / N) every arm stays inside its confidence interval for the whole run, with high probability, and the interval shrinks as 1 / sqrt(N).</a:t>
            </a:r>
          </a:p>
        </p:txBody>
      </p:sp>
      <p:sp>
        <p:nvSpPr>
          <p:cNvPr id="63" name="Rectangle 62"/>
          <p:cNvSpPr/>
          <p:nvPr/>
        </p:nvSpPr>
        <p:spPr>
          <a:xfrm>
            <a:off x="4322978"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322978"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469282"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2 · OPTIMISM</a:t>
            </a:r>
          </a:p>
        </p:txBody>
      </p:sp>
      <p:cxnSp>
        <p:nvCxnSpPr>
          <p:cNvPr id="66" name="Connector 65"/>
          <p:cNvCxnSpPr/>
          <p:nvPr/>
        </p:nvCxnSpPr>
        <p:spPr>
          <a:xfrm>
            <a:off x="4469282"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469282"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Play the feasible super-arm with the highest sum of upper bounds. Either the optimistic guess is right and we exploit, or it is wrong and the pulled arm shrinks its interval: both outcomes improve the next decision. Exploration without randomness.</a:t>
            </a:r>
          </a:p>
        </p:txBody>
      </p:sp>
      <p:sp>
        <p:nvSpPr>
          <p:cNvPr id="68" name="Rectangle 67"/>
          <p:cNvSpPr/>
          <p:nvPr/>
        </p:nvSpPr>
        <p:spPr>
          <a:xfrm>
            <a:off x="8143036"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143036"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89340"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3 · GUARANTEE</a:t>
            </a:r>
          </a:p>
        </p:txBody>
      </p:sp>
      <p:cxnSp>
        <p:nvCxnSpPr>
          <p:cNvPr id="71" name="Connector 70"/>
          <p:cNvCxnSpPr/>
          <p:nvPr/>
        </p:nvCxnSpPr>
        <p:spPr>
          <a:xfrm>
            <a:off x="8289340" y="1517904"/>
            <a:ext cx="3289707"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289340"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Course theorem: Combinatorial-UCB has instance-dependent logarithmic pseudo-regret against the best fixed super-arm, so R over T goes to zero. The constant C explodes when the reward gaps are small (here down to 0.04), which motivates tuning c.</a:t>
            </a:r>
          </a:p>
        </p:txBody>
      </p:sp>
      <p:sp>
        <p:nvSpPr>
          <p:cNvPr id="73" name="Rectangle 72"/>
          <p:cNvSpPr/>
          <p:nvPr/>
        </p:nvSpPr>
        <p:spPr>
          <a:xfrm>
            <a:off x="502920" y="3840480"/>
            <a:ext cx="11185855" cy="141732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02920" y="3840480"/>
            <a:ext cx="45720"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67512" y="3913632"/>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PSEUDO-REGRET, COURSE DEFINITION</a:t>
            </a:r>
          </a:p>
        </p:txBody>
      </p:sp>
      <p:cxnSp>
        <p:nvCxnSpPr>
          <p:cNvPr id="76" name="Connector 75"/>
          <p:cNvCxnSpPr/>
          <p:nvPr/>
        </p:nvCxnSpPr>
        <p:spPr>
          <a:xfrm>
            <a:off x="667512" y="4169664"/>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7512" y="4261104"/>
            <a:ext cx="10893247" cy="923544"/>
          </a:xfrm>
          <a:prstGeom prst="rect">
            <a:avLst/>
          </a:prstGeom>
          <a:noFill/>
        </p:spPr>
        <p:txBody>
          <a:bodyPr wrap="square" lIns="0" tIns="0" rIns="0" bIns="0" anchor="t">
            <a:noAutofit/>
          </a:bodyPr>
          <a:lstStyle/>
          <a:p>
            <a:pPr algn="ctr">
              <a:lnSpc>
                <a:spcPct val="100000"/>
              </a:lnSpc>
              <a:spcBef>
                <a:spcPts val="0"/>
              </a:spcBef>
              <a:spcAft>
                <a:spcPts val="500"/>
              </a:spcAft>
            </a:pPr>
            <a:r>
              <a:rPr sz="1500" b="1" i="0">
                <a:solidFill>
                  <a:srgbClr val="E11D48"/>
                </a:solidFill>
                <a:latin typeface="Times New Roman"/>
              </a:rPr>
              <a:t> </a:t>
            </a:r>
          </a:p>
          <a:p>
            <a:pPr algn="ctr">
              <a:lnSpc>
                <a:spcPct val="100000"/>
              </a:lnSpc>
              <a:spcBef>
                <a:spcPts val="0"/>
              </a:spcBef>
              <a:spcAft>
                <a:spcPts val="500"/>
              </a:spcAft>
            </a:pPr>
            <a:r>
              <a:rPr sz="1500" b="1" i="0">
                <a:solidFill>
                  <a:srgbClr val="E11D48"/>
                </a:solidFill>
                <a:latin typeface="Times New Roman"/>
              </a:rPr>
              <a:t> </a:t>
            </a:r>
          </a:p>
          <a:p>
            <a:pPr algn="l">
              <a:lnSpc>
                <a:spcPct val="108000"/>
              </a:lnSpc>
              <a:spcBef>
                <a:spcPts val="0"/>
              </a:spcBef>
              <a:spcAft>
                <a:spcPts val="300"/>
              </a:spcAft>
            </a:pPr>
            <a:r>
              <a:rPr sz="1300" b="1" i="0">
                <a:solidFill>
                  <a:srgbClr val="F0F0F5"/>
                </a:solidFill>
                <a:latin typeface="Times New Roman"/>
              </a:rPr>
              <a:t>Measured on expected values, not realized rewards, so noise cannot hide the trend. In our budgeted problem the comparator is strengthened from the best fixed super-arm to the LP clairvoyant of the previous slide, which can also mix.</a:t>
            </a:r>
          </a:p>
        </p:txBody>
      </p:sp>
      <p:pic>
        <p:nvPicPr>
          <p:cNvPr id="78" name="Picture 77" descr="f_hoeff.png"/>
          <p:cNvPicPr>
            <a:picLocks noChangeAspect="1"/>
          </p:cNvPicPr>
          <p:nvPr/>
        </p:nvPicPr>
        <p:blipFill>
          <a:blip r:embed="rId3"/>
          <a:stretch>
            <a:fillRect/>
          </a:stretch>
        </p:blipFill>
        <p:spPr>
          <a:xfrm>
            <a:off x="1093497" y="1618488"/>
            <a:ext cx="2401159" cy="292608"/>
          </a:xfrm>
          <a:prstGeom prst="rect">
            <a:avLst/>
          </a:prstGeom>
        </p:spPr>
      </p:pic>
      <p:pic>
        <p:nvPicPr>
          <p:cNvPr id="79" name="Picture 78" descr="f_argmax.png"/>
          <p:cNvPicPr>
            <a:picLocks noChangeAspect="1"/>
          </p:cNvPicPr>
          <p:nvPr/>
        </p:nvPicPr>
        <p:blipFill>
          <a:blip r:embed="rId4"/>
          <a:stretch>
            <a:fillRect/>
          </a:stretch>
        </p:blipFill>
        <p:spPr>
          <a:xfrm>
            <a:off x="5185397" y="1618488"/>
            <a:ext cx="1857476" cy="292608"/>
          </a:xfrm>
          <a:prstGeom prst="rect">
            <a:avLst/>
          </a:prstGeom>
        </p:spPr>
      </p:pic>
      <p:pic>
        <p:nvPicPr>
          <p:cNvPr id="80" name="Picture 79" descr="f_thm.png"/>
          <p:cNvPicPr>
            <a:picLocks noChangeAspect="1"/>
          </p:cNvPicPr>
          <p:nvPr/>
        </p:nvPicPr>
        <p:blipFill>
          <a:blip r:embed="rId5"/>
          <a:stretch>
            <a:fillRect/>
          </a:stretch>
        </p:blipFill>
        <p:spPr>
          <a:xfrm>
            <a:off x="9267141" y="1618488"/>
            <a:ext cx="1334103" cy="274320"/>
          </a:xfrm>
          <a:prstGeom prst="rect">
            <a:avLst/>
          </a:prstGeom>
        </p:spPr>
      </p:pic>
      <p:pic>
        <p:nvPicPr>
          <p:cNvPr id="81" name="Picture 80" descr="f_pseudo.png"/>
          <p:cNvPicPr>
            <a:picLocks noChangeAspect="1"/>
          </p:cNvPicPr>
          <p:nvPr/>
        </p:nvPicPr>
        <p:blipFill>
          <a:blip r:embed="rId6"/>
          <a:stretch>
            <a:fillRect/>
          </a:stretch>
        </p:blipFill>
        <p:spPr>
          <a:xfrm>
            <a:off x="4798909" y="4288536"/>
            <a:ext cx="2630452" cy="475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Inside the code</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The three blocks that implement everything shown so far</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12/18</a:t>
            </a:r>
          </a:p>
        </p:txBody>
      </p:sp>
      <p:sp>
        <p:nvSpPr>
          <p:cNvPr id="58" name="Rectangle 57"/>
          <p:cNvSpPr/>
          <p:nvPr/>
        </p:nvSpPr>
        <p:spPr>
          <a:xfrm>
            <a:off x="502920"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9224"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INDICES · UCB / LCB</a:t>
            </a:r>
          </a:p>
        </p:txBody>
      </p:sp>
      <p:cxnSp>
        <p:nvCxnSpPr>
          <p:cNvPr id="61" name="Connector 60"/>
          <p:cNvCxnSpPr/>
          <p:nvPr/>
        </p:nvCxnSpPr>
        <p:spPr>
          <a:xfrm>
            <a:off x="649224"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9224"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 </a:t>
            </a:r>
          </a:p>
        </p:txBody>
      </p:sp>
      <p:sp>
        <p:nvSpPr>
          <p:cNvPr id="63" name="Rectangle 62"/>
          <p:cNvSpPr/>
          <p:nvPr/>
        </p:nvSpPr>
        <p:spPr>
          <a:xfrm>
            <a:off x="4322978"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322978"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469282"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ORACLE + BUDGET FILTERS</a:t>
            </a:r>
          </a:p>
        </p:txBody>
      </p:sp>
      <p:cxnSp>
        <p:nvCxnSpPr>
          <p:cNvPr id="66" name="Connector 65"/>
          <p:cNvCxnSpPr/>
          <p:nvPr/>
        </p:nvCxnSpPr>
        <p:spPr>
          <a:xfrm>
            <a:off x="4469282" y="1517904"/>
            <a:ext cx="3289706"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4469282"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 </a:t>
            </a:r>
          </a:p>
        </p:txBody>
      </p:sp>
      <p:sp>
        <p:nvSpPr>
          <p:cNvPr id="68" name="Rectangle 67"/>
          <p:cNvSpPr/>
          <p:nvPr/>
        </p:nvSpPr>
        <p:spPr>
          <a:xfrm>
            <a:off x="8143036" y="1188720"/>
            <a:ext cx="3545738" cy="23774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143036" y="1188720"/>
            <a:ext cx="32004" cy="2377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89340" y="1261872"/>
            <a:ext cx="3289706"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CLAIRVOYANT LP</a:t>
            </a:r>
          </a:p>
        </p:txBody>
      </p:sp>
      <p:cxnSp>
        <p:nvCxnSpPr>
          <p:cNvPr id="71" name="Connector 70"/>
          <p:cNvCxnSpPr/>
          <p:nvPr/>
        </p:nvCxnSpPr>
        <p:spPr>
          <a:xfrm>
            <a:off x="8289340" y="1517904"/>
            <a:ext cx="3289707"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289340" y="1591056"/>
            <a:ext cx="3289706" cy="19019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 </a:t>
            </a:r>
          </a:p>
        </p:txBody>
      </p:sp>
      <p:sp>
        <p:nvSpPr>
          <p:cNvPr id="73" name="Rectangle 72"/>
          <p:cNvSpPr/>
          <p:nvPr/>
        </p:nvSpPr>
        <p:spPr>
          <a:xfrm>
            <a:off x="502920" y="3840480"/>
            <a:ext cx="11185855" cy="141732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02920" y="3840480"/>
            <a:ext cx="45720"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67512" y="3913632"/>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READING</a:t>
            </a:r>
          </a:p>
        </p:txBody>
      </p:sp>
      <p:cxnSp>
        <p:nvCxnSpPr>
          <p:cNvPr id="76" name="Connector 75"/>
          <p:cNvCxnSpPr/>
          <p:nvPr/>
        </p:nvCxnSpPr>
        <p:spPr>
          <a:xfrm>
            <a:off x="667512" y="4169664"/>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7512" y="4261104"/>
            <a:ext cx="10893247" cy="923544"/>
          </a:xfrm>
          <a:prstGeom prst="rect">
            <a:avLst/>
          </a:prstGeom>
          <a:noFill/>
        </p:spPr>
        <p:txBody>
          <a:bodyPr wrap="square" lIns="0" tIns="0" rIns="0" bIns="0" anchor="t">
            <a:noAutofit/>
          </a:bodyPr>
          <a:lstStyle/>
          <a:p>
            <a:pPr algn="ctr">
              <a:lnSpc>
                <a:spcPct val="100000"/>
              </a:lnSpc>
              <a:spcBef>
                <a:spcPts val="0"/>
              </a:spcBef>
              <a:spcAft>
                <a:spcPts val="500"/>
              </a:spcAft>
            </a:pPr>
            <a:r>
              <a:rPr sz="1500" b="1" i="0">
                <a:solidFill>
                  <a:srgbClr val="E11D48"/>
                </a:solidFill>
                <a:latin typeface="Times New Roman"/>
              </a:rPr>
              <a:t>55 arms learned in one vectorized step, 660 candidates scored each round, one LP</a:t>
            </a:r>
          </a:p>
          <a:p>
            <a:pPr algn="l">
              <a:lnSpc>
                <a:spcPct val="108000"/>
              </a:lnSpc>
              <a:spcBef>
                <a:spcPts val="0"/>
              </a:spcBef>
              <a:spcAft>
                <a:spcPts val="300"/>
              </a:spcAft>
            </a:pPr>
            <a:r>
              <a:rPr sz="1300" b="1" i="0">
                <a:solidFill>
                  <a:srgbClr val="F0F0F5"/>
                </a:solidFill>
                <a:latin typeface="Times New Roman"/>
              </a:rPr>
              <a:t>The indices update in a single NumPy step; the oracle enumerates every feasible (set, bids) pair and applies the three budget filters before the argmax; the LP is solved once at start-up. All of it is covered by tests (feasibility, budget safety, warm-up, benchmark dominance): full suite 33/33 passing.</a:t>
            </a:r>
          </a:p>
        </p:txBody>
      </p:sp>
      <p:pic>
        <p:nvPicPr>
          <p:cNvPr id="78" name="Picture 77" descr="c_indices.png"/>
          <p:cNvPicPr>
            <a:picLocks noChangeAspect="1"/>
          </p:cNvPicPr>
          <p:nvPr/>
        </p:nvPicPr>
        <p:blipFill>
          <a:blip r:embed="rId3"/>
          <a:stretch>
            <a:fillRect/>
          </a:stretch>
        </p:blipFill>
        <p:spPr>
          <a:xfrm>
            <a:off x="665673" y="1700784"/>
            <a:ext cx="3256808" cy="1311182"/>
          </a:xfrm>
          <a:prstGeom prst="rect">
            <a:avLst/>
          </a:prstGeom>
        </p:spPr>
      </p:pic>
      <p:pic>
        <p:nvPicPr>
          <p:cNvPr id="79" name="Picture 78" descr="c_oracle.png"/>
          <p:cNvPicPr>
            <a:picLocks noChangeAspect="1"/>
          </p:cNvPicPr>
          <p:nvPr/>
        </p:nvPicPr>
        <p:blipFill>
          <a:blip r:embed="rId4"/>
          <a:stretch>
            <a:fillRect/>
          </a:stretch>
        </p:blipFill>
        <p:spPr>
          <a:xfrm>
            <a:off x="4588391" y="1700784"/>
            <a:ext cx="3051488" cy="1481328"/>
          </a:xfrm>
          <a:prstGeom prst="rect">
            <a:avLst/>
          </a:prstGeom>
        </p:spPr>
      </p:pic>
      <p:pic>
        <p:nvPicPr>
          <p:cNvPr id="80" name="Picture 79" descr="c_lp.png"/>
          <p:cNvPicPr>
            <a:picLocks noChangeAspect="1"/>
          </p:cNvPicPr>
          <p:nvPr/>
        </p:nvPicPr>
        <p:blipFill>
          <a:blip r:embed="rId5"/>
          <a:stretch>
            <a:fillRect/>
          </a:stretch>
        </p:blipFill>
        <p:spPr>
          <a:xfrm>
            <a:off x="8564861" y="1700784"/>
            <a:ext cx="2738663" cy="12801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Reward &amp; regret in detail</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An exploration phase, then exploitation once the arms are learned</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13/18</a:t>
            </a:r>
          </a:p>
        </p:txBody>
      </p:sp>
      <p:sp>
        <p:nvSpPr>
          <p:cNvPr id="58" name="Rectangle 57"/>
          <p:cNvSpPr/>
          <p:nvPr/>
        </p:nvSpPr>
        <p:spPr>
          <a:xfrm>
            <a:off x="502920" y="1170432"/>
            <a:ext cx="5455767" cy="3429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70432"/>
            <a:ext cx="32004" cy="3429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1225296"/>
            <a:ext cx="5272887"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CUMULATIVE REWARD (MEAN ± STD)</a:t>
            </a:r>
          </a:p>
        </p:txBody>
      </p:sp>
      <p:sp>
        <p:nvSpPr>
          <p:cNvPr id="62" name="Rectangle 61"/>
          <p:cNvSpPr/>
          <p:nvPr/>
        </p:nvSpPr>
        <p:spPr>
          <a:xfrm>
            <a:off x="6233007" y="1170432"/>
            <a:ext cx="5455767" cy="3429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233007" y="1170432"/>
            <a:ext cx="32004" cy="3429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342735" y="1225296"/>
            <a:ext cx="5272887"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CUMULATIVE PSEUDO-REGRET VS. CLAIRVOYANT (LP)</a:t>
            </a:r>
          </a:p>
        </p:txBody>
      </p:sp>
      <p:sp>
        <p:nvSpPr>
          <p:cNvPr id="66" name="Rectangle 65"/>
          <p:cNvSpPr/>
          <p:nvPr/>
        </p:nvSpPr>
        <p:spPr>
          <a:xfrm>
            <a:off x="502920" y="4782312"/>
            <a:ext cx="11185855" cy="118872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02920" y="4782312"/>
            <a:ext cx="45720" cy="11887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67512" y="4855464"/>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READING</a:t>
            </a:r>
          </a:p>
        </p:txBody>
      </p:sp>
      <p:cxnSp>
        <p:nvCxnSpPr>
          <p:cNvPr id="69" name="Connector 68"/>
          <p:cNvCxnSpPr/>
          <p:nvPr/>
        </p:nvCxnSpPr>
        <p:spPr>
          <a:xfrm>
            <a:off x="667512" y="5111496"/>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67512" y="5202936"/>
            <a:ext cx="10893247" cy="694944"/>
          </a:xfrm>
          <a:prstGeom prst="rect">
            <a:avLst/>
          </a:prstGeom>
          <a:noFill/>
        </p:spPr>
        <p:txBody>
          <a:bodyPr wrap="square" lIns="0" tIns="0" rIns="0" bIns="0" anchor="t">
            <a:noAutofit/>
          </a:bodyPr>
          <a:lstStyle/>
          <a:p>
            <a:pPr algn="l">
              <a:lnSpc>
                <a:spcPct val="108000"/>
              </a:lnSpc>
              <a:spcBef>
                <a:spcPts val="0"/>
              </a:spcBef>
              <a:spcAft>
                <a:spcPts val="300"/>
              </a:spcAft>
            </a:pPr>
            <a:r>
              <a:rPr sz="1250" b="1" i="0">
                <a:solidFill>
                  <a:srgbClr val="F0F0F5"/>
                </a:solidFill>
                <a:latin typeface="Times New Roman"/>
              </a:rPr>
              <a:t>Final reward 405.3 ± 6.9. Against the clairvoyant LP optimum the cumulative pseudo-regret stays non-negative and grows sub-linearly to +296.7 ± 3.0: the curve is steep early and flattens once the arms are learned, with a final slope about a quarter of the initial one. The residual slope reflects the mixing clairvoyant benchmark, which a single super-arm per round cannot fully match.</a:t>
            </a:r>
          </a:p>
        </p:txBody>
      </p:sp>
      <p:pic>
        <p:nvPicPr>
          <p:cNvPr id="73" name="Picture 72" descr="req2_cumulative_reward.png"/>
          <p:cNvPicPr>
            <a:picLocks noChangeAspect="1"/>
          </p:cNvPicPr>
          <p:nvPr/>
        </p:nvPicPr>
        <p:blipFill>
          <a:blip r:embed="rId3"/>
          <a:stretch>
            <a:fillRect/>
          </a:stretch>
        </p:blipFill>
        <p:spPr>
          <a:xfrm>
            <a:off x="678103" y="1481328"/>
            <a:ext cx="5105400" cy="3063240"/>
          </a:xfrm>
          <a:prstGeom prst="rect">
            <a:avLst/>
          </a:prstGeom>
        </p:spPr>
      </p:pic>
      <p:pic>
        <p:nvPicPr>
          <p:cNvPr id="74" name="Picture 73" descr="req2_cumulative_regret.png"/>
          <p:cNvPicPr>
            <a:picLocks noChangeAspect="1"/>
          </p:cNvPicPr>
          <p:nvPr/>
        </p:nvPicPr>
        <p:blipFill>
          <a:blip r:embed="rId4"/>
          <a:stretch>
            <a:fillRect/>
          </a:stretch>
        </p:blipFill>
        <p:spPr>
          <a:xfrm>
            <a:off x="6408191" y="1481328"/>
            <a:ext cx="5105400" cy="3063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Budget usage in detail</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The key Req2 safety check: spend it all, but stay under the cap</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14/18</a:t>
            </a:r>
          </a:p>
        </p:txBody>
      </p:sp>
      <p:sp>
        <p:nvSpPr>
          <p:cNvPr id="58" name="Rectangle 57"/>
          <p:cNvSpPr/>
          <p:nvPr/>
        </p:nvSpPr>
        <p:spPr>
          <a:xfrm>
            <a:off x="502920" y="1170432"/>
            <a:ext cx="5455767" cy="3429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70432"/>
            <a:ext cx="32004" cy="3429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1225296"/>
            <a:ext cx="5272887"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CUMULATIVE COST (MEAN ± STD)</a:t>
            </a:r>
          </a:p>
        </p:txBody>
      </p:sp>
      <p:sp>
        <p:nvSpPr>
          <p:cNvPr id="62" name="Rectangle 61"/>
          <p:cNvSpPr/>
          <p:nvPr/>
        </p:nvSpPr>
        <p:spPr>
          <a:xfrm>
            <a:off x="6233007" y="1170432"/>
            <a:ext cx="5455767" cy="3429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233007" y="1170432"/>
            <a:ext cx="32004" cy="3429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342735" y="1225296"/>
            <a:ext cx="5272887"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BUDGET REMAINING OVER TIME</a:t>
            </a:r>
          </a:p>
        </p:txBody>
      </p:sp>
      <p:sp>
        <p:nvSpPr>
          <p:cNvPr id="66" name="Rectangle 65"/>
          <p:cNvSpPr/>
          <p:nvPr/>
        </p:nvSpPr>
        <p:spPr>
          <a:xfrm>
            <a:off x="502920" y="4782312"/>
            <a:ext cx="11185855" cy="1188720"/>
          </a:xfrm>
          <a:prstGeom prst="rect">
            <a:avLst/>
          </a:prstGeom>
          <a:solidFill>
            <a:srgbClr val="2A0F1A"/>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02920" y="4782312"/>
            <a:ext cx="45720" cy="11887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67512" y="4855464"/>
            <a:ext cx="10893247"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READING</a:t>
            </a:r>
          </a:p>
        </p:txBody>
      </p:sp>
      <p:cxnSp>
        <p:nvCxnSpPr>
          <p:cNvPr id="69" name="Connector 68"/>
          <p:cNvCxnSpPr/>
          <p:nvPr/>
        </p:nvCxnSpPr>
        <p:spPr>
          <a:xfrm>
            <a:off x="667512" y="5111496"/>
            <a:ext cx="10893247" cy="0"/>
          </a:xfrm>
          <a:prstGeom prst="bentConnector3">
            <a:avLst/>
          </a:prstGeom>
          <a:ln w="635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67512" y="5202936"/>
            <a:ext cx="10893247" cy="694944"/>
          </a:xfrm>
          <a:prstGeom prst="rect">
            <a:avLst/>
          </a:prstGeom>
          <a:noFill/>
        </p:spPr>
        <p:txBody>
          <a:bodyPr wrap="square" lIns="0" tIns="0" rIns="0" bIns="0" anchor="t">
            <a:noAutofit/>
          </a:bodyPr>
          <a:lstStyle/>
          <a:p>
            <a:pPr algn="l">
              <a:lnSpc>
                <a:spcPct val="108000"/>
              </a:lnSpc>
              <a:spcBef>
                <a:spcPts val="0"/>
              </a:spcBef>
              <a:spcAft>
                <a:spcPts val="300"/>
              </a:spcAft>
            </a:pPr>
            <a:r>
              <a:rPr sz="1250" b="1" i="0">
                <a:solidFill>
                  <a:srgbClr val="F0F0F5"/>
                </a:solidFill>
                <a:latin typeface="Times New Roman"/>
              </a:rPr>
              <a:t>Mean cost 848.0 ± 1.9 against a budget of 850, ending with only 1.9 ± 1.9 units unused. The budget is paced smoothly and almost fully across the horizon, and the hard cap is never violated on any of the 20 seeds, exactly the behaviour the three filters are designed to guarantee.</a:t>
            </a:r>
          </a:p>
        </p:txBody>
      </p:sp>
      <p:pic>
        <p:nvPicPr>
          <p:cNvPr id="73" name="Picture 72" descr="req2_cumulative_cost.png"/>
          <p:cNvPicPr>
            <a:picLocks noChangeAspect="1"/>
          </p:cNvPicPr>
          <p:nvPr/>
        </p:nvPicPr>
        <p:blipFill>
          <a:blip r:embed="rId3"/>
          <a:stretch>
            <a:fillRect/>
          </a:stretch>
        </p:blipFill>
        <p:spPr>
          <a:xfrm>
            <a:off x="678103" y="1481328"/>
            <a:ext cx="5105400" cy="3063240"/>
          </a:xfrm>
          <a:prstGeom prst="rect">
            <a:avLst/>
          </a:prstGeom>
        </p:spPr>
      </p:pic>
      <p:pic>
        <p:nvPicPr>
          <p:cNvPr id="74" name="Picture 73" descr="req2_budget_left.png"/>
          <p:cNvPicPr>
            <a:picLocks noChangeAspect="1"/>
          </p:cNvPicPr>
          <p:nvPr/>
        </p:nvPicPr>
        <p:blipFill>
          <a:blip r:embed="rId4"/>
          <a:stretch>
            <a:fillRect/>
          </a:stretch>
        </p:blipFill>
        <p:spPr>
          <a:xfrm>
            <a:off x="6408191" y="1481328"/>
            <a:ext cx="5105400" cy="3063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Is the regret sub-linear?</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Comparing the measured curve with the theoretical growth rates</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15/18</a:t>
            </a:r>
          </a:p>
        </p:txBody>
      </p:sp>
      <p:sp>
        <p:nvSpPr>
          <p:cNvPr id="58" name="Rectangle 57"/>
          <p:cNvSpPr/>
          <p:nvPr/>
        </p:nvSpPr>
        <p:spPr>
          <a:xfrm>
            <a:off x="502920" y="1170432"/>
            <a:ext cx="6152220" cy="4572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70432"/>
            <a:ext cx="32004" cy="4572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1243584"/>
            <a:ext cx="5969340"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MEASURED REGRET VS REFERENCE GROWTH RATES</a:t>
            </a:r>
          </a:p>
        </p:txBody>
      </p:sp>
      <p:sp>
        <p:nvSpPr>
          <p:cNvPr id="62" name="Rectangle 61"/>
          <p:cNvSpPr/>
          <p:nvPr/>
        </p:nvSpPr>
        <p:spPr>
          <a:xfrm>
            <a:off x="6929460" y="1170432"/>
            <a:ext cx="4759314" cy="21488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929460" y="1170432"/>
            <a:ext cx="32004" cy="21488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075764" y="1243584"/>
            <a:ext cx="450328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COURSE THEOREM</a:t>
            </a:r>
          </a:p>
        </p:txBody>
      </p:sp>
      <p:cxnSp>
        <p:nvCxnSpPr>
          <p:cNvPr id="65" name="Connector 64"/>
          <p:cNvCxnSpPr/>
          <p:nvPr/>
        </p:nvCxnSpPr>
        <p:spPr>
          <a:xfrm>
            <a:off x="7075764" y="1499616"/>
            <a:ext cx="450328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075764" y="1572768"/>
            <a:ext cx="4503282" cy="16733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Combinatorial-UCB has logarithmic instance-dependent pseudo-regret against the best fixed super-arm; the constant C depends on the instance and can be arbitrarily large (here: 55 arms, small reward gaps).</a:t>
            </a:r>
          </a:p>
        </p:txBody>
      </p:sp>
      <p:sp>
        <p:nvSpPr>
          <p:cNvPr id="67" name="Rectangle 66"/>
          <p:cNvSpPr/>
          <p:nvPr/>
        </p:nvSpPr>
        <p:spPr>
          <a:xfrm>
            <a:off x="6929460" y="3502152"/>
            <a:ext cx="4759314" cy="22402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929460" y="3502152"/>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075764" y="3575304"/>
            <a:ext cx="450328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MEASURED</a:t>
            </a:r>
          </a:p>
        </p:txBody>
      </p:sp>
      <p:cxnSp>
        <p:nvCxnSpPr>
          <p:cNvPr id="70" name="Connector 69"/>
          <p:cNvCxnSpPr/>
          <p:nvPr/>
        </p:nvCxnSpPr>
        <p:spPr>
          <a:xfrm>
            <a:off x="7075764" y="3831336"/>
            <a:ext cx="450328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075764" y="3904488"/>
            <a:ext cx="4503282" cy="1764791"/>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 </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Clearly sub-linear (p = 1 would be linear). Why not 0.5? The LP clairvoyant may alternate expensive and cheap sets so that costs only average 0.85; we play one set per round under a hard cap, so our ceiling is the best fixed set: 0.65 vs 0.705. That fixed 0.053 per round, about 53 of the 297, is a design choice, not a learning failure.</a:t>
            </a:r>
          </a:p>
        </p:txBody>
      </p:sp>
      <p:pic>
        <p:nvPicPr>
          <p:cNvPr id="73" name="Picture 72" descr="f_thm.png"/>
          <p:cNvPicPr>
            <a:picLocks noChangeAspect="1"/>
          </p:cNvPicPr>
          <p:nvPr/>
        </p:nvPicPr>
        <p:blipFill>
          <a:blip r:embed="rId3"/>
          <a:stretch>
            <a:fillRect/>
          </a:stretch>
        </p:blipFill>
        <p:spPr>
          <a:xfrm>
            <a:off x="8660353" y="1600200"/>
            <a:ext cx="1334103" cy="274320"/>
          </a:xfrm>
          <a:prstGeom prst="rect">
            <a:avLst/>
          </a:prstGeom>
        </p:spPr>
      </p:pic>
      <p:pic>
        <p:nvPicPr>
          <p:cNvPr id="75" name="Picture 74" descr="req2_regret_vs_theory.png"/>
          <p:cNvPicPr>
            <a:picLocks noChangeAspect="1"/>
          </p:cNvPicPr>
          <p:nvPr/>
        </p:nvPicPr>
        <p:blipFill>
          <a:blip r:embed="rId4"/>
          <a:stretch>
            <a:fillRect/>
          </a:stretch>
        </p:blipFill>
        <p:spPr>
          <a:xfrm>
            <a:off x="684276" y="1828800"/>
            <a:ext cx="5791200" cy="3474720"/>
          </a:xfrm>
          <a:prstGeom prst="rect">
            <a:avLst/>
          </a:prstGeom>
        </p:spPr>
      </p:pic>
      <p:pic>
        <p:nvPicPr>
          <p:cNvPr id="76" name="Picture 75" descr="f_fit.png"/>
          <p:cNvPicPr>
            <a:picLocks noChangeAspect="1"/>
          </p:cNvPicPr>
          <p:nvPr/>
        </p:nvPicPr>
        <p:blipFill>
          <a:blip r:embed="rId5"/>
          <a:stretch>
            <a:fillRect/>
          </a:stretch>
        </p:blipFill>
        <p:spPr>
          <a:xfrm>
            <a:off x="8325841" y="3931920"/>
            <a:ext cx="2003128" cy="2743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Choosing the exploration coefficient c</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A deliberately conservative exploration, and why the textbook c = 1 fails here</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16/18</a:t>
            </a:r>
          </a:p>
        </p:txBody>
      </p:sp>
      <p:sp>
        <p:nvSpPr>
          <p:cNvPr id="58" name="Rectangle 57"/>
          <p:cNvSpPr/>
          <p:nvPr/>
        </p:nvSpPr>
        <p:spPr>
          <a:xfrm>
            <a:off x="502920" y="1170432"/>
            <a:ext cx="6152220" cy="4572000"/>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170432"/>
            <a:ext cx="32004" cy="4572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1243584"/>
            <a:ext cx="5969340"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a:solidFill>
                  <a:srgbClr val="E11D48"/>
                </a:solidFill>
                <a:latin typeface="Times New Roman"/>
              </a:rPr>
              <a:t>CUMULATIVE PSEUDO-REGRET FOR c IN {0.25, 0.5, 1.0}</a:t>
            </a:r>
          </a:p>
        </p:txBody>
      </p:sp>
      <p:sp>
        <p:nvSpPr>
          <p:cNvPr id="62" name="Rectangle 61"/>
          <p:cNvSpPr/>
          <p:nvPr/>
        </p:nvSpPr>
        <p:spPr>
          <a:xfrm>
            <a:off x="6929460" y="1170432"/>
            <a:ext cx="4759314" cy="21488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929460" y="1170432"/>
            <a:ext cx="32004" cy="21488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075764" y="1243584"/>
            <a:ext cx="450328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ROLE IN THE ALGORITHM</a:t>
            </a:r>
          </a:p>
        </p:txBody>
      </p:sp>
      <p:cxnSp>
        <p:nvCxnSpPr>
          <p:cNvPr id="65" name="Connector 64"/>
          <p:cNvCxnSpPr/>
          <p:nvPr/>
        </p:nvCxnSpPr>
        <p:spPr>
          <a:xfrm>
            <a:off x="7075764" y="1499616"/>
            <a:ext cx="450328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090700" y="1696212"/>
            <a:ext cx="4503282" cy="16733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dirty="0">
                <a:solidFill>
                  <a:srgbClr val="E11D48"/>
                </a:solidFill>
                <a:latin typeface="Times New Roman"/>
              </a:rPr>
              <a:t> </a:t>
            </a:r>
          </a:p>
          <a:p>
            <a:pPr algn="l">
              <a:lnSpc>
                <a:spcPct val="100000"/>
              </a:lnSpc>
              <a:spcBef>
                <a:spcPts val="0"/>
              </a:spcBef>
              <a:spcAft>
                <a:spcPts val="200"/>
              </a:spcAft>
            </a:pPr>
            <a:r>
              <a:rPr sz="400" b="0" i="0" dirty="0">
                <a:solidFill>
                  <a:srgbClr val="F0F0F5"/>
                </a:solidFill>
                <a:latin typeface="Times New Roman"/>
              </a:rPr>
              <a:t> </a:t>
            </a:r>
          </a:p>
          <a:p>
            <a:pPr algn="l">
              <a:lnSpc>
                <a:spcPct val="116000"/>
              </a:lnSpc>
              <a:spcBef>
                <a:spcPts val="0"/>
              </a:spcBef>
              <a:spcAft>
                <a:spcPts val="300"/>
              </a:spcAft>
            </a:pPr>
            <a:r>
              <a:rPr sz="1250" b="0" i="0" dirty="0">
                <a:solidFill>
                  <a:srgbClr val="F0F0F5"/>
                </a:solidFill>
                <a:latin typeface="Times New Roman"/>
              </a:rPr>
              <a:t>Every round the oracle plays the feasible super-arm maximizing Σ (mean + w), so the bonus enters every single selection: c scales how strongly under-sampled arms are favoured. It rescales the confidence width to the true reward scale (max 0.38, not 1).</a:t>
            </a:r>
          </a:p>
        </p:txBody>
      </p:sp>
      <p:sp>
        <p:nvSpPr>
          <p:cNvPr id="67" name="Rectangle 66"/>
          <p:cNvSpPr/>
          <p:nvPr/>
        </p:nvSpPr>
        <p:spPr>
          <a:xfrm>
            <a:off x="6929460" y="3502152"/>
            <a:ext cx="4759314" cy="22402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929460" y="3502152"/>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075764" y="3575304"/>
            <a:ext cx="450328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SWEEP &amp; CHOICE</a:t>
            </a:r>
          </a:p>
        </p:txBody>
      </p:sp>
      <p:cxnSp>
        <p:nvCxnSpPr>
          <p:cNvPr id="70" name="Connector 69"/>
          <p:cNvCxnSpPr/>
          <p:nvPr/>
        </p:nvCxnSpPr>
        <p:spPr>
          <a:xfrm>
            <a:off x="7075764" y="3831336"/>
            <a:ext cx="450328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075764" y="3904488"/>
            <a:ext cx="4503282" cy="1764791"/>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c: 0.25 / 0.5 / 1.0   ⇒   R_T: 168 / 297 / 401</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The textbook bonus is calibrated for rewards spanning [0,1]; here the best arm pays 0.38, so with c = 1 optimism dominates every index and exploration never ends within T = 1000 (regret 401, near-linear). We pick the conservative middle c = 0.5: enough to converge in time, without over-tuning to this instance like c = 0.25, which risks locking on a wrong arm when gaps are smaller.</a:t>
            </a:r>
          </a:p>
        </p:txBody>
      </p:sp>
      <p:pic>
        <p:nvPicPr>
          <p:cNvPr id="73" name="Picture 72" descr="f_w.png"/>
          <p:cNvPicPr>
            <a:picLocks noChangeAspect="1"/>
          </p:cNvPicPr>
          <p:nvPr/>
        </p:nvPicPr>
        <p:blipFill>
          <a:blip r:embed="rId3"/>
          <a:stretch>
            <a:fillRect/>
          </a:stretch>
        </p:blipFill>
        <p:spPr>
          <a:xfrm>
            <a:off x="8673378" y="1600200"/>
            <a:ext cx="1308053" cy="420624"/>
          </a:xfrm>
          <a:prstGeom prst="rect">
            <a:avLst/>
          </a:prstGeom>
        </p:spPr>
      </p:pic>
      <p:pic>
        <p:nvPicPr>
          <p:cNvPr id="74" name="Picture 73" descr="req2_c_comparison.png"/>
          <p:cNvPicPr>
            <a:picLocks noChangeAspect="1"/>
          </p:cNvPicPr>
          <p:nvPr/>
        </p:nvPicPr>
        <p:blipFill>
          <a:blip r:embed="rId4"/>
          <a:stretch>
            <a:fillRect/>
          </a:stretch>
        </p:blipFill>
        <p:spPr>
          <a:xfrm>
            <a:off x="684276" y="1828800"/>
            <a:ext cx="5791200" cy="34747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a:cxnSpLocks/>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The bidding trade-off</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Each campaign faces a different market: the cheapest, 0 and 2, leave the most surplus</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17/18</a:t>
            </a:r>
          </a:p>
        </p:txBody>
      </p:sp>
      <p:sp>
        <p:nvSpPr>
          <p:cNvPr id="58" name="Rectangle 57"/>
          <p:cNvSpPr/>
          <p:nvPr/>
        </p:nvSpPr>
        <p:spPr>
          <a:xfrm>
            <a:off x="502920" y="1554479"/>
            <a:ext cx="6152220" cy="4131259"/>
          </a:xfrm>
          <a:prstGeom prst="rect">
            <a:avLst/>
          </a:prstGeom>
          <a:solidFill>
            <a:srgbClr val="FFFFF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19" y="1600201"/>
            <a:ext cx="47549" cy="408553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12648" y="1691356"/>
            <a:ext cx="5969340" cy="219456"/>
          </a:xfrm>
          <a:prstGeom prst="rect">
            <a:avLst/>
          </a:prstGeom>
          <a:noFill/>
        </p:spPr>
        <p:txBody>
          <a:bodyPr wrap="square" lIns="0" tIns="0" rIns="0" bIns="0" anchor="t">
            <a:noAutofit/>
          </a:bodyPr>
          <a:lstStyle/>
          <a:p>
            <a:pPr algn="l">
              <a:lnSpc>
                <a:spcPct val="100000"/>
              </a:lnSpc>
              <a:spcBef>
                <a:spcPts val="0"/>
              </a:spcBef>
              <a:spcAft>
                <a:spcPts val="200"/>
              </a:spcAft>
            </a:pPr>
            <a:r>
              <a:rPr sz="1050" b="1" i="0" dirty="0">
                <a:solidFill>
                  <a:srgbClr val="E11D48"/>
                </a:solidFill>
                <a:latin typeface="Times New Roman"/>
              </a:rPr>
              <a:t>EXPECTED REWARD (v - b) p(b) FOR ALL 5 CAMPAIGNS</a:t>
            </a:r>
          </a:p>
        </p:txBody>
      </p:sp>
      <p:sp>
        <p:nvSpPr>
          <p:cNvPr id="62" name="Rectangle 61"/>
          <p:cNvSpPr/>
          <p:nvPr/>
        </p:nvSpPr>
        <p:spPr>
          <a:xfrm>
            <a:off x="6929460" y="1170432"/>
            <a:ext cx="4759314" cy="214884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6929460" y="1170432"/>
            <a:ext cx="32004" cy="21488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075764" y="1243584"/>
            <a:ext cx="450328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STOCHASTIC MARKET MODEL</a:t>
            </a:r>
          </a:p>
        </p:txBody>
      </p:sp>
      <p:cxnSp>
        <p:nvCxnSpPr>
          <p:cNvPr id="65" name="Connector 64"/>
          <p:cNvCxnSpPr/>
          <p:nvPr/>
        </p:nvCxnSpPr>
        <p:spPr>
          <a:xfrm>
            <a:off x="7075764" y="1499616"/>
            <a:ext cx="450328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7075764" y="1572768"/>
            <a:ext cx="4503282" cy="1673352"/>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m̃</a:t>
            </a:r>
            <a:r>
              <a:rPr sz="1131" b="1" i="0" baseline="-25000">
                <a:solidFill>
                  <a:srgbClr val="E11D48"/>
                </a:solidFill>
                <a:latin typeface="Times New Roman"/>
              </a:rPr>
              <a:t>t</a:t>
            </a:r>
            <a:r>
              <a:rPr sz="1450" b="1" i="0">
                <a:solidFill>
                  <a:srgbClr val="E11D48"/>
                </a:solidFill>
                <a:latin typeface="Times New Roman"/>
              </a:rPr>
              <a:t> ∼ 𝒩(μ, Σ),   m</a:t>
            </a:r>
            <a:r>
              <a:rPr sz="1131" b="1" i="0" baseline="-25000">
                <a:solidFill>
                  <a:srgbClr val="E11D48"/>
                </a:solidFill>
                <a:latin typeface="Times New Roman"/>
              </a:rPr>
              <a:t>t</a:t>
            </a:r>
            <a:r>
              <a:rPr sz="1450" b="1" i="0">
                <a:solidFill>
                  <a:srgbClr val="E11D48"/>
                </a:solidFill>
                <a:latin typeface="Times New Roman"/>
              </a:rPr>
              <a:t> = clip</a:t>
            </a:r>
            <a:r>
              <a:rPr sz="1131" b="1" i="0" baseline="-25000">
                <a:solidFill>
                  <a:srgbClr val="E11D48"/>
                </a:solidFill>
                <a:latin typeface="Times New Roman"/>
              </a:rPr>
              <a:t>[0,1]^N</a:t>
            </a:r>
            <a:r>
              <a:rPr sz="1450" b="1" i="0">
                <a:solidFill>
                  <a:srgbClr val="E11D48"/>
                </a:solidFill>
                <a:latin typeface="Times New Roman"/>
              </a:rPr>
              <a:t>(m̃</a:t>
            </a:r>
            <a:r>
              <a:rPr sz="1131" b="1" i="0" baseline="-25000">
                <a:solidFill>
                  <a:srgbClr val="E11D48"/>
                </a:solidFill>
                <a:latin typeface="Times New Roman"/>
              </a:rPr>
              <a:t>t</a:t>
            </a:r>
            <a:r>
              <a:rPr sz="1450" b="1" i="0">
                <a:solidFill>
                  <a:srgbClr val="E11D48"/>
                </a:solidFill>
                <a:latin typeface="Times New Roman"/>
              </a:rPr>
              <a:t>)</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Rival bids are drawn from a Gaussian and then clipped to [0,1]. Here μ = (0.44, 0.58, 0.48, 0.60, 0.56) and σ = 0.1, and conflicting pairs on the 5-cycle are correlated, α = 0.8, so their markets move together.</a:t>
            </a:r>
          </a:p>
        </p:txBody>
      </p:sp>
      <p:sp>
        <p:nvSpPr>
          <p:cNvPr id="67" name="Rectangle 66"/>
          <p:cNvSpPr/>
          <p:nvPr/>
        </p:nvSpPr>
        <p:spPr>
          <a:xfrm>
            <a:off x="6929460" y="3502152"/>
            <a:ext cx="4759314" cy="22402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929460" y="3502152"/>
            <a:ext cx="32004" cy="22402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075764" y="3575304"/>
            <a:ext cx="450328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EXPECTED REWARD &amp; COST</a:t>
            </a:r>
          </a:p>
        </p:txBody>
      </p:sp>
      <p:cxnSp>
        <p:nvCxnSpPr>
          <p:cNvPr id="70" name="Connector 69"/>
          <p:cNvCxnSpPr/>
          <p:nvPr/>
        </p:nvCxnSpPr>
        <p:spPr>
          <a:xfrm>
            <a:off x="7075764" y="3831336"/>
            <a:ext cx="450328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075764" y="3904488"/>
            <a:ext cx="4503282" cy="1764791"/>
          </a:xfrm>
          <a:prstGeom prst="rect">
            <a:avLst/>
          </a:prstGeom>
          <a:noFill/>
        </p:spPr>
        <p:txBody>
          <a:bodyPr wrap="square" lIns="0" tIns="0" rIns="0" bIns="0" anchor="t">
            <a:noAutofit/>
          </a:bodyPr>
          <a:lstStyle/>
          <a:p>
            <a:pPr algn="ctr">
              <a:lnSpc>
                <a:spcPct val="100000"/>
              </a:lnSpc>
              <a:spcBef>
                <a:spcPts val="200"/>
              </a:spcBef>
              <a:spcAft>
                <a:spcPts val="500"/>
              </a:spcAft>
            </a:pPr>
            <a:r>
              <a:rPr sz="1450" b="1" i="0">
                <a:solidFill>
                  <a:srgbClr val="E11D48"/>
                </a:solidFill>
                <a:latin typeface="Times New Roman"/>
              </a:rPr>
              <a:t>𝔼[r | b] = (v</a:t>
            </a:r>
            <a:r>
              <a:rPr sz="1131" b="1" i="0" baseline="-25000">
                <a:solidFill>
                  <a:srgbClr val="E11D48"/>
                </a:solidFill>
                <a:latin typeface="Times New Roman"/>
              </a:rPr>
              <a:t>i</a:t>
            </a:r>
            <a:r>
              <a:rPr sz="1450" b="1" i="0">
                <a:solidFill>
                  <a:srgbClr val="E11D48"/>
                </a:solidFill>
                <a:latin typeface="Times New Roman"/>
              </a:rPr>
              <a:t> − b) · p</a:t>
            </a:r>
            <a:r>
              <a:rPr sz="1131" b="1" i="0" baseline="-25000">
                <a:solidFill>
                  <a:srgbClr val="E11D48"/>
                </a:solidFill>
                <a:latin typeface="Times New Roman"/>
              </a:rPr>
              <a:t>i</a:t>
            </a:r>
            <a:r>
              <a:rPr sz="1450" b="1" i="0">
                <a:solidFill>
                  <a:srgbClr val="E11D48"/>
                </a:solidFill>
                <a:latin typeface="Times New Roman"/>
              </a:rPr>
              <a:t>(b),    𝔼[c | b] = b · p</a:t>
            </a:r>
            <a:r>
              <a:rPr sz="1131" b="1" i="0" baseline="-25000">
                <a:solidFill>
                  <a:srgbClr val="E11D48"/>
                </a:solidFill>
                <a:latin typeface="Times New Roman"/>
              </a:rPr>
              <a:t>i</a:t>
            </a:r>
            <a:r>
              <a:rPr sz="1450" b="1" i="0">
                <a:solidFill>
                  <a:srgbClr val="E11D48"/>
                </a:solidFill>
                <a:latin typeface="Times New Roman"/>
              </a:rPr>
              <a:t>(b)</a:t>
            </a:r>
          </a:p>
          <a:p>
            <a:pPr algn="l">
              <a:lnSpc>
                <a:spcPct val="100000"/>
              </a:lnSpc>
              <a:spcBef>
                <a:spcPts val="0"/>
              </a:spcBef>
              <a:spcAft>
                <a:spcPts val="200"/>
              </a:spcAft>
            </a:pPr>
            <a:r>
              <a:rPr sz="400" b="0" i="0">
                <a:solidFill>
                  <a:srgbClr val="F0F0F5"/>
                </a:solidFill>
                <a:latin typeface="Times New Roman"/>
              </a:rPr>
              <a:t> </a:t>
            </a:r>
          </a:p>
          <a:p>
            <a:pPr algn="l">
              <a:lnSpc>
                <a:spcPct val="116000"/>
              </a:lnSpc>
              <a:spcBef>
                <a:spcPts val="0"/>
              </a:spcBef>
              <a:spcAft>
                <a:spcPts val="300"/>
              </a:spcAft>
            </a:pPr>
            <a:r>
              <a:rPr sz="1250" b="0" i="0">
                <a:solidFill>
                  <a:srgbClr val="F0F0F5"/>
                </a:solidFill>
                <a:latin typeface="Times New Roman"/>
              </a:rPr>
              <a:t>with win probability p_i(b) = P(b &gt;= m_i). Each curve is hump-shaped (win more but keep less surplus), and the cheapest campaigns 0 and 2 peak highest (0.38 and 0.35 at bid 0.6), which is exactly why the best pair is {0,2}.</a:t>
            </a:r>
          </a:p>
        </p:txBody>
      </p:sp>
      <p:pic>
        <p:nvPicPr>
          <p:cNvPr id="72" name="Picture 71" descr="req2_bidding_tradeoff.png"/>
          <p:cNvPicPr>
            <a:picLocks noChangeAspect="1"/>
          </p:cNvPicPr>
          <p:nvPr/>
        </p:nvPicPr>
        <p:blipFill>
          <a:blip r:embed="rId3"/>
          <a:stretch>
            <a:fillRect/>
          </a:stretch>
        </p:blipFill>
        <p:spPr>
          <a:xfrm>
            <a:off x="624078" y="1969693"/>
            <a:ext cx="5969340" cy="353015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0E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705432" y="0"/>
            <a:ext cx="5486262" cy="6858000"/>
          </a:xfrm>
          <a:prstGeom prst="rect">
            <a:avLst/>
          </a:prstGeom>
          <a:solidFill>
            <a:srgbClr val="1C07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277295" y="137159"/>
            <a:ext cx="822960" cy="82296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957255" y="-182880"/>
            <a:ext cx="1463040" cy="146304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637215" y="-502919"/>
            <a:ext cx="2103120" cy="210312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17175" y="-822960"/>
            <a:ext cx="2743200" cy="274320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997135" y="-1143000"/>
            <a:ext cx="3383280" cy="3383280"/>
          </a:xfrm>
          <a:prstGeom prst="ellipse">
            <a:avLst/>
          </a:prstGeom>
          <a:noFill/>
          <a:ln w="7620">
            <a:solidFill>
              <a:srgbClr val="E11D48">
                <a:alpha val="3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624767" y="484632"/>
            <a:ext cx="128016" cy="128016"/>
          </a:xfrm>
          <a:prstGeom prst="ellipse">
            <a:avLst/>
          </a:prstGeom>
          <a:solidFill>
            <a:srgbClr val="E11D48">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82803"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82803"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82803"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82803"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84555"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84555"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84555"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84555"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86307"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86307"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86307"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86307"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88059"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388059"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8059"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388059"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689811" y="6334963"/>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689811" y="6033211"/>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689811" y="5731459"/>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89811" y="5429707"/>
            <a:ext cx="40233" cy="40233"/>
          </a:xfrm>
          <a:prstGeom prst="ellipse">
            <a:avLst/>
          </a:prstGeom>
          <a:solidFill>
            <a:srgbClr val="E11D48">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146304" y="2057400"/>
            <a:ext cx="54864" cy="2743200"/>
          </a:xfrm>
          <a:prstGeom prst="rect">
            <a:avLst/>
          </a:prstGeom>
          <a:solidFill>
            <a:srgbClr val="E11D48">
              <a:alpha val="3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253167"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253167"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253167"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554919"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0554919"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54919"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6671"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856671"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856671"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158423" y="1901952"/>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158423" y="2203704"/>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1158423" y="2505456"/>
            <a:ext cx="36576" cy="36576"/>
          </a:xfrm>
          <a:prstGeom prst="ellipse">
            <a:avLst/>
          </a:prstGeom>
          <a:solidFill>
            <a:srgbClr val="E11D48">
              <a:alpha val="2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flipV="1">
            <a:off x="5120511" y="5212080"/>
            <a:ext cx="777240" cy="274320"/>
          </a:xfrm>
          <a:prstGeom prst="bentConnector3">
            <a:avLst/>
          </a:prstGeom>
          <a:ln w="8890">
            <a:solidFill>
              <a:srgbClr val="FB3567">
                <a:alpha val="32000"/>
              </a:srgbClr>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0511" y="5486400"/>
            <a:ext cx="384048" cy="50292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504559" y="5212080"/>
            <a:ext cx="393192" cy="777240"/>
          </a:xfrm>
          <a:prstGeom prst="bentConnector3">
            <a:avLst/>
          </a:prstGeom>
          <a:ln w="6350">
            <a:solidFill>
              <a:srgbClr val="E11D48">
                <a:alpha val="32000"/>
              </a:srgbClr>
            </a:solidFill>
            <a:prstDash val="dash"/>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074791" y="544068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029071" y="539496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5852031" y="516636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06311" y="512064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458839" y="5943600"/>
            <a:ext cx="91440" cy="91440"/>
          </a:xfrm>
          <a:prstGeom prst="ellipse">
            <a:avLst/>
          </a:prstGeom>
          <a:solidFill>
            <a:srgbClr val="E11D48">
              <a:alpha val="3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13119" y="5897880"/>
            <a:ext cx="182880" cy="182880"/>
          </a:xfrm>
          <a:prstGeom prst="ellipse">
            <a:avLst/>
          </a:prstGeom>
          <a:noFill/>
          <a:ln w="7620">
            <a:solidFill>
              <a:srgbClr val="E11D48">
                <a:alpha val="33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631375" y="5577840"/>
            <a:ext cx="3108960" cy="3108960"/>
          </a:xfrm>
          <a:prstGeom prst="ellipse">
            <a:avLst/>
          </a:prstGeom>
          <a:noFill/>
          <a:ln w="8890">
            <a:solidFill>
              <a:srgbClr val="FB3567">
                <a:alpha val="24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2920" y="237744"/>
            <a:ext cx="11185855" cy="457200"/>
          </a:xfrm>
          <a:prstGeom prst="rect">
            <a:avLst/>
          </a:prstGeom>
          <a:noFill/>
        </p:spPr>
        <p:txBody>
          <a:bodyPr wrap="square" lIns="0" tIns="0" rIns="0" bIns="0" anchor="t">
            <a:noAutofit/>
          </a:bodyPr>
          <a:lstStyle/>
          <a:p>
            <a:pPr algn="l">
              <a:lnSpc>
                <a:spcPct val="100000"/>
              </a:lnSpc>
              <a:spcBef>
                <a:spcPts val="0"/>
              </a:spcBef>
              <a:spcAft>
                <a:spcPts val="200"/>
              </a:spcAft>
            </a:pPr>
            <a:r>
              <a:rPr sz="2400" b="1" i="0">
                <a:solidFill>
                  <a:srgbClr val="E11D48"/>
                </a:solidFill>
                <a:latin typeface="Times New Roman"/>
              </a:rPr>
              <a:t>Backup · Summary statistics</a:t>
            </a:r>
          </a:p>
        </p:txBody>
      </p:sp>
      <p:sp>
        <p:nvSpPr>
          <p:cNvPr id="54" name="TextBox 53"/>
          <p:cNvSpPr txBox="1"/>
          <p:nvPr/>
        </p:nvSpPr>
        <p:spPr>
          <a:xfrm>
            <a:off x="502920" y="694944"/>
            <a:ext cx="11185855" cy="292608"/>
          </a:xfrm>
          <a:prstGeom prst="rect">
            <a:avLst/>
          </a:prstGeom>
          <a:noFill/>
        </p:spPr>
        <p:txBody>
          <a:bodyPr wrap="square" lIns="0" tIns="0" rIns="0" bIns="0" anchor="t">
            <a:noAutofit/>
          </a:bodyPr>
          <a:lstStyle/>
          <a:p>
            <a:pPr algn="l">
              <a:lnSpc>
                <a:spcPct val="100000"/>
              </a:lnSpc>
              <a:spcBef>
                <a:spcPts val="0"/>
              </a:spcBef>
              <a:spcAft>
                <a:spcPts val="200"/>
              </a:spcAft>
            </a:pPr>
            <a:r>
              <a:rPr sz="1200" b="0" i="1">
                <a:solidFill>
                  <a:srgbClr val="9A9AA6"/>
                </a:solidFill>
                <a:latin typeface="Times New Roman"/>
              </a:rPr>
              <a:t>The 20-seed run summarised in numbers</a:t>
            </a:r>
          </a:p>
        </p:txBody>
      </p:sp>
      <p:cxnSp>
        <p:nvCxnSpPr>
          <p:cNvPr id="55" name="Connector 54"/>
          <p:cNvCxnSpPr/>
          <p:nvPr/>
        </p:nvCxnSpPr>
        <p:spPr>
          <a:xfrm>
            <a:off x="502920" y="969264"/>
            <a:ext cx="11185855" cy="0"/>
          </a:xfrm>
          <a:prstGeom prst="bentConnector3">
            <a:avLst/>
          </a:prstGeom>
          <a:ln w="12700">
            <a:solidFill>
              <a:srgbClr val="E11D48"/>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47104"/>
            <a:ext cx="4572000" cy="228600"/>
          </a:xfrm>
          <a:prstGeom prst="rect">
            <a:avLst/>
          </a:prstGeom>
          <a:noFill/>
        </p:spPr>
        <p:txBody>
          <a:bodyPr wrap="square" lIns="0" tIns="0" rIns="0" bIns="0" anchor="t">
            <a:noAutofit/>
          </a:bodyPr>
          <a:lstStyle/>
          <a:p>
            <a:pPr algn="l">
              <a:lnSpc>
                <a:spcPct val="100000"/>
              </a:lnSpc>
              <a:spcBef>
                <a:spcPts val="0"/>
              </a:spcBef>
              <a:spcAft>
                <a:spcPts val="200"/>
              </a:spcAft>
            </a:pPr>
            <a:r>
              <a:rPr sz="850" b="0" i="0">
                <a:solidFill>
                  <a:srgbClr val="9A9AA6"/>
                </a:solidFill>
                <a:latin typeface="Times New Roman"/>
              </a:rPr>
              <a:t>REQ 2  ·  COMBINATORIAL UCB</a:t>
            </a:r>
          </a:p>
        </p:txBody>
      </p:sp>
      <p:sp>
        <p:nvSpPr>
          <p:cNvPr id="57" name="TextBox 56"/>
          <p:cNvSpPr txBox="1"/>
          <p:nvPr/>
        </p:nvSpPr>
        <p:spPr>
          <a:xfrm>
            <a:off x="10728655" y="6547104"/>
            <a:ext cx="960120" cy="228600"/>
          </a:xfrm>
          <a:prstGeom prst="rect">
            <a:avLst/>
          </a:prstGeom>
          <a:noFill/>
        </p:spPr>
        <p:txBody>
          <a:bodyPr wrap="square" lIns="0" tIns="0" rIns="0" bIns="0" anchor="t">
            <a:noAutofit/>
          </a:bodyPr>
          <a:lstStyle/>
          <a:p>
            <a:pPr algn="r">
              <a:lnSpc>
                <a:spcPct val="100000"/>
              </a:lnSpc>
              <a:spcBef>
                <a:spcPts val="0"/>
              </a:spcBef>
              <a:spcAft>
                <a:spcPts val="200"/>
              </a:spcAft>
            </a:pPr>
            <a:r>
              <a:rPr sz="850" b="0" i="0">
                <a:solidFill>
                  <a:srgbClr val="9A9AA6"/>
                </a:solidFill>
                <a:latin typeface="Times New Roman"/>
              </a:rPr>
              <a:t>18/18</a:t>
            </a:r>
          </a:p>
        </p:txBody>
      </p:sp>
      <p:sp>
        <p:nvSpPr>
          <p:cNvPr id="58" name="Rectangle 57"/>
          <p:cNvSpPr/>
          <p:nvPr/>
        </p:nvSpPr>
        <p:spPr>
          <a:xfrm>
            <a:off x="502920" y="1243584"/>
            <a:ext cx="6935230" cy="365760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502920" y="1243584"/>
            <a:ext cx="32004" cy="36576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04088" y="1389888"/>
            <a:ext cx="6660910" cy="274320"/>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20-SEED SUMMARY</a:t>
            </a:r>
          </a:p>
        </p:txBody>
      </p:sp>
      <p:cxnSp>
        <p:nvCxnSpPr>
          <p:cNvPr id="61" name="Connector 60"/>
          <p:cNvCxnSpPr/>
          <p:nvPr/>
        </p:nvCxnSpPr>
        <p:spPr>
          <a:xfrm>
            <a:off x="704088" y="1719072"/>
            <a:ext cx="6569470"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0664" y="1883664"/>
            <a:ext cx="2208748" cy="292608"/>
          </a:xfrm>
          <a:prstGeom prst="rect">
            <a:avLst/>
          </a:prstGeom>
          <a:noFill/>
        </p:spPr>
        <p:txBody>
          <a:bodyPr wrap="square" lIns="0" tIns="0" rIns="0" bIns="0" anchor="t">
            <a:noAutofit/>
          </a:bodyPr>
          <a:lstStyle/>
          <a:p>
            <a:pPr algn="l">
              <a:lnSpc>
                <a:spcPct val="100000"/>
              </a:lnSpc>
              <a:spcBef>
                <a:spcPts val="0"/>
              </a:spcBef>
              <a:spcAft>
                <a:spcPts val="200"/>
              </a:spcAft>
            </a:pPr>
            <a:r>
              <a:rPr sz="1250" b="1" i="0">
                <a:solidFill>
                  <a:srgbClr val="E11D48"/>
                </a:solidFill>
                <a:latin typeface="Times New Roman"/>
              </a:rPr>
              <a:t>Metric</a:t>
            </a:r>
          </a:p>
        </p:txBody>
      </p:sp>
      <p:sp>
        <p:nvSpPr>
          <p:cNvPr id="63" name="TextBox 62"/>
          <p:cNvSpPr txBox="1"/>
          <p:nvPr/>
        </p:nvSpPr>
        <p:spPr>
          <a:xfrm>
            <a:off x="2949412" y="1883664"/>
            <a:ext cx="1071892" cy="292608"/>
          </a:xfrm>
          <a:prstGeom prst="rect">
            <a:avLst/>
          </a:prstGeom>
          <a:noFill/>
        </p:spPr>
        <p:txBody>
          <a:bodyPr wrap="square" lIns="0" tIns="0" rIns="0" bIns="0" anchor="t">
            <a:noAutofit/>
          </a:bodyPr>
          <a:lstStyle/>
          <a:p>
            <a:pPr algn="ctr">
              <a:lnSpc>
                <a:spcPct val="100000"/>
              </a:lnSpc>
              <a:spcBef>
                <a:spcPts val="0"/>
              </a:spcBef>
              <a:spcAft>
                <a:spcPts val="200"/>
              </a:spcAft>
            </a:pPr>
            <a:r>
              <a:rPr sz="1250" b="1" i="0">
                <a:solidFill>
                  <a:srgbClr val="E11D48"/>
                </a:solidFill>
                <a:latin typeface="Times New Roman"/>
              </a:rPr>
              <a:t>Mean</a:t>
            </a:r>
          </a:p>
        </p:txBody>
      </p:sp>
      <p:sp>
        <p:nvSpPr>
          <p:cNvPr id="64" name="TextBox 63"/>
          <p:cNvSpPr txBox="1"/>
          <p:nvPr/>
        </p:nvSpPr>
        <p:spPr>
          <a:xfrm>
            <a:off x="4021304" y="1883664"/>
            <a:ext cx="1071892" cy="292608"/>
          </a:xfrm>
          <a:prstGeom prst="rect">
            <a:avLst/>
          </a:prstGeom>
          <a:noFill/>
        </p:spPr>
        <p:txBody>
          <a:bodyPr wrap="square" lIns="0" tIns="0" rIns="0" bIns="0" anchor="t">
            <a:noAutofit/>
          </a:bodyPr>
          <a:lstStyle/>
          <a:p>
            <a:pPr algn="ctr">
              <a:lnSpc>
                <a:spcPct val="100000"/>
              </a:lnSpc>
              <a:spcBef>
                <a:spcPts val="0"/>
              </a:spcBef>
              <a:spcAft>
                <a:spcPts val="200"/>
              </a:spcAft>
            </a:pPr>
            <a:r>
              <a:rPr sz="1250" b="1" i="0">
                <a:solidFill>
                  <a:srgbClr val="E11D48"/>
                </a:solidFill>
                <a:latin typeface="Times New Roman"/>
              </a:rPr>
              <a:t>Std</a:t>
            </a:r>
          </a:p>
        </p:txBody>
      </p:sp>
      <p:sp>
        <p:nvSpPr>
          <p:cNvPr id="65" name="TextBox 64"/>
          <p:cNvSpPr txBox="1"/>
          <p:nvPr/>
        </p:nvSpPr>
        <p:spPr>
          <a:xfrm>
            <a:off x="5093197" y="1883664"/>
            <a:ext cx="1071892" cy="292608"/>
          </a:xfrm>
          <a:prstGeom prst="rect">
            <a:avLst/>
          </a:prstGeom>
          <a:noFill/>
        </p:spPr>
        <p:txBody>
          <a:bodyPr wrap="square" lIns="0" tIns="0" rIns="0" bIns="0" anchor="t">
            <a:noAutofit/>
          </a:bodyPr>
          <a:lstStyle/>
          <a:p>
            <a:pPr algn="ctr">
              <a:lnSpc>
                <a:spcPct val="100000"/>
              </a:lnSpc>
              <a:spcBef>
                <a:spcPts val="0"/>
              </a:spcBef>
              <a:spcAft>
                <a:spcPts val="200"/>
              </a:spcAft>
            </a:pPr>
            <a:r>
              <a:rPr sz="1250" b="1" i="0">
                <a:solidFill>
                  <a:srgbClr val="E11D48"/>
                </a:solidFill>
                <a:latin typeface="Times New Roman"/>
              </a:rPr>
              <a:t>Min</a:t>
            </a:r>
          </a:p>
        </p:txBody>
      </p:sp>
      <p:sp>
        <p:nvSpPr>
          <p:cNvPr id="66" name="TextBox 65"/>
          <p:cNvSpPr txBox="1"/>
          <p:nvPr/>
        </p:nvSpPr>
        <p:spPr>
          <a:xfrm>
            <a:off x="6165089" y="1883664"/>
            <a:ext cx="1071892" cy="292608"/>
          </a:xfrm>
          <a:prstGeom prst="rect">
            <a:avLst/>
          </a:prstGeom>
          <a:noFill/>
        </p:spPr>
        <p:txBody>
          <a:bodyPr wrap="square" lIns="0" tIns="0" rIns="0" bIns="0" anchor="t">
            <a:noAutofit/>
          </a:bodyPr>
          <a:lstStyle/>
          <a:p>
            <a:pPr algn="ctr">
              <a:lnSpc>
                <a:spcPct val="100000"/>
              </a:lnSpc>
              <a:spcBef>
                <a:spcPts val="0"/>
              </a:spcBef>
              <a:spcAft>
                <a:spcPts val="200"/>
              </a:spcAft>
            </a:pPr>
            <a:r>
              <a:rPr sz="1250" b="1" i="0">
                <a:solidFill>
                  <a:srgbClr val="E11D48"/>
                </a:solidFill>
                <a:latin typeface="Times New Roman"/>
              </a:rPr>
              <a:t>Max</a:t>
            </a:r>
          </a:p>
        </p:txBody>
      </p:sp>
      <p:cxnSp>
        <p:nvCxnSpPr>
          <p:cNvPr id="67" name="Connector 66"/>
          <p:cNvCxnSpPr/>
          <p:nvPr/>
        </p:nvCxnSpPr>
        <p:spPr>
          <a:xfrm>
            <a:off x="740664" y="2286000"/>
            <a:ext cx="6496318" cy="0"/>
          </a:xfrm>
          <a:prstGeom prst="bentConnector3">
            <a:avLst/>
          </a:prstGeom>
          <a:ln w="762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40664" y="2414016"/>
            <a:ext cx="2208748" cy="365760"/>
          </a:xfrm>
          <a:prstGeom prst="rect">
            <a:avLst/>
          </a:prstGeom>
          <a:noFill/>
        </p:spPr>
        <p:txBody>
          <a:bodyPr wrap="square" lIns="0" tIns="0" rIns="0" bIns="0" anchor="ctr">
            <a:noAutofit/>
          </a:bodyPr>
          <a:lstStyle/>
          <a:p>
            <a:pPr algn="l">
              <a:lnSpc>
                <a:spcPct val="100000"/>
              </a:lnSpc>
              <a:spcBef>
                <a:spcPts val="0"/>
              </a:spcBef>
              <a:spcAft>
                <a:spcPts val="200"/>
              </a:spcAft>
            </a:pPr>
            <a:r>
              <a:rPr sz="1250" b="0" i="0">
                <a:solidFill>
                  <a:srgbClr val="F0F0F5"/>
                </a:solidFill>
                <a:latin typeface="Times New Roman"/>
              </a:rPr>
              <a:t>Cumul. reward</a:t>
            </a:r>
          </a:p>
        </p:txBody>
      </p:sp>
      <p:sp>
        <p:nvSpPr>
          <p:cNvPr id="69" name="TextBox 68"/>
          <p:cNvSpPr txBox="1"/>
          <p:nvPr/>
        </p:nvSpPr>
        <p:spPr>
          <a:xfrm>
            <a:off x="2949412" y="2414016"/>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405.26</a:t>
            </a:r>
          </a:p>
        </p:txBody>
      </p:sp>
      <p:sp>
        <p:nvSpPr>
          <p:cNvPr id="70" name="TextBox 69"/>
          <p:cNvSpPr txBox="1"/>
          <p:nvPr/>
        </p:nvSpPr>
        <p:spPr>
          <a:xfrm>
            <a:off x="4021304" y="2414016"/>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6.94</a:t>
            </a:r>
          </a:p>
        </p:txBody>
      </p:sp>
      <p:sp>
        <p:nvSpPr>
          <p:cNvPr id="71" name="TextBox 70"/>
          <p:cNvSpPr txBox="1"/>
          <p:nvPr/>
        </p:nvSpPr>
        <p:spPr>
          <a:xfrm>
            <a:off x="5093197" y="2414016"/>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391.10</a:t>
            </a:r>
          </a:p>
        </p:txBody>
      </p:sp>
      <p:sp>
        <p:nvSpPr>
          <p:cNvPr id="72" name="TextBox 71"/>
          <p:cNvSpPr txBox="1"/>
          <p:nvPr/>
        </p:nvSpPr>
        <p:spPr>
          <a:xfrm>
            <a:off x="6165089" y="2414016"/>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416.00</a:t>
            </a:r>
          </a:p>
        </p:txBody>
      </p:sp>
      <p:sp>
        <p:nvSpPr>
          <p:cNvPr id="73" name="TextBox 72"/>
          <p:cNvSpPr txBox="1"/>
          <p:nvPr/>
        </p:nvSpPr>
        <p:spPr>
          <a:xfrm>
            <a:off x="740664" y="3017520"/>
            <a:ext cx="2208748" cy="365760"/>
          </a:xfrm>
          <a:prstGeom prst="rect">
            <a:avLst/>
          </a:prstGeom>
          <a:noFill/>
        </p:spPr>
        <p:txBody>
          <a:bodyPr wrap="square" lIns="0" tIns="0" rIns="0" bIns="0" anchor="ctr">
            <a:noAutofit/>
          </a:bodyPr>
          <a:lstStyle/>
          <a:p>
            <a:pPr algn="l">
              <a:lnSpc>
                <a:spcPct val="100000"/>
              </a:lnSpc>
              <a:spcBef>
                <a:spcPts val="0"/>
              </a:spcBef>
              <a:spcAft>
                <a:spcPts val="200"/>
              </a:spcAft>
            </a:pPr>
            <a:r>
              <a:rPr sz="1250" b="0" i="0">
                <a:solidFill>
                  <a:srgbClr val="F0F0F5"/>
                </a:solidFill>
                <a:latin typeface="Times New Roman"/>
              </a:rPr>
              <a:t>Cumul. cost</a:t>
            </a:r>
          </a:p>
        </p:txBody>
      </p:sp>
      <p:sp>
        <p:nvSpPr>
          <p:cNvPr id="74" name="TextBox 73"/>
          <p:cNvSpPr txBox="1"/>
          <p:nvPr/>
        </p:nvSpPr>
        <p:spPr>
          <a:xfrm>
            <a:off x="2949412" y="3017520"/>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848.05</a:t>
            </a:r>
          </a:p>
        </p:txBody>
      </p:sp>
      <p:sp>
        <p:nvSpPr>
          <p:cNvPr id="75" name="TextBox 74"/>
          <p:cNvSpPr txBox="1"/>
          <p:nvPr/>
        </p:nvSpPr>
        <p:spPr>
          <a:xfrm>
            <a:off x="4021304" y="3017520"/>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1.85</a:t>
            </a:r>
          </a:p>
        </p:txBody>
      </p:sp>
      <p:sp>
        <p:nvSpPr>
          <p:cNvPr id="76" name="TextBox 75"/>
          <p:cNvSpPr txBox="1"/>
          <p:nvPr/>
        </p:nvSpPr>
        <p:spPr>
          <a:xfrm>
            <a:off x="5093197" y="3017520"/>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843.90</a:t>
            </a:r>
          </a:p>
        </p:txBody>
      </p:sp>
      <p:sp>
        <p:nvSpPr>
          <p:cNvPr id="77" name="TextBox 76"/>
          <p:cNvSpPr txBox="1"/>
          <p:nvPr/>
        </p:nvSpPr>
        <p:spPr>
          <a:xfrm>
            <a:off x="6165089" y="3017520"/>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850.00</a:t>
            </a:r>
          </a:p>
        </p:txBody>
      </p:sp>
      <p:sp>
        <p:nvSpPr>
          <p:cNvPr id="78" name="TextBox 77"/>
          <p:cNvSpPr txBox="1"/>
          <p:nvPr/>
        </p:nvSpPr>
        <p:spPr>
          <a:xfrm>
            <a:off x="740664" y="3621024"/>
            <a:ext cx="2208748" cy="365760"/>
          </a:xfrm>
          <a:prstGeom prst="rect">
            <a:avLst/>
          </a:prstGeom>
          <a:noFill/>
        </p:spPr>
        <p:txBody>
          <a:bodyPr wrap="square" lIns="0" tIns="0" rIns="0" bIns="0" anchor="ctr">
            <a:noAutofit/>
          </a:bodyPr>
          <a:lstStyle/>
          <a:p>
            <a:pPr algn="l">
              <a:lnSpc>
                <a:spcPct val="100000"/>
              </a:lnSpc>
              <a:spcBef>
                <a:spcPts val="0"/>
              </a:spcBef>
              <a:spcAft>
                <a:spcPts val="200"/>
              </a:spcAft>
            </a:pPr>
            <a:r>
              <a:rPr sz="1250" b="0" i="0">
                <a:solidFill>
                  <a:srgbClr val="F0F0F5"/>
                </a:solidFill>
                <a:latin typeface="Times New Roman"/>
              </a:rPr>
              <a:t>Cumul. regret</a:t>
            </a:r>
          </a:p>
        </p:txBody>
      </p:sp>
      <p:sp>
        <p:nvSpPr>
          <p:cNvPr id="79" name="TextBox 78"/>
          <p:cNvSpPr txBox="1"/>
          <p:nvPr/>
        </p:nvSpPr>
        <p:spPr>
          <a:xfrm>
            <a:off x="2949412" y="3621024"/>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296.66</a:t>
            </a:r>
          </a:p>
        </p:txBody>
      </p:sp>
      <p:sp>
        <p:nvSpPr>
          <p:cNvPr id="80" name="TextBox 79"/>
          <p:cNvSpPr txBox="1"/>
          <p:nvPr/>
        </p:nvSpPr>
        <p:spPr>
          <a:xfrm>
            <a:off x="4021304" y="3621024"/>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3.02</a:t>
            </a:r>
          </a:p>
        </p:txBody>
      </p:sp>
      <p:sp>
        <p:nvSpPr>
          <p:cNvPr id="81" name="TextBox 80"/>
          <p:cNvSpPr txBox="1"/>
          <p:nvPr/>
        </p:nvSpPr>
        <p:spPr>
          <a:xfrm>
            <a:off x="5093197" y="3621024"/>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291.71</a:t>
            </a:r>
          </a:p>
        </p:txBody>
      </p:sp>
      <p:sp>
        <p:nvSpPr>
          <p:cNvPr id="82" name="TextBox 81"/>
          <p:cNvSpPr txBox="1"/>
          <p:nvPr/>
        </p:nvSpPr>
        <p:spPr>
          <a:xfrm>
            <a:off x="6165089" y="3621024"/>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302.05</a:t>
            </a:r>
          </a:p>
        </p:txBody>
      </p:sp>
      <p:sp>
        <p:nvSpPr>
          <p:cNvPr id="83" name="TextBox 82"/>
          <p:cNvSpPr txBox="1"/>
          <p:nvPr/>
        </p:nvSpPr>
        <p:spPr>
          <a:xfrm>
            <a:off x="740664" y="4224528"/>
            <a:ext cx="2208748" cy="365760"/>
          </a:xfrm>
          <a:prstGeom prst="rect">
            <a:avLst/>
          </a:prstGeom>
          <a:noFill/>
        </p:spPr>
        <p:txBody>
          <a:bodyPr wrap="square" lIns="0" tIns="0" rIns="0" bIns="0" anchor="ctr">
            <a:noAutofit/>
          </a:bodyPr>
          <a:lstStyle/>
          <a:p>
            <a:pPr algn="l">
              <a:lnSpc>
                <a:spcPct val="100000"/>
              </a:lnSpc>
              <a:spcBef>
                <a:spcPts val="0"/>
              </a:spcBef>
              <a:spcAft>
                <a:spcPts val="200"/>
              </a:spcAft>
            </a:pPr>
            <a:r>
              <a:rPr sz="1250" b="0" i="0">
                <a:solidFill>
                  <a:srgbClr val="F0F0F5"/>
                </a:solidFill>
                <a:latin typeface="Times New Roman"/>
              </a:rPr>
              <a:t>Budget left</a:t>
            </a:r>
          </a:p>
        </p:txBody>
      </p:sp>
      <p:sp>
        <p:nvSpPr>
          <p:cNvPr id="84" name="TextBox 83"/>
          <p:cNvSpPr txBox="1"/>
          <p:nvPr/>
        </p:nvSpPr>
        <p:spPr>
          <a:xfrm>
            <a:off x="2949412" y="4224528"/>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1.95</a:t>
            </a:r>
          </a:p>
        </p:txBody>
      </p:sp>
      <p:sp>
        <p:nvSpPr>
          <p:cNvPr id="85" name="TextBox 84"/>
          <p:cNvSpPr txBox="1"/>
          <p:nvPr/>
        </p:nvSpPr>
        <p:spPr>
          <a:xfrm>
            <a:off x="4021304" y="4224528"/>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1.85</a:t>
            </a:r>
          </a:p>
        </p:txBody>
      </p:sp>
      <p:sp>
        <p:nvSpPr>
          <p:cNvPr id="86" name="TextBox 85"/>
          <p:cNvSpPr txBox="1"/>
          <p:nvPr/>
        </p:nvSpPr>
        <p:spPr>
          <a:xfrm>
            <a:off x="5093197" y="4224528"/>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0.00</a:t>
            </a:r>
          </a:p>
        </p:txBody>
      </p:sp>
      <p:sp>
        <p:nvSpPr>
          <p:cNvPr id="87" name="TextBox 86"/>
          <p:cNvSpPr txBox="1"/>
          <p:nvPr/>
        </p:nvSpPr>
        <p:spPr>
          <a:xfrm>
            <a:off x="6165089" y="4224528"/>
            <a:ext cx="1071892" cy="365760"/>
          </a:xfrm>
          <a:prstGeom prst="rect">
            <a:avLst/>
          </a:prstGeom>
          <a:noFill/>
        </p:spPr>
        <p:txBody>
          <a:bodyPr wrap="square" lIns="0" tIns="0" rIns="0" bIns="0" anchor="ctr">
            <a:noAutofit/>
          </a:bodyPr>
          <a:lstStyle/>
          <a:p>
            <a:pPr algn="ctr">
              <a:lnSpc>
                <a:spcPct val="100000"/>
              </a:lnSpc>
              <a:spcBef>
                <a:spcPts val="0"/>
              </a:spcBef>
              <a:spcAft>
                <a:spcPts val="200"/>
              </a:spcAft>
            </a:pPr>
            <a:r>
              <a:rPr sz="1250" b="0" i="0">
                <a:solidFill>
                  <a:srgbClr val="F0F0F5"/>
                </a:solidFill>
                <a:latin typeface="Times New Roman"/>
              </a:rPr>
              <a:t>6.10</a:t>
            </a:r>
          </a:p>
        </p:txBody>
      </p:sp>
      <p:cxnSp>
        <p:nvCxnSpPr>
          <p:cNvPr id="88" name="Connector 87"/>
          <p:cNvCxnSpPr/>
          <p:nvPr/>
        </p:nvCxnSpPr>
        <p:spPr>
          <a:xfrm>
            <a:off x="740664" y="4828032"/>
            <a:ext cx="6496318" cy="0"/>
          </a:xfrm>
          <a:prstGeom prst="bentConnector3">
            <a:avLst/>
          </a:prstGeom>
          <a:ln w="1016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7712470" y="1243584"/>
            <a:ext cx="3976304" cy="17830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712470" y="1243584"/>
            <a:ext cx="32004" cy="17830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858774" y="1316736"/>
            <a:ext cx="372027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REWARD STABILITY</a:t>
            </a:r>
          </a:p>
        </p:txBody>
      </p:sp>
      <p:cxnSp>
        <p:nvCxnSpPr>
          <p:cNvPr id="92" name="Connector 91"/>
          <p:cNvCxnSpPr/>
          <p:nvPr/>
        </p:nvCxnSpPr>
        <p:spPr>
          <a:xfrm>
            <a:off x="7858774" y="1572768"/>
            <a:ext cx="372027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7858774" y="1645920"/>
            <a:ext cx="3720272" cy="1307592"/>
          </a:xfrm>
          <a:prstGeom prst="rect">
            <a:avLst/>
          </a:prstGeom>
          <a:noFill/>
        </p:spPr>
        <p:txBody>
          <a:bodyPr wrap="square" lIns="0" tIns="0" rIns="0" bIns="0" anchor="t">
            <a:noAutofit/>
          </a:bodyPr>
          <a:lstStyle/>
          <a:p>
            <a:pPr algn="l">
              <a:lnSpc>
                <a:spcPct val="120000"/>
              </a:lnSpc>
              <a:spcBef>
                <a:spcPts val="0"/>
              </a:spcBef>
              <a:spcAft>
                <a:spcPts val="300"/>
              </a:spcAft>
            </a:pPr>
            <a:r>
              <a:rPr sz="1250" b="0" i="0">
                <a:solidFill>
                  <a:srgbClr val="F0F0F5"/>
                </a:solidFill>
                <a:latin typeface="Times New Roman"/>
              </a:rPr>
              <a:t>The reward std is ≈ 1.7% of the mean, a tight variance for a stochastic bandit run all the way to T = 1000.</a:t>
            </a:r>
          </a:p>
          <a:p>
            <a:pPr algn="l">
              <a:lnSpc>
                <a:spcPct val="100000"/>
              </a:lnSpc>
              <a:spcBef>
                <a:spcPts val="0"/>
              </a:spcBef>
              <a:spcAft>
                <a:spcPts val="200"/>
              </a:spcAft>
            </a:pPr>
            <a:r>
              <a:rPr sz="400" b="0" i="0">
                <a:solidFill>
                  <a:srgbClr val="F0F0F5"/>
                </a:solidFill>
                <a:latin typeface="Times New Roman"/>
              </a:rPr>
              <a:t> </a:t>
            </a:r>
          </a:p>
          <a:p>
            <a:pPr algn="l">
              <a:lnSpc>
                <a:spcPct val="120000"/>
              </a:lnSpc>
              <a:spcBef>
                <a:spcPts val="0"/>
              </a:spcBef>
              <a:spcAft>
                <a:spcPts val="300"/>
              </a:spcAft>
            </a:pPr>
            <a:r>
              <a:rPr sz="1250" b="0" i="0">
                <a:solidFill>
                  <a:srgbClr val="F0F0F5"/>
                </a:solidFill>
                <a:latin typeface="Times New Roman"/>
              </a:rPr>
              <a:t>It tells us the good performance is systematic, not a lucky seed.</a:t>
            </a:r>
          </a:p>
        </p:txBody>
      </p:sp>
      <p:sp>
        <p:nvSpPr>
          <p:cNvPr id="94" name="Rectangle 93"/>
          <p:cNvSpPr/>
          <p:nvPr/>
        </p:nvSpPr>
        <p:spPr>
          <a:xfrm>
            <a:off x="7712470" y="3118104"/>
            <a:ext cx="3976304" cy="1783080"/>
          </a:xfrm>
          <a:prstGeom prst="rect">
            <a:avLst/>
          </a:prstGeom>
          <a:solidFill>
            <a:srgbClr val="18181F"/>
          </a:solidFill>
          <a:ln w="6350">
            <a:solidFill>
              <a:srgbClr val="3434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7712470" y="3118104"/>
            <a:ext cx="32004" cy="17830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7858774" y="3191256"/>
            <a:ext cx="3720272" cy="237744"/>
          </a:xfrm>
          <a:prstGeom prst="rect">
            <a:avLst/>
          </a:prstGeom>
          <a:noFill/>
        </p:spPr>
        <p:txBody>
          <a:bodyPr wrap="square" lIns="0" tIns="0" rIns="0" bIns="0" anchor="t">
            <a:noAutofit/>
          </a:bodyPr>
          <a:lstStyle/>
          <a:p>
            <a:pPr algn="l">
              <a:lnSpc>
                <a:spcPct val="100000"/>
              </a:lnSpc>
              <a:spcBef>
                <a:spcPts val="0"/>
              </a:spcBef>
              <a:spcAft>
                <a:spcPts val="200"/>
              </a:spcAft>
            </a:pPr>
            <a:r>
              <a:rPr sz="1150" b="1" i="0">
                <a:solidFill>
                  <a:srgbClr val="E11D48"/>
                </a:solidFill>
                <a:latin typeface="Times New Roman"/>
              </a:rPr>
              <a:t>COST STABILITY</a:t>
            </a:r>
          </a:p>
        </p:txBody>
      </p:sp>
      <p:cxnSp>
        <p:nvCxnSpPr>
          <p:cNvPr id="97" name="Connector 96"/>
          <p:cNvCxnSpPr/>
          <p:nvPr/>
        </p:nvCxnSpPr>
        <p:spPr>
          <a:xfrm>
            <a:off x="7858774" y="3447288"/>
            <a:ext cx="3720273" cy="0"/>
          </a:xfrm>
          <a:prstGeom prst="bentConnector3">
            <a:avLst/>
          </a:prstGeom>
          <a:ln w="6350">
            <a:solidFill>
              <a:srgbClr val="34343F"/>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7858774" y="3520440"/>
            <a:ext cx="3720272" cy="1307592"/>
          </a:xfrm>
          <a:prstGeom prst="rect">
            <a:avLst/>
          </a:prstGeom>
          <a:noFill/>
        </p:spPr>
        <p:txBody>
          <a:bodyPr wrap="square" lIns="0" tIns="0" rIns="0" bIns="0" anchor="t">
            <a:noAutofit/>
          </a:bodyPr>
          <a:lstStyle/>
          <a:p>
            <a:pPr algn="l">
              <a:lnSpc>
                <a:spcPct val="120000"/>
              </a:lnSpc>
              <a:spcBef>
                <a:spcPts val="0"/>
              </a:spcBef>
              <a:spcAft>
                <a:spcPts val="300"/>
              </a:spcAft>
            </a:pPr>
            <a:r>
              <a:rPr sz="1250" b="0" i="0">
                <a:solidFill>
                  <a:srgbClr val="F0F0F5"/>
                </a:solidFill>
                <a:latin typeface="Times New Roman"/>
              </a:rPr>
              <a:t>A cost std of ≈ 1.9 against an 850 budget shows the pacing logic behaves consistently across every seed.</a:t>
            </a:r>
          </a:p>
          <a:p>
            <a:pPr algn="l">
              <a:lnSpc>
                <a:spcPct val="100000"/>
              </a:lnSpc>
              <a:spcBef>
                <a:spcPts val="0"/>
              </a:spcBef>
              <a:spcAft>
                <a:spcPts val="200"/>
              </a:spcAft>
            </a:pPr>
            <a:r>
              <a:rPr sz="400" b="0" i="0">
                <a:solidFill>
                  <a:srgbClr val="F0F0F5"/>
                </a:solidFill>
                <a:latin typeface="Times New Roman"/>
              </a:rPr>
              <a:t> </a:t>
            </a:r>
          </a:p>
          <a:p>
            <a:pPr algn="l">
              <a:lnSpc>
                <a:spcPct val="120000"/>
              </a:lnSpc>
              <a:spcBef>
                <a:spcPts val="0"/>
              </a:spcBef>
              <a:spcAft>
                <a:spcPts val="300"/>
              </a:spcAft>
            </a:pPr>
            <a:r>
              <a:rPr sz="1250" b="0" i="0">
                <a:solidFill>
                  <a:srgbClr val="F0F0F5"/>
                </a:solidFill>
                <a:latin typeface="Times New Roman"/>
              </a:rPr>
              <a:t>Spending is reproducible and never overshoots the cap.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3032</Words>
  <Application>Microsoft Office PowerPoint</Application>
  <PresentationFormat>Widescreen</PresentationFormat>
  <Paragraphs>307</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Luigi Cavuto</cp:lastModifiedBy>
  <cp:revision>12</cp:revision>
  <dcterms:created xsi:type="dcterms:W3CDTF">2026-07-09T16:28:59Z</dcterms:created>
  <dcterms:modified xsi:type="dcterms:W3CDTF">2026-07-09T16:28:59Z</dcterms:modified>
  <cp:category/>
</cp:coreProperties>
</file>