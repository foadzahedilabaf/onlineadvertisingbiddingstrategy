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6"/>
  </p:notesMasterIdLst>
  <p:sldIdLst>
    <p:sldId id="879" r:id="rId2"/>
    <p:sldId id="871" r:id="rId3"/>
    <p:sldId id="872" r:id="rId4"/>
    <p:sldId id="873" r:id="rId5"/>
    <p:sldId id="874" r:id="rId6"/>
    <p:sldId id="875" r:id="rId7"/>
    <p:sldId id="876" r:id="rId8"/>
    <p:sldId id="877" r:id="rId9"/>
    <p:sldId id="878" r:id="rId10"/>
    <p:sldId id="854" r:id="rId11"/>
    <p:sldId id="868" r:id="rId12"/>
    <p:sldId id="855" r:id="rId13"/>
    <p:sldId id="856" r:id="rId14"/>
    <p:sldId id="857" r:id="rId15"/>
    <p:sldId id="858" r:id="rId16"/>
    <p:sldId id="884" r:id="rId17"/>
    <p:sldId id="820" r:id="rId18"/>
    <p:sldId id="821" r:id="rId19"/>
    <p:sldId id="822" r:id="rId20"/>
    <p:sldId id="823" r:id="rId21"/>
    <p:sldId id="824" r:id="rId22"/>
    <p:sldId id="846" r:id="rId23"/>
    <p:sldId id="840" r:id="rId24"/>
    <p:sldId id="851" r:id="rId25"/>
    <p:sldId id="837" r:id="rId26"/>
    <p:sldId id="848" r:id="rId27"/>
    <p:sldId id="565" r:id="rId28"/>
    <p:sldId id="753" r:id="rId29"/>
    <p:sldId id="697" r:id="rId30"/>
    <p:sldId id="698" r:id="rId31"/>
    <p:sldId id="699" r:id="rId32"/>
    <p:sldId id="702" r:id="rId33"/>
    <p:sldId id="703" r:id="rId34"/>
    <p:sldId id="767" r:id="rId35"/>
    <p:sldId id="880" r:id="rId36"/>
    <p:sldId id="869" r:id="rId37"/>
    <p:sldId id="867" r:id="rId38"/>
    <p:sldId id="306" r:id="rId39"/>
    <p:sldId id="307" r:id="rId40"/>
    <p:sldId id="260" r:id="rId41"/>
    <p:sldId id="860" r:id="rId42"/>
    <p:sldId id="861" r:id="rId43"/>
    <p:sldId id="862" r:id="rId44"/>
    <p:sldId id="863" r:id="rId45"/>
    <p:sldId id="881" r:id="rId46"/>
    <p:sldId id="772" r:id="rId47"/>
    <p:sldId id="773" r:id="rId48"/>
    <p:sldId id="774" r:id="rId49"/>
    <p:sldId id="775" r:id="rId50"/>
    <p:sldId id="776" r:id="rId51"/>
    <p:sldId id="777" r:id="rId52"/>
    <p:sldId id="296" r:id="rId53"/>
    <p:sldId id="778" r:id="rId54"/>
    <p:sldId id="779" r:id="rId55"/>
    <p:sldId id="285" r:id="rId56"/>
    <p:sldId id="286" r:id="rId57"/>
    <p:sldId id="291" r:id="rId58"/>
    <p:sldId id="304" r:id="rId59"/>
    <p:sldId id="780" r:id="rId60"/>
    <p:sldId id="834" r:id="rId61"/>
    <p:sldId id="843" r:id="rId62"/>
    <p:sldId id="844" r:id="rId63"/>
    <p:sldId id="849" r:id="rId64"/>
    <p:sldId id="883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4592C-8E64-E215-B226-3D1BAD7FD5E5}" v="29" dt="2026-07-10T11:00:22.516"/>
    <p1510:client id="{5BE09A8C-7D3B-53BA-51CE-CE42B4B56A68}" v="143" dt="2026-07-10T12:14:00.248"/>
    <p1510:client id="{85714292-D5DF-CAE3-9E21-5F775F89C7C0}" v="40" dt="2026-07-10T15:32:02.575"/>
    <p1510:client id="{C497B988-8A72-4FC3-A077-F3B2BCAA8163}" v="336" dt="2026-07-10T10:25:20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gi Cavuto" userId="379d51b900c69bf6" providerId="Windows Live" clId="Web-{85714292-D5DF-CAE3-9E21-5F775F89C7C0}"/>
    <pc:docChg chg="modSld">
      <pc:chgData name="Luigi Cavuto" userId="379d51b900c69bf6" providerId="Windows Live" clId="Web-{85714292-D5DF-CAE3-9E21-5F775F89C7C0}" dt="2026-07-10T15:32:02.575" v="25"/>
      <pc:docMkLst>
        <pc:docMk/>
      </pc:docMkLst>
      <pc:sldChg chg="addSp delSp modSp">
        <pc:chgData name="Luigi Cavuto" userId="379d51b900c69bf6" providerId="Windows Live" clId="Web-{85714292-D5DF-CAE3-9E21-5F775F89C7C0}" dt="2026-07-10T15:32:02.575" v="25"/>
        <pc:sldMkLst>
          <pc:docMk/>
          <pc:sldMk cId="1485326508" sldId="854"/>
        </pc:sldMkLst>
        <pc:spChg chg="add del mod">
          <ac:chgData name="Luigi Cavuto" userId="379d51b900c69bf6" providerId="Windows Live" clId="Web-{85714292-D5DF-CAE3-9E21-5F775F89C7C0}" dt="2026-07-10T15:32:02.575" v="25"/>
          <ac:spMkLst>
            <pc:docMk/>
            <pc:sldMk cId="1485326508" sldId="854"/>
            <ac:spMk id="60" creationId="{00000000-0000-0000-0000-000000000000}"/>
          </ac:spMkLst>
        </pc:spChg>
      </pc:sldChg>
      <pc:sldChg chg="modSp">
        <pc:chgData name="Luigi Cavuto" userId="379d51b900c69bf6" providerId="Windows Live" clId="Web-{85714292-D5DF-CAE3-9E21-5F775F89C7C0}" dt="2026-07-10T14:31:14.265" v="2" actId="14100"/>
        <pc:sldMkLst>
          <pc:docMk/>
          <pc:sldMk cId="1065719385" sldId="855"/>
        </pc:sldMkLst>
        <pc:picChg chg="mod">
          <ac:chgData name="Luigi Cavuto" userId="379d51b900c69bf6" providerId="Windows Live" clId="Web-{85714292-D5DF-CAE3-9E21-5F775F89C7C0}" dt="2026-07-10T14:31:14.265" v="2" actId="14100"/>
          <ac:picMkLst>
            <pc:docMk/>
            <pc:sldMk cId="1065719385" sldId="855"/>
            <ac:picMk id="73" creationId="{00000000-0000-0000-0000-000000000000}"/>
          </ac:picMkLst>
        </pc:picChg>
      </pc:sldChg>
      <pc:sldChg chg="modSp">
        <pc:chgData name="Luigi Cavuto" userId="379d51b900c69bf6" providerId="Windows Live" clId="Web-{85714292-D5DF-CAE3-9E21-5F775F89C7C0}" dt="2026-07-10T15:26:10.933" v="16" actId="20577"/>
        <pc:sldMkLst>
          <pc:docMk/>
          <pc:sldMk cId="111858600" sldId="857"/>
        </pc:sldMkLst>
        <pc:spChg chg="mod">
          <ac:chgData name="Luigi Cavuto" userId="379d51b900c69bf6" providerId="Windows Live" clId="Web-{85714292-D5DF-CAE3-9E21-5F775F89C7C0}" dt="2026-07-10T15:26:10.933" v="16" actId="20577"/>
          <ac:spMkLst>
            <pc:docMk/>
            <pc:sldMk cId="111858600" sldId="857"/>
            <ac:spMk id="53" creationId="{00000000-0000-0000-0000-000000000000}"/>
          </ac:spMkLst>
        </pc:spChg>
      </pc:sldChg>
      <pc:sldChg chg="modSp">
        <pc:chgData name="Luigi Cavuto" userId="379d51b900c69bf6" providerId="Windows Live" clId="Web-{85714292-D5DF-CAE3-9E21-5F775F89C7C0}" dt="2026-07-10T15:26:16.449" v="21" actId="20577"/>
        <pc:sldMkLst>
          <pc:docMk/>
          <pc:sldMk cId="166899841" sldId="858"/>
        </pc:sldMkLst>
        <pc:spChg chg="mod">
          <ac:chgData name="Luigi Cavuto" userId="379d51b900c69bf6" providerId="Windows Live" clId="Web-{85714292-D5DF-CAE3-9E21-5F775F89C7C0}" dt="2026-07-10T15:26:16.449" v="21" actId="20577"/>
          <ac:spMkLst>
            <pc:docMk/>
            <pc:sldMk cId="166899841" sldId="858"/>
            <ac:spMk id="53" creationId="{00000000-0000-0000-0000-000000000000}"/>
          </ac:spMkLst>
        </pc:spChg>
      </pc:sldChg>
      <pc:sldChg chg="modSp">
        <pc:chgData name="Luigi Cavuto" userId="379d51b900c69bf6" providerId="Windows Live" clId="Web-{85714292-D5DF-CAE3-9E21-5F775F89C7C0}" dt="2026-07-10T15:22:55.344" v="15" actId="20577"/>
        <pc:sldMkLst>
          <pc:docMk/>
          <pc:sldMk cId="1206767150" sldId="868"/>
        </pc:sldMkLst>
        <pc:spChg chg="mod">
          <ac:chgData name="Luigi Cavuto" userId="379d51b900c69bf6" providerId="Windows Live" clId="Web-{85714292-D5DF-CAE3-9E21-5F775F89C7C0}" dt="2026-07-10T15:22:55.344" v="15" actId="20577"/>
          <ac:spMkLst>
            <pc:docMk/>
            <pc:sldMk cId="1206767150" sldId="868"/>
            <ac:spMk id="35" creationId="{00000000-0000-0000-0000-000000000000}"/>
          </ac:spMkLst>
        </pc:spChg>
      </pc:sldChg>
    </pc:docChg>
  </pc:docChgLst>
  <pc:docChgLst>
    <pc:chgData name="Simone Mauro" userId="7288c1146a64123d" providerId="LiveId" clId="{D69BBF6E-8B38-4DA7-9014-4F911DB6F044}"/>
    <pc:docChg chg="undo custSel addSld delSld modSld">
      <pc:chgData name="Simone Mauro" userId="7288c1146a64123d" providerId="LiveId" clId="{D69BBF6E-8B38-4DA7-9014-4F911DB6F044}" dt="2026-07-10T11:46:13.783" v="143" actId="47"/>
      <pc:docMkLst>
        <pc:docMk/>
      </pc:docMkLst>
      <pc:sldChg chg="add del">
        <pc:chgData name="Simone Mauro" userId="7288c1146a64123d" providerId="LiveId" clId="{D69BBF6E-8B38-4DA7-9014-4F911DB6F044}" dt="2026-07-10T09:55:47.490" v="60" actId="47"/>
        <pc:sldMkLst>
          <pc:docMk/>
          <pc:sldMk cId="0" sldId="256"/>
        </pc:sldMkLst>
      </pc:sldChg>
      <pc:sldChg chg="add del">
        <pc:chgData name="Simone Mauro" userId="7288c1146a64123d" providerId="LiveId" clId="{D69BBF6E-8B38-4DA7-9014-4F911DB6F044}" dt="2026-07-10T10:00:21.158" v="63"/>
        <pc:sldMkLst>
          <pc:docMk/>
          <pc:sldMk cId="0" sldId="257"/>
        </pc:sldMkLst>
      </pc:sldChg>
      <pc:sldChg chg="add del">
        <pc:chgData name="Simone Mauro" userId="7288c1146a64123d" providerId="LiveId" clId="{D69BBF6E-8B38-4DA7-9014-4F911DB6F044}" dt="2026-07-10T10:00:37.290" v="65"/>
        <pc:sldMkLst>
          <pc:docMk/>
          <pc:sldMk cId="0" sldId="258"/>
        </pc:sldMkLst>
      </pc:sldChg>
      <pc:sldChg chg="add del">
        <pc:chgData name="Simone Mauro" userId="7288c1146a64123d" providerId="LiveId" clId="{D69BBF6E-8B38-4DA7-9014-4F911DB6F044}" dt="2026-07-10T10:00:54.425" v="67"/>
        <pc:sldMkLst>
          <pc:docMk/>
          <pc:sldMk cId="0" sldId="259"/>
        </pc:sldMkLst>
      </pc:sldChg>
      <pc:sldChg chg="modSp mod">
        <pc:chgData name="Simone Mauro" userId="7288c1146a64123d" providerId="LiveId" clId="{D69BBF6E-8B38-4DA7-9014-4F911DB6F044}" dt="2026-07-10T11:46:05.358" v="142" actId="20577"/>
        <pc:sldMkLst>
          <pc:docMk/>
          <pc:sldMk cId="2238634995" sldId="260"/>
        </pc:sldMkLst>
        <pc:spChg chg="mod">
          <ac:chgData name="Simone Mauro" userId="7288c1146a64123d" providerId="LiveId" clId="{D69BBF6E-8B38-4DA7-9014-4F911DB6F044}" dt="2026-07-10T11:46:05.358" v="142" actId="20577"/>
          <ac:spMkLst>
            <pc:docMk/>
            <pc:sldMk cId="2238634995" sldId="260"/>
            <ac:spMk id="5" creationId="{590F5F78-90E4-6BCB-76ED-5CF45BF228A8}"/>
          </ac:spMkLst>
        </pc:spChg>
        <pc:picChg chg="mod">
          <ac:chgData name="Simone Mauro" userId="7288c1146a64123d" providerId="LiveId" clId="{D69BBF6E-8B38-4DA7-9014-4F911DB6F044}" dt="2026-07-10T09:47:47.623" v="16" actId="1076"/>
          <ac:picMkLst>
            <pc:docMk/>
            <pc:sldMk cId="2238634995" sldId="260"/>
            <ac:picMk id="9" creationId="{395667B9-300C-195A-3CDC-71024F00A403}"/>
          </ac:picMkLst>
        </pc:picChg>
      </pc:sldChg>
      <pc:sldChg chg="add del">
        <pc:chgData name="Simone Mauro" userId="7288c1146a64123d" providerId="LiveId" clId="{D69BBF6E-8B38-4DA7-9014-4F911DB6F044}" dt="2026-07-10T10:01:44.488" v="71"/>
        <pc:sldMkLst>
          <pc:docMk/>
          <pc:sldMk cId="0" sldId="261"/>
        </pc:sldMkLst>
      </pc:sldChg>
      <pc:sldChg chg="add del">
        <pc:chgData name="Simone Mauro" userId="7288c1146a64123d" providerId="LiveId" clId="{D69BBF6E-8B38-4DA7-9014-4F911DB6F044}" dt="2026-07-10T10:02:01.124" v="73"/>
        <pc:sldMkLst>
          <pc:docMk/>
          <pc:sldMk cId="0" sldId="262"/>
        </pc:sldMkLst>
      </pc:sldChg>
      <pc:sldChg chg="add del">
        <pc:chgData name="Simone Mauro" userId="7288c1146a64123d" providerId="LiveId" clId="{D69BBF6E-8B38-4DA7-9014-4F911DB6F044}" dt="2026-07-10T10:02:55.373" v="75"/>
        <pc:sldMkLst>
          <pc:docMk/>
          <pc:sldMk cId="0" sldId="263"/>
        </pc:sldMkLst>
      </pc:sldChg>
      <pc:sldChg chg="del">
        <pc:chgData name="Simone Mauro" userId="7288c1146a64123d" providerId="LiveId" clId="{D69BBF6E-8B38-4DA7-9014-4F911DB6F044}" dt="2026-07-10T09:26:24.583" v="5"/>
        <pc:sldMkLst>
          <pc:docMk/>
          <pc:sldMk cId="0" sldId="301"/>
        </pc:sldMkLst>
      </pc:sldChg>
      <pc:sldChg chg="del">
        <pc:chgData name="Simone Mauro" userId="7288c1146a64123d" providerId="LiveId" clId="{D69BBF6E-8B38-4DA7-9014-4F911DB6F044}" dt="2026-07-10T09:25:59.149" v="1"/>
        <pc:sldMkLst>
          <pc:docMk/>
          <pc:sldMk cId="3742145002" sldId="302"/>
        </pc:sldMkLst>
      </pc:sldChg>
      <pc:sldChg chg="del">
        <pc:chgData name="Simone Mauro" userId="7288c1146a64123d" providerId="LiveId" clId="{D69BBF6E-8B38-4DA7-9014-4F911DB6F044}" dt="2026-07-10T09:26:12.451" v="3"/>
        <pc:sldMkLst>
          <pc:docMk/>
          <pc:sldMk cId="0" sldId="303"/>
        </pc:sldMkLst>
      </pc:sldChg>
      <pc:sldChg chg="modSp mod">
        <pc:chgData name="Simone Mauro" userId="7288c1146a64123d" providerId="LiveId" clId="{D69BBF6E-8B38-4DA7-9014-4F911DB6F044}" dt="2026-07-10T09:47:35.475" v="13" actId="1076"/>
        <pc:sldMkLst>
          <pc:docMk/>
          <pc:sldMk cId="3331011370" sldId="306"/>
        </pc:sldMkLst>
        <pc:picChg chg="mod">
          <ac:chgData name="Simone Mauro" userId="7288c1146a64123d" providerId="LiveId" clId="{D69BBF6E-8B38-4DA7-9014-4F911DB6F044}" dt="2026-07-10T09:47:35.475" v="13" actId="1076"/>
          <ac:picMkLst>
            <pc:docMk/>
            <pc:sldMk cId="3331011370" sldId="306"/>
            <ac:picMk id="7" creationId="{63A8BB08-CF4A-81AA-04E6-C7D2CB159898}"/>
          </ac:picMkLst>
        </pc:picChg>
      </pc:sldChg>
      <pc:sldChg chg="modSp mod">
        <pc:chgData name="Simone Mauro" userId="7288c1146a64123d" providerId="LiveId" clId="{D69BBF6E-8B38-4DA7-9014-4F911DB6F044}" dt="2026-07-10T11:46:01.644" v="140" actId="20577"/>
        <pc:sldMkLst>
          <pc:docMk/>
          <pc:sldMk cId="205609661" sldId="307"/>
        </pc:sldMkLst>
        <pc:spChg chg="mod">
          <ac:chgData name="Simone Mauro" userId="7288c1146a64123d" providerId="LiveId" clId="{D69BBF6E-8B38-4DA7-9014-4F911DB6F044}" dt="2026-07-10T11:46:01.644" v="140" actId="20577"/>
          <ac:spMkLst>
            <pc:docMk/>
            <pc:sldMk cId="205609661" sldId="307"/>
            <ac:spMk id="5" creationId="{1871B1CA-8493-422F-0388-EBBCD9403767}"/>
          </ac:spMkLst>
        </pc:spChg>
        <pc:picChg chg="mod">
          <ac:chgData name="Simone Mauro" userId="7288c1146a64123d" providerId="LiveId" clId="{D69BBF6E-8B38-4DA7-9014-4F911DB6F044}" dt="2026-07-10T09:47:39.935" v="14" actId="14100"/>
          <ac:picMkLst>
            <pc:docMk/>
            <pc:sldMk cId="205609661" sldId="307"/>
            <ac:picMk id="9" creationId="{1888C2C6-A729-8A55-ACD3-B89ECC282165}"/>
          </ac:picMkLst>
        </pc:picChg>
      </pc:sldChg>
      <pc:sldChg chg="add del setBg">
        <pc:chgData name="Simone Mauro" userId="7288c1146a64123d" providerId="LiveId" clId="{D69BBF6E-8B38-4DA7-9014-4F911DB6F044}" dt="2026-07-10T10:25:50.132" v="113" actId="47"/>
        <pc:sldMkLst>
          <pc:docMk/>
          <pc:sldMk cId="3302180673" sldId="574"/>
        </pc:sldMkLst>
      </pc:sldChg>
      <pc:sldChg chg="del">
        <pc:chgData name="Simone Mauro" userId="7288c1146a64123d" providerId="LiveId" clId="{D69BBF6E-8B38-4DA7-9014-4F911DB6F044}" dt="2026-07-10T09:55:57.025" v="61" actId="47"/>
        <pc:sldMkLst>
          <pc:docMk/>
          <pc:sldMk cId="3827268156" sldId="782"/>
        </pc:sldMkLst>
      </pc:sldChg>
      <pc:sldChg chg="del">
        <pc:chgData name="Simone Mauro" userId="7288c1146a64123d" providerId="LiveId" clId="{D69BBF6E-8B38-4DA7-9014-4F911DB6F044}" dt="2026-07-10T10:08:59.810" v="89"/>
        <pc:sldMkLst>
          <pc:docMk/>
          <pc:sldMk cId="566211745" sldId="819"/>
        </pc:sldMkLst>
      </pc:sldChg>
      <pc:sldChg chg="del">
        <pc:chgData name="Simone Mauro" userId="7288c1146a64123d" providerId="LiveId" clId="{D69BBF6E-8B38-4DA7-9014-4F911DB6F044}" dt="2026-07-10T11:46:13.783" v="143" actId="47"/>
        <pc:sldMkLst>
          <pc:docMk/>
          <pc:sldMk cId="1741749089" sldId="833"/>
        </pc:sldMkLst>
      </pc:sldChg>
      <pc:sldChg chg="modSp mod">
        <pc:chgData name="Simone Mauro" userId="7288c1146a64123d" providerId="LiveId" clId="{D69BBF6E-8B38-4DA7-9014-4F911DB6F044}" dt="2026-07-10T09:50:46.280" v="58" actId="20577"/>
        <pc:sldMkLst>
          <pc:docMk/>
          <pc:sldMk cId="3487399400" sldId="834"/>
        </pc:sldMkLst>
        <pc:spChg chg="mod">
          <ac:chgData name="Simone Mauro" userId="7288c1146a64123d" providerId="LiveId" clId="{D69BBF6E-8B38-4DA7-9014-4F911DB6F044}" dt="2026-07-10T09:50:46.280" v="58" actId="20577"/>
          <ac:spMkLst>
            <pc:docMk/>
            <pc:sldMk cId="3487399400" sldId="834"/>
            <ac:spMk id="3" creationId="{3FE334E6-2A0A-55AC-C403-9DAC2BEB8FBD}"/>
          </ac:spMkLst>
        </pc:spChg>
      </pc:sldChg>
      <pc:sldChg chg="del">
        <pc:chgData name="Simone Mauro" userId="7288c1146a64123d" providerId="LiveId" clId="{D69BBF6E-8B38-4DA7-9014-4F911DB6F044}" dt="2026-07-10T10:07:38.736" v="85"/>
        <pc:sldMkLst>
          <pc:docMk/>
          <pc:sldMk cId="4286092038" sldId="835"/>
        </pc:sldMkLst>
      </pc:sldChg>
      <pc:sldChg chg="del">
        <pc:chgData name="Simone Mauro" userId="7288c1146a64123d" providerId="LiveId" clId="{D69BBF6E-8B38-4DA7-9014-4F911DB6F044}" dt="2026-07-10T10:07:11.295" v="83"/>
        <pc:sldMkLst>
          <pc:docMk/>
          <pc:sldMk cId="770142728" sldId="853"/>
        </pc:sldMkLst>
      </pc:sldChg>
      <pc:sldChg chg="del">
        <pc:chgData name="Simone Mauro" userId="7288c1146a64123d" providerId="LiveId" clId="{D69BBF6E-8B38-4DA7-9014-4F911DB6F044}" dt="2026-07-10T09:30:33.219" v="7"/>
        <pc:sldMkLst>
          <pc:docMk/>
          <pc:sldMk cId="1060259792" sldId="859"/>
        </pc:sldMkLst>
      </pc:sldChg>
      <pc:sldChg chg="modSp mod">
        <pc:chgData name="Simone Mauro" userId="7288c1146a64123d" providerId="LiveId" clId="{D69BBF6E-8B38-4DA7-9014-4F911DB6F044}" dt="2026-07-10T10:32:29.098" v="120" actId="20577"/>
        <pc:sldMkLst>
          <pc:docMk/>
          <pc:sldMk cId="1042127494" sldId="864"/>
        </pc:sldMkLst>
        <pc:spChg chg="mod">
          <ac:chgData name="Simone Mauro" userId="7288c1146a64123d" providerId="LiveId" clId="{D69BBF6E-8B38-4DA7-9014-4F911DB6F044}" dt="2026-07-10T10:32:29.098" v="120" actId="20577"/>
          <ac:spMkLst>
            <pc:docMk/>
            <pc:sldMk cId="1042127494" sldId="864"/>
            <ac:spMk id="2" creationId="{5DE9DAE4-C5C3-A7FD-DCED-57D4D4A3DCA4}"/>
          </ac:spMkLst>
        </pc:spChg>
      </pc:sldChg>
      <pc:sldChg chg="delSp modSp add del mod">
        <pc:chgData name="Simone Mauro" userId="7288c1146a64123d" providerId="LiveId" clId="{D69BBF6E-8B38-4DA7-9014-4F911DB6F044}" dt="2026-07-10T10:08:34.069" v="87"/>
        <pc:sldMkLst>
          <pc:docMk/>
          <pc:sldMk cId="3118380720" sldId="865"/>
        </pc:sldMkLst>
        <pc:spChg chg="mod">
          <ac:chgData name="Simone Mauro" userId="7288c1146a64123d" providerId="LiveId" clId="{D69BBF6E-8B38-4DA7-9014-4F911DB6F044}" dt="2026-07-10T09:49:13.182" v="48" actId="20577"/>
          <ac:spMkLst>
            <pc:docMk/>
            <pc:sldMk cId="3118380720" sldId="865"/>
            <ac:spMk id="2" creationId="{DA6AC15F-0BD7-8A49-906D-912D60688492}"/>
          </ac:spMkLst>
        </pc:spChg>
        <pc:spChg chg="del">
          <ac:chgData name="Simone Mauro" userId="7288c1146a64123d" providerId="LiveId" clId="{D69BBF6E-8B38-4DA7-9014-4F911DB6F044}" dt="2026-07-10T09:49:02.724" v="17" actId="478"/>
          <ac:spMkLst>
            <pc:docMk/>
            <pc:sldMk cId="3118380720" sldId="865"/>
            <ac:spMk id="3" creationId="{CD6E745B-17FF-F75E-1BAA-DECBADD8F9C9}"/>
          </ac:spMkLst>
        </pc:spChg>
      </pc:sldChg>
      <pc:sldChg chg="add del">
        <pc:chgData name="Simone Mauro" userId="7288c1146a64123d" providerId="LiveId" clId="{D69BBF6E-8B38-4DA7-9014-4F911DB6F044}" dt="2026-07-10T09:31:26.748" v="11"/>
        <pc:sldMkLst>
          <pc:docMk/>
          <pc:sldMk cId="2896809556" sldId="866"/>
        </pc:sldMkLst>
      </pc:sldChg>
      <pc:sldChg chg="add">
        <pc:chgData name="Simone Mauro" userId="7288c1146a64123d" providerId="LiveId" clId="{D69BBF6E-8B38-4DA7-9014-4F911DB6F044}" dt="2026-07-10T09:26:24.561" v="4"/>
        <pc:sldMkLst>
          <pc:docMk/>
          <pc:sldMk cId="2006451595" sldId="867"/>
        </pc:sldMkLst>
      </pc:sldChg>
      <pc:sldChg chg="modSp add mod">
        <pc:chgData name="Simone Mauro" userId="7288c1146a64123d" providerId="LiveId" clId="{D69BBF6E-8B38-4DA7-9014-4F911DB6F044}" dt="2026-07-10T09:30:33.282" v="9"/>
        <pc:sldMkLst>
          <pc:docMk/>
          <pc:sldMk cId="1206767150" sldId="868"/>
        </pc:sldMkLst>
        <pc:spChg chg="mod">
          <ac:chgData name="Simone Mauro" userId="7288c1146a64123d" providerId="LiveId" clId="{D69BBF6E-8B38-4DA7-9014-4F911DB6F044}" dt="2026-07-10T09:30:33.282" v="9"/>
          <ac:spMkLst>
            <pc:docMk/>
            <pc:sldMk cId="1206767150" sldId="868"/>
            <ac:spMk id="4" creationId="{00000000-0000-0000-0000-000000000000}"/>
          </ac:spMkLst>
        </pc:spChg>
      </pc:sldChg>
      <pc:sldChg chg="add">
        <pc:chgData name="Simone Mauro" userId="7288c1146a64123d" providerId="LiveId" clId="{D69BBF6E-8B38-4DA7-9014-4F911DB6F044}" dt="2026-07-10T09:31:26.743" v="10"/>
        <pc:sldMkLst>
          <pc:docMk/>
          <pc:sldMk cId="1622059723" sldId="869"/>
        </pc:sldMkLst>
      </pc:sldChg>
      <pc:sldChg chg="add del">
        <pc:chgData name="Simone Mauro" userId="7288c1146a64123d" providerId="LiveId" clId="{D69BBF6E-8B38-4DA7-9014-4F911DB6F044}" dt="2026-07-10T10:01:27.570" v="69"/>
        <pc:sldMkLst>
          <pc:docMk/>
          <pc:sldMk cId="0" sldId="870"/>
        </pc:sldMkLst>
      </pc:sldChg>
      <pc:sldChg chg="delSp modSp add mod">
        <pc:chgData name="Simone Mauro" userId="7288c1146a64123d" providerId="LiveId" clId="{D69BBF6E-8B38-4DA7-9014-4F911DB6F044}" dt="2026-07-10T10:23:18.091" v="100"/>
        <pc:sldMkLst>
          <pc:docMk/>
          <pc:sldMk cId="3911486612" sldId="871"/>
        </pc:sldMkLst>
        <pc:spChg chg="mod">
          <ac:chgData name="Simone Mauro" userId="7288c1146a64123d" providerId="LiveId" clId="{D69BBF6E-8B38-4DA7-9014-4F911DB6F044}" dt="2026-07-10T10:22:01.761" v="99" actId="1076"/>
          <ac:spMkLst>
            <pc:docMk/>
            <pc:sldMk cId="3911486612" sldId="871"/>
            <ac:spMk id="2" creationId="{00000000-0000-0000-0000-000000000000}"/>
          </ac:spMkLst>
        </pc:spChg>
        <pc:spChg chg="del">
          <ac:chgData name="Simone Mauro" userId="7288c1146a64123d" providerId="LiveId" clId="{D69BBF6E-8B38-4DA7-9014-4F911DB6F044}" dt="2026-07-10T10:05:50.032" v="76"/>
          <ac:spMkLst>
            <pc:docMk/>
            <pc:sldMk cId="3911486612" sldId="871"/>
            <ac:spMk id="3" creationId="{00000000-0000-0000-0000-000000000000}"/>
          </ac:spMkLst>
        </pc:spChg>
        <pc:spChg chg="del">
          <ac:chgData name="Simone Mauro" userId="7288c1146a64123d" providerId="LiveId" clId="{D69BBF6E-8B38-4DA7-9014-4F911DB6F044}" dt="2026-07-10T10:10:07.462" v="90"/>
          <ac:spMkLst>
            <pc:docMk/>
            <pc:sldMk cId="3911486612" sldId="871"/>
            <ac:spMk id="5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1" v="100"/>
          <ac:spMkLst>
            <pc:docMk/>
            <pc:sldMk cId="3911486612" sldId="871"/>
            <ac:spMk id="6" creationId="{00000000-0000-0000-0000-000000000000}"/>
          </ac:spMkLst>
        </pc:spChg>
      </pc:sldChg>
      <pc:sldChg chg="delSp modSp add mod">
        <pc:chgData name="Simone Mauro" userId="7288c1146a64123d" providerId="LiveId" clId="{D69BBF6E-8B38-4DA7-9014-4F911DB6F044}" dt="2026-07-10T10:23:18.092" v="102"/>
        <pc:sldMkLst>
          <pc:docMk/>
          <pc:sldMk cId="1399571570" sldId="872"/>
        </pc:sldMkLst>
        <pc:spChg chg="del">
          <ac:chgData name="Simone Mauro" userId="7288c1146a64123d" providerId="LiveId" clId="{D69BBF6E-8B38-4DA7-9014-4F911DB6F044}" dt="2026-07-10T10:05:50.032" v="77"/>
          <ac:spMkLst>
            <pc:docMk/>
            <pc:sldMk cId="1399571570" sldId="872"/>
            <ac:spMk id="3" creationId="{00000000-0000-0000-0000-000000000000}"/>
          </ac:spMkLst>
        </pc:spChg>
        <pc:spChg chg="del">
          <ac:chgData name="Simone Mauro" userId="7288c1146a64123d" providerId="LiveId" clId="{D69BBF6E-8B38-4DA7-9014-4F911DB6F044}" dt="2026-07-10T10:10:07.463" v="91"/>
          <ac:spMkLst>
            <pc:docMk/>
            <pc:sldMk cId="1399571570" sldId="872"/>
            <ac:spMk id="5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1" v="101"/>
          <ac:spMkLst>
            <pc:docMk/>
            <pc:sldMk cId="1399571570" sldId="872"/>
            <ac:spMk id="6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2" v="102"/>
          <ac:spMkLst>
            <pc:docMk/>
            <pc:sldMk cId="1399571570" sldId="872"/>
            <ac:spMk id="7" creationId="{00000000-0000-0000-0000-000000000000}"/>
          </ac:spMkLst>
        </pc:spChg>
      </pc:sldChg>
      <pc:sldChg chg="delSp modSp add mod">
        <pc:chgData name="Simone Mauro" userId="7288c1146a64123d" providerId="LiveId" clId="{D69BBF6E-8B38-4DA7-9014-4F911DB6F044}" dt="2026-07-10T10:23:18.092" v="104"/>
        <pc:sldMkLst>
          <pc:docMk/>
          <pc:sldMk cId="3279563981" sldId="873"/>
        </pc:sldMkLst>
        <pc:spChg chg="del">
          <ac:chgData name="Simone Mauro" userId="7288c1146a64123d" providerId="LiveId" clId="{D69BBF6E-8B38-4DA7-9014-4F911DB6F044}" dt="2026-07-10T10:05:50.033" v="78"/>
          <ac:spMkLst>
            <pc:docMk/>
            <pc:sldMk cId="3279563981" sldId="873"/>
            <ac:spMk id="3" creationId="{00000000-0000-0000-0000-000000000000}"/>
          </ac:spMkLst>
        </pc:spChg>
        <pc:spChg chg="del">
          <ac:chgData name="Simone Mauro" userId="7288c1146a64123d" providerId="LiveId" clId="{D69BBF6E-8B38-4DA7-9014-4F911DB6F044}" dt="2026-07-10T10:10:07.463" v="92"/>
          <ac:spMkLst>
            <pc:docMk/>
            <pc:sldMk cId="3279563981" sldId="873"/>
            <ac:spMk id="5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2" v="103"/>
          <ac:spMkLst>
            <pc:docMk/>
            <pc:sldMk cId="3279563981" sldId="873"/>
            <ac:spMk id="6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2" v="104"/>
          <ac:spMkLst>
            <pc:docMk/>
            <pc:sldMk cId="3279563981" sldId="873"/>
            <ac:spMk id="7" creationId="{00000000-0000-0000-0000-000000000000}"/>
          </ac:spMkLst>
        </pc:spChg>
      </pc:sldChg>
      <pc:sldChg chg="delSp modSp add mod">
        <pc:chgData name="Simone Mauro" userId="7288c1146a64123d" providerId="LiveId" clId="{D69BBF6E-8B38-4DA7-9014-4F911DB6F044}" dt="2026-07-10T10:23:18.092" v="106"/>
        <pc:sldMkLst>
          <pc:docMk/>
          <pc:sldMk cId="278421665" sldId="874"/>
        </pc:sldMkLst>
        <pc:spChg chg="del">
          <ac:chgData name="Simone Mauro" userId="7288c1146a64123d" providerId="LiveId" clId="{D69BBF6E-8B38-4DA7-9014-4F911DB6F044}" dt="2026-07-10T10:05:50.033" v="79"/>
          <ac:spMkLst>
            <pc:docMk/>
            <pc:sldMk cId="278421665" sldId="874"/>
            <ac:spMk id="3" creationId="{00000000-0000-0000-0000-000000000000}"/>
          </ac:spMkLst>
        </pc:spChg>
        <pc:spChg chg="del">
          <ac:chgData name="Simone Mauro" userId="7288c1146a64123d" providerId="LiveId" clId="{D69BBF6E-8B38-4DA7-9014-4F911DB6F044}" dt="2026-07-10T10:10:07.463" v="93"/>
          <ac:spMkLst>
            <pc:docMk/>
            <pc:sldMk cId="278421665" sldId="874"/>
            <ac:spMk id="5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2" v="105"/>
          <ac:spMkLst>
            <pc:docMk/>
            <pc:sldMk cId="278421665" sldId="874"/>
            <ac:spMk id="6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2" v="106"/>
          <ac:spMkLst>
            <pc:docMk/>
            <pc:sldMk cId="278421665" sldId="874"/>
            <ac:spMk id="7" creationId="{00000000-0000-0000-0000-000000000000}"/>
          </ac:spMkLst>
        </pc:spChg>
      </pc:sldChg>
      <pc:sldChg chg="delSp modSp add mod">
        <pc:chgData name="Simone Mauro" userId="7288c1146a64123d" providerId="LiveId" clId="{D69BBF6E-8B38-4DA7-9014-4F911DB6F044}" dt="2026-07-10T10:23:18.093" v="108"/>
        <pc:sldMkLst>
          <pc:docMk/>
          <pc:sldMk cId="4217555179" sldId="875"/>
        </pc:sldMkLst>
        <pc:spChg chg="del">
          <ac:chgData name="Simone Mauro" userId="7288c1146a64123d" providerId="LiveId" clId="{D69BBF6E-8B38-4DA7-9014-4F911DB6F044}" dt="2026-07-10T10:05:50.033" v="80"/>
          <ac:spMkLst>
            <pc:docMk/>
            <pc:sldMk cId="4217555179" sldId="875"/>
            <ac:spMk id="3" creationId="{00000000-0000-0000-0000-000000000000}"/>
          </ac:spMkLst>
        </pc:spChg>
        <pc:spChg chg="del">
          <ac:chgData name="Simone Mauro" userId="7288c1146a64123d" providerId="LiveId" clId="{D69BBF6E-8B38-4DA7-9014-4F911DB6F044}" dt="2026-07-10T10:10:07.463" v="94"/>
          <ac:spMkLst>
            <pc:docMk/>
            <pc:sldMk cId="4217555179" sldId="875"/>
            <ac:spMk id="5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2" v="107"/>
          <ac:spMkLst>
            <pc:docMk/>
            <pc:sldMk cId="4217555179" sldId="875"/>
            <ac:spMk id="6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3" v="108"/>
          <ac:spMkLst>
            <pc:docMk/>
            <pc:sldMk cId="4217555179" sldId="875"/>
            <ac:spMk id="7" creationId="{00000000-0000-0000-0000-000000000000}"/>
          </ac:spMkLst>
        </pc:spChg>
      </pc:sldChg>
      <pc:sldChg chg="delSp modSp add mod">
        <pc:chgData name="Simone Mauro" userId="7288c1146a64123d" providerId="LiveId" clId="{D69BBF6E-8B38-4DA7-9014-4F911DB6F044}" dt="2026-07-10T10:23:18.094" v="110"/>
        <pc:sldMkLst>
          <pc:docMk/>
          <pc:sldMk cId="3185156913" sldId="876"/>
        </pc:sldMkLst>
        <pc:spChg chg="del">
          <ac:chgData name="Simone Mauro" userId="7288c1146a64123d" providerId="LiveId" clId="{D69BBF6E-8B38-4DA7-9014-4F911DB6F044}" dt="2026-07-10T10:05:50.033" v="81"/>
          <ac:spMkLst>
            <pc:docMk/>
            <pc:sldMk cId="3185156913" sldId="876"/>
            <ac:spMk id="3" creationId="{00000000-0000-0000-0000-000000000000}"/>
          </ac:spMkLst>
        </pc:spChg>
        <pc:spChg chg="del">
          <ac:chgData name="Simone Mauro" userId="7288c1146a64123d" providerId="LiveId" clId="{D69BBF6E-8B38-4DA7-9014-4F911DB6F044}" dt="2026-07-10T10:10:07.463" v="95"/>
          <ac:spMkLst>
            <pc:docMk/>
            <pc:sldMk cId="3185156913" sldId="876"/>
            <ac:spMk id="5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4" v="109"/>
          <ac:spMkLst>
            <pc:docMk/>
            <pc:sldMk cId="3185156913" sldId="876"/>
            <ac:spMk id="6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4" v="110"/>
          <ac:spMkLst>
            <pc:docMk/>
            <pc:sldMk cId="3185156913" sldId="876"/>
            <ac:spMk id="7" creationId="{00000000-0000-0000-0000-000000000000}"/>
          </ac:spMkLst>
        </pc:spChg>
      </pc:sldChg>
      <pc:sldChg chg="delSp modSp add mod">
        <pc:chgData name="Simone Mauro" userId="7288c1146a64123d" providerId="LiveId" clId="{D69BBF6E-8B38-4DA7-9014-4F911DB6F044}" dt="2026-07-10T10:23:18.095" v="111"/>
        <pc:sldMkLst>
          <pc:docMk/>
          <pc:sldMk cId="3334931083" sldId="877"/>
        </pc:sldMkLst>
        <pc:spChg chg="del">
          <ac:chgData name="Simone Mauro" userId="7288c1146a64123d" providerId="LiveId" clId="{D69BBF6E-8B38-4DA7-9014-4F911DB6F044}" dt="2026-07-10T10:10:07.464" v="96"/>
          <ac:spMkLst>
            <pc:docMk/>
            <pc:sldMk cId="3334931083" sldId="877"/>
            <ac:spMk id="4" creationId="{00000000-0000-0000-0000-000000000000}"/>
          </ac:spMkLst>
        </pc:spChg>
        <pc:spChg chg="del">
          <ac:chgData name="Simone Mauro" userId="7288c1146a64123d" providerId="LiveId" clId="{D69BBF6E-8B38-4DA7-9014-4F911DB6F044}" dt="2026-07-10T10:10:07.464" v="97"/>
          <ac:spMkLst>
            <pc:docMk/>
            <pc:sldMk cId="3334931083" sldId="877"/>
            <ac:spMk id="5" creationId="{00000000-0000-0000-0000-000000000000}"/>
          </ac:spMkLst>
        </pc:spChg>
        <pc:spChg chg="mod">
          <ac:chgData name="Simone Mauro" userId="7288c1146a64123d" providerId="LiveId" clId="{D69BBF6E-8B38-4DA7-9014-4F911DB6F044}" dt="2026-07-10T10:23:18.095" v="111"/>
          <ac:spMkLst>
            <pc:docMk/>
            <pc:sldMk cId="3334931083" sldId="877"/>
            <ac:spMk id="6" creationId="{00000000-0000-0000-0000-000000000000}"/>
          </ac:spMkLst>
        </pc:spChg>
      </pc:sldChg>
      <pc:sldChg chg="add">
        <pc:chgData name="Simone Mauro" userId="7288c1146a64123d" providerId="LiveId" clId="{D69BBF6E-8B38-4DA7-9014-4F911DB6F044}" dt="2026-07-10T10:07:11.290" v="82"/>
        <pc:sldMkLst>
          <pc:docMk/>
          <pc:sldMk cId="2287421450" sldId="878"/>
        </pc:sldMkLst>
      </pc:sldChg>
      <pc:sldChg chg="add">
        <pc:chgData name="Simone Mauro" userId="7288c1146a64123d" providerId="LiveId" clId="{D69BBF6E-8B38-4DA7-9014-4F911DB6F044}" dt="2026-07-10T10:07:38.723" v="84"/>
        <pc:sldMkLst>
          <pc:docMk/>
          <pc:sldMk cId="3508258063" sldId="879"/>
        </pc:sldMkLst>
      </pc:sldChg>
      <pc:sldChg chg="add">
        <pc:chgData name="Simone Mauro" userId="7288c1146a64123d" providerId="LiveId" clId="{D69BBF6E-8B38-4DA7-9014-4F911DB6F044}" dt="2026-07-10T10:08:34.063" v="86"/>
        <pc:sldMkLst>
          <pc:docMk/>
          <pc:sldMk cId="430309610" sldId="880"/>
        </pc:sldMkLst>
      </pc:sldChg>
      <pc:sldChg chg="add">
        <pc:chgData name="Simone Mauro" userId="7288c1146a64123d" providerId="LiveId" clId="{D69BBF6E-8B38-4DA7-9014-4F911DB6F044}" dt="2026-07-10T10:08:59.804" v="88"/>
        <pc:sldMkLst>
          <pc:docMk/>
          <pc:sldMk cId="2114206230" sldId="881"/>
        </pc:sldMkLst>
      </pc:sldChg>
      <pc:sldChg chg="addSp delSp modSp new del mod">
        <pc:chgData name="Simone Mauro" userId="7288c1146a64123d" providerId="LiveId" clId="{D69BBF6E-8B38-4DA7-9014-4F911DB6F044}" dt="2026-07-10T11:42:18.969" v="138"/>
        <pc:sldMkLst>
          <pc:docMk/>
          <pc:sldMk cId="1644104072" sldId="882"/>
        </pc:sldMkLst>
        <pc:spChg chg="mod">
          <ac:chgData name="Simone Mauro" userId="7288c1146a64123d" providerId="LiveId" clId="{D69BBF6E-8B38-4DA7-9014-4F911DB6F044}" dt="2026-07-10T11:41:41.780" v="131"/>
          <ac:spMkLst>
            <pc:docMk/>
            <pc:sldMk cId="1644104072" sldId="882"/>
            <ac:spMk id="2" creationId="{E8F1022D-0A30-585A-FA18-8EA4BDA739B2}"/>
          </ac:spMkLst>
        </pc:spChg>
        <pc:spChg chg="del">
          <ac:chgData name="Simone Mauro" userId="7288c1146a64123d" providerId="LiveId" clId="{D69BBF6E-8B38-4DA7-9014-4F911DB6F044}" dt="2026-07-10T11:41:41.817" v="132"/>
          <ac:spMkLst>
            <pc:docMk/>
            <pc:sldMk cId="1644104072" sldId="882"/>
            <ac:spMk id="3" creationId="{E10321EE-43CF-CB9C-6DCA-EB306324A932}"/>
          </ac:spMkLst>
        </pc:spChg>
        <pc:spChg chg="add mod">
          <ac:chgData name="Simone Mauro" userId="7288c1146a64123d" providerId="LiveId" clId="{D69BBF6E-8B38-4DA7-9014-4F911DB6F044}" dt="2026-07-10T11:41:41.964" v="136"/>
          <ac:spMkLst>
            <pc:docMk/>
            <pc:sldMk cId="1644104072" sldId="882"/>
            <ac:spMk id="4" creationId="{54093C96-481C-405B-AA23-48AD962CDBC4}"/>
          </ac:spMkLst>
        </pc:spChg>
      </pc:sldChg>
      <pc:sldChg chg="add">
        <pc:chgData name="Simone Mauro" userId="7288c1146a64123d" providerId="LiveId" clId="{D69BBF6E-8B38-4DA7-9014-4F911DB6F044}" dt="2026-07-10T11:42:18.889" v="137"/>
        <pc:sldMkLst>
          <pc:docMk/>
          <pc:sldMk cId="366263229" sldId="883"/>
        </pc:sldMkLst>
      </pc:sldChg>
    </pc:docChg>
  </pc:docChgLst>
  <pc:docChgLst>
    <pc:chgData name="Alessandro Sartori" userId="8c981e8ef94813cb" providerId="Windows Live" clId="Web-{0F44592C-8E64-E215-B226-3D1BAD7FD5E5}"/>
    <pc:docChg chg="modSld">
      <pc:chgData name="Alessandro Sartori" userId="8c981e8ef94813cb" providerId="Windows Live" clId="Web-{0F44592C-8E64-E215-B226-3D1BAD7FD5E5}" dt="2026-07-10T11:00:21.032" v="13" actId="20577"/>
      <pc:docMkLst>
        <pc:docMk/>
      </pc:docMkLst>
      <pc:sldChg chg="modSp">
        <pc:chgData name="Alessandro Sartori" userId="8c981e8ef94813cb" providerId="Windows Live" clId="Web-{0F44592C-8E64-E215-B226-3D1BAD7FD5E5}" dt="2026-07-10T11:00:21.032" v="13" actId="20577"/>
        <pc:sldMkLst>
          <pc:docMk/>
          <pc:sldMk cId="0" sldId="285"/>
        </pc:sldMkLst>
        <pc:spChg chg="mod">
          <ac:chgData name="Alessandro Sartori" userId="8c981e8ef94813cb" providerId="Windows Live" clId="Web-{0F44592C-8E64-E215-B226-3D1BAD7FD5E5}" dt="2026-07-10T11:00:21.032" v="13" actId="20577"/>
          <ac:spMkLst>
            <pc:docMk/>
            <pc:sldMk cId="0" sldId="285"/>
            <ac:spMk id="7" creationId="{00000000-0000-0000-0000-000000000000}"/>
          </ac:spMkLst>
        </pc:spChg>
      </pc:sldChg>
      <pc:sldChg chg="modSp">
        <pc:chgData name="Alessandro Sartori" userId="8c981e8ef94813cb" providerId="Windows Live" clId="Web-{0F44592C-8E64-E215-B226-3D1BAD7FD5E5}" dt="2026-07-10T10:55:02.187" v="11" actId="20577"/>
        <pc:sldMkLst>
          <pc:docMk/>
          <pc:sldMk cId="3489827326" sldId="296"/>
        </pc:sldMkLst>
        <pc:spChg chg="mod">
          <ac:chgData name="Alessandro Sartori" userId="8c981e8ef94813cb" providerId="Windows Live" clId="Web-{0F44592C-8E64-E215-B226-3D1BAD7FD5E5}" dt="2026-07-10T10:54:54.843" v="5" actId="20577"/>
          <ac:spMkLst>
            <pc:docMk/>
            <pc:sldMk cId="3489827326" sldId="296"/>
            <ac:spMk id="11" creationId="{118E7551-45E2-2421-F736-5DD83BE1565A}"/>
          </ac:spMkLst>
        </pc:spChg>
        <pc:spChg chg="mod">
          <ac:chgData name="Alessandro Sartori" userId="8c981e8ef94813cb" providerId="Windows Live" clId="Web-{0F44592C-8E64-E215-B226-3D1BAD7FD5E5}" dt="2026-07-10T10:54:57.578" v="7" actId="20577"/>
          <ac:spMkLst>
            <pc:docMk/>
            <pc:sldMk cId="3489827326" sldId="296"/>
            <ac:spMk id="13" creationId="{3C20CE95-959A-E2C7-41D5-46468F0DA6CC}"/>
          </ac:spMkLst>
        </pc:spChg>
        <pc:spChg chg="mod">
          <ac:chgData name="Alessandro Sartori" userId="8c981e8ef94813cb" providerId="Windows Live" clId="Web-{0F44592C-8E64-E215-B226-3D1BAD7FD5E5}" dt="2026-07-10T10:55:02.187" v="11" actId="20577"/>
          <ac:spMkLst>
            <pc:docMk/>
            <pc:sldMk cId="3489827326" sldId="296"/>
            <ac:spMk id="18" creationId="{031257D5-DE0B-187B-8BA9-2E85DE889F98}"/>
          </ac:spMkLst>
        </pc:spChg>
      </pc:sldChg>
      <pc:sldChg chg="modSp">
        <pc:chgData name="Alessandro Sartori" userId="8c981e8ef94813cb" providerId="Windows Live" clId="Web-{0F44592C-8E64-E215-B226-3D1BAD7FD5E5}" dt="2026-07-10T10:45:06.232" v="3" actId="20577"/>
        <pc:sldMkLst>
          <pc:docMk/>
          <pc:sldMk cId="0" sldId="772"/>
        </pc:sldMkLst>
        <pc:spChg chg="mod">
          <ac:chgData name="Alessandro Sartori" userId="8c981e8ef94813cb" providerId="Windows Live" clId="Web-{0F44592C-8E64-E215-B226-3D1BAD7FD5E5}" dt="2026-07-10T10:45:06.232" v="3" actId="20577"/>
          <ac:spMkLst>
            <pc:docMk/>
            <pc:sldMk cId="0" sldId="772"/>
            <ac:spMk id="9" creationId="{00000000-0000-0000-0000-000000000000}"/>
          </ac:spMkLst>
        </pc:spChg>
      </pc:sldChg>
    </pc:docChg>
  </pc:docChgLst>
  <pc:docChgLst>
    <pc:chgData name="Simone Mauro" userId="7288c1146a64123d" providerId="Windows Live" clId="Web-{5BE09A8C-7D3B-53BA-51CE-CE42B4B56A68}"/>
    <pc:docChg chg="addSld delSld modSld">
      <pc:chgData name="Simone Mauro" userId="7288c1146a64123d" providerId="Windows Live" clId="Web-{5BE09A8C-7D3B-53BA-51CE-CE42B4B56A68}" dt="2026-07-10T12:14:00.248" v="140" actId="20577"/>
      <pc:docMkLst>
        <pc:docMk/>
      </pc:docMkLst>
      <pc:sldChg chg="modSp">
        <pc:chgData name="Simone Mauro" userId="7288c1146a64123d" providerId="Windows Live" clId="Web-{5BE09A8C-7D3B-53BA-51CE-CE42B4B56A68}" dt="2026-07-10T12:14:00.248" v="140" actId="20577"/>
        <pc:sldMkLst>
          <pc:docMk/>
          <pc:sldMk cId="1736956680" sldId="840"/>
        </pc:sldMkLst>
        <pc:spChg chg="mod">
          <ac:chgData name="Simone Mauro" userId="7288c1146a64123d" providerId="Windows Live" clId="Web-{5BE09A8C-7D3B-53BA-51CE-CE42B4B56A68}" dt="2026-07-10T12:14:00.248" v="140" actId="20577"/>
          <ac:spMkLst>
            <pc:docMk/>
            <pc:sldMk cId="1736956680" sldId="840"/>
            <ac:spMk id="3" creationId="{F659C45D-0BA8-B801-BC00-737B69BDA447}"/>
          </ac:spMkLst>
        </pc:spChg>
      </pc:sldChg>
      <pc:sldChg chg="del">
        <pc:chgData name="Simone Mauro" userId="7288c1146a64123d" providerId="Windows Live" clId="Web-{5BE09A8C-7D3B-53BA-51CE-CE42B4B56A68}" dt="2026-07-10T12:11:49.119" v="91"/>
        <pc:sldMkLst>
          <pc:docMk/>
          <pc:sldMk cId="1042127494" sldId="864"/>
        </pc:sldMkLst>
      </pc:sldChg>
      <pc:sldChg chg="modSp">
        <pc:chgData name="Simone Mauro" userId="7288c1146a64123d" providerId="Windows Live" clId="Web-{5BE09A8C-7D3B-53BA-51CE-CE42B4B56A68}" dt="2026-07-10T12:10:20.819" v="37" actId="20577"/>
        <pc:sldMkLst>
          <pc:docMk/>
          <pc:sldMk cId="3508258063" sldId="879"/>
        </pc:sldMkLst>
        <pc:spChg chg="mod">
          <ac:chgData name="Simone Mauro" userId="7288c1146a64123d" providerId="Windows Live" clId="Web-{5BE09A8C-7D3B-53BA-51CE-CE42B4B56A68}" dt="2026-07-10T12:10:11.116" v="28" actId="20577"/>
          <ac:spMkLst>
            <pc:docMk/>
            <pc:sldMk cId="3508258063" sldId="879"/>
            <ac:spMk id="2" creationId="{3891769E-CDD4-CF0D-3BAE-53823838E2EC}"/>
          </ac:spMkLst>
        </pc:spChg>
        <pc:spChg chg="mod">
          <ac:chgData name="Simone Mauro" userId="7288c1146a64123d" providerId="Windows Live" clId="Web-{5BE09A8C-7D3B-53BA-51CE-CE42B4B56A68}" dt="2026-07-10T12:10:20.819" v="37" actId="20577"/>
          <ac:spMkLst>
            <pc:docMk/>
            <pc:sldMk cId="3508258063" sldId="879"/>
            <ac:spMk id="3" creationId="{63308CD1-8BA4-F8FD-A87F-7BC060BE489A}"/>
          </ac:spMkLst>
        </pc:spChg>
      </pc:sldChg>
      <pc:sldChg chg="modSp add replId">
        <pc:chgData name="Simone Mauro" userId="7288c1146a64123d" providerId="Windows Live" clId="Web-{5BE09A8C-7D3B-53BA-51CE-CE42B4B56A68}" dt="2026-07-10T12:12:22.636" v="120" actId="20577"/>
        <pc:sldMkLst>
          <pc:docMk/>
          <pc:sldMk cId="801131103" sldId="884"/>
        </pc:sldMkLst>
        <pc:spChg chg="mod">
          <ac:chgData name="Simone Mauro" userId="7288c1146a64123d" providerId="Windows Live" clId="Web-{5BE09A8C-7D3B-53BA-51CE-CE42B4B56A68}" dt="2026-07-10T12:12:17.761" v="116" actId="20577"/>
          <ac:spMkLst>
            <pc:docMk/>
            <pc:sldMk cId="801131103" sldId="884"/>
            <ac:spMk id="2" creationId="{538D52DD-0649-5F94-B58D-65239BA79619}"/>
          </ac:spMkLst>
        </pc:spChg>
        <pc:spChg chg="mod">
          <ac:chgData name="Simone Mauro" userId="7288c1146a64123d" providerId="Windows Live" clId="Web-{5BE09A8C-7D3B-53BA-51CE-CE42B4B56A68}" dt="2026-07-10T12:12:22.636" v="120" actId="20577"/>
          <ac:spMkLst>
            <pc:docMk/>
            <pc:sldMk cId="801131103" sldId="884"/>
            <ac:spMk id="98" creationId="{457E1023-C29E-181A-B851-5941D2116C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641C3-2C69-44D2-8E56-49810426B961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D5530-5A01-4103-99EF-768888F302F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025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61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063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4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A766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54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05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rror_exponents_in_hypothesis_testing" TargetMode="External"/><Relationship Id="rId2" Type="http://schemas.openxmlformats.org/officeDocument/2006/relationships/hyperlink" Target="https://www.researchgate.net/publication/282997049_Change_Detection_in_Multivariate_Datastreams_Likelihood_and_Detectability_Loss#:~:text=We%20show%20that%20the%20magnitude,when%20the%20data%2Ddimension%20increases.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3142498_Multimodal_Batch-Wise_Change_Detection" TargetMode="External"/><Relationship Id="rId2" Type="http://schemas.openxmlformats.org/officeDocument/2006/relationships/hyperlink" Target="http://chrome-extension/efaidnbmnnnibpcajpcglclefindmkaj/https:/boracchi.faculty.polimi.it/docs/2017_BDR_CCM_Carrera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https://doi.org/10.1109/tnn.2011.2160459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769E-CDD4-CF0D-3BAE-53823838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100"/>
            <a:ext cx="10515600" cy="825500"/>
          </a:xfrm>
        </p:spPr>
        <p:txBody>
          <a:bodyPr anchor="t"/>
          <a:lstStyle/>
          <a:p>
            <a:r>
              <a:rPr lang="it-IT" sz="4000" b="1">
                <a:solidFill>
                  <a:srgbClr val="1B2A4A"/>
                </a:solidFill>
                <a:latin typeface="Calibri"/>
              </a:rPr>
              <a:t>Requirement 1: single campaign  </a:t>
            </a:r>
            <a:endParaRPr lang="it-IT" sz="4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08CD1-8BA4-F8FD-A87F-7BC060BE4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111500"/>
            <a:ext cx="10515600" cy="508000"/>
          </a:xfrm>
        </p:spPr>
        <p:txBody>
          <a:bodyPr anchor="t"/>
          <a:lstStyle/>
          <a:p>
            <a:r>
              <a:rPr lang="it-IT"/>
              <a:t>The warm-up</a:t>
            </a:r>
          </a:p>
        </p:txBody>
      </p:sp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8" name="Kicker"/>
          <p:cNvSpPr txBox="1"/>
          <p:nvPr/>
        </p:nvSpPr>
        <p:spPr>
          <a:xfrm>
            <a:off x="838200" y="1739900"/>
            <a:ext cx="10515600" cy="457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300" b="1" i="0">
                <a:solidFill>
                  <a:srgbClr val="2E86AB"/>
                </a:solidFill>
                <a:latin typeface="Calibri"/>
              </a:rPr>
              <a:t>REQUIREMENT 1</a:t>
            </a:r>
          </a:p>
        </p:txBody>
      </p:sp>
    </p:spTree>
    <p:extLst>
      <p:ext uri="{BB962C8B-B14F-4D97-AF65-F5344CB8AC3E}">
        <p14:creationId xmlns:p14="http://schemas.microsoft.com/office/powerpoint/2010/main" val="350825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50292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B2A4A"/>
                </a:solidFill>
                <a:latin typeface="Calibri"/>
              </a:rPr>
              <a:t>The Setup, in Short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A6B76"/>
                </a:solidFill>
                <a:latin typeface="Calibri"/>
              </a:rPr>
              <a:t>ONE CAMPAIGN, MANY ROUNDS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B2A4A"/>
                </a:solidFill>
              </a:defRPr>
            </a:pPr>
            <a:r>
              <a:t>One campaign bids again and again</a:t>
            </a:r>
          </a:p>
          <a:p>
            <a:pPr>
              <a:spcAft>
                <a:spcPts val="1400"/>
              </a:spcAft>
              <a:defRPr sz="1800">
                <a:solidFill>
                  <a:srgbClr val="1B2A4A"/>
                </a:solidFill>
              </a:defRPr>
            </a:pPr>
            <a:r>
              <a:t>Each round: win or lose the auction</a:t>
            </a:r>
          </a:p>
          <a:p>
            <a:pPr>
              <a:spcAft>
                <a:spcPts val="1400"/>
              </a:spcAft>
              <a:defRPr sz="1800">
                <a:solidFill>
                  <a:srgbClr val="1B2A4A"/>
                </a:solidFill>
              </a:defRPr>
            </a:pPr>
            <a:r>
              <a:t>A winning bid uses up part of the budget</a:t>
            </a:r>
          </a:p>
          <a:p>
            <a:pPr>
              <a:spcAft>
                <a:spcPts val="1400"/>
              </a:spcAft>
              <a:defRPr sz="1800">
                <a:solidFill>
                  <a:srgbClr val="1B2A4A"/>
                </a:solidFill>
              </a:defRPr>
            </a:pPr>
            <a:r>
              <a:t>The budget can run out before the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754880" cy="384048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2057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A6B76"/>
                </a:solidFill>
                <a:latin typeface="Calibri"/>
              </a:rPr>
              <a:t>ALGORITHMS COMPARED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060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UCB1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93522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B76"/>
                </a:solidFill>
                <a:latin typeface="Calibri"/>
              </a:rPr>
              <a:t>does not plan the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3558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Budgeted UCB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68503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B76"/>
                </a:solidFill>
                <a:latin typeface="Calibri"/>
              </a:rPr>
              <a:t>plans spending every 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10565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UCB1-Tuned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4348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B76"/>
                </a:solidFill>
                <a:latin typeface="Calibri"/>
              </a:rPr>
              <a:t>explores in a smarter 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5546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Rescaled-Constant UCB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1846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B76"/>
                </a:solidFill>
                <a:latin typeface="Calibri"/>
              </a:rPr>
              <a:t>explores in a smarter 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852160"/>
            <a:ext cx="10332720" cy="77724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59618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B76"/>
                </a:solidFill>
                <a:latin typeface="Calibri"/>
              </a:rPr>
              <a:t>THE ENVIRONMENT, IN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6254496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Calibri"/>
              </a:rPr>
              <a:t>Value = 1.0   ·   Horizon = 1,000 rounds   ·   Budget = 300   ·   Competing bid ~ Uniform(0.1, 0.7)   ·   2 competitors   ·   11 candidate bids (0.0–1.0)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8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457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Planning the Budget Cuts Regret in Half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0515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B76"/>
                </a:solidFill>
                <a:latin typeface="Calibri"/>
              </a:rPr>
              <a:t>1,000 rounds · budget = 300 · averaged over 30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E97132"/>
                </a:solidFill>
                <a:latin typeface="Calibri"/>
              </a:rPr>
              <a:t>163 → 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A4A"/>
                </a:solidFill>
                <a:latin typeface="Calibri"/>
              </a:rPr>
              <a:t>total regret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A4A"/>
                </a:solidFill>
                <a:latin typeface="Calibri"/>
              </a:rPr>
              <a:t>UCB1 vs. Budgeted UCB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6"/>
                </a:solidFill>
                <a:latin typeface="Calibri"/>
              </a:rPr>
              <a:t>UCB1 runs out of money around round 700 and stops playing for the rest of the campaign. Budgeted UCB paces its spending and plays every single round.</a:t>
            </a:r>
          </a:p>
        </p:txBody>
      </p:sp>
      <p:pic>
        <p:nvPicPr>
          <p:cNvPr id="11" name="Picture 10" descr="slide_exp1_reg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48840"/>
            <a:ext cx="6858000" cy="4114800"/>
          </a:xfrm>
          <a:prstGeom prst="rect">
            <a:avLst/>
          </a:prstGeom>
        </p:spPr>
      </p:pic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7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457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 Smaller Budget Hurts the Blind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0515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B76"/>
                </a:solidFill>
                <a:latin typeface="Calibri"/>
              </a:rPr>
              <a:t>same test, budget lowered from 300 to 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E97132"/>
                </a:solidFill>
                <a:latin typeface="Calibri"/>
              </a:rPr>
              <a:t>+55%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A4A"/>
                </a:solidFill>
                <a:latin typeface="Calibri"/>
              </a:rPr>
              <a:t>more regret for UCB1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A4A"/>
                </a:solidFill>
                <a:latin typeface="Calibri"/>
              </a:rPr>
              <a:t>when the budget is 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6"/>
                </a:solidFill>
                <a:latin typeface="Calibri"/>
              </a:rPr>
              <a:t>Budgeted UCB stays about the same, even with much less money to spend. Planning the budget matters even more when money is limited.</a:t>
            </a:r>
          </a:p>
        </p:txBody>
      </p:sp>
      <p:pic>
        <p:nvPicPr>
          <p:cNvPr id="11" name="Picture 10" descr="slide_exp2_budget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48840"/>
            <a:ext cx="6858000" cy="4114800"/>
          </a:xfrm>
          <a:prstGeom prst="rect">
            <a:avLst/>
          </a:prstGeom>
        </p:spPr>
      </p:pic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6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457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Smarter Exploration Helps Even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0515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B76"/>
                </a:solidFill>
                <a:latin typeface="Calibri"/>
              </a:rPr>
              <a:t>each formula (without budget pacing), plus the same 1,000-round test</a:t>
            </a:r>
          </a:p>
        </p:txBody>
      </p:sp>
      <p:pic>
        <p:nvPicPr>
          <p:cNvPr id="8" name="Picture 7" descr="slide_formu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63" y="1508760"/>
            <a:ext cx="3378993" cy="5029200"/>
          </a:xfrm>
          <a:prstGeom prst="rect">
            <a:avLst/>
          </a:prstGeom>
        </p:spPr>
      </p:pic>
      <p:pic>
        <p:nvPicPr>
          <p:cNvPr id="9" name="Picture 8" descr="slide_exp3_varia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03120"/>
            <a:ext cx="704088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5349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E97132"/>
                </a:solidFill>
                <a:latin typeface="Calibri"/>
              </a:rPr>
              <a:t>~20% 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788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6B76"/>
                </a:solidFill>
                <a:latin typeface="Calibri"/>
              </a:rPr>
              <a:t>regret without budget pacing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349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E97132"/>
                </a:solidFill>
                <a:latin typeface="Calibri"/>
              </a:rPr>
              <a:t>~55% lower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5788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6B76"/>
                </a:solidFill>
                <a:latin typeface="Calibri"/>
              </a:rPr>
              <a:t>regret with budget pacing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1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457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What Bid Does Each Algorithm Actually Learn?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0515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B76"/>
                </a:solidFill>
                <a:latin typeface="Calibri"/>
              </a:rPr>
              <a:t>1,000 rounds · budget = 300 · all six algorithms · averaged over 30 runs</a:t>
            </a:r>
          </a:p>
        </p:txBody>
      </p:sp>
      <p:pic>
        <p:nvPicPr>
          <p:cNvPr id="8" name="Picture 7" descr="slide_arm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71649"/>
            <a:ext cx="11430000" cy="3543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2356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The true best bid is 0.5 (tied with 0.6). Without budget pacing, UCB1-Tuned and Rescaled-Constant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UCB land on it about 52% of the time, versus 32% for plain UCB1 — the same gap shows up with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budget pacing too (43% vs. 29%). That is why the smarter versions had lower regret.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5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457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More Rounds Confirm Real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0515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B76"/>
                </a:solidFill>
                <a:latin typeface="Calibri"/>
              </a:rPr>
              <a:t>same test scaled up: 10,000 rounds, budget = 3,000</a:t>
            </a:r>
          </a:p>
        </p:txBody>
      </p:sp>
      <p:pic>
        <p:nvPicPr>
          <p:cNvPr id="8" name="Picture 7" descr="slide_exp4_exte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49589"/>
            <a:ext cx="10607040" cy="39074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580644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A4A"/>
                </a:solidFill>
                <a:latin typeface="Calibri"/>
              </a:rPr>
              <a:t>The lines become flatter and flatter over time. A flatter line means less new regret each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A4A"/>
                </a:solidFill>
                <a:latin typeface="Calibri"/>
              </a:rPr>
              <a:t>round — this confirms that every algorithm is really learning.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56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91440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B2A4A"/>
                </a:solidFill>
                <a:latin typeface="Calibri"/>
              </a:rPr>
              <a:t>Main Takeaways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8483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Planning the budget matters most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42032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B76"/>
                </a:solidFill>
                <a:latin typeface="Calibri"/>
              </a:rPr>
              <a:t>It cuts total regret in half, and matters even more when money is limited.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37560"/>
            <a:ext cx="502920" cy="5029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92424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31927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Smarter exploration adds more gains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776472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B76"/>
                </a:solidFill>
                <a:latin typeface="Calibri"/>
              </a:rPr>
              <a:t>UCB1-Tuned and the rescaled version both learn the best bid faster.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72000"/>
            <a:ext cx="502920" cy="5029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rgbClr val="2E86AB"/>
          </a:lnRef>
          <a:fillRef idx="3">
            <a:srgbClr val="2E86AB"/>
          </a:fillRef>
          <a:effectRef idx="2">
            <a:srgbClr val="2E86AB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626864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5371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The learning is 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10912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B76"/>
                </a:solidFill>
                <a:latin typeface="Calibri"/>
              </a:rPr>
              <a:t>With more rounds, every algorithm's regret curve flattens 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1B2A4A"/>
                </a:solidFill>
                <a:latin typeface="Calibri"/>
              </a:rPr>
              <a:t>Thank you.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3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8200" y="173736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86AB"/>
                </a:solidFill>
                <a:latin typeface="Calibri"/>
              </a:rPr>
              <a:t>REQUIREMENT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8200" y="2194560"/>
            <a:ext cx="7726679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B2A4A"/>
                </a:solidFill>
                <a:latin typeface="Calibri"/>
              </a:rPr>
              <a:t>COMBINATORIAL UCB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200" y="28575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1">
                <a:solidFill>
                  <a:srgbClr val="5A6B76"/>
                </a:solidFill>
                <a:latin typeface="Calibri"/>
              </a:rPr>
              <a:t>for multi-campaign bidding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742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05432" y="0"/>
            <a:ext cx="5486262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237744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86AB"/>
                </a:solidFill>
                <a:latin typeface="Times New Roman"/>
              </a:rPr>
              <a:t>Goal &amp; Setting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94944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A6B76"/>
                </a:solidFill>
                <a:latin typeface="Times New Roman"/>
              </a:rPr>
              <a:t>First the aim and the objects; then the rules, the benchmark, the algorithm, the results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" y="969264"/>
            <a:ext cx="11185855" cy="0"/>
          </a:xfrm>
          <a:prstGeom prst="bentConnector3">
            <a:avLst/>
          </a:prstGeom>
          <a:ln w="12700">
            <a:solidFill>
              <a:srgbClr val="2E8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6547104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REQ 2  ·  COMBINATORIAL UCB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54710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2/18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1225296"/>
            <a:ext cx="3545738" cy="242316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2920" y="1225296"/>
            <a:ext cx="32004" cy="24231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" y="1316736"/>
            <a:ext cx="3298850" cy="2276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01 · THE SETTING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Times New Roman"/>
              </a:rPr>
              <a:t>5 campaigns, 1000 rounds, 1 budget</a:t>
            </a:r>
          </a:p>
          <a:p>
            <a:pPr>
              <a:lnSpc>
                <a:spcPct val="108000"/>
              </a:lnSpc>
            </a:pPr>
            <a:r>
              <a:rPr sz="1200" b="0" i="0">
                <a:solidFill>
                  <a:srgbClr val="1B2A4A"/>
                </a:solidFill>
                <a:latin typeface="Times New Roman"/>
              </a:rPr>
              <a:t>We run </a:t>
            </a:r>
            <a:r>
              <a:rPr sz="1200" b="1" i="0">
                <a:solidFill>
                  <a:srgbClr val="1B2A4A"/>
                </a:solidFill>
                <a:latin typeface="Times New Roman"/>
              </a:rPr>
              <a:t>N = 5 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advertising </a:t>
            </a:r>
            <a:r>
              <a:rPr sz="1200" b="1" i="0">
                <a:solidFill>
                  <a:srgbClr val="1B2A4A"/>
                </a:solidFill>
                <a:latin typeface="Times New Roman"/>
              </a:rPr>
              <a:t>campaigns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 for </a:t>
            </a:r>
            <a:r>
              <a:rPr sz="1200" b="1" i="0">
                <a:solidFill>
                  <a:srgbClr val="1B2A4A"/>
                </a:solidFill>
                <a:latin typeface="Times New Roman"/>
              </a:rPr>
              <a:t>T = 1000 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rounds, sharing one budget </a:t>
            </a:r>
            <a:r>
              <a:rPr sz="1200" b="1" i="0">
                <a:solidFill>
                  <a:srgbClr val="1B2A4A"/>
                </a:solidFill>
                <a:latin typeface="Times New Roman"/>
              </a:rPr>
              <a:t>B = 850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. Each round, every campaign we enter is a first-price auction against a </a:t>
            </a:r>
            <a:r>
              <a:rPr sz="1200" b="1" i="0">
                <a:solidFill>
                  <a:srgbClr val="1B2A4A"/>
                </a:solidFill>
                <a:latin typeface="Times New Roman"/>
              </a:rPr>
              <a:t>rival bid drawn from a </a:t>
            </a:r>
            <a:r>
              <a:rPr lang="it-IT" sz="1200" b="1" i="0">
                <a:solidFill>
                  <a:srgbClr val="1B2A4A"/>
                </a:solidFill>
                <a:latin typeface="Times New Roman"/>
              </a:rPr>
              <a:t>Multivariate </a:t>
            </a:r>
            <a:r>
              <a:rPr sz="1200" b="1" i="0">
                <a:solidFill>
                  <a:srgbClr val="1B2A4A"/>
                </a:solidFill>
                <a:latin typeface="Times New Roman"/>
              </a:rPr>
              <a:t>Gaussian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: per-campaign means (</a:t>
            </a:r>
            <a:r>
              <a:rPr lang="en-US" sz="1100" b="0" i="0">
                <a:solidFill>
                  <a:srgbClr val="B5CEA8"/>
                </a:solidFill>
                <a:highlight>
                  <a:srgbClr val="121314"/>
                </a:highlight>
                <a:latin typeface="Consolas"/>
              </a:rPr>
              <a:t>0.44</a:t>
            </a:r>
            <a:r>
              <a:rPr lang="en-US" sz="1100">
                <a:solidFill>
                  <a:srgbClr val="BBBEBF"/>
                </a:solidFill>
                <a:highlight>
                  <a:srgbClr val="121314"/>
                </a:highlight>
                <a:latin typeface="Consolas"/>
              </a:rPr>
              <a:t>, </a:t>
            </a:r>
            <a:r>
              <a:rPr lang="en-US" sz="1100">
                <a:solidFill>
                  <a:srgbClr val="B5CEA8"/>
                </a:solidFill>
                <a:highlight>
                  <a:srgbClr val="121314"/>
                </a:highlight>
                <a:latin typeface="Consolas"/>
              </a:rPr>
              <a:t>0.58</a:t>
            </a:r>
            <a:r>
              <a:rPr lang="en-US" sz="1100">
                <a:solidFill>
                  <a:srgbClr val="BBBEBF"/>
                </a:solidFill>
                <a:highlight>
                  <a:srgbClr val="121314"/>
                </a:highlight>
                <a:latin typeface="Consolas"/>
              </a:rPr>
              <a:t>, </a:t>
            </a:r>
            <a:r>
              <a:rPr lang="en-US" sz="1100">
                <a:solidFill>
                  <a:srgbClr val="B5CEA8"/>
                </a:solidFill>
                <a:highlight>
                  <a:srgbClr val="121314"/>
                </a:highlight>
                <a:latin typeface="Consolas"/>
              </a:rPr>
              <a:t>0.48</a:t>
            </a:r>
            <a:r>
              <a:rPr lang="en-US" sz="1100">
                <a:solidFill>
                  <a:srgbClr val="BBBEBF"/>
                </a:solidFill>
                <a:highlight>
                  <a:srgbClr val="121314"/>
                </a:highlight>
                <a:latin typeface="Consolas"/>
              </a:rPr>
              <a:t>,</a:t>
            </a:r>
            <a:r>
              <a:rPr lang="en-US" sz="1100" b="0" i="0">
                <a:solidFill>
                  <a:srgbClr val="BBBEBF"/>
                </a:solidFill>
                <a:highlight>
                  <a:srgbClr val="121314"/>
                </a:highlight>
                <a:latin typeface="Consolas"/>
              </a:rPr>
              <a:t> </a:t>
            </a:r>
            <a:r>
              <a:rPr lang="en-US" sz="1100" b="0" i="0">
                <a:solidFill>
                  <a:srgbClr val="B5CEA8"/>
                </a:solidFill>
                <a:highlight>
                  <a:srgbClr val="121314"/>
                </a:highlight>
                <a:latin typeface="Consolas"/>
              </a:rPr>
              <a:t>0.60</a:t>
            </a:r>
            <a:r>
              <a:rPr lang="en-US" sz="1100">
                <a:solidFill>
                  <a:srgbClr val="BBBEBF"/>
                </a:solidFill>
                <a:highlight>
                  <a:srgbClr val="121314"/>
                </a:highlight>
                <a:latin typeface="Consolas"/>
              </a:rPr>
              <a:t>, </a:t>
            </a:r>
            <a:r>
              <a:rPr lang="en-US" sz="1100">
                <a:solidFill>
                  <a:srgbClr val="B5CEA8"/>
                </a:solidFill>
                <a:highlight>
                  <a:srgbClr val="121314"/>
                </a:highlight>
                <a:latin typeface="Consolas"/>
              </a:rPr>
              <a:t>0.56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), std 0.1, clipped to [0,1]</a:t>
            </a:r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22978" y="1225296"/>
            <a:ext cx="3545738" cy="242316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322978" y="1225296"/>
            <a:ext cx="32004" cy="24231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60138" y="1316736"/>
            <a:ext cx="3298850" cy="2276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02 · THE MOVES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Times New Roman"/>
              </a:rPr>
              <a:t>Arms and super-arms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4A"/>
                </a:solidFill>
                <a:latin typeface="Times New Roman"/>
              </a:rPr>
              <a:t>An arm is one (campaign, bid) pair, bids on the grid {0, 0.1, ..., 1}: </a:t>
            </a:r>
            <a:r>
              <a:rPr sz="1200" b="1" i="0">
                <a:solidFill>
                  <a:srgbClr val="1B2A4A"/>
                </a:solidFill>
                <a:latin typeface="Times New Roman"/>
              </a:rPr>
              <a:t>55 arms in total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. A super-arm is the set of campaigns played in one round, one bid each. A conflict graph forbids some pairs: next slide.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43036" y="1225296"/>
            <a:ext cx="3545738" cy="242316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143036" y="1225296"/>
            <a:ext cx="32004" cy="24231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80196" y="1316736"/>
            <a:ext cx="3298850" cy="2276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03 · THE GOAL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Times New Roman"/>
              </a:rPr>
              <a:t>Max reward, budget safe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4A"/>
                </a:solidFill>
                <a:latin typeface="Times New Roman"/>
              </a:rPr>
              <a:t>A win earns </a:t>
            </a:r>
            <a:r>
              <a:rPr sz="1200" b="1" i="0">
                <a:solidFill>
                  <a:srgbClr val="1B2A4A"/>
                </a:solidFill>
                <a:latin typeface="Times New Roman"/>
              </a:rPr>
              <a:t>v = 1 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and costs the bid. The aim: maximize total reward over the 1000 rounds, never exceed the budget (0.85 per round on average; results over 20 seeds), always play allowed super-arms.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3941064"/>
            <a:ext cx="11185855" cy="1380744"/>
          </a:xfrm>
          <a:prstGeom prst="rect">
            <a:avLst/>
          </a:prstGeom>
          <a:solidFill>
            <a:srgbClr val="EDF3F6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02920" y="3941064"/>
            <a:ext cx="45719" cy="138074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67512" y="4014216"/>
            <a:ext cx="1089324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OBJECTIVE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67512" y="4270248"/>
            <a:ext cx="10893247" cy="0"/>
          </a:xfrm>
          <a:prstGeom prst="bentConnector3">
            <a:avLst/>
          </a:prstGeom>
          <a:ln w="6350">
            <a:solidFill>
              <a:srgbClr val="2E8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67512" y="4361688"/>
            <a:ext cx="10893247" cy="1197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B2A4A"/>
                </a:solidFill>
                <a:latin typeface="Times New Roman"/>
              </a:rPr>
              <a:t>In one line: earn as much as possible, never exceed the budget, never play a forbidden pair.</a:t>
            </a:r>
          </a:p>
        </p:txBody>
      </p:sp>
      <p:pic>
        <p:nvPicPr>
          <p:cNvPr id="72" name="Picture 71" descr="f_obj.png"/>
          <p:cNvPicPr>
            <a:picLocks noChangeAspect="1"/>
          </p:cNvPicPr>
          <p:nvPr/>
        </p:nvPicPr>
        <p:blipFill>
          <a:blip r:embed="rId3">
            <a:duotone>
              <a:srgbClr val="2E86AB"/>
              <a:srgbClr val="1B2A4A"/>
            </a:duotone>
          </a:blip>
          <a:stretch>
            <a:fillRect/>
          </a:stretch>
        </p:blipFill>
        <p:spPr>
          <a:xfrm>
            <a:off x="4331803" y="4379976"/>
            <a:ext cx="3564664" cy="475488"/>
          </a:xfrm>
          <a:prstGeom prst="rect">
            <a:avLst/>
          </a:prstGeom>
        </p:spPr>
      </p:pic>
      <p:pic>
        <p:nvPicPr>
          <p:cNvPr id="73" name="Picture 72" descr="f_market.png"/>
          <p:cNvPicPr>
            <a:picLocks noChangeAspect="1"/>
          </p:cNvPicPr>
          <p:nvPr/>
        </p:nvPicPr>
        <p:blipFill>
          <a:blip r:embed="rId4">
            <a:duotone>
              <a:srgbClr val="2E86AB"/>
              <a:srgbClr val="1B2A4A"/>
            </a:duotone>
          </a:blip>
          <a:stretch>
            <a:fillRect/>
          </a:stretch>
        </p:blipFill>
        <p:spPr>
          <a:xfrm>
            <a:off x="728129" y="3127248"/>
            <a:ext cx="3097454" cy="274320"/>
          </a:xfrm>
          <a:prstGeom prst="rect">
            <a:avLst/>
          </a:prstGeom>
        </p:spPr>
      </p:pic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532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B2A4A"/>
                </a:solidFill>
                <a:latin typeface="Aptos"/>
              </a:defRPr>
            </a:pPr>
            <a:r>
              <a:t>Conflict graph and feasible super-arms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6231"/>
            <a:ext cx="10698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rPr lang="en-US" sz="1400"/>
              <a:t>Edges are incompatible campaign pairs; a super-arm is feasible only if it contains no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07208" y="1645920"/>
            <a:ext cx="1280160" cy="914400"/>
          </a:xfrm>
          <a:prstGeom prst="line">
            <a:avLst/>
          </a:prstGeom>
          <a:ln w="114300">
            <a:solidFill>
              <a:srgbClr val="7C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88920" y="1627632"/>
            <a:ext cx="1280160" cy="914400"/>
          </a:xfrm>
          <a:prstGeom prst="line">
            <a:avLst/>
          </a:prstGeom>
          <a:ln w="88900">
            <a:solidFill>
              <a:srgbClr val="C2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584448" y="2560320"/>
            <a:ext cx="502920" cy="1499615"/>
          </a:xfrm>
          <a:prstGeom prst="line">
            <a:avLst/>
          </a:prstGeom>
          <a:ln w="114300">
            <a:solidFill>
              <a:srgbClr val="7C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66160" y="2542032"/>
            <a:ext cx="502920" cy="1499616"/>
          </a:xfrm>
          <a:prstGeom prst="line">
            <a:avLst/>
          </a:prstGeom>
          <a:ln w="88900">
            <a:solidFill>
              <a:srgbClr val="C2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029968" y="4059935"/>
            <a:ext cx="1554480" cy="0"/>
          </a:xfrm>
          <a:prstGeom prst="line">
            <a:avLst/>
          </a:prstGeom>
          <a:ln w="114300">
            <a:solidFill>
              <a:srgbClr val="7C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011680" y="4041648"/>
            <a:ext cx="1554480" cy="0"/>
          </a:xfrm>
          <a:prstGeom prst="line">
            <a:avLst/>
          </a:prstGeom>
          <a:ln w="88900">
            <a:solidFill>
              <a:srgbClr val="C2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527048" y="2560320"/>
            <a:ext cx="502920" cy="1499615"/>
          </a:xfrm>
          <a:prstGeom prst="line">
            <a:avLst/>
          </a:prstGeom>
          <a:ln w="114300">
            <a:solidFill>
              <a:srgbClr val="7C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508760" y="2542032"/>
            <a:ext cx="502920" cy="1499616"/>
          </a:xfrm>
          <a:prstGeom prst="line">
            <a:avLst/>
          </a:prstGeom>
          <a:ln w="88900">
            <a:solidFill>
              <a:srgbClr val="C2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27048" y="1645920"/>
            <a:ext cx="1280160" cy="914400"/>
          </a:xfrm>
          <a:prstGeom prst="line">
            <a:avLst/>
          </a:prstGeom>
          <a:ln w="114300">
            <a:solidFill>
              <a:srgbClr val="7C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08760" y="1627632"/>
            <a:ext cx="1280160" cy="914400"/>
          </a:xfrm>
          <a:prstGeom prst="line">
            <a:avLst/>
          </a:prstGeom>
          <a:ln w="88900">
            <a:solidFill>
              <a:srgbClr val="C2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24327" y="1463040"/>
            <a:ext cx="329184" cy="329184"/>
          </a:xfrm>
          <a:prstGeom prst="ellipse">
            <a:avLst/>
          </a:prstGeom>
          <a:solidFill>
            <a:srgbClr val="1B2A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9191" y="1522476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8" name="Oval 17"/>
          <p:cNvSpPr/>
          <p:nvPr/>
        </p:nvSpPr>
        <p:spPr>
          <a:xfrm>
            <a:off x="3904488" y="2377439"/>
            <a:ext cx="329184" cy="329184"/>
          </a:xfrm>
          <a:prstGeom prst="ellipse">
            <a:avLst/>
          </a:prstGeom>
          <a:solidFill>
            <a:srgbClr val="1B2A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2436875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3401568" y="3877056"/>
            <a:ext cx="329184" cy="329184"/>
          </a:xfrm>
          <a:prstGeom prst="ellipse">
            <a:avLst/>
          </a:prstGeom>
          <a:solidFill>
            <a:srgbClr val="1B2A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3936491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1847088" y="3877056"/>
            <a:ext cx="329184" cy="329184"/>
          </a:xfrm>
          <a:prstGeom prst="ellipse">
            <a:avLst/>
          </a:prstGeom>
          <a:solidFill>
            <a:srgbClr val="1B2A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01952" y="3936491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1344168" y="2377439"/>
            <a:ext cx="329184" cy="329184"/>
          </a:xfrm>
          <a:prstGeom prst="ellipse">
            <a:avLst/>
          </a:prstGeom>
          <a:solidFill>
            <a:srgbClr val="1B2A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99031" y="2436875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C2413B"/>
                </a:solidFill>
                <a:latin typeface="Aptos"/>
              </a:defRPr>
            </a:pPr>
            <a:r>
              <a:t>Forbidden pairs are the five cycle edges.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1261872"/>
            <a:ext cx="6126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146304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C2413B"/>
                </a:solidFill>
                <a:latin typeface="Aptos"/>
              </a:defRPr>
            </a:pPr>
            <a:r>
              <a:t>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1828800"/>
            <a:ext cx="5394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Aptos"/>
              </a:defRPr>
            </a:pPr>
            <a:r>
              <a:t>{0,1}, {1,2}, {2,3}, {3,4}, {4,0}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212848"/>
            <a:ext cx="5440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Adjacent campaigns cannot run in the same round.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2816352"/>
            <a:ext cx="61264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94960" y="30175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6856B"/>
                </a:solidFill>
                <a:latin typeface="Aptos"/>
              </a:defRPr>
            </a:pPr>
            <a:r>
              <a:t>Feasible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401568"/>
            <a:ext cx="5440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B2A4A"/>
                </a:solidFill>
                <a:latin typeface="Aptos"/>
              </a:defRPr>
            </a:pPr>
            <a:r>
              <a:t>Singletons: {0}, {1}, {2}, {3}, {4}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785615"/>
            <a:ext cx="5440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B2A4A"/>
                </a:solidFill>
                <a:latin typeface="Aptos"/>
              </a:defRPr>
            </a:pPr>
            <a:r>
              <a:t>Non-adjacent pairs: {0,2}, {0,3}, {1,3}, {1,4}, {2,4}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289594"/>
            <a:ext cx="5440680" cy="25391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</a:defRPr>
            </a:pPr>
            <a:r>
              <a:t>These 10 sets are the super-arms</a:t>
            </a:r>
            <a:r>
              <a:rPr lang="en-US"/>
              <a:t> our </a:t>
            </a:r>
            <a:r>
              <a:t>policy</a:t>
            </a:r>
            <a:r>
              <a:rPr lang="en-US"/>
              <a:t> learns</a:t>
            </a:r>
            <a:r>
              <a:rPr dirty="0"/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15000"/>
            <a:ext cx="10469880" cy="5029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5797296"/>
            <a:ext cx="10104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20" b="1">
                <a:solidFill>
                  <a:srgbClr val="2E86AB"/>
                </a:solidFill>
                <a:latin typeface="Aptos"/>
              </a:defRPr>
            </a:pPr>
            <a:r>
              <a:t>The learner and the oracle use the same feasible super-arm set, so regret is measured on the same action space.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6767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05432" y="0"/>
            <a:ext cx="5486262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237744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86AB"/>
                </a:solidFill>
                <a:latin typeface="Times New Roman"/>
              </a:rPr>
              <a:t>The Algorithm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94944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A6B76"/>
                </a:solidFill>
                <a:latin typeface="Times New Roman"/>
              </a:rPr>
              <a:t>Our answer: learn at ARM level, decide at SUPER-ARM level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" y="969264"/>
            <a:ext cx="11185855" cy="0"/>
          </a:xfrm>
          <a:prstGeom prst="bentConnector3">
            <a:avLst/>
          </a:prstGeom>
          <a:ln w="12700">
            <a:solidFill>
              <a:srgbClr val="2E8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6547104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REQ 2  ·  COMBINATORIAL UCB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54710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5/18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1170432"/>
            <a:ext cx="2590723" cy="224028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2920" y="1170432"/>
            <a:ext cx="32004" cy="2240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" y="1261872"/>
            <a:ext cx="2343835" cy="2093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01 · WARM-UP (ROUNDS 1-55)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Times New Roman"/>
              </a:rPr>
              <a:t>Arms play alone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4A"/>
                </a:solidFill>
                <a:latin typeface="Times New Roman"/>
              </a:rPr>
              <a:t>Each of the 55 arms is played once, as a singleton, so every arm gets one real observation. No sets yet: this phase is pure arm level.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67963" y="1170432"/>
            <a:ext cx="2590723" cy="224028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367963" y="1170432"/>
            <a:ext cx="32004" cy="2240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05123" y="1261872"/>
            <a:ext cx="2343835" cy="2093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02 · EACH ROUND · ARM 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Times New Roman"/>
              </a:rPr>
              <a:t>Score every arm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4A"/>
                </a:solidFill>
                <a:latin typeface="Times New Roman"/>
              </a:rPr>
              <a:t>Every arm gets two scores from its own history: UCB = average reward + w (optimistic) and LCB = average cost − w (careful). The bonus w shrinks as the arm is tried. Formulas below.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33007" y="1170432"/>
            <a:ext cx="2590723" cy="224028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233007" y="1170432"/>
            <a:ext cx="32004" cy="2240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70167" y="1261872"/>
            <a:ext cx="2343835" cy="2093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03 · EACH ROUND · SUPER-ARM 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Times New Roman"/>
              </a:rPr>
              <a:t>Combine and play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4A"/>
                </a:solidFill>
                <a:latin typeface="Times New Roman"/>
              </a:rPr>
              <a:t>Here the sets enter the game: every feasible set is scored by SUMMING the UCBs of its arms; sets failing the three budget checks are dropped; we play the argmax, usually a non-adjacent pair.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98051" y="1170432"/>
            <a:ext cx="2590723" cy="224028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098051" y="1170432"/>
            <a:ext cx="32004" cy="2240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35211" y="1261872"/>
            <a:ext cx="2343835" cy="2093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04 · AFTER THE ROUND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Times New Roman"/>
              </a:rPr>
              <a:t>Update the arms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4A"/>
                </a:solidFill>
                <a:latin typeface="Times New Roman"/>
              </a:rPr>
              <a:t>We observe win/lose for each campaign played, never the rival bid (semi-bandit): untried bids teach us nothing, which is why we must explore. We update ONLY the played arms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3666744"/>
            <a:ext cx="5145493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02920" y="3666744"/>
            <a:ext cx="32004" cy="2240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2648" y="3721608"/>
            <a:ext cx="4962613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CONFIDENCE WIDTH SHRINKS AS 1/√N(T)</a:t>
            </a:r>
          </a:p>
        </p:txBody>
      </p:sp>
      <p:pic>
        <p:nvPicPr>
          <p:cNvPr id="73" name="Picture 72" descr="ucb_intu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969" y="3854269"/>
            <a:ext cx="3815394" cy="2048691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5922733" y="3666744"/>
            <a:ext cx="5766041" cy="1078992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922733" y="3666744"/>
            <a:ext cx="32004" cy="10789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069037" y="3739896"/>
            <a:ext cx="551000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REWARD INDEX (UPPER CONFIDENCE)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069037" y="3995928"/>
            <a:ext cx="5510010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069037" y="4069080"/>
            <a:ext cx="5510009" cy="6035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2E86AB"/>
                </a:solidFill>
                <a:latin typeface="Times New Roman"/>
              </a:rPr>
              <a:t> 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Optimism makes the learner explore under-sampled but potentially profitable arms.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22733" y="4828032"/>
            <a:ext cx="5766041" cy="1078992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922733" y="4828032"/>
            <a:ext cx="32004" cy="10789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069037" y="4901184"/>
            <a:ext cx="551000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COST INDEX (LOWER CONFIDENCE)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069037" y="5157216"/>
            <a:ext cx="5510010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69037" y="5303520"/>
            <a:ext cx="5510009" cy="5303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2E86AB"/>
                </a:solidFill>
                <a:latin typeface="Times New Roman"/>
              </a:rPr>
              <a:t> </a:t>
            </a:r>
            <a:r>
              <a:rPr sz="1200" b="0" i="0">
                <a:solidFill>
                  <a:srgbClr val="1B2A4A"/>
                </a:solidFill>
                <a:latin typeface="Times New Roman"/>
              </a:rPr>
              <a:t>Pessimism on cost stops a few lucky cheap rounds from fooling the budget filters.</a:t>
            </a:r>
          </a:p>
        </p:txBody>
      </p:sp>
      <p:pic>
        <p:nvPicPr>
          <p:cNvPr id="84" name="Picture 83" descr="f_ucb.png"/>
          <p:cNvPicPr>
            <a:picLocks noChangeAspect="1"/>
          </p:cNvPicPr>
          <p:nvPr/>
        </p:nvPicPr>
        <p:blipFill>
          <a:blip r:embed="rId4">
            <a:duotone>
              <a:srgbClr val="2E86AB"/>
              <a:srgbClr val="1B2A4A"/>
            </a:duotone>
          </a:blip>
          <a:stretch>
            <a:fillRect/>
          </a:stretch>
        </p:blipFill>
        <p:spPr>
          <a:xfrm>
            <a:off x="7771857" y="3998977"/>
            <a:ext cx="2104368" cy="420624"/>
          </a:xfrm>
          <a:prstGeom prst="rect">
            <a:avLst/>
          </a:prstGeom>
        </p:spPr>
      </p:pic>
      <p:pic>
        <p:nvPicPr>
          <p:cNvPr id="85" name="Picture 84" descr="f_lcb.png"/>
          <p:cNvPicPr>
            <a:picLocks noChangeAspect="1"/>
          </p:cNvPicPr>
          <p:nvPr/>
        </p:nvPicPr>
        <p:blipFill>
          <a:blip r:embed="rId5">
            <a:duotone>
              <a:srgbClr val="2E86AB"/>
              <a:srgbClr val="1B2A4A"/>
            </a:duotone>
          </a:blip>
          <a:stretch>
            <a:fillRect/>
          </a:stretch>
        </p:blipFill>
        <p:spPr>
          <a:xfrm>
            <a:off x="7451709" y="5219395"/>
            <a:ext cx="2744665" cy="420624"/>
          </a:xfrm>
          <a:prstGeom prst="rect">
            <a:avLst/>
          </a:prstGeom>
        </p:spPr>
      </p:pic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5719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05432" y="0"/>
            <a:ext cx="5486262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237744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86AB"/>
                </a:solidFill>
                <a:latin typeface="Times New Roman"/>
              </a:rPr>
              <a:t>Clairvoyant &amp; Regret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94944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A6B76"/>
                </a:solidFill>
                <a:latin typeface="Times New Roman"/>
              </a:rPr>
              <a:t>The yardstick: the best mixed policy that fits the budget rate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" y="969264"/>
            <a:ext cx="11185855" cy="0"/>
          </a:xfrm>
          <a:prstGeom prst="bentConnector3">
            <a:avLst/>
          </a:prstGeom>
          <a:ln w="12700">
            <a:solidFill>
              <a:srgbClr val="2E8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6547104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REQ 2  ·  COMBINATORIAL UCB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54710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4/18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1188720"/>
            <a:ext cx="3545738" cy="237744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2920" y="1188720"/>
            <a:ext cx="32004" cy="23774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9224" y="1261872"/>
            <a:ext cx="328970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1 · FULL KNOWLEDGE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49224" y="1517904"/>
            <a:ext cx="3289706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49224" y="1591056"/>
            <a:ext cx="3289706" cy="1901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Times New Roman"/>
              </a:rPr>
              <a:t> 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The clairvoyant knows the true market distribution, so for every (campaign, bid) it computes the exact expected reward (v − b) · p(b) and cost b · p(b): it is handed the table the learner must estimate from wins and losses.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22978" y="1188720"/>
            <a:ext cx="3545738" cy="237744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322978" y="1188720"/>
            <a:ext cx="32004" cy="23774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69282" y="1261872"/>
            <a:ext cx="328970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2 · LINEAR PROGRAM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469282" y="1517904"/>
            <a:ext cx="3289706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469282" y="1591056"/>
            <a:ext cx="3289706" cy="1901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Times New Roman"/>
              </a:rPr>
              <a:t> 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The variables x(S) form a distribution over feasible super-arms: the LP finds the best mix whose expected per-round cost stays within ρ = B/T = 0.85, so expensive rounds can be balanced by cheap ones.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43036" y="1188720"/>
            <a:ext cx="3545738" cy="237744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143036" y="1188720"/>
            <a:ext cx="32004" cy="23774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89340" y="1261872"/>
            <a:ext cx="328970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3 · VALUE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289340" y="1517904"/>
            <a:ext cx="3289707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289340" y="1591056"/>
            <a:ext cx="3289706" cy="1901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2E86AB"/>
                </a:solidFill>
                <a:latin typeface="Times New Roman"/>
              </a:rPr>
              <a:t>OPT = 0.705 per round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Times New Roman"/>
              </a:rPr>
              <a:t> 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The best fixed super-arm within the cap reaches 0.65 (the cheapest pair {0,2}). The 0.053 difference is the value of mixing: a structural gap that no policy playing one super-arm per round can close.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3840480"/>
            <a:ext cx="11185855" cy="1417320"/>
          </a:xfrm>
          <a:prstGeom prst="rect">
            <a:avLst/>
          </a:prstGeom>
          <a:solidFill>
            <a:srgbClr val="EDF3F6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02920" y="3840480"/>
            <a:ext cx="45720" cy="14173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67512" y="3913632"/>
            <a:ext cx="1089324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PSEUDO-REGRET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67512" y="4169664"/>
            <a:ext cx="10893247" cy="0"/>
          </a:xfrm>
          <a:prstGeom prst="bentConnector3">
            <a:avLst/>
          </a:prstGeom>
          <a:ln w="6350">
            <a:solidFill>
              <a:srgbClr val="2E8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7512" y="4261104"/>
            <a:ext cx="10893247" cy="923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B2A4A"/>
                </a:solidFill>
                <a:latin typeface="Times New Roman"/>
              </a:rPr>
              <a:t>The comparator r★ = OPTˢ is the per-round optimum of the budgeted problem (Bandits with Knapsacks). The pseudo-regret is measured on expected rewards, so it is non-negative and monotone non-decreasing: sub-linear growth means the learner is converging.</a:t>
            </a:r>
          </a:p>
        </p:txBody>
      </p:sp>
      <p:pic>
        <p:nvPicPr>
          <p:cNvPr id="78" name="Picture 77" descr="f_winprob.png"/>
          <p:cNvPicPr>
            <a:picLocks noChangeAspect="1"/>
          </p:cNvPicPr>
          <p:nvPr/>
        </p:nvPicPr>
        <p:blipFill>
          <a:blip r:embed="rId3">
            <a:duotone>
              <a:srgbClr val="2E86AB"/>
              <a:srgbClr val="1B2A4A"/>
            </a:duotone>
          </a:blip>
          <a:stretch>
            <a:fillRect/>
          </a:stretch>
        </p:blipFill>
        <p:spPr>
          <a:xfrm>
            <a:off x="562309" y="1636776"/>
            <a:ext cx="3463536" cy="274320"/>
          </a:xfrm>
          <a:prstGeom prst="rect">
            <a:avLst/>
          </a:prstGeom>
        </p:spPr>
      </p:pic>
      <p:pic>
        <p:nvPicPr>
          <p:cNvPr id="79" name="Picture 78" descr="f_lp.png"/>
          <p:cNvPicPr>
            <a:picLocks noChangeAspect="1"/>
          </p:cNvPicPr>
          <p:nvPr/>
        </p:nvPicPr>
        <p:blipFill>
          <a:blip r:embed="rId4">
            <a:duotone>
              <a:srgbClr val="2E86AB"/>
              <a:srgbClr val="1B2A4A"/>
            </a:duotone>
          </a:blip>
          <a:stretch>
            <a:fillRect/>
          </a:stretch>
        </p:blipFill>
        <p:spPr>
          <a:xfrm>
            <a:off x="4743791" y="1618488"/>
            <a:ext cx="2740688" cy="310896"/>
          </a:xfrm>
          <a:prstGeom prst="rect">
            <a:avLst/>
          </a:prstGeom>
        </p:spPr>
      </p:pic>
      <p:pic>
        <p:nvPicPr>
          <p:cNvPr id="80" name="Picture 79" descr="f_regret.png"/>
          <p:cNvPicPr>
            <a:picLocks noChangeAspect="1"/>
          </p:cNvPicPr>
          <p:nvPr/>
        </p:nvPicPr>
        <p:blipFill>
          <a:blip r:embed="rId5">
            <a:duotone>
              <a:srgbClr val="2E86AB"/>
              <a:srgbClr val="1B2A4A"/>
            </a:duotone>
          </a:blip>
          <a:stretch>
            <a:fillRect/>
          </a:stretch>
        </p:blipFill>
        <p:spPr>
          <a:xfrm>
            <a:off x="5292728" y="4297680"/>
            <a:ext cx="1642814" cy="420624"/>
          </a:xfrm>
          <a:prstGeom prst="rect">
            <a:avLst/>
          </a:prstGeom>
        </p:spPr>
      </p:pic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108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05432" y="0"/>
            <a:ext cx="5486262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237744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86AB"/>
                </a:solidFill>
                <a:latin typeface="Times New Roman"/>
              </a:rPr>
              <a:t>Choosing the exploration coefficient 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94944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A6B76"/>
                </a:solidFill>
                <a:latin typeface="Times New Roman"/>
              </a:rPr>
              <a:t>A deliberately conservative exploration, and why the textbook c = 1 fails here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" y="969264"/>
            <a:ext cx="11185855" cy="0"/>
          </a:xfrm>
          <a:prstGeom prst="bentConnector3">
            <a:avLst/>
          </a:prstGeom>
          <a:ln w="12700">
            <a:solidFill>
              <a:srgbClr val="2E8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6547104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REQ 2  ·  COMBINATORIAL UCB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54710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16/18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1170432"/>
            <a:ext cx="61522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2920" y="1170432"/>
            <a:ext cx="32004" cy="4572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48" y="1243584"/>
            <a:ext cx="59693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86AB"/>
                </a:solidFill>
                <a:latin typeface="Times New Roman"/>
              </a:rPr>
              <a:t>CUMULATIVE PSEUDO-REGRET FOR c IN {0.25, 0.5, 1.0}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29460" y="1170432"/>
            <a:ext cx="4759314" cy="214884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929460" y="1170432"/>
            <a:ext cx="32004" cy="21488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75764" y="1243584"/>
            <a:ext cx="450328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ROLE IN THE ALGORITHM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075764" y="1499616"/>
            <a:ext cx="4503283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90700" y="1696212"/>
            <a:ext cx="4503282" cy="1673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2E86AB"/>
                </a:solidFill>
                <a:latin typeface="Times New Roman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Times New Roman"/>
              </a:rPr>
              <a:t> 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Every round the oracle plays the feasible super-arm maximizing Σ (mean + w), so the bonus enters every single selection: c scales how strongly under-sampled arms are favoured.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29460" y="3502152"/>
            <a:ext cx="4759314" cy="224028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929460" y="3502152"/>
            <a:ext cx="32004" cy="2240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075764" y="3575304"/>
            <a:ext cx="450328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SWEEP &amp; CHOICE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075764" y="3831336"/>
            <a:ext cx="4503283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075764" y="3904488"/>
            <a:ext cx="4503282" cy="17647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2E86AB"/>
                </a:solidFill>
                <a:latin typeface="Times New Roman"/>
              </a:rPr>
              <a:t>c: 0.25 / 0.5 / 1.0   ⇒   R_T: 168 / 297 / 401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Times New Roman"/>
              </a:rPr>
              <a:t> 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The textbook bonus is calibrated for rewards spanning [0,1]; here the best arm pays 0.38, so with c = 1 optimism dominates every index and exploration never ends within T = 1000 (regret 401, near-linear). </a:t>
            </a:r>
          </a:p>
        </p:txBody>
      </p:sp>
      <p:pic>
        <p:nvPicPr>
          <p:cNvPr id="73" name="Picture 72" descr="f_w.png"/>
          <p:cNvPicPr>
            <a:picLocks noChangeAspect="1"/>
          </p:cNvPicPr>
          <p:nvPr/>
        </p:nvPicPr>
        <p:blipFill>
          <a:blip r:embed="rId3">
            <a:duotone>
              <a:srgbClr val="2E86AB"/>
              <a:srgbClr val="1B2A4A"/>
            </a:duotone>
          </a:blip>
          <a:stretch>
            <a:fillRect/>
          </a:stretch>
        </p:blipFill>
        <p:spPr>
          <a:xfrm>
            <a:off x="8673378" y="1600200"/>
            <a:ext cx="1308053" cy="420624"/>
          </a:xfrm>
          <a:prstGeom prst="rect">
            <a:avLst/>
          </a:prstGeom>
        </p:spPr>
      </p:pic>
      <p:pic>
        <p:nvPicPr>
          <p:cNvPr id="74" name="Picture 73" descr="req2_c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6" y="1828800"/>
            <a:ext cx="5791200" cy="3474720"/>
          </a:xfrm>
          <a:prstGeom prst="rect">
            <a:avLst/>
          </a:prstGeom>
        </p:spPr>
      </p:pic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858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05432" y="0"/>
            <a:ext cx="5486262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237744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b="1">
                <a:solidFill>
                  <a:srgbClr val="2E86AB"/>
                </a:solidFill>
                <a:latin typeface="Times New Roman"/>
              </a:rPr>
              <a:t>Summary</a:t>
            </a:r>
            <a:r>
              <a:rPr sz="2400" b="1" i="0" dirty="0">
                <a:solidFill>
                  <a:srgbClr val="2E86AB"/>
                </a:solidFill>
                <a:latin typeface="Times New Roman"/>
              </a:rPr>
              <a:t> statistics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94944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A6B76"/>
                </a:solidFill>
                <a:latin typeface="Times New Roman"/>
              </a:rPr>
              <a:t>The 20-seed run summarised in numbers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" y="969264"/>
            <a:ext cx="11185855" cy="0"/>
          </a:xfrm>
          <a:prstGeom prst="bentConnector3">
            <a:avLst/>
          </a:prstGeom>
          <a:ln w="12700">
            <a:solidFill>
              <a:srgbClr val="2E8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6547104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REQ 2  ·  COMBINATORIAL UCB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54710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A6B76"/>
                </a:solidFill>
                <a:latin typeface="Times New Roman"/>
              </a:rPr>
              <a:t>18/18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1243584"/>
            <a:ext cx="6935230" cy="365760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2920" y="1243584"/>
            <a:ext cx="32004" cy="36576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4088" y="1389888"/>
            <a:ext cx="66609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20-SEED SUMMARY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4088" y="1719072"/>
            <a:ext cx="6569470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40664" y="1883664"/>
            <a:ext cx="22087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86AB"/>
                </a:solidFill>
                <a:latin typeface="Times New Roman"/>
              </a:rPr>
              <a:t>Metric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9412" y="1883664"/>
            <a:ext cx="10718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86AB"/>
                </a:solidFill>
                <a:latin typeface="Times New Roman"/>
              </a:rPr>
              <a:t>Mean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21304" y="1883664"/>
            <a:ext cx="10718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86AB"/>
                </a:solidFill>
                <a:latin typeface="Times New Roman"/>
              </a:rPr>
              <a:t>Std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93197" y="1883664"/>
            <a:ext cx="10718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86AB"/>
                </a:solidFill>
                <a:latin typeface="Times New Roman"/>
              </a:rPr>
              <a:t>Min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5089" y="1883664"/>
            <a:ext cx="10718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86AB"/>
                </a:solidFill>
                <a:latin typeface="Times New Roman"/>
              </a:rPr>
              <a:t>Max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40664" y="2286000"/>
            <a:ext cx="6496318" cy="0"/>
          </a:xfrm>
          <a:prstGeom prst="bentConnector3">
            <a:avLst/>
          </a:prstGeom>
          <a:ln w="762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40664" y="2414016"/>
            <a:ext cx="22087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Cumul. reward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9412" y="2414016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405.26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1304" y="2414016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6.94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3197" y="2414016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391.10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65089" y="2414016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416.00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" y="3017520"/>
            <a:ext cx="22087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Cumul. cost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49412" y="3017520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848.05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1304" y="3017520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1.85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93197" y="3017520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843.90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65089" y="3017520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850.00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0664" y="3621024"/>
            <a:ext cx="22087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Cumul. regret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49412" y="3621024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296.66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21304" y="3621024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3.02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93197" y="3621024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291.71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5089" y="3621024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302.05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0664" y="4224528"/>
            <a:ext cx="22087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Budget left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49412" y="4224528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1.95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21304" y="4224528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1.85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93197" y="4224528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0.00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65089" y="4224528"/>
            <a:ext cx="10718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6.10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40664" y="4828032"/>
            <a:ext cx="6496318" cy="0"/>
          </a:xfrm>
          <a:prstGeom prst="bentConnector3">
            <a:avLst/>
          </a:prstGeom>
          <a:ln w="1016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712470" y="1243584"/>
            <a:ext cx="3976304" cy="178308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712470" y="1243584"/>
            <a:ext cx="32004" cy="17830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858774" y="1316736"/>
            <a:ext cx="37202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REWARD STABILITY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858774" y="1572768"/>
            <a:ext cx="3720273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858774" y="1645920"/>
            <a:ext cx="3720272" cy="1307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The reward std is ≈ 1.7% of the mean, a tight variance for a stochastic bandit run all the way to T = 1000.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Times New Roman"/>
              </a:rPr>
              <a:t>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It tells us the </a:t>
            </a:r>
            <a:r>
              <a:rPr sz="1250" b="1" i="0">
                <a:solidFill>
                  <a:srgbClr val="1B2A4A"/>
                </a:solidFill>
                <a:latin typeface="Times New Roman"/>
              </a:rPr>
              <a:t>good performance is systematic</a:t>
            </a:r>
            <a:r>
              <a:rPr sz="1250" b="0" i="0">
                <a:solidFill>
                  <a:srgbClr val="1B2A4A"/>
                </a:solidFill>
                <a:latin typeface="Times New Roman"/>
              </a:rPr>
              <a:t>, not a lucky seed.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12470" y="3118104"/>
            <a:ext cx="3976304" cy="1783080"/>
          </a:xfrm>
          <a:prstGeom prst="rect">
            <a:avLst/>
          </a:prstGeom>
          <a:solidFill>
            <a:srgbClr val="F4F7F9"/>
          </a:solidFill>
          <a:ln w="635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712470" y="3118104"/>
            <a:ext cx="32004" cy="17830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2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58774" y="3191256"/>
            <a:ext cx="37202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86AB"/>
                </a:solidFill>
                <a:latin typeface="Times New Roman"/>
              </a:rPr>
              <a:t>COST STABILITY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858774" y="3447288"/>
            <a:ext cx="3720273" cy="0"/>
          </a:xfrm>
          <a:prstGeom prst="bentConnector3">
            <a:avLst/>
          </a:prstGeom>
          <a:ln w="6350">
            <a:solidFill>
              <a:srgbClr val="DC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858774" y="3520440"/>
            <a:ext cx="3720272" cy="1307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2A4A"/>
                </a:solidFill>
                <a:latin typeface="Times New Roman"/>
              </a:rPr>
              <a:t>A cost std of ≈ 1.9 against an 850 budget shows the pacing logic behaves consistently across every seed.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Times New Roman"/>
              </a:rPr>
              <a:t>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Times New Roman"/>
              </a:rPr>
              <a:t>Spending is reproducible and never overshoots the cap</a:t>
            </a:r>
            <a:r>
              <a:rPr sz="1250" b="0" i="0">
                <a:solidFill>
                  <a:srgbClr val="1B2A4A"/>
                </a:solidFill>
                <a:latin typeface="Times New Roman"/>
              </a:rPr>
              <a:t>.</a:t>
            </a:r>
          </a:p>
        </p:txBody>
      </p:sp>
      <p:sp>
        <p:nvSpPr>
          <p:cNvPr id="4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899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6A17A-F5E7-5076-88AE-3409ACE0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52DD-0649-5F94-B58D-65239BA79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97100"/>
            <a:ext cx="10515600" cy="2857500"/>
          </a:xfrm>
        </p:spPr>
        <p:txBody>
          <a:bodyPr anchor="t"/>
          <a:lstStyle/>
          <a:p>
            <a:pPr algn="l"/>
            <a:r>
              <a:rPr lang="it-IT" sz="40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Environment </a:t>
            </a:r>
            <a:r>
              <a:rPr lang="it-IT" sz="40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req</a:t>
            </a:r>
            <a:r>
              <a:rPr lang="it-IT" sz="40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3 and 4: </a:t>
            </a:r>
            <a:br>
              <a:rPr lang="en-US"/>
            </a:br>
            <a:r>
              <a:rPr lang="it-IT" sz="40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it-IT" sz="40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Gaussian</a:t>
            </a:r>
            <a:r>
              <a:rPr lang="it-IT" sz="40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4000" b="1" err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Constellation</a:t>
            </a:r>
            <a:endParaRPr lang="it-IT" sz="4000" b="1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C4840C48-52EE-F7BD-88DC-1C1F13061A3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8" name="Kicker">
            <a:extLst>
              <a:ext uri="{FF2B5EF4-FFF2-40B4-BE49-F238E27FC236}">
                <a16:creationId xmlns:a16="http://schemas.microsoft.com/office/drawing/2014/main" id="{457E1023-C29E-181A-B851-5941D2116C5F}"/>
              </a:ext>
            </a:extLst>
          </p:cNvPr>
          <p:cNvSpPr txBox="1"/>
          <p:nvPr/>
        </p:nvSpPr>
        <p:spPr>
          <a:xfrm>
            <a:off x="838200" y="1739900"/>
            <a:ext cx="1051560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en-US" sz="1300" b="1">
                <a:solidFill>
                  <a:srgbClr val="2E86AB"/>
                </a:solidFill>
                <a:latin typeface="Calibri"/>
              </a:rPr>
              <a:t>Extra</a:t>
            </a:r>
            <a:endParaRPr lang="en-US" sz="1300" b="1">
              <a:solidFill>
                <a:srgbClr val="2E86AB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1131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0F4B35-DBB1-40F2-27E9-609E5237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455"/>
            <a:ext cx="12192000" cy="5843090"/>
          </a:xfrm>
          <a:prstGeom prst="rect">
            <a:avLst/>
          </a:prstGeom>
        </p:spPr>
      </p:pic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30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3DF7FB-DA43-640D-9A46-539EB0325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172"/>
            <a:ext cx="12192000" cy="5855656"/>
          </a:xfrm>
          <a:prstGeom prst="rect">
            <a:avLst/>
          </a:prstGeom>
        </p:spPr>
      </p:pic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5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81B025-6759-774D-7DEA-45EB65AC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317"/>
            <a:ext cx="12192000" cy="5849366"/>
          </a:xfrm>
          <a:prstGeom prst="rect">
            <a:avLst/>
          </a:prstGeom>
        </p:spPr>
      </p:pic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10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5C61BC-D00A-345F-B763-CBB88B58F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6"/>
            <a:ext cx="12192000" cy="5791308"/>
          </a:xfrm>
          <a:prstGeom prst="rect">
            <a:avLst/>
          </a:prstGeom>
        </p:spPr>
      </p:pic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42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8C03A-0E1D-2726-A2F9-370DE8D8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711"/>
            <a:ext cx="12192000" cy="5830578"/>
          </a:xfrm>
          <a:prstGeom prst="rect">
            <a:avLst/>
          </a:prstGeom>
        </p:spPr>
      </p:pic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01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719B-81CA-8C18-55CD-B3F26B7E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>
                <a:solidFill>
                  <a:srgbClr val="1B2A4A"/>
                </a:solidFill>
                <a:latin typeface="Calibri"/>
              </a:rPr>
              <a:t>Switching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0A144-048A-2719-63AA-893D5C043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800"/>
                  <a:t>Then the environments rapidly switche</a:t>
                </a:r>
                <a:r>
                  <a:rPr lang="en-US" altLang="zh-CN" sz="1800"/>
                  <a:t>s between predefined market states, called stars:</a:t>
                </a:r>
              </a:p>
              <a:p>
                <a:pPr marL="0" indent="0">
                  <a:buNone/>
                </a:pPr>
                <a:r>
                  <a:rPr lang="en-US" altLang="zh-CN" sz="1800"/>
                  <a:t>Given an expected change frequency F=1/M, the switching probability at each round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𝑠𝑤𝑖𝑡𝑐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altLang="zh-CN" sz="1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it-IT" altLang="zh-CN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altLang="zh-CN" sz="1800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US" altLang="zh-CN" sz="1800"/>
              </a:p>
              <a:p>
                <a:pPr marL="0" indent="0">
                  <a:buNone/>
                </a:pPr>
                <a:r>
                  <a:rPr lang="en-US" altLang="zh-CN" sz="1800"/>
                  <a:t>The environment is expected to change approximately every M rounds</a:t>
                </a:r>
              </a:p>
              <a:p>
                <a:pPr marL="0" indent="0">
                  <a:buNone/>
                </a:pPr>
                <a:r>
                  <a:rPr lang="en-US" altLang="zh-CN" sz="1800"/>
                  <a:t>At each round,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𝑈𝑛𝑖𝑓𝑜𝑟𝑚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sz="1800"/>
              </a:p>
              <a:p>
                <a:pPr marL="0" indent="0">
                  <a:buNone/>
                </a:pPr>
                <a:r>
                  <a:rPr lang="en-US" altLang="zh-CN" sz="18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𝑠𝑤𝑖𝑡𝑐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1800"/>
                  <a:t>, switch to another star; otherwise, keep the current star</a:t>
                </a:r>
              </a:p>
              <a:p>
                <a:pPr marL="0" indent="0">
                  <a:buNone/>
                </a:pPr>
                <a:endParaRPr lang="en-US" sz="18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0A144-048A-2719-63AA-893D5C043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33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3862-7FD3-5A1D-BABB-FBE3D8E2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6B73-AE45-96DB-800D-913150A48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>
                <a:solidFill>
                  <a:srgbClr val="1B2A4A"/>
                </a:solidFill>
                <a:latin typeface="Calibri"/>
              </a:rPr>
              <a:t>Same sKL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9C45D-0BA8-B801-BC00-737B69BDA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2578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2400"/>
              <a:t>It is crucial that every star (representing a distribution) of our constellation </a:t>
            </a:r>
            <a:r>
              <a:rPr lang="en-US" sz="2400" err="1">
                <a:ea typeface="+mn-lt"/>
                <a:cs typeface="+mn-lt"/>
              </a:rPr>
              <a:t>φi</a:t>
            </a:r>
            <a:r>
              <a:rPr lang="en-US" sz="2400">
                <a:ea typeface="+mn-lt"/>
                <a:cs typeface="+mn-lt"/>
              </a:rPr>
              <a:t> has predefined </a:t>
            </a:r>
            <a:r>
              <a:rPr lang="en-US" sz="2400" err="1">
                <a:ea typeface="+mn-lt"/>
                <a:cs typeface="+mn-lt"/>
              </a:rPr>
              <a:t>sKL</a:t>
            </a:r>
            <a:r>
              <a:rPr lang="en-US" sz="2400">
                <a:ea typeface="+mn-lt"/>
                <a:cs typeface="+mn-lt"/>
              </a:rPr>
              <a:t> from all the other </a:t>
            </a:r>
            <a:r>
              <a:rPr lang="en-US" sz="2400" err="1">
                <a:ea typeface="+mn-lt"/>
                <a:cs typeface="+mn-lt"/>
              </a:rPr>
              <a:t>φj</a:t>
            </a:r>
            <a:r>
              <a:rPr lang="en-US" sz="2400">
                <a:ea typeface="+mn-lt"/>
                <a:cs typeface="+mn-lt"/>
              </a:rPr>
              <a:t>.</a:t>
            </a:r>
            <a:br>
              <a:rPr lang="en-US" sz="2400"/>
            </a:br>
            <a:endParaRPr lang="en-US" sz="2400"/>
          </a:p>
          <a:p>
            <a:pPr marL="0" indent="0">
              <a:buNone/>
            </a:pPr>
            <a:r>
              <a:rPr lang="en-US" sz="2400" b="1"/>
              <a:t>WHY? 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400" err="1"/>
              <a:t>sKL</a:t>
            </a:r>
            <a:r>
              <a:rPr lang="en-US" sz="2400"/>
              <a:t> is a good measure for measuring how adversarial the env is.</a:t>
            </a:r>
            <a:endParaRPr lang="it-IT" sz="2400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it-IT" sz="2400" err="1"/>
              <a:t>Previous</a:t>
            </a:r>
            <a:r>
              <a:rPr lang="it-IT" sz="2400"/>
              <a:t> </a:t>
            </a:r>
            <a:r>
              <a:rPr lang="it-IT" sz="2400" u="sng">
                <a:hlinkClick r:id="rId2"/>
              </a:rPr>
              <a:t>works</a:t>
            </a:r>
            <a:r>
              <a:rPr lang="it-IT" sz="2400"/>
              <a:t>, and </a:t>
            </a:r>
            <a:r>
              <a:rPr lang="it-IT" sz="2400" u="sng">
                <a:hlinkClick r:id="rId3"/>
              </a:rPr>
              <a:t>Chernoff-Stein Lemma </a:t>
            </a:r>
            <a:r>
              <a:rPr lang="it-IT" sz="2400" err="1"/>
              <a:t>assures</a:t>
            </a:r>
            <a:r>
              <a:rPr lang="it-IT" sz="2400"/>
              <a:t> </a:t>
            </a:r>
            <a:r>
              <a:rPr lang="it-IT" sz="2400" err="1"/>
              <a:t>us</a:t>
            </a:r>
            <a:r>
              <a:rPr lang="it-IT" sz="2400"/>
              <a:t> </a:t>
            </a:r>
            <a:r>
              <a:rPr lang="it-IT" sz="2400" err="1"/>
              <a:t>that</a:t>
            </a:r>
            <a:r>
              <a:rPr lang="it-IT" sz="2400"/>
              <a:t> </a:t>
            </a:r>
            <a:r>
              <a:rPr lang="it-IT" sz="2400" err="1"/>
              <a:t>detection</a:t>
            </a:r>
            <a:r>
              <a:rPr lang="it-IT" sz="2400"/>
              <a:t> delay of CDT </a:t>
            </a:r>
            <a:r>
              <a:rPr lang="it-IT" sz="2400" err="1"/>
              <a:t>depends</a:t>
            </a:r>
            <a:r>
              <a:rPr lang="it-IT" sz="2400"/>
              <a:t> on the </a:t>
            </a:r>
            <a:r>
              <a:rPr lang="it-IT" sz="2400" b="1" err="1"/>
              <a:t>Kullback</a:t>
            </a:r>
            <a:r>
              <a:rPr lang="it-IT" sz="2400" b="1"/>
              <a:t>–</a:t>
            </a:r>
            <a:r>
              <a:rPr lang="it-IT" sz="2400" b="1" err="1"/>
              <a:t>Leibler</a:t>
            </a:r>
            <a:r>
              <a:rPr lang="it-IT" sz="2400" b="1"/>
              <a:t> (KL) </a:t>
            </a:r>
            <a:r>
              <a:rPr lang="it-IT" sz="2400" b="1" err="1"/>
              <a:t>divergence</a:t>
            </a:r>
            <a:r>
              <a:rPr lang="it-IT" sz="2400"/>
              <a:t>.)</a:t>
            </a:r>
            <a:endParaRPr lang="en-US" sz="2400"/>
          </a:p>
          <a:p>
            <a:pPr marL="0" indent="0">
              <a:buNone/>
            </a:pPr>
            <a:endParaRPr lang="en-US" sz="2600"/>
          </a:p>
        </p:txBody>
      </p:sp>
      <p:pic>
        <p:nvPicPr>
          <p:cNvPr id="8" name="Picture 2" descr="Introduction to Kullback-Leibler Divergence | by Yian Chen | Medium">
            <a:extLst>
              <a:ext uri="{FF2B5EF4-FFF2-40B4-BE49-F238E27FC236}">
                <a16:creationId xmlns:a16="http://schemas.microsoft.com/office/drawing/2014/main" id="{79EF52F0-02EF-8CB1-B3DA-04DAF2AAB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134" y="931182"/>
            <a:ext cx="5189299" cy="338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674E0-45A5-7F8C-867A-A64742811D4F}"/>
                  </a:ext>
                </a:extLst>
              </p:cNvPr>
              <p:cNvSpPr txBox="1"/>
              <p:nvPr/>
            </p:nvSpPr>
            <p:spPr>
              <a:xfrm>
                <a:off x="7506368" y="4634215"/>
                <a:ext cx="3172728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𝐷𝐾𝐿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it-IT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674E0-45A5-7F8C-867A-A64742811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368" y="4634215"/>
                <a:ext cx="3172728" cy="7265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F60FB8-4813-91EB-4C0E-CD9D645A728E}"/>
                  </a:ext>
                </a:extLst>
              </p:cNvPr>
              <p:cNvSpPr txBox="1"/>
              <p:nvPr/>
            </p:nvSpPr>
            <p:spPr>
              <a:xfrm>
                <a:off x="7272346" y="5535557"/>
                <a:ext cx="4354550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𝑠𝑦𝑚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𝐷𝐾𝐿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𝐷𝐾𝐿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it-IT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F60FB8-4813-91EB-4C0E-CD9D645A7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346" y="5535557"/>
                <a:ext cx="4354550" cy="391261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56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8F747-B90F-5551-FE35-1FE45280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C155-9FD0-0552-3B6A-C3954821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>
                <a:solidFill>
                  <a:srgbClr val="1B2A4A"/>
                </a:solidFill>
                <a:latin typeface="Calibri"/>
              </a:rPr>
              <a:t>Possible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F88DC-F698-F926-FBB7-11F2E80BA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>
                <a:ea typeface="+mn-lt"/>
                <a:cs typeface="+mn-lt"/>
              </a:rPr>
              <a:t>Use rejection sampling similar + ccm (</a:t>
            </a:r>
            <a:r>
              <a:rPr lang="en-US" sz="1800" i="1">
                <a:ea typeface="+mn-lt"/>
                <a:cs typeface="+mn-lt"/>
                <a:hlinkClick r:id="rId2"/>
              </a:rPr>
              <a:t>Generating High-Dimensional </a:t>
            </a:r>
            <a:r>
              <a:rPr lang="en-US" sz="1800" i="1" err="1">
                <a:ea typeface="+mn-lt"/>
                <a:cs typeface="+mn-lt"/>
                <a:hlinkClick r:id="rId2"/>
              </a:rPr>
              <a:t>Datastreams</a:t>
            </a:r>
            <a:r>
              <a:rPr lang="en-US" sz="1800" i="1">
                <a:ea typeface="+mn-lt"/>
                <a:cs typeface="+mn-lt"/>
                <a:hlinkClick r:id="rId2"/>
              </a:rPr>
              <a:t> for Change Detection Diego Carrera, Giacomo </a:t>
            </a:r>
            <a:r>
              <a:rPr lang="en-US" sz="1800" i="1" err="1">
                <a:ea typeface="+mn-lt"/>
                <a:cs typeface="+mn-lt"/>
                <a:hlinkClick r:id="rId2"/>
              </a:rPr>
              <a:t>Boracchi</a:t>
            </a:r>
            <a:r>
              <a:rPr lang="en-US" sz="1800" i="1">
                <a:ea typeface="+mn-lt"/>
                <a:cs typeface="+mn-lt"/>
              </a:rPr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>
                <a:ea typeface="+mn-lt"/>
                <a:cs typeface="+mn-lt"/>
              </a:rPr>
              <a:t>Use</a:t>
            </a:r>
            <a:r>
              <a:rPr lang="en-US" sz="1800" i="1">
                <a:ea typeface="+mn-lt"/>
                <a:cs typeface="+mn-lt"/>
              </a:rPr>
              <a:t> </a:t>
            </a:r>
            <a:r>
              <a:rPr lang="en-US" sz="1800" i="1">
                <a:solidFill>
                  <a:srgbClr val="15803D"/>
                </a:solidFill>
                <a:ea typeface="+mn-lt"/>
                <a:cs typeface="+mn-lt"/>
              </a:rPr>
              <a:t>OGD </a:t>
            </a:r>
            <a:r>
              <a:rPr lang="en-US" sz="1800">
                <a:ea typeface="+mn-lt"/>
                <a:cs typeface="+mn-lt"/>
              </a:rPr>
              <a:t>: from our experimentation an upgrade to previous existing versions. </a:t>
            </a:r>
            <a:r>
              <a:rPr lang="en-US" sz="1800" i="1">
                <a:ea typeface="+mn-lt"/>
                <a:cs typeface="+mn-lt"/>
              </a:rPr>
              <a:t> </a:t>
            </a:r>
            <a:r>
              <a:rPr lang="en-US" sz="1800">
                <a:ea typeface="+mn-lt"/>
                <a:cs typeface="+mn-lt"/>
              </a:rPr>
              <a:t>On the extra material we have a complete performance analysis + theoretical reasons why we think our method is better.</a:t>
            </a:r>
            <a:endParaRPr lang="en-US" sz="1800" i="1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A91F6-8F91-D33D-1950-CEE79399FDC4}"/>
              </a:ext>
            </a:extLst>
          </p:cNvPr>
          <p:cNvSpPr txBox="1"/>
          <p:nvPr/>
        </p:nvSpPr>
        <p:spPr>
          <a:xfrm>
            <a:off x="944077" y="3860800"/>
            <a:ext cx="9816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Delicious"/>
              </a:rPr>
              <a:t>References:</a:t>
            </a:r>
          </a:p>
          <a:p>
            <a:r>
              <a:rPr lang="en-US" i="1">
                <a:latin typeface="Delicious"/>
                <a:hlinkClick r:id="rId2"/>
              </a:rPr>
              <a:t>Generating High-Dimensional Datastreams for Change Detection</a:t>
            </a:r>
            <a:r>
              <a:rPr lang="en-US" i="1">
                <a:latin typeface="Delicious"/>
              </a:rPr>
              <a:t>  D. Carrera, G. Boracchi</a:t>
            </a:r>
          </a:p>
          <a:p>
            <a:r>
              <a:rPr lang="en-US" i="1">
                <a:latin typeface="Delicious"/>
                <a:hlinkClick r:id="rId3"/>
              </a:rPr>
              <a:t>Multimodal Batch-wise Change Detection</a:t>
            </a:r>
            <a:r>
              <a:rPr lang="en-US" i="1">
                <a:latin typeface="Delicious"/>
              </a:rPr>
              <a:t>  D. Stucchi, G. Boracchi, L. Magri, D. Carrera</a:t>
            </a:r>
            <a:r>
              <a:rPr lang="en-US" i="1">
                <a:solidFill>
                  <a:srgbClr val="7030A0"/>
                </a:solidFill>
                <a:latin typeface="Delicious"/>
              </a:rPr>
              <a:t>*</a:t>
            </a:r>
          </a:p>
          <a:p>
            <a:r>
              <a:rPr lang="en-US" i="1">
                <a:solidFill>
                  <a:srgbClr val="7030A0"/>
                </a:solidFill>
                <a:latin typeface="Delicious"/>
              </a:rPr>
              <a:t>*Note: this paper imposed just a lower bound on the SKL divergence.</a:t>
            </a:r>
          </a:p>
        </p:txBody>
      </p:sp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41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A677A8-5476-3E07-A087-BFFD8D0C4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47" y="1110032"/>
            <a:ext cx="3724102" cy="4211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6BAA24-F36C-93D1-D831-17AB4852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949" y="1110032"/>
            <a:ext cx="3724102" cy="4105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47B5D2-534F-412C-9998-A1B840498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051" y="1110032"/>
            <a:ext cx="3599411" cy="4083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25C588-994D-BE0D-5240-398390EFE429}"/>
              </a:ext>
            </a:extLst>
          </p:cNvPr>
          <p:cNvSpPr txBox="1"/>
          <p:nvPr/>
        </p:nvSpPr>
        <p:spPr>
          <a:xfrm>
            <a:off x="432261" y="199506"/>
            <a:ext cx="5536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1">
                <a:solidFill>
                  <a:srgbClr val="1B2A4A"/>
                </a:solidFill>
                <a:latin typeface="Calibri"/>
              </a:rPr>
              <a:t>Online </a:t>
            </a:r>
            <a:r>
              <a:rPr lang="it-IT" sz="2800" b="1" err="1">
                <a:solidFill>
                  <a:srgbClr val="1B2A4A"/>
                </a:solidFill>
                <a:latin typeface="Calibri"/>
              </a:rPr>
              <a:t>Gradient</a:t>
            </a:r>
            <a:r>
              <a:rPr lang="it-IT" sz="2800" b="1">
                <a:solidFill>
                  <a:srgbClr val="1B2A4A"/>
                </a:solidFill>
                <a:latin typeface="Calibri"/>
              </a:rPr>
              <a:t> </a:t>
            </a:r>
            <a:r>
              <a:rPr lang="it-IT" sz="2800" b="1" err="1">
                <a:solidFill>
                  <a:srgbClr val="1B2A4A"/>
                </a:solidFill>
                <a:latin typeface="Calibri"/>
              </a:rPr>
              <a:t>descent</a:t>
            </a:r>
            <a:endParaRPr lang="it-IT" sz="360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53997-24D2-2EDA-262B-5F7271965BEB}"/>
              </a:ext>
            </a:extLst>
          </p:cNvPr>
          <p:cNvSpPr txBox="1"/>
          <p:nvPr/>
        </p:nvSpPr>
        <p:spPr>
          <a:xfrm>
            <a:off x="509847" y="5585594"/>
            <a:ext cx="1122207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err="1">
                <a:solidFill>
                  <a:srgbClr val="404A54"/>
                </a:solidFill>
              </a:rPr>
              <a:t>Instead</a:t>
            </a:r>
            <a:r>
              <a:rPr lang="it-IT">
                <a:solidFill>
                  <a:srgbClr val="404A54"/>
                </a:solidFill>
              </a:rPr>
              <a:t> of </a:t>
            </a:r>
            <a:r>
              <a:rPr lang="it-IT" err="1">
                <a:solidFill>
                  <a:srgbClr val="404A54"/>
                </a:solidFill>
              </a:rPr>
              <a:t>adding</a:t>
            </a:r>
            <a:r>
              <a:rPr lang="it-IT">
                <a:solidFill>
                  <a:srgbClr val="404A54"/>
                </a:solidFill>
              </a:rPr>
              <a:t> a mode one by one </a:t>
            </a:r>
            <a:r>
              <a:rPr lang="it-IT" err="1">
                <a:solidFill>
                  <a:srgbClr val="404A54"/>
                </a:solidFill>
              </a:rPr>
              <a:t>at</a:t>
            </a:r>
            <a:r>
              <a:rPr lang="it-IT">
                <a:solidFill>
                  <a:srgbClr val="404A54"/>
                </a:solidFill>
              </a:rPr>
              <a:t> the </a:t>
            </a:r>
            <a:r>
              <a:rPr lang="it-IT" err="1">
                <a:solidFill>
                  <a:srgbClr val="404A54"/>
                </a:solidFill>
              </a:rPr>
              <a:t>beginning</a:t>
            </a:r>
            <a:r>
              <a:rPr lang="it-IT">
                <a:solidFill>
                  <a:srgbClr val="404A54"/>
                </a:solidFill>
              </a:rPr>
              <a:t> </a:t>
            </a:r>
            <a:r>
              <a:rPr lang="it-IT" err="1">
                <a:solidFill>
                  <a:srgbClr val="404A54"/>
                </a:solidFill>
              </a:rPr>
              <a:t>we</a:t>
            </a:r>
            <a:r>
              <a:rPr lang="it-IT">
                <a:solidFill>
                  <a:srgbClr val="404A54"/>
                </a:solidFill>
              </a:rPr>
              <a:t> </a:t>
            </a:r>
            <a:r>
              <a:rPr lang="it-IT" err="1">
                <a:solidFill>
                  <a:srgbClr val="404A54"/>
                </a:solidFill>
              </a:rPr>
              <a:t>randomly</a:t>
            </a:r>
            <a:r>
              <a:rPr lang="it-IT">
                <a:solidFill>
                  <a:srgbClr val="404A54"/>
                </a:solidFill>
              </a:rPr>
              <a:t> </a:t>
            </a:r>
            <a:r>
              <a:rPr lang="it-IT" err="1">
                <a:solidFill>
                  <a:srgbClr val="404A54"/>
                </a:solidFill>
              </a:rPr>
              <a:t>distribute</a:t>
            </a:r>
            <a:r>
              <a:rPr lang="it-IT">
                <a:solidFill>
                  <a:srgbClr val="404A54"/>
                </a:solidFill>
              </a:rPr>
              <a:t> the </a:t>
            </a:r>
            <a:r>
              <a:rPr lang="it-IT" err="1">
                <a:solidFill>
                  <a:srgbClr val="404A54"/>
                </a:solidFill>
              </a:rPr>
              <a:t>parameter</a:t>
            </a:r>
            <a:r>
              <a:rPr lang="it-IT">
                <a:solidFill>
                  <a:srgbClr val="404A54"/>
                </a:solidFill>
              </a:rPr>
              <a:t> of </a:t>
            </a:r>
            <a:r>
              <a:rPr lang="it-IT" err="1">
                <a:solidFill>
                  <a:srgbClr val="404A54"/>
                </a:solidFill>
              </a:rPr>
              <a:t>all</a:t>
            </a:r>
            <a:r>
              <a:rPr lang="it-IT">
                <a:solidFill>
                  <a:srgbClr val="404A54"/>
                </a:solidFill>
              </a:rPr>
              <a:t> N of </a:t>
            </a:r>
            <a:r>
              <a:rPr lang="it-IT" err="1">
                <a:solidFill>
                  <a:srgbClr val="404A54"/>
                </a:solidFill>
              </a:rPr>
              <a:t>our</a:t>
            </a:r>
            <a:r>
              <a:rPr lang="it-IT">
                <a:solidFill>
                  <a:srgbClr val="404A54"/>
                </a:solidFill>
              </a:rPr>
              <a:t> </a:t>
            </a:r>
            <a:r>
              <a:rPr lang="it-IT" err="1">
                <a:solidFill>
                  <a:srgbClr val="404A54"/>
                </a:solidFill>
              </a:rPr>
              <a:t>gaussians</a:t>
            </a:r>
            <a:r>
              <a:rPr lang="it-IT">
                <a:solidFill>
                  <a:srgbClr val="404A54"/>
                </a:solidFill>
              </a:rPr>
              <a:t> and </a:t>
            </a:r>
            <a:r>
              <a:rPr lang="it-IT" err="1">
                <a:solidFill>
                  <a:srgbClr val="404A54"/>
                </a:solidFill>
              </a:rPr>
              <a:t>then</a:t>
            </a:r>
            <a:r>
              <a:rPr lang="it-IT">
                <a:solidFill>
                  <a:srgbClr val="404A54"/>
                </a:solidFill>
              </a:rPr>
              <a:t> </a:t>
            </a:r>
            <a:r>
              <a:rPr lang="it-IT" err="1">
                <a:solidFill>
                  <a:srgbClr val="404A54"/>
                </a:solidFill>
              </a:rPr>
              <a:t>we</a:t>
            </a:r>
            <a:r>
              <a:rPr lang="it-IT">
                <a:solidFill>
                  <a:srgbClr val="404A54"/>
                </a:solidFill>
              </a:rPr>
              <a:t> </a:t>
            </a:r>
            <a:r>
              <a:rPr lang="it-IT" err="1">
                <a:solidFill>
                  <a:srgbClr val="404A54"/>
                </a:solidFill>
              </a:rPr>
              <a:t>manipulate</a:t>
            </a:r>
            <a:r>
              <a:rPr lang="it-IT">
                <a:solidFill>
                  <a:srgbClr val="404A54"/>
                </a:solidFill>
              </a:rPr>
              <a:t> the </a:t>
            </a:r>
            <a:r>
              <a:rPr lang="it-IT" err="1">
                <a:solidFill>
                  <a:srgbClr val="404A54"/>
                </a:solidFill>
              </a:rPr>
              <a:t>gaussians</a:t>
            </a:r>
            <a:r>
              <a:rPr lang="it-IT">
                <a:solidFill>
                  <a:srgbClr val="404A54"/>
                </a:solidFill>
              </a:rPr>
              <a:t> to </a:t>
            </a:r>
            <a:r>
              <a:rPr lang="it-IT" err="1">
                <a:solidFill>
                  <a:srgbClr val="404A54"/>
                </a:solidFill>
              </a:rPr>
              <a:t>slowly</a:t>
            </a:r>
            <a:r>
              <a:rPr lang="it-IT">
                <a:solidFill>
                  <a:srgbClr val="404A54"/>
                </a:solidFill>
              </a:rPr>
              <a:t> converge to the </a:t>
            </a:r>
            <a:r>
              <a:rPr lang="it-IT" err="1">
                <a:solidFill>
                  <a:srgbClr val="404A54"/>
                </a:solidFill>
              </a:rPr>
              <a:t>solution</a:t>
            </a:r>
            <a:r>
              <a:rPr lang="it-IT">
                <a:solidFill>
                  <a:srgbClr val="404A54"/>
                </a:solidFill>
              </a:rPr>
              <a:t>.</a:t>
            </a:r>
          </a:p>
          <a:p>
            <a:r>
              <a:rPr lang="it-IT">
                <a:solidFill>
                  <a:srgbClr val="404A54"/>
                </a:solidFill>
              </a:rPr>
              <a:t>Anchor could be a gaussians with good values of mean and std dev. </a:t>
            </a:r>
          </a:p>
        </p:txBody>
      </p:sp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60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77A7-7478-7DAC-698F-D2CEEBB8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33EF-2814-944B-3D84-73FCA2B8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it-IT" sz="3200" b="1">
                <a:solidFill>
                  <a:srgbClr val="1B2A4A"/>
                </a:solidFill>
                <a:latin typeface="Calibri"/>
              </a:rPr>
              <a:t>How </a:t>
            </a:r>
            <a:r>
              <a:rPr lang="it-IT" sz="3200" b="1" err="1">
                <a:solidFill>
                  <a:srgbClr val="1B2A4A"/>
                </a:solidFill>
                <a:latin typeface="Calibri"/>
              </a:rPr>
              <a:t>it</a:t>
            </a:r>
            <a:r>
              <a:rPr lang="it-IT" sz="3200" b="1">
                <a:solidFill>
                  <a:srgbClr val="1B2A4A"/>
                </a:solidFill>
                <a:latin typeface="Calibri"/>
              </a:rPr>
              <a:t>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D8FC8B1-B413-F6A7-CD41-644C5608EF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it-IT" sz="1800">
                    <a:latin typeface="Delicious"/>
                  </a:rPr>
                  <a:t>It </a:t>
                </a:r>
                <a:r>
                  <a:rPr lang="it-IT" sz="1800" err="1">
                    <a:latin typeface="Delicious"/>
                  </a:rPr>
                  <a:t>is</a:t>
                </a:r>
                <a:r>
                  <a:rPr lang="it-IT" sz="1800">
                    <a:latin typeface="Delicious"/>
                  </a:rPr>
                  <a:t> </a:t>
                </a:r>
                <a:r>
                  <a:rPr lang="it-IT" sz="1800" err="1">
                    <a:latin typeface="Delicious"/>
                  </a:rPr>
                  <a:t>possible</a:t>
                </a:r>
                <a:r>
                  <a:rPr lang="it-IT" sz="1800">
                    <a:latin typeface="Delicious"/>
                  </a:rPr>
                  <a:t> to </a:t>
                </a:r>
                <a:r>
                  <a:rPr lang="it-IT" sz="1800" err="1">
                    <a:latin typeface="Delicious"/>
                  </a:rPr>
                  <a:t>approach</a:t>
                </a:r>
                <a:r>
                  <a:rPr lang="it-IT" sz="1800">
                    <a:latin typeface="Delicious"/>
                  </a:rPr>
                  <a:t> the </a:t>
                </a:r>
                <a:r>
                  <a:rPr lang="it-IT" sz="1800" err="1">
                    <a:latin typeface="Delicious"/>
                  </a:rPr>
                  <a:t>problem</a:t>
                </a:r>
                <a:r>
                  <a:rPr lang="it-IT" sz="1800">
                    <a:latin typeface="Delicious"/>
                  </a:rPr>
                  <a:t> like a Machine Learning </a:t>
                </a:r>
                <a:r>
                  <a:rPr lang="it-IT" sz="1800" b="1" err="1">
                    <a:solidFill>
                      <a:srgbClr val="00B050"/>
                    </a:solidFill>
                    <a:latin typeface="Delicious"/>
                  </a:rPr>
                  <a:t>optimization</a:t>
                </a:r>
                <a:r>
                  <a:rPr lang="it-IT" sz="1800" b="1">
                    <a:solidFill>
                      <a:srgbClr val="00B050"/>
                    </a:solidFill>
                    <a:latin typeface="Delicious"/>
                  </a:rPr>
                  <a:t> </a:t>
                </a:r>
                <a:r>
                  <a:rPr lang="it-IT" sz="1800" b="1" err="1">
                    <a:solidFill>
                      <a:srgbClr val="00B050"/>
                    </a:solidFill>
                    <a:latin typeface="Delicious"/>
                  </a:rPr>
                  <a:t>problem</a:t>
                </a:r>
                <a:r>
                  <a:rPr lang="it-IT" sz="1800">
                    <a:latin typeface="Delicious"/>
                  </a:rPr>
                  <a:t>. </a:t>
                </a:r>
              </a:p>
              <a:p>
                <a:pPr marL="0" indent="0">
                  <a:buNone/>
                </a:pPr>
                <a:endParaRPr lang="it-IT" sz="1800">
                  <a:latin typeface="Delicious"/>
                </a:endParaRPr>
              </a:p>
              <a:p>
                <a:pPr marL="0" indent="0">
                  <a:buNone/>
                </a:pPr>
                <a:r>
                  <a:rPr lang="it-IT" sz="1800" err="1">
                    <a:latin typeface="Delicious"/>
                  </a:rPr>
                  <a:t>It</a:t>
                </a:r>
                <a:r>
                  <a:rPr lang="it-IT" sz="1800">
                    <a:latin typeface="Delicious"/>
                  </a:rPr>
                  <a:t> </a:t>
                </a:r>
                <a:r>
                  <a:rPr lang="it-IT" sz="1800" err="1">
                    <a:latin typeface="Delicious"/>
                  </a:rPr>
                  <a:t>is</a:t>
                </a:r>
                <a:r>
                  <a:rPr lang="it-IT" sz="1800">
                    <a:latin typeface="Delicious"/>
                  </a:rPr>
                  <a:t> </a:t>
                </a:r>
                <a:r>
                  <a:rPr lang="it-IT" sz="1800" err="1">
                    <a:latin typeface="Delicious"/>
                  </a:rPr>
                  <a:t>possible</a:t>
                </a:r>
                <a:r>
                  <a:rPr lang="it-IT" sz="1800">
                    <a:latin typeface="Delicious"/>
                  </a:rPr>
                  <a:t> to </a:t>
                </a:r>
                <a:r>
                  <a:rPr lang="it-IT" sz="1800" err="1">
                    <a:latin typeface="Delicious"/>
                  </a:rPr>
                  <a:t>define</a:t>
                </a:r>
                <a:r>
                  <a:rPr lang="it-IT" sz="1800">
                    <a:latin typeface="Delicious"/>
                  </a:rPr>
                  <a:t> a </a:t>
                </a:r>
                <a:r>
                  <a:rPr lang="it-IT" sz="1800" err="1">
                    <a:solidFill>
                      <a:srgbClr val="0070C0"/>
                    </a:solidFill>
                    <a:latin typeface="Delicious"/>
                  </a:rPr>
                  <a:t>loss</a:t>
                </a:r>
                <a:r>
                  <a:rPr lang="it-IT" sz="1800">
                    <a:solidFill>
                      <a:srgbClr val="0070C0"/>
                    </a:solidFill>
                    <a:latin typeface="Delicious"/>
                  </a:rPr>
                  <a:t> </a:t>
                </a:r>
                <a:r>
                  <a:rPr lang="it-IT" sz="1800" err="1">
                    <a:solidFill>
                      <a:srgbClr val="0070C0"/>
                    </a:solidFill>
                    <a:latin typeface="Delicious"/>
                  </a:rPr>
                  <a:t>function</a:t>
                </a:r>
                <a:r>
                  <a:rPr lang="it-IT" sz="1800">
                    <a:solidFill>
                      <a:srgbClr val="0070C0"/>
                    </a:solidFill>
                    <a:latin typeface="Delicious"/>
                  </a:rPr>
                  <a:t> L </a:t>
                </a:r>
                <a:r>
                  <a:rPr lang="it-IT" sz="1800" err="1">
                    <a:latin typeface="Delicious"/>
                  </a:rPr>
                  <a:t>as</a:t>
                </a:r>
                <a:r>
                  <a:rPr lang="it-IT" sz="1800">
                    <a:latin typeface="Delicious"/>
                  </a:rPr>
                  <a:t> the MSE </a:t>
                </a:r>
                <a:r>
                  <a:rPr lang="it-IT" sz="1800" err="1">
                    <a:latin typeface="Delicious"/>
                  </a:rPr>
                  <a:t>between</a:t>
                </a:r>
                <a:r>
                  <a:rPr lang="it-IT" sz="1800">
                    <a:latin typeface="Delicious"/>
                  </a:rPr>
                  <a:t> </a:t>
                </a:r>
                <a:r>
                  <a:rPr lang="it-IT" sz="1800" err="1">
                    <a:latin typeface="Delicious"/>
                  </a:rPr>
                  <a:t>current</a:t>
                </a:r>
                <a:r>
                  <a:rPr lang="it-IT" sz="1800">
                    <a:latin typeface="Delicious"/>
                  </a:rPr>
                  <a:t> </a:t>
                </a:r>
                <a:r>
                  <a:rPr lang="it-IT" sz="1800" err="1">
                    <a:latin typeface="Delicious"/>
                  </a:rPr>
                  <a:t>solution</a:t>
                </a:r>
                <a:r>
                  <a:rPr lang="it-IT" sz="1800">
                    <a:latin typeface="Delicious"/>
                  </a:rPr>
                  <a:t> and target </a:t>
                </a:r>
                <a:r>
                  <a:rPr lang="it-IT" sz="1800" err="1">
                    <a:latin typeface="Delicious"/>
                  </a:rPr>
                  <a:t>solution</a:t>
                </a:r>
                <a:r>
                  <a:rPr lang="it-IT" sz="1800">
                    <a:latin typeface="Delicious"/>
                  </a:rPr>
                  <a:t>, or, more </a:t>
                </a:r>
                <a:r>
                  <a:rPr lang="it-IT" sz="1800" err="1">
                    <a:latin typeface="Delicious"/>
                  </a:rPr>
                  <a:t>formally</a:t>
                </a:r>
                <a:r>
                  <a:rPr lang="it-IT" sz="1800">
                    <a:latin typeface="Delicious"/>
                  </a:rPr>
                  <a:t>: </a:t>
                </a:r>
              </a:p>
              <a:p>
                <a:pPr marL="0" indent="0">
                  <a:buNone/>
                </a:pPr>
                <a:endParaRPr lang="it-IT" sz="1800">
                  <a:latin typeface="Delicious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it-IT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it-IT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it-IT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it-IT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it-IT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𝑠𝐾𝐿</m:t>
                                  </m:r>
                                  <m:d>
                                    <m:dPr>
                                      <m:ctrlPr>
                                        <a:rPr lang="it-IT" sz="18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8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8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it-IT" sz="18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18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it-IT" sz="18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8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it-IT" sz="18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it-IT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t-IT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𝑠𝐾</m:t>
                                  </m:r>
                                  <m:sSub>
                                    <m:sSubPr>
                                      <m:ctrlPr>
                                        <a:rPr lang="it-IT" sz="18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8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it-IT" sz="18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𝑡𝑎𝑟𝑔𝑒𝑡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it-IT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1800">
                  <a:latin typeface="Delicious"/>
                </a:endParaRPr>
              </a:p>
              <a:p>
                <a:pPr marL="0" indent="0">
                  <a:buNone/>
                </a:pPr>
                <a:r>
                  <a:rPr lang="it-IT" sz="1800">
                    <a:latin typeface="Delicious"/>
                  </a:rPr>
                  <a:t>Once </a:t>
                </a:r>
                <a:r>
                  <a:rPr lang="it-IT" sz="1800" err="1">
                    <a:latin typeface="Delicious"/>
                  </a:rPr>
                  <a:t>we</a:t>
                </a:r>
                <a:r>
                  <a:rPr lang="it-IT" sz="1800">
                    <a:latin typeface="Delicious"/>
                  </a:rPr>
                  <a:t> </a:t>
                </a:r>
                <a:r>
                  <a:rPr lang="it-IT" sz="1800" err="1">
                    <a:latin typeface="Delicious"/>
                  </a:rPr>
                  <a:t>have</a:t>
                </a:r>
                <a:r>
                  <a:rPr lang="it-IT" sz="1800">
                    <a:latin typeface="Delicious"/>
                  </a:rPr>
                  <a:t> a Loss </a:t>
                </a:r>
                <a:r>
                  <a:rPr lang="it-IT" sz="1800" err="1">
                    <a:latin typeface="Delicious"/>
                  </a:rPr>
                  <a:t>function</a:t>
                </a:r>
                <a:r>
                  <a:rPr lang="it-IT" sz="1800">
                    <a:latin typeface="Delicious"/>
                  </a:rPr>
                  <a:t> </a:t>
                </a:r>
                <a:r>
                  <a:rPr lang="it-IT" sz="1800" err="1">
                    <a:latin typeface="Delicious"/>
                  </a:rPr>
                  <a:t>we</a:t>
                </a:r>
                <a:r>
                  <a:rPr lang="it-IT" sz="1800">
                    <a:latin typeface="Delicious"/>
                  </a:rPr>
                  <a:t> can derivate </a:t>
                </a:r>
                <a:r>
                  <a:rPr lang="it-IT" sz="1800" err="1">
                    <a:latin typeface="Delicious"/>
                  </a:rPr>
                  <a:t>it</a:t>
                </a:r>
                <a:r>
                  <a:rPr lang="it-IT" sz="1800">
                    <a:latin typeface="Delicious"/>
                  </a:rPr>
                  <a:t>, compute the </a:t>
                </a:r>
                <a:r>
                  <a:rPr lang="it-IT" sz="1800" b="1" err="1">
                    <a:solidFill>
                      <a:srgbClr val="FF9900"/>
                    </a:solidFill>
                    <a:latin typeface="Delicious"/>
                  </a:rPr>
                  <a:t>gradient</a:t>
                </a:r>
                <a:r>
                  <a:rPr lang="it-IT" sz="1800">
                    <a:solidFill>
                      <a:srgbClr val="FF9900"/>
                    </a:solidFill>
                    <a:latin typeface="Delicious"/>
                  </a:rPr>
                  <a:t> </a:t>
                </a:r>
              </a:p>
              <a:p>
                <a:pPr marL="0" indent="0">
                  <a:buNone/>
                </a:pPr>
                <a:r>
                  <a:rPr lang="it-IT" sz="1800" b="1">
                    <a:solidFill>
                      <a:srgbClr val="FF9900"/>
                    </a:solidFill>
                    <a:latin typeface="Delicious"/>
                  </a:rPr>
                  <a:t>∇L(</a:t>
                </a:r>
                <a:r>
                  <a:rPr lang="it-IT" sz="1800" b="1">
                    <a:solidFill>
                      <a:srgbClr val="FF9900"/>
                    </a:solidFill>
                    <a:ea typeface="+mn-lt"/>
                    <a:cs typeface="+mn-lt"/>
                  </a:rPr>
                  <a:t>φ1…</a:t>
                </a:r>
                <a:r>
                  <a:rPr lang="it-IT" sz="1800" b="1" err="1">
                    <a:solidFill>
                      <a:srgbClr val="FF9900"/>
                    </a:solidFill>
                    <a:ea typeface="+mn-lt"/>
                    <a:cs typeface="+mn-lt"/>
                  </a:rPr>
                  <a:t>φN</a:t>
                </a:r>
                <a:r>
                  <a:rPr lang="it-IT" sz="1800" b="1">
                    <a:solidFill>
                      <a:srgbClr val="FF9900"/>
                    </a:solidFill>
                    <a:ea typeface="+mn-lt"/>
                    <a:cs typeface="+mn-lt"/>
                  </a:rPr>
                  <a:t>) </a:t>
                </a:r>
                <a:r>
                  <a:rPr lang="it-IT" sz="1800">
                    <a:ea typeface="+mn-lt"/>
                    <a:cs typeface="+mn-lt"/>
                  </a:rPr>
                  <a:t>and follow </a:t>
                </a:r>
                <a:r>
                  <a:rPr lang="it-IT" sz="1800" err="1">
                    <a:ea typeface="+mn-lt"/>
                    <a:cs typeface="+mn-lt"/>
                  </a:rPr>
                  <a:t>it</a:t>
                </a:r>
                <a:r>
                  <a:rPr lang="it-IT" sz="1800">
                    <a:ea typeface="+mn-lt"/>
                    <a:cs typeface="+mn-lt"/>
                  </a:rPr>
                  <a:t> </a:t>
                </a:r>
                <a:r>
                  <a:rPr lang="it-IT" sz="1800" err="1">
                    <a:ea typeface="+mn-lt"/>
                    <a:cs typeface="+mn-lt"/>
                  </a:rPr>
                  <a:t>until</a:t>
                </a:r>
                <a:r>
                  <a:rPr lang="it-IT" sz="1800">
                    <a:ea typeface="+mn-lt"/>
                    <a:cs typeface="+mn-lt"/>
                  </a:rPr>
                  <a:t> </a:t>
                </a:r>
                <a:r>
                  <a:rPr lang="it-IT" sz="1800" err="1">
                    <a:ea typeface="+mn-lt"/>
                    <a:cs typeface="+mn-lt"/>
                  </a:rPr>
                  <a:t>we</a:t>
                </a:r>
                <a:r>
                  <a:rPr lang="it-IT" sz="1800">
                    <a:ea typeface="+mn-lt"/>
                    <a:cs typeface="+mn-lt"/>
                  </a:rPr>
                  <a:t> </a:t>
                </a:r>
                <a:r>
                  <a:rPr lang="it-IT" sz="1800" err="1">
                    <a:ea typeface="+mn-lt"/>
                    <a:cs typeface="+mn-lt"/>
                  </a:rPr>
                  <a:t>get</a:t>
                </a:r>
                <a:r>
                  <a:rPr lang="it-IT" sz="1800">
                    <a:ea typeface="+mn-lt"/>
                    <a:cs typeface="+mn-lt"/>
                  </a:rPr>
                  <a:t> to the minima…  </a:t>
                </a:r>
                <a:endParaRPr lang="it-IT" sz="1800">
                  <a:latin typeface="Delicious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D8FC8B1-B413-F6A7-CD41-644C5608EF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73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25077A-9143-AC6E-4E98-1588A7BD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27</a:t>
            </a:fld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62062-3EAF-6071-CC77-B9445100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  <p:sp>
        <p:nvSpPr>
          <p:cNvPr id="3" name="Accent Bar">
            <a:extLst>
              <a:ext uri="{FF2B5EF4-FFF2-40B4-BE49-F238E27FC236}">
                <a16:creationId xmlns:a16="http://schemas.microsoft.com/office/drawing/2014/main" id="{A74734FD-27DD-4391-8E8F-90F30B20EB3E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4117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96B7DD-24A7-532B-D705-B4B47ED86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  <p:sp>
        <p:nvSpPr>
          <p:cNvPr id="2" name="Accent Bar">
            <a:extLst>
              <a:ext uri="{FF2B5EF4-FFF2-40B4-BE49-F238E27FC236}">
                <a16:creationId xmlns:a16="http://schemas.microsoft.com/office/drawing/2014/main" id="{36DAA547-AAB2-4642-AEA0-B9216BD2A3FE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6207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3B7D77-B0C0-48E3-33A3-4389B59C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  <p:sp>
        <p:nvSpPr>
          <p:cNvPr id="2" name="Accent Bar">
            <a:extLst>
              <a:ext uri="{FF2B5EF4-FFF2-40B4-BE49-F238E27FC236}">
                <a16:creationId xmlns:a16="http://schemas.microsoft.com/office/drawing/2014/main" id="{E58FE785-69A2-4491-A639-35C93306A34F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7722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C90114-691E-4C68-C6FC-D7CD78DF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  <p:sp>
        <p:nvSpPr>
          <p:cNvPr id="2" name="Accent Bar">
            <a:extLst>
              <a:ext uri="{FF2B5EF4-FFF2-40B4-BE49-F238E27FC236}">
                <a16:creationId xmlns:a16="http://schemas.microsoft.com/office/drawing/2014/main" id="{01242482-BD13-4B8F-84D9-5679DFC1F600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8501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628F8-E38D-4B93-C385-FEF0A3BB6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2" y="0"/>
            <a:ext cx="11994296" cy="6858000"/>
          </a:xfrm>
          <a:prstGeom prst="rect">
            <a:avLst/>
          </a:prstGeom>
        </p:spPr>
      </p:pic>
      <p:sp>
        <p:nvSpPr>
          <p:cNvPr id="2" name="Accent Bar">
            <a:extLst>
              <a:ext uri="{FF2B5EF4-FFF2-40B4-BE49-F238E27FC236}">
                <a16:creationId xmlns:a16="http://schemas.microsoft.com/office/drawing/2014/main" id="{CF36FDD8-F32E-41F6-934E-BD119220DB00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5256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26FC42-A3B7-AC49-694F-65409A3AA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  <p:sp>
        <p:nvSpPr>
          <p:cNvPr id="2" name="Accent Bar">
            <a:extLst>
              <a:ext uri="{FF2B5EF4-FFF2-40B4-BE49-F238E27FC236}">
                <a16:creationId xmlns:a16="http://schemas.microsoft.com/office/drawing/2014/main" id="{C1F2FB6D-CD14-49CE-9484-81082F623E0B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3368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DE67EF-263D-08F2-68AC-F320E2F68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  <p:sp>
        <p:nvSpPr>
          <p:cNvPr id="2" name="Accent Bar">
            <a:extLst>
              <a:ext uri="{FF2B5EF4-FFF2-40B4-BE49-F238E27FC236}">
                <a16:creationId xmlns:a16="http://schemas.microsoft.com/office/drawing/2014/main" id="{7436687B-1918-4CFD-8D17-8E45D13B2C84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981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STORY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algorithm wins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ratio  CUCB+CDT / Primal-dual  across the (f, sKL) plane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1188720" y="1920240"/>
            <a:ext cx="792480" cy="609600"/>
          </a:xfrm>
          <a:prstGeom prst="rect">
            <a:avLst/>
          </a:prstGeom>
          <a:solidFill>
            <a:srgbClr val="57B29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981200" y="1920240"/>
            <a:ext cx="792480" cy="609600"/>
          </a:xfrm>
          <a:prstGeom prst="rect">
            <a:avLst/>
          </a:prstGeom>
          <a:solidFill>
            <a:srgbClr val="79C0A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773680" y="1920240"/>
            <a:ext cx="792480" cy="609600"/>
          </a:xfrm>
          <a:prstGeom prst="rect">
            <a:avLst/>
          </a:prstGeom>
          <a:solidFill>
            <a:srgbClr val="C7E0D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566160" y="1920240"/>
            <a:ext cx="792480" cy="609600"/>
          </a:xfrm>
          <a:prstGeom prst="rect">
            <a:avLst/>
          </a:prstGeom>
          <a:solidFill>
            <a:srgbClr val="F9D1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358640" y="1920240"/>
            <a:ext cx="792480" cy="609600"/>
          </a:xfrm>
          <a:prstGeom prst="rect">
            <a:avLst/>
          </a:prstGeom>
          <a:solidFill>
            <a:srgbClr val="EF8B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151120" y="1920240"/>
            <a:ext cx="792480" cy="609600"/>
          </a:xfrm>
          <a:prstGeom prst="rect">
            <a:avLst/>
          </a:prstGeom>
          <a:solidFill>
            <a:srgbClr val="E85D4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1188720" y="2529840"/>
            <a:ext cx="792480" cy="609600"/>
          </a:xfrm>
          <a:prstGeom prst="rect">
            <a:avLst/>
          </a:prstGeom>
          <a:solidFill>
            <a:srgbClr val="79C0A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1981200" y="2529840"/>
            <a:ext cx="792480" cy="609600"/>
          </a:xfrm>
          <a:prstGeom prst="rect">
            <a:avLst/>
          </a:prstGeom>
          <a:solidFill>
            <a:srgbClr val="9ACE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773680" y="2529840"/>
            <a:ext cx="792480" cy="609600"/>
          </a:xfrm>
          <a:prstGeom prst="rect">
            <a:avLst/>
          </a:prstGeom>
          <a:solidFill>
            <a:srgbClr val="DDE9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566160" y="2529840"/>
            <a:ext cx="792480" cy="609600"/>
          </a:xfrm>
          <a:prstGeom prst="rect">
            <a:avLst/>
          </a:prstGeom>
          <a:solidFill>
            <a:srgbClr val="FAD8D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358640" y="2529840"/>
            <a:ext cx="792480" cy="609600"/>
          </a:xfrm>
          <a:prstGeom prst="rect">
            <a:avLst/>
          </a:prstGeom>
          <a:solidFill>
            <a:srgbClr val="F19B8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151120" y="2529840"/>
            <a:ext cx="792480" cy="609600"/>
          </a:xfrm>
          <a:prstGeom prst="rect">
            <a:avLst/>
          </a:prstGeom>
          <a:solidFill>
            <a:srgbClr val="EA6C5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1188720" y="3139440"/>
            <a:ext cx="792480" cy="609600"/>
          </a:xfrm>
          <a:prstGeom prst="rect">
            <a:avLst/>
          </a:prstGeom>
          <a:solidFill>
            <a:srgbClr val="A5D2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1981200" y="3139440"/>
            <a:ext cx="792480" cy="609600"/>
          </a:xfrm>
          <a:prstGeom prst="rect">
            <a:avLst/>
          </a:prstGeom>
          <a:solidFill>
            <a:srgbClr val="C7E0D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2773680" y="3139440"/>
            <a:ext cx="792480" cy="609600"/>
          </a:xfrm>
          <a:prstGeom prst="rect">
            <a:avLst/>
          </a:prstGeom>
          <a:solidFill>
            <a:srgbClr val="F4F2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566160" y="31394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358640" y="3139440"/>
            <a:ext cx="792480" cy="609600"/>
          </a:xfrm>
          <a:prstGeom prst="rect">
            <a:avLst/>
          </a:prstGeom>
          <a:solidFill>
            <a:srgbClr val="F5B2A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151120" y="3139440"/>
            <a:ext cx="792480" cy="609600"/>
          </a:xfrm>
          <a:prstGeom prst="rect">
            <a:avLst/>
          </a:prstGeom>
          <a:solidFill>
            <a:srgbClr val="EF8B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188720" y="3749040"/>
            <a:ext cx="792480" cy="609600"/>
          </a:xfrm>
          <a:prstGeom prst="rect">
            <a:avLst/>
          </a:prstGeom>
          <a:solidFill>
            <a:srgbClr val="D2E5D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1981200" y="3749040"/>
            <a:ext cx="792480" cy="609600"/>
          </a:xfrm>
          <a:prstGeom prst="rect">
            <a:avLst/>
          </a:prstGeom>
          <a:solidFill>
            <a:srgbClr val="E9EE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2773680" y="37490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3566160" y="37490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358640" y="3749040"/>
            <a:ext cx="792480" cy="609600"/>
          </a:xfrm>
          <a:prstGeom prst="rect">
            <a:avLst/>
          </a:prstGeom>
          <a:solidFill>
            <a:srgbClr val="F8C9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5151120" y="3749040"/>
            <a:ext cx="792480" cy="609600"/>
          </a:xfrm>
          <a:prstGeom prst="rect">
            <a:avLst/>
          </a:prstGeom>
          <a:solidFill>
            <a:srgbClr val="F4AA9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1188720" y="4358640"/>
            <a:ext cx="792480" cy="609600"/>
          </a:xfrm>
          <a:prstGeom prst="rect">
            <a:avLst/>
          </a:prstGeom>
          <a:solidFill>
            <a:srgbClr val="F4F2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1981200" y="43586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2773680" y="43586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3566160" y="43586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358640" y="4358640"/>
            <a:ext cx="792480" cy="609600"/>
          </a:xfrm>
          <a:prstGeom prst="rect">
            <a:avLst/>
          </a:prstGeom>
          <a:solidFill>
            <a:srgbClr val="FAD8D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5151120" y="4358640"/>
            <a:ext cx="792480" cy="609600"/>
          </a:xfrm>
          <a:prstGeom prst="rect">
            <a:avLst/>
          </a:prstGeom>
          <a:solidFill>
            <a:srgbClr val="F8C9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1188720" y="49682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1981200" y="49682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2773680" y="49682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3566160" y="49682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4358640" y="49682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5151120" y="49682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1188720" y="1920240"/>
            <a:ext cx="4754880" cy="3657600"/>
          </a:xfrm>
          <a:prstGeom prst="rect">
            <a:avLst/>
          </a:prstGeom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1188720" y="5623560"/>
            <a:ext cx="4754880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1005840" y="5669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5577840" y="5669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1188720" y="5943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frequency  f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1143000" y="1920240"/>
            <a:ext cx="0" cy="365760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 rot="16200000">
            <a:off x="-82296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 between regimes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640080" y="1874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640080" y="5394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1325880" y="2057400"/>
            <a:ext cx="1280160" cy="82296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13716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137160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wins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4526280" y="2057400"/>
            <a:ext cx="1280160" cy="82296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45720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45262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wins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2926080" y="4663440"/>
            <a:ext cx="1280160" cy="73152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29718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292608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ENCODING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640080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ratio  CUCB+CDT / Primal-dual</a:t>
            </a:r>
            <a:endParaRPr lang="en-US" sz="1400"/>
          </a:p>
        </p:txBody>
      </p:sp>
      <p:sp>
        <p:nvSpPr>
          <p:cNvPr id="61" name="Shape 59"/>
          <p:cNvSpPr/>
          <p:nvPr/>
        </p:nvSpPr>
        <p:spPr>
          <a:xfrm>
            <a:off x="6400800" y="2606040"/>
            <a:ext cx="205740" cy="274320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Shape 60"/>
          <p:cNvSpPr/>
          <p:nvPr/>
        </p:nvSpPr>
        <p:spPr>
          <a:xfrm>
            <a:off x="6606540" y="2606040"/>
            <a:ext cx="205740" cy="274320"/>
          </a:xfrm>
          <a:prstGeom prst="rect">
            <a:avLst/>
          </a:prstGeom>
          <a:solidFill>
            <a:srgbClr val="37A58E"/>
          </a:solidFill>
          <a:ln w="12700">
            <a:solidFill>
              <a:srgbClr val="37A5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Shape 61"/>
          <p:cNvSpPr/>
          <p:nvPr/>
        </p:nvSpPr>
        <p:spPr>
          <a:xfrm>
            <a:off x="6812280" y="2606040"/>
            <a:ext cx="205740" cy="274320"/>
          </a:xfrm>
          <a:prstGeom prst="rect">
            <a:avLst/>
          </a:prstGeom>
          <a:solidFill>
            <a:srgbClr val="4EAE99"/>
          </a:solidFill>
          <a:ln w="12700">
            <a:solidFill>
              <a:srgbClr val="4EAE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62"/>
          <p:cNvSpPr/>
          <p:nvPr/>
        </p:nvSpPr>
        <p:spPr>
          <a:xfrm>
            <a:off x="7018020" y="2606040"/>
            <a:ext cx="205740" cy="274320"/>
          </a:xfrm>
          <a:prstGeom prst="rect">
            <a:avLst/>
          </a:prstGeom>
          <a:solidFill>
            <a:srgbClr val="66B8A5"/>
          </a:solidFill>
          <a:ln w="12700">
            <a:solidFill>
              <a:srgbClr val="66B8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Shape 63"/>
          <p:cNvSpPr/>
          <p:nvPr/>
        </p:nvSpPr>
        <p:spPr>
          <a:xfrm>
            <a:off x="7223760" y="2606040"/>
            <a:ext cx="205740" cy="274320"/>
          </a:xfrm>
          <a:prstGeom prst="rect">
            <a:avLst/>
          </a:prstGeom>
          <a:solidFill>
            <a:srgbClr val="7DC2B0"/>
          </a:solidFill>
          <a:ln w="12700">
            <a:solidFill>
              <a:srgbClr val="7DC2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Shape 64"/>
          <p:cNvSpPr/>
          <p:nvPr/>
        </p:nvSpPr>
        <p:spPr>
          <a:xfrm>
            <a:off x="7429500" y="2606040"/>
            <a:ext cx="205740" cy="274320"/>
          </a:xfrm>
          <a:prstGeom prst="rect">
            <a:avLst/>
          </a:prstGeom>
          <a:solidFill>
            <a:srgbClr val="95CBBC"/>
          </a:solidFill>
          <a:ln w="12700">
            <a:solidFill>
              <a:srgbClr val="95CB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Shape 65"/>
          <p:cNvSpPr/>
          <p:nvPr/>
        </p:nvSpPr>
        <p:spPr>
          <a:xfrm>
            <a:off x="7635240" y="2606040"/>
            <a:ext cx="205740" cy="274320"/>
          </a:xfrm>
          <a:prstGeom prst="rect">
            <a:avLst/>
          </a:prstGeom>
          <a:solidFill>
            <a:srgbClr val="ACD5C7"/>
          </a:solidFill>
          <a:ln w="12700">
            <a:solidFill>
              <a:srgbClr val="ACD5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Shape 66"/>
          <p:cNvSpPr/>
          <p:nvPr/>
        </p:nvSpPr>
        <p:spPr>
          <a:xfrm>
            <a:off x="7840980" y="2606040"/>
            <a:ext cx="205740" cy="274320"/>
          </a:xfrm>
          <a:prstGeom prst="rect">
            <a:avLst/>
          </a:prstGeom>
          <a:solidFill>
            <a:srgbClr val="C4DFD3"/>
          </a:solidFill>
          <a:ln w="12700">
            <a:solidFill>
              <a:srgbClr val="C4DFD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67"/>
          <p:cNvSpPr/>
          <p:nvPr/>
        </p:nvSpPr>
        <p:spPr>
          <a:xfrm>
            <a:off x="8046720" y="2606040"/>
            <a:ext cx="205740" cy="274320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Shape 68"/>
          <p:cNvSpPr/>
          <p:nvPr/>
        </p:nvSpPr>
        <p:spPr>
          <a:xfrm>
            <a:off x="8252460" y="2606040"/>
            <a:ext cx="205740" cy="274320"/>
          </a:xfrm>
          <a:prstGeom prst="rect">
            <a:avLst/>
          </a:prstGeom>
          <a:solidFill>
            <a:srgbClr val="F3F2EA"/>
          </a:solidFill>
          <a:ln w="12700">
            <a:solidFill>
              <a:srgbClr val="F3F2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Shape 69"/>
          <p:cNvSpPr/>
          <p:nvPr/>
        </p:nvSpPr>
        <p:spPr>
          <a:xfrm>
            <a:off x="8458200" y="2606040"/>
            <a:ext cx="205740" cy="274320"/>
          </a:xfrm>
          <a:prstGeom prst="rect">
            <a:avLst/>
          </a:prstGeom>
          <a:solidFill>
            <a:srgbClr val="FEEFE7"/>
          </a:solidFill>
          <a:ln w="12700">
            <a:solidFill>
              <a:srgbClr val="FEE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Shape 70"/>
          <p:cNvSpPr/>
          <p:nvPr/>
        </p:nvSpPr>
        <p:spPr>
          <a:xfrm>
            <a:off x="8663940" y="2606040"/>
            <a:ext cx="205740" cy="274320"/>
          </a:xfrm>
          <a:prstGeom prst="rect">
            <a:avLst/>
          </a:prstGeom>
          <a:solidFill>
            <a:srgbClr val="FBDFD6"/>
          </a:solidFill>
          <a:ln w="12700">
            <a:solidFill>
              <a:srgbClr val="FBDFD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Shape 71"/>
          <p:cNvSpPr/>
          <p:nvPr/>
        </p:nvSpPr>
        <p:spPr>
          <a:xfrm>
            <a:off x="8869680" y="2606040"/>
            <a:ext cx="205740" cy="274320"/>
          </a:xfrm>
          <a:prstGeom prst="rect">
            <a:avLst/>
          </a:prstGeom>
          <a:solidFill>
            <a:srgbClr val="F9CEC5"/>
          </a:solidFill>
          <a:ln w="12700">
            <a:solidFill>
              <a:srgbClr val="F9CE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Shape 72"/>
          <p:cNvSpPr/>
          <p:nvPr/>
        </p:nvSpPr>
        <p:spPr>
          <a:xfrm>
            <a:off x="9075420" y="2606040"/>
            <a:ext cx="205740" cy="274320"/>
          </a:xfrm>
          <a:prstGeom prst="rect">
            <a:avLst/>
          </a:prstGeom>
          <a:solidFill>
            <a:srgbClr val="F7BEB4"/>
          </a:solidFill>
          <a:ln w="12700">
            <a:solidFill>
              <a:srgbClr val="F7BE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Shape 73"/>
          <p:cNvSpPr/>
          <p:nvPr/>
        </p:nvSpPr>
        <p:spPr>
          <a:xfrm>
            <a:off x="9281160" y="2606040"/>
            <a:ext cx="205740" cy="274320"/>
          </a:xfrm>
          <a:prstGeom prst="rect">
            <a:avLst/>
          </a:prstGeom>
          <a:solidFill>
            <a:srgbClr val="F4AEA3"/>
          </a:solidFill>
          <a:ln w="12700">
            <a:solidFill>
              <a:srgbClr val="F4AE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Shape 74"/>
          <p:cNvSpPr/>
          <p:nvPr/>
        </p:nvSpPr>
        <p:spPr>
          <a:xfrm>
            <a:off x="9486900" y="2606040"/>
            <a:ext cx="205740" cy="274320"/>
          </a:xfrm>
          <a:prstGeom prst="rect">
            <a:avLst/>
          </a:prstGeom>
          <a:solidFill>
            <a:srgbClr val="F29E92"/>
          </a:solidFill>
          <a:ln w="12700">
            <a:solidFill>
              <a:srgbClr val="F29E9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Shape 75"/>
          <p:cNvSpPr/>
          <p:nvPr/>
        </p:nvSpPr>
        <p:spPr>
          <a:xfrm>
            <a:off x="9692640" y="2606040"/>
            <a:ext cx="205740" cy="274320"/>
          </a:xfrm>
          <a:prstGeom prst="rect">
            <a:avLst/>
          </a:prstGeom>
          <a:solidFill>
            <a:srgbClr val="EF8E81"/>
          </a:solidFill>
          <a:ln w="12700">
            <a:solidFill>
              <a:srgbClr val="EF8E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Shape 76"/>
          <p:cNvSpPr/>
          <p:nvPr/>
        </p:nvSpPr>
        <p:spPr>
          <a:xfrm>
            <a:off x="9898380" y="2606040"/>
            <a:ext cx="205740" cy="274320"/>
          </a:xfrm>
          <a:prstGeom prst="rect">
            <a:avLst/>
          </a:prstGeom>
          <a:solidFill>
            <a:srgbClr val="ED7D70"/>
          </a:solidFill>
          <a:ln w="12700">
            <a:solidFill>
              <a:srgbClr val="ED7D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Shape 77"/>
          <p:cNvSpPr/>
          <p:nvPr/>
        </p:nvSpPr>
        <p:spPr>
          <a:xfrm>
            <a:off x="10104120" y="2606040"/>
            <a:ext cx="205740" cy="274320"/>
          </a:xfrm>
          <a:prstGeom prst="rect">
            <a:avLst/>
          </a:prstGeom>
          <a:solidFill>
            <a:srgbClr val="EA6D5F"/>
          </a:solidFill>
          <a:ln w="12700">
            <a:solidFill>
              <a:srgbClr val="EA6D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Shape 78"/>
          <p:cNvSpPr/>
          <p:nvPr/>
        </p:nvSpPr>
        <p:spPr>
          <a:xfrm>
            <a:off x="10309860" y="2606040"/>
            <a:ext cx="205740" cy="274320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Shape 79"/>
          <p:cNvSpPr/>
          <p:nvPr/>
        </p:nvSpPr>
        <p:spPr>
          <a:xfrm>
            <a:off x="6400800" y="2606040"/>
            <a:ext cx="4114800" cy="274320"/>
          </a:xfrm>
          <a:prstGeom prst="rect">
            <a:avLst/>
          </a:prstGeom>
          <a:ln w="635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80"/>
          <p:cNvSpPr/>
          <p:nvPr/>
        </p:nvSpPr>
        <p:spPr>
          <a:xfrm>
            <a:off x="64008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wins</a:t>
            </a:r>
            <a:endParaRPr lang="en-US" sz="900"/>
          </a:p>
        </p:txBody>
      </p:sp>
      <p:sp>
        <p:nvSpPr>
          <p:cNvPr id="83" name="Text 81"/>
          <p:cNvSpPr/>
          <p:nvPr/>
        </p:nvSpPr>
        <p:spPr>
          <a:xfrm>
            <a:off x="8183880" y="2926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</a:t>
            </a:r>
            <a:endParaRPr lang="en-US" sz="900"/>
          </a:p>
        </p:txBody>
      </p:sp>
      <p:sp>
        <p:nvSpPr>
          <p:cNvPr id="84" name="Text 82"/>
          <p:cNvSpPr/>
          <p:nvPr/>
        </p:nvSpPr>
        <p:spPr>
          <a:xfrm>
            <a:off x="91440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wins</a:t>
            </a:r>
            <a:endParaRPr lang="en-US" sz="900"/>
          </a:p>
        </p:txBody>
      </p:sp>
      <p:sp>
        <p:nvSpPr>
          <p:cNvPr id="85" name="Shape 83"/>
          <p:cNvSpPr/>
          <p:nvPr/>
        </p:nvSpPr>
        <p:spPr>
          <a:xfrm>
            <a:off x="6400800" y="3410712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84"/>
          <p:cNvSpPr/>
          <p:nvPr/>
        </p:nvSpPr>
        <p:spPr>
          <a:xfrm>
            <a:off x="6720840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band (low sKL)</a:t>
            </a:r>
            <a:endParaRPr lang="en-US" sz="1200"/>
          </a:p>
        </p:txBody>
      </p:sp>
      <p:sp>
        <p:nvSpPr>
          <p:cNvPr id="87" name="Text 85"/>
          <p:cNvSpPr/>
          <p:nvPr/>
        </p:nvSpPr>
        <p:spPr>
          <a:xfrm>
            <a:off x="6720840" y="3630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undetectable by anyone. Both methods perform similarly — Req 2 territory.</a:t>
            </a:r>
            <a:endParaRPr lang="en-US" sz="1100"/>
          </a:p>
        </p:txBody>
      </p:sp>
      <p:sp>
        <p:nvSpPr>
          <p:cNvPr id="88" name="Shape 86"/>
          <p:cNvSpPr/>
          <p:nvPr/>
        </p:nvSpPr>
        <p:spPr>
          <a:xfrm>
            <a:off x="6400800" y="4251960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87"/>
          <p:cNvSpPr/>
          <p:nvPr/>
        </p:nvSpPr>
        <p:spPr>
          <a:xfrm>
            <a:off x="6720840" y="4178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(low f, high sKL)</a:t>
            </a:r>
            <a:endParaRPr lang="en-US" sz="1200"/>
          </a:p>
        </p:txBody>
      </p:sp>
      <p:sp>
        <p:nvSpPr>
          <p:cNvPr id="90" name="Text 88"/>
          <p:cNvSpPr/>
          <p:nvPr/>
        </p:nvSpPr>
        <p:spPr>
          <a:xfrm>
            <a:off x="6720840" y="44714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stable regimes between sharp changes. CDT detects and adapts — clean Req 4 win.</a:t>
            </a:r>
            <a:endParaRPr lang="en-US" sz="1100"/>
          </a:p>
        </p:txBody>
      </p:sp>
      <p:sp>
        <p:nvSpPr>
          <p:cNvPr id="91" name="Shape 89"/>
          <p:cNvSpPr/>
          <p:nvPr/>
        </p:nvSpPr>
        <p:spPr>
          <a:xfrm>
            <a:off x="6400800" y="5093208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Text 90"/>
          <p:cNvSpPr/>
          <p:nvPr/>
        </p:nvSpPr>
        <p:spPr>
          <a:xfrm>
            <a:off x="6720840" y="50200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(high f, high sKL)</a:t>
            </a:r>
            <a:endParaRPr lang="en-US" sz="1200"/>
          </a:p>
        </p:txBody>
      </p:sp>
      <p:sp>
        <p:nvSpPr>
          <p:cNvPr id="93" name="Text 91"/>
          <p:cNvSpPr/>
          <p:nvPr/>
        </p:nvSpPr>
        <p:spPr>
          <a:xfrm>
            <a:off x="6720840" y="53126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before any window can adapt. Primal-dual's worst-case guarantee shines — Req 3.</a:t>
            </a:r>
            <a:endParaRPr lang="en-US" sz="1100"/>
          </a:p>
        </p:txBody>
      </p:sp>
      <p:sp>
        <p:nvSpPr>
          <p:cNvPr id="94" name="Shape 92"/>
          <p:cNvSpPr/>
          <p:nvPr/>
        </p:nvSpPr>
        <p:spPr>
          <a:xfrm>
            <a:off x="6400800" y="5934456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5" name="Text 93"/>
          <p:cNvSpPr/>
          <p:nvPr/>
        </p:nvSpPr>
        <p:spPr>
          <a:xfrm>
            <a:off x="6720840" y="58613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diagonal</a:t>
            </a:r>
            <a:endParaRPr lang="en-US" sz="1200"/>
          </a:p>
        </p:txBody>
      </p:sp>
      <p:sp>
        <p:nvSpPr>
          <p:cNvPr id="96" name="Text 94"/>
          <p:cNvSpPr/>
          <p:nvPr/>
        </p:nvSpPr>
        <p:spPr>
          <a:xfrm>
            <a:off x="6720840" y="6153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one method overtakes the other. The most informative part of the plot.</a:t>
            </a:r>
            <a:endParaRPr lang="en-US" sz="1100"/>
          </a:p>
        </p:txBody>
      </p:sp>
      <p:sp>
        <p:nvSpPr>
          <p:cNvPr id="97" name="Text 95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plot tells the whole story: the regime where best-of-both-worlds guarantees actually pay off.</a:t>
            </a:r>
            <a:endParaRPr lang="en-US" sz="1200"/>
          </a:p>
        </p:txBody>
      </p:sp>
      <p:sp>
        <p:nvSpPr>
          <p:cNvPr id="98" name="Accent Bar">
            <a:extLst>
              <a:ext uri="{FF2B5EF4-FFF2-40B4-BE49-F238E27FC236}">
                <a16:creationId xmlns:a16="http://schemas.microsoft.com/office/drawing/2014/main" id="{B5739833-D5D5-4AAD-B6EB-FFE606BA2DD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C15F-0BD7-8A49-906D-912D60688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97100"/>
            <a:ext cx="10515600" cy="2857500"/>
          </a:xfrm>
        </p:spPr>
        <p:txBody>
          <a:bodyPr anchor="t"/>
          <a:lstStyle/>
          <a:p>
            <a:pPr algn="l"/>
            <a:r>
              <a:rPr lang="it-IT" sz="4000" b="1" err="1">
                <a:solidFill>
                  <a:srgbClr val="1B2A4A"/>
                </a:solidFill>
                <a:latin typeface="Calibri"/>
              </a:rPr>
              <a:t>Requirement</a:t>
            </a:r>
            <a:r>
              <a:rPr lang="it-IT" sz="4000" b="1">
                <a:solidFill>
                  <a:srgbClr val="1B2A4A"/>
                </a:solidFill>
                <a:latin typeface="Calibri"/>
              </a:rPr>
              <a:t> 3: </a:t>
            </a:r>
            <a:r>
              <a:rPr lang="it-IT" sz="4000" b="1" err="1">
                <a:solidFill>
                  <a:srgbClr val="1B2A4A"/>
                </a:solidFill>
                <a:latin typeface="Calibri"/>
              </a:rPr>
              <a:t>Primal</a:t>
            </a:r>
            <a:r>
              <a:rPr lang="it-IT" sz="4000" b="1">
                <a:solidFill>
                  <a:srgbClr val="1B2A4A"/>
                </a:solidFill>
                <a:latin typeface="Calibri"/>
              </a:rPr>
              <a:t> Dual</a:t>
            </a: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315EBA9D-5F9D-4A52-B641-C1E0E4A8387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8" name="Kicker"/>
          <p:cNvSpPr txBox="1"/>
          <p:nvPr/>
        </p:nvSpPr>
        <p:spPr>
          <a:xfrm>
            <a:off x="838200" y="1739900"/>
            <a:ext cx="10515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300" b="1">
                <a:solidFill>
                  <a:srgbClr val="2E86AB"/>
                </a:solidFill>
                <a:latin typeface="Calibri"/>
              </a:rPr>
              <a:t>REQUIREMENT 3</a:t>
            </a:r>
          </a:p>
        </p:txBody>
      </p:sp>
    </p:spTree>
    <p:extLst>
      <p:ext uri="{BB962C8B-B14F-4D97-AF65-F5344CB8AC3E}">
        <p14:creationId xmlns:p14="http://schemas.microsoft.com/office/powerpoint/2010/main" val="430309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Shared non-stationary market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sKL controls how different regimes are; frequency controls how often the regime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98448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73152" cy="1353312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44751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Three Gaussian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98448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298448"/>
            <a:ext cx="73152" cy="1353312"/>
          </a:xfrm>
          <a:prstGeom prst="rect">
            <a:avLst/>
          </a:prstGeom>
          <a:solidFill>
            <a:srgbClr val="0F9ED5"/>
          </a:solidFill>
          <a:ln>
            <a:solidFill>
              <a:srgbClr val="0F9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444751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Separation between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99232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999232"/>
            <a:ext cx="73152" cy="1353312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145536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Stochastic mode switching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999232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2" y="2999232"/>
            <a:ext cx="73152" cy="13533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3145536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4. Freeze the realized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1792224"/>
            <a:ext cx="4343400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∈ {0, 1, 2},    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~ N(μ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zₜ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Σ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zₜ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176272"/>
            <a:ext cx="43434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mode is a 5-dimensional distribution of competing bids.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792224"/>
            <a:ext cx="4315968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sKL(P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a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P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b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∈ {20, 200, 500}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176272"/>
            <a:ext cx="43159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Larger sKL means a more visible distribution shift.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493008"/>
            <a:ext cx="4343400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Pr(z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≠ 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t−1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= 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877056"/>
            <a:ext cx="43434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 = 1/1500, 1/200, or 1/25; larger p gives more change points.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493008"/>
            <a:ext cx="4315968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M = [m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1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..., 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]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⊤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∈ [0, 1]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3000×5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877056"/>
            <a:ext cx="43159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Once sampled, this exact matrix is reused by every algorithm.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36592"/>
            <a:ext cx="10561320" cy="1078992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4901184"/>
            <a:ext cx="123444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EXAMPLE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5148072"/>
            <a:ext cx="1874519" cy="38404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31720" y="5157216"/>
            <a:ext cx="1874519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5148072"/>
            <a:ext cx="1481328" cy="384048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15968" y="5157216"/>
            <a:ext cx="1481328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7024" y="5148072"/>
            <a:ext cx="2057400" cy="384048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07024" y="5157216"/>
            <a:ext cx="205740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5148072"/>
            <a:ext cx="2103120" cy="38404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74152" y="5157216"/>
            <a:ext cx="210312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5184648"/>
            <a:ext cx="64008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round</a:t>
            </a:r>
          </a:p>
        </p:txBody>
      </p:sp>
      <p:sp>
        <p:nvSpPr>
          <p:cNvPr id="37" name="Accent Bar">
            <a:extLst>
              <a:ext uri="{FF2B5EF4-FFF2-40B4-BE49-F238E27FC236}">
                <a16:creationId xmlns:a16="http://schemas.microsoft.com/office/drawing/2014/main" id="{7AF90E15-FBAF-434E-840E-99760CE64DB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2059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61288" y="4643812"/>
                <a:ext cx="1024128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1200" b="1">
                    <a:solidFill>
                      <a:srgbClr val="2E86AB"/>
                    </a:solidFill>
                    <a:latin typeface="Aptos"/>
                  </a:defRPr>
                </a:pPr>
                <a:r>
                  <a:rPr lang="en-US"/>
                  <a:t>The learner receives the precomputed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ar-AE"/>
                  <a:t> </a:t>
                </a:r>
                <a:r>
                  <a:rPr lang="en-US"/>
                  <a:t>sequence; learner randomness does not regenerate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ar-AE"/>
                  <a:t> </a:t>
                </a:r>
                <a:r>
                  <a:rPr lang="en-US"/>
                  <a:t>or the market stream.</a:t>
                </a:r>
                <a:endParaRPr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88" y="4643812"/>
                <a:ext cx="10241280" cy="276999"/>
              </a:xfrm>
              <a:prstGeom prst="rect">
                <a:avLst/>
              </a:prstGeom>
              <a:blipFill>
                <a:blip r:embed="rId3"/>
                <a:stretch>
                  <a:fillRect l="-60" t="-222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D273F"/>
                </a:solidFill>
                <a:latin typeface="Aptos"/>
              </a:rPr>
              <a:t>Experiment setting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93268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F7089"/>
                </a:solidFill>
                <a:latin typeface="Aptos"/>
              </a:rPr>
              <a:t>Fixed parameters and the 3 x 3 grid used for the Req3 empirical evaluation.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1417320"/>
            <a:ext cx="2514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1600200"/>
            <a:ext cx="2112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2E86AB"/>
                </a:solidFill>
                <a:latin typeface="Aptos"/>
              </a:rPr>
              <a:t>SHARED 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1892808"/>
            <a:ext cx="21122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T=3000, N=5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2350008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5F7089"/>
                </a:solidFill>
                <a:latin typeface="Aptos"/>
              </a:rPr>
              <a:t>B=2500; 11 bid levels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1568" y="1417320"/>
            <a:ext cx="2514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02736" y="1600200"/>
            <a:ext cx="2112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2896E"/>
                </a:solidFill>
                <a:latin typeface="Aptos"/>
              </a:rPr>
              <a:t>SEPARATION SKL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2736" y="1892808"/>
            <a:ext cx="21122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D273F"/>
                </a:solidFill>
                <a:latin typeface="Aptos"/>
              </a:rPr>
              <a:t>20 / 200 / 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2736" y="2350008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5F7089"/>
                </a:solidFill>
                <a:latin typeface="Aptos"/>
              </a:rPr>
              <a:t>low, medium, high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1417320"/>
            <a:ext cx="2514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45936" y="1600200"/>
            <a:ext cx="2112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EB6F14"/>
                </a:solidFill>
                <a:latin typeface="Aptos"/>
              </a:rPr>
              <a:t>CHANGE PROB. 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1892808"/>
            <a:ext cx="21122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D273F"/>
                </a:solidFill>
                <a:latin typeface="Aptos"/>
              </a:rPr>
              <a:t>1/1500 / 1/200 / 1/25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2350008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5F7089"/>
                </a:solidFill>
                <a:latin typeface="Aptos"/>
              </a:rPr>
              <a:t>low, medium, high frequency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87968" y="1417320"/>
            <a:ext cx="2514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89136" y="1600200"/>
            <a:ext cx="2112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2896E"/>
                </a:solidFill>
                <a:latin typeface="Aptos"/>
              </a:rPr>
              <a:t>REPLICATIONS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9136" y="1892808"/>
            <a:ext cx="21122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D273F"/>
                </a:solidFill>
                <a:latin typeface="Aptos"/>
              </a:rPr>
              <a:t>R=10 per cell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9136" y="2350008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5F7089"/>
                </a:solidFill>
                <a:latin typeface="Aptos"/>
              </a:rPr>
              <a:t>90 runs in total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" y="2788920"/>
            <a:ext cx="9996856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79576" y="30632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D273F"/>
                </a:solidFill>
                <a:latin typeface="Aptos"/>
              </a:rPr>
              <a:t>3 x 3 experimental grid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3081528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5F7089"/>
                </a:solidFill>
                <a:latin typeface="Aptos"/>
              </a:rPr>
              <a:t>One cell = one setting with 10 shared realizations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05456" y="3200400"/>
            <a:ext cx="589787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2896E"/>
                </a:solidFill>
                <a:latin typeface="Aptos"/>
              </a:rPr>
              <a:t>Symmetric KL separation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05456" y="3584448"/>
            <a:ext cx="1911095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505456" y="3730752"/>
            <a:ext cx="1911095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D273F"/>
                </a:solidFill>
                <a:latin typeface="Aptos"/>
              </a:rPr>
              <a:t>sKL 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71416" y="3584448"/>
            <a:ext cx="1911095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71416" y="3730752"/>
            <a:ext cx="1911095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D273F"/>
                </a:solidFill>
                <a:latin typeface="Aptos"/>
              </a:rPr>
              <a:t>sKL 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37376" y="3584448"/>
            <a:ext cx="1911095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37376" y="3730752"/>
            <a:ext cx="1911095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D273F"/>
                </a:solidFill>
                <a:latin typeface="Aptos"/>
              </a:rPr>
              <a:t>sKL 500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71016" y="4078224"/>
            <a:ext cx="1179576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44168" y="4169664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0D273F"/>
                </a:solidFill>
                <a:latin typeface="Aptos"/>
              </a:rPr>
              <a:t>p = 1/1500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44168" y="435254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0">
                <a:solidFill>
                  <a:srgbClr val="5F7089"/>
                </a:solidFill>
                <a:latin typeface="Aptos"/>
              </a:rPr>
              <a:t>low frequency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05456" y="4078224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505456" y="4224528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71416" y="4078224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71416" y="4224528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37376" y="4078224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37376" y="4224528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71016" y="4572000"/>
            <a:ext cx="1179576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344168" y="4663440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0D273F"/>
                </a:solidFill>
                <a:latin typeface="Aptos"/>
              </a:rPr>
              <a:t>p = 1/200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44168" y="484632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0">
                <a:solidFill>
                  <a:srgbClr val="5F7089"/>
                </a:solidFill>
                <a:latin typeface="Aptos"/>
              </a:rPr>
              <a:t>medium frequency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05456" y="4572000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505456" y="4718304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71416" y="4572000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471416" y="4718304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37376" y="4572000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37376" y="4718304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71016" y="5065776"/>
            <a:ext cx="1179576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344168" y="51572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0D273F"/>
                </a:solidFill>
                <a:latin typeface="Aptos"/>
              </a:rPr>
              <a:t>p = 1/25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44168" y="5340096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0">
                <a:solidFill>
                  <a:srgbClr val="5F7089"/>
                </a:solidFill>
                <a:latin typeface="Aptos"/>
              </a:rPr>
              <a:t>high frequency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05456" y="5065776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505456" y="5212080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71416" y="5065776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471416" y="5212080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37376" y="5065776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37376" y="5212080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58368" y="6053328"/>
            <a:ext cx="10744200" cy="411480"/>
          </a:xfrm>
          <a:prstGeom prst="round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6112" y="6144768"/>
            <a:ext cx="10287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80" b="1">
                <a:solidFill>
                  <a:srgbClr val="2E86AB"/>
                </a:solidFill>
                <a:latin typeface="Aptos"/>
              </a:rPr>
              <a:t>The grid is designed to separate the effect of regime separation from the effect of change frequency.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F7089"/>
                </a:solidFill>
                <a:latin typeface="Aptos"/>
              </a:rPr>
              <a:t>3</a:t>
            </a:r>
          </a:p>
        </p:txBody>
      </p:sp>
      <p:sp>
        <p:nvSpPr>
          <p:cNvPr id="2" name="Accent Bar">
            <a:extLst>
              <a:ext uri="{FF2B5EF4-FFF2-40B4-BE49-F238E27FC236}">
                <a16:creationId xmlns:a16="http://schemas.microsoft.com/office/drawing/2014/main" id="{E55FD57B-4D0D-4C76-867E-4E33357B1A4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4515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3E61-23FF-1349-35B8-8FB47EE0B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FEEBD5-A3D9-DAF2-B982-D6A66B6B5A3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01570-9BCE-32B3-F32D-83C430C6C809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7D167-456C-4579-E85D-C85B07A29533}"/>
              </a:ext>
            </a:extLst>
          </p:cNvPr>
          <p:cNvSpPr txBox="1"/>
          <p:nvPr/>
        </p:nvSpPr>
        <p:spPr>
          <a:xfrm>
            <a:off x="6035040" y="296325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E86AB"/>
                </a:solidFill>
                <a:latin typeface="Calibri"/>
              </a:rPr>
              <a:t>ONLINE LEARNING APPLICATIONS  ·  REQUIREMENT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C86D1-4A59-B10B-FC01-6C46B0EEC29D}"/>
              </a:ext>
            </a:extLst>
          </p:cNvPr>
          <p:cNvSpPr txBox="1"/>
          <p:nvPr/>
        </p:nvSpPr>
        <p:spPr>
          <a:xfrm>
            <a:off x="551516" y="200420"/>
            <a:ext cx="50901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>
                <a:solidFill>
                  <a:srgbClr val="1B2A4A"/>
                </a:solidFill>
                <a:latin typeface="Calibri"/>
              </a:rPr>
              <a:t>Case 1: Low Frequency Low SKL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EBD62-0A67-214B-289F-27819025237C}"/>
              </a:ext>
            </a:extLst>
          </p:cNvPr>
          <p:cNvSpPr txBox="1"/>
          <p:nvPr/>
        </p:nvSpPr>
        <p:spPr>
          <a:xfrm>
            <a:off x="10058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6B7480"/>
                </a:solidFill>
                <a:latin typeface="Consolas"/>
              </a:rPr>
              <a:t>ola/environments/non_stationary.py  ·  ola/utils/constellation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8BB08-CF4A-81AA-04E6-C7D2CB159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286447"/>
            <a:ext cx="11744960" cy="4095552"/>
          </a:xfrm>
          <a:prstGeom prst="rect">
            <a:avLst/>
          </a:prstGeom>
        </p:spPr>
      </p:pic>
      <p:sp>
        <p:nvSpPr>
          <p:cNvPr id="6" name="Accent Bar">
            <a:extLst>
              <a:ext uri="{FF2B5EF4-FFF2-40B4-BE49-F238E27FC236}">
                <a16:creationId xmlns:a16="http://schemas.microsoft.com/office/drawing/2014/main" id="{82B9BE65-1605-4B20-A4C3-2A2F02D364A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10113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B3C1-9D75-D824-C809-66D403A2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B50248-A536-C7F4-0B6C-400F55845DE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02633-9642-46FD-D5DA-B2BB9DCC19A6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F153C-5EF6-52BB-4391-035EE02D55FA}"/>
              </a:ext>
            </a:extLst>
          </p:cNvPr>
          <p:cNvSpPr txBox="1"/>
          <p:nvPr/>
        </p:nvSpPr>
        <p:spPr>
          <a:xfrm>
            <a:off x="7675060" y="323530"/>
            <a:ext cx="803492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E86AB"/>
                </a:solidFill>
                <a:latin typeface="Calibri"/>
              </a:rPr>
              <a:t>ONLINE LEARNING APPLICATIONS  ·  REQUIREMENT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1B1CA-8493-422F-0388-EBBCD9403767}"/>
              </a:ext>
            </a:extLst>
          </p:cNvPr>
          <p:cNvSpPr txBox="1"/>
          <p:nvPr/>
        </p:nvSpPr>
        <p:spPr>
          <a:xfrm>
            <a:off x="551515" y="200420"/>
            <a:ext cx="712354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>
                <a:solidFill>
                  <a:srgbClr val="1B2A4A"/>
                </a:solidFill>
                <a:latin typeface="Calibri"/>
              </a:rPr>
              <a:t>Case 4: Medium Frequency Medium SKL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3BFA6-8AE8-2348-404A-26501860A44B}"/>
              </a:ext>
            </a:extLst>
          </p:cNvPr>
          <p:cNvSpPr txBox="1"/>
          <p:nvPr/>
        </p:nvSpPr>
        <p:spPr>
          <a:xfrm>
            <a:off x="10058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6B7480"/>
                </a:solidFill>
                <a:latin typeface="Consolas"/>
              </a:rPr>
              <a:t>ola/environments/non_stationary.py  ·  ola/utils/constellation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88C2C6-A729-8A55-ACD3-B89ECC282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420195"/>
            <a:ext cx="11856720" cy="4134523"/>
          </a:xfrm>
          <a:prstGeom prst="rect">
            <a:avLst/>
          </a:prstGeom>
        </p:spPr>
      </p:pic>
      <p:sp>
        <p:nvSpPr>
          <p:cNvPr id="6" name="Accent Bar">
            <a:extLst>
              <a:ext uri="{FF2B5EF4-FFF2-40B4-BE49-F238E27FC236}">
                <a16:creationId xmlns:a16="http://schemas.microsoft.com/office/drawing/2014/main" id="{F2CC9CBA-403D-481E-8547-25844A6BD02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609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11E5-41E6-1EE9-87AB-6EBE63C8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B5CC37-F8F5-2ECE-423B-906A655FBBF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2CB31-49C9-F7E8-312F-B339D0FA7EC0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40412-539A-069A-0C62-ED0E858890A4}"/>
              </a:ext>
            </a:extLst>
          </p:cNvPr>
          <p:cNvSpPr txBox="1"/>
          <p:nvPr/>
        </p:nvSpPr>
        <p:spPr>
          <a:xfrm>
            <a:off x="6035040" y="296325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E86AB"/>
                </a:solidFill>
                <a:latin typeface="Calibri"/>
              </a:rPr>
              <a:t>ONLINE LEARNING APPLICATIONS  ·  REQUIREMENT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F5F78-90E4-6BCB-76ED-5CF45BF228A8}"/>
              </a:ext>
            </a:extLst>
          </p:cNvPr>
          <p:cNvSpPr txBox="1"/>
          <p:nvPr/>
        </p:nvSpPr>
        <p:spPr>
          <a:xfrm>
            <a:off x="551515" y="200420"/>
            <a:ext cx="543632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>
                <a:solidFill>
                  <a:srgbClr val="1B2A4A"/>
                </a:solidFill>
                <a:latin typeface="Calibri"/>
              </a:rPr>
              <a:t>Case 9: High Frequency High SKL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C5255B-CD0D-E1AE-17F3-67C095BF2D71}"/>
              </a:ext>
            </a:extLst>
          </p:cNvPr>
          <p:cNvSpPr txBox="1"/>
          <p:nvPr/>
        </p:nvSpPr>
        <p:spPr>
          <a:xfrm>
            <a:off x="10058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6B7480"/>
                </a:solidFill>
                <a:latin typeface="Consolas"/>
              </a:rPr>
              <a:t>ola/environments/non_stationary.py  ·  ola/utils/constellation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5667B9-300C-195A-3CDC-71024F00A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15" y="1521035"/>
            <a:ext cx="11399520" cy="3975095"/>
          </a:xfrm>
          <a:prstGeom prst="rect">
            <a:avLst/>
          </a:prstGeom>
        </p:spPr>
      </p:pic>
      <p:sp>
        <p:nvSpPr>
          <p:cNvPr id="6" name="Accent Bar">
            <a:extLst>
              <a:ext uri="{FF2B5EF4-FFF2-40B4-BE49-F238E27FC236}">
                <a16:creationId xmlns:a16="http://schemas.microsoft.com/office/drawing/2014/main" id="{6A8107DB-BC10-42A3-9CE6-0A67777C151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8634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273F"/>
                </a:solidFill>
                <a:latin typeface="Aptos"/>
              </a:rPr>
              <a:t>Algorithm: factorized primal-dual Hedge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7089"/>
                </a:solidFill>
                <a:latin typeface="Aptos"/>
              </a:rPr>
              <a:t>Hedge-style primal update with a projected dual price for the budget constraint.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7452360" cy="5074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115568" cy="274320"/>
          </a:xfrm>
          <a:prstGeom prst="roundRect">
            <a:avLst/>
          </a:prstGeom>
          <a:solidFill>
            <a:srgbClr val="306DF6"/>
          </a:solidFill>
          <a:ln w="17780">
            <a:solidFill>
              <a:srgbClr val="30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1155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1499616"/>
            <a:ext cx="5349240" cy="166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7089"/>
                </a:solidFill>
                <a:latin typeface="Aptos"/>
              </a:rPr>
              <a:t>Input: feasible super-arms</a:t>
            </a:r>
            <a:r>
              <a:rPr lang="en-US" sz="1080" b="0">
                <a:solidFill>
                  <a:srgbClr val="5F7089"/>
                </a:solidFill>
                <a:latin typeface="Aptos"/>
              </a:rPr>
              <a:t> set</a:t>
            </a:r>
            <a:r>
              <a:rPr sz="1080" b="0">
                <a:solidFill>
                  <a:srgbClr val="5F7089"/>
                </a:solidFill>
                <a:latin typeface="Aptos"/>
              </a:rPr>
              <a:t> 𝒜, bid grid 𝒢, budget B, rates η and </a:t>
            </a:r>
            <a:r>
              <a:rPr sz="1080" b="0" err="1">
                <a:solidFill>
                  <a:srgbClr val="5F7089"/>
                </a:solidFill>
                <a:latin typeface="Aptos"/>
              </a:rPr>
              <a:t>ηλ</a:t>
            </a:r>
            <a:endParaRPr sz="1080" b="0">
              <a:solidFill>
                <a:srgbClr val="5F7089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877824" y="1911096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6403" y="1961388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1938528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02A38"/>
                </a:solidFill>
                <a:latin typeface="Aptos"/>
              </a:rPr>
              <a:t>Initialize q₁(S)=1/|𝒜|, p₁,ᵢ(g)=1/|𝒢|, and λ₁=0.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331720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6403" y="2382012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359152"/>
            <a:ext cx="6172200" cy="1723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>
                <a:solidFill>
                  <a:srgbClr val="0D273F"/>
                </a:solidFill>
                <a:latin typeface="Aptos"/>
              </a:rPr>
              <a:t>For each round t = 1 to T: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" y="2752344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3" y="2802636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779776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02A38"/>
                </a:solidFill>
                <a:latin typeface="Aptos"/>
              </a:rPr>
              <a:t>Draw Sₜ ~ qₜ and bids gₜ,ᵢ ~ pₜ,ᵢ for active campaigns i ∈ Sₜ.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3172968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3" y="3223260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00400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02A38"/>
                </a:solidFill>
                <a:latin typeface="Aptos"/>
              </a:rPr>
              <a:t>Observe the full market vector mₜ and evaluate every campaign-bid arm.</a:t>
            </a:r>
          </a:p>
        </p:txBody>
      </p:sp>
      <p:sp>
        <p:nvSpPr>
          <p:cNvPr id="21" name="Oval 20"/>
          <p:cNvSpPr/>
          <p:nvPr/>
        </p:nvSpPr>
        <p:spPr>
          <a:xfrm>
            <a:off x="877824" y="3593592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3" y="3643884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621024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0D273F"/>
                </a:solidFill>
                <a:latin typeface="Aptos"/>
              </a:rPr>
              <a:t>Compute Lagrangian scores:  zₜ,ᵢ(g) = uₜ,ᵢ(g) − λₜ cₜ,ᵢ(g).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" y="4014215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3" y="4064508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4041648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0D273F"/>
                </a:solidFill>
                <a:latin typeface="Aptos"/>
              </a:rPr>
              <a:t>Aggregate super-arm score:  Zₜ(S) = ∑ᵢ∈S z̄ₜ,ᵢ.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" y="4434840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3" y="4485132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4462272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06DF6"/>
                </a:solidFill>
                <a:latin typeface="Aptos"/>
              </a:rPr>
              <a:t>Hedge update:  qₜ₊₁(S) ∝ qₜ(S) exp(η Zₜ(S)).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" y="4855464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6403" y="4905756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3584" y="4882896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06DF6"/>
                </a:solidFill>
                <a:latin typeface="Aptos"/>
              </a:rPr>
              <a:t>Bid update:  pₜ₊₁,ᵢ(g) ∝ pₜ,ᵢ(g) exp(η zₜ,ᵢ(g)).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" y="5276088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6403" y="5326380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3584" y="5303520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EB6F14"/>
                </a:solidFill>
                <a:latin typeface="Aptos"/>
              </a:rPr>
              <a:t>Dual update:  λₜ₊₁ = Π[0,1/ρ](λₜ + ηλ(Cₜ − ρ)), with ρ=B/T.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" y="5696712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6403" y="5747004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3584" y="5724144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7C3AED"/>
                </a:solidFill>
                <a:latin typeface="Aptos"/>
              </a:rPr>
              <a:t>Apply the remaining-budget filter before the next draw.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1298448"/>
            <a:ext cx="315468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149047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6DF6"/>
                </a:solidFill>
                <a:latin typeface="Aptos"/>
              </a:rPr>
              <a:t>Primal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1828800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02A38"/>
                </a:solidFill>
                <a:latin typeface="Aptos"/>
              </a:rPr>
              <a:t>Same idea as Hedge in the lectures: normalize weights, then multiply by an exponential score factor.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02752" y="2578608"/>
            <a:ext cx="3154680" cy="12252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27706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B6F14"/>
                </a:solidFill>
                <a:latin typeface="Aptos"/>
              </a:rPr>
              <a:t>Dual 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3108960"/>
            <a:ext cx="2697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02A38"/>
                </a:solidFill>
                <a:latin typeface="Aptos"/>
              </a:rPr>
              <a:t>Projected gradient step on the budget multiplier. If spending exceeds the target pace ρ, λ increases.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4005072"/>
            <a:ext cx="3154680" cy="12252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20" y="419709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896E"/>
                </a:solidFill>
                <a:latin typeface="Aptos"/>
              </a:rPr>
              <a:t>Full feedback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535424"/>
            <a:ext cx="2697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02A38"/>
                </a:solidFill>
                <a:latin typeface="Aptos"/>
              </a:rPr>
              <a:t>Because mₜ is observed, all campaign-bid scores are available. No EXP3 importance-weighted estimator is needed.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02752" y="5431536"/>
            <a:ext cx="3154680" cy="6400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0" y="555955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5F7089"/>
                </a:solidFill>
                <a:latin typeface="Aptos"/>
              </a:rPr>
              <a:t>z̄ₜ,ᵢ is the bid-level score summarized for campaign i when updating the super-arm distribution.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6437376"/>
            <a:ext cx="10863072" cy="246888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4672" y="6487668"/>
            <a:ext cx="1045159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10" b="1">
                <a:solidFill>
                  <a:srgbClr val="7C3AED"/>
                </a:solidFill>
                <a:latin typeface="Aptos"/>
              </a:rPr>
              <a:t>The hard filter is a safety layer; the learning rule is the Hedge primal update plus projected dual update.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>
                <a:solidFill>
                  <a:srgbClr val="5F7089"/>
                </a:solidFill>
                <a:latin typeface="Aptos"/>
              </a:rPr>
              <a:t>7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0531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D273F"/>
                </a:solidFill>
                <a:latin typeface="Aptos"/>
              </a:rPr>
              <a:t>High frequency / high sKL: OPT-A regret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7089"/>
                </a:solidFill>
                <a:latin typeface="Aptos"/>
              </a:rPr>
              <a:t>Same setting as diagnostic plot; piecewise is the main benchmark and OPT-A is a small theory check.</a:t>
            </a:r>
          </a:p>
        </p:txBody>
      </p:sp>
      <p:pic>
        <p:nvPicPr>
          <p:cNvPr id="5" name="Picture 4" descr="high_frequency_high_skl_opt_a_reg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498079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353312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31352" y="1481328"/>
            <a:ext cx="1088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1">
                <a:solidFill>
                  <a:srgbClr val="EB6F14"/>
                </a:solidFill>
                <a:latin typeface="Aptos"/>
              </a:rPr>
              <a:t>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1352" y="1773936"/>
            <a:ext cx="10881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131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1352" y="2176272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5F7089"/>
                </a:solidFill>
                <a:latin typeface="Aptos"/>
              </a:rPr>
              <a:t>short regimes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353312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31552" y="1481328"/>
            <a:ext cx="1088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1">
                <a:solidFill>
                  <a:srgbClr val="7C3AED"/>
                </a:solidFill>
                <a:latin typeface="Aptos"/>
              </a:rPr>
              <a:t>PIECEWISE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1552" y="1773936"/>
            <a:ext cx="10881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1,603.3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1552" y="2176272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5F7089"/>
                </a:solidFill>
                <a:latin typeface="Aptos"/>
              </a:rPr>
              <a:t>final regret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542032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352" y="2670048"/>
            <a:ext cx="1088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1">
                <a:solidFill>
                  <a:srgbClr val="306DF6"/>
                </a:solidFill>
                <a:latin typeface="Aptos"/>
              </a:rPr>
              <a:t>OPT-A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962656"/>
            <a:ext cx="10881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187.9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364991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5F7089"/>
                </a:solidFill>
                <a:latin typeface="Aptos"/>
              </a:rPr>
              <a:t>final regret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542032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31552" y="2670048"/>
            <a:ext cx="1088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1">
                <a:solidFill>
                  <a:srgbClr val="12896E"/>
                </a:solidFill>
                <a:latin typeface="Aptos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1552" y="2962656"/>
            <a:ext cx="10881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1,865.0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3364991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5F7089"/>
                </a:solidFill>
                <a:latin typeface="Aptos"/>
              </a:rPr>
              <a:t>below B=2500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822191"/>
            <a:ext cx="301752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7072" y="4005072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273F"/>
                </a:solidFill>
                <a:latin typeface="Aptos"/>
              </a:rPr>
              <a:t>Benchmark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3603" y="4343399"/>
            <a:ext cx="26517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202A38"/>
                </a:solidFill>
                <a:latin typeface="Aptos"/>
              </a:rPr>
              <a:t>Piecewise can switch to the best feasible super-arm in each regime. OPT-A chooses one fixed randomized action after the full sequence, so it cannot switch across regimes.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13248"/>
            <a:ext cx="10744200" cy="713232"/>
          </a:xfrm>
          <a:prstGeom prst="round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532120"/>
            <a:ext cx="10314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>
                <a:solidFill>
                  <a:srgbClr val="306DF6"/>
                </a:solidFill>
                <a:latin typeface="Aptos"/>
              </a:rPr>
              <a:t>Large piecewise regret comes from chasing many short-regime optima, not from budget violation; OPT-A is smaller because its comparator is fixed.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7089"/>
                </a:solidFill>
                <a:latin typeface="Aptos"/>
              </a:rPr>
              <a:t>28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31643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Utility and regret across the full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cell is a mean over 10 shared realizations; uncertainty is shown in the detailed diagnostics.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13</a:t>
            </a:r>
          </a:p>
        </p:txBody>
      </p:sp>
      <p:pic>
        <p:nvPicPr>
          <p:cNvPr id="6" name="Picture 5" descr="sensitivity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35640" cy="5166360"/>
          </a:xfrm>
          <a:prstGeom prst="rect">
            <a:avLst/>
          </a:prstGeom>
        </p:spPr>
      </p:pic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8013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Budget feasibility in every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hard filter keeps realized cumulative cost at or below B=2500 in all 90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14</a:t>
            </a:r>
          </a:p>
        </p:txBody>
      </p:sp>
      <p:pic>
        <p:nvPicPr>
          <p:cNvPr id="6" name="Picture 5" descr="budget_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5880"/>
            <a:ext cx="69494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66760" y="15087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6184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6856B"/>
                </a:solidFill>
                <a:latin typeface="Aptos"/>
              </a:defRPr>
            </a:pPr>
            <a:r>
              <a:t>MAXIMUM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9019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2,499.90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8803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29900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MINIMUM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2735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1,283.10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42519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43616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VIOLATIONS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6451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0 / 90</a:t>
            </a:r>
          </a:p>
        </p:txBody>
      </p:sp>
      <p:sp>
        <p:nvSpPr>
          <p:cNvPr id="97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17979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5960-6715-1E49-7E1C-ACFA7620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100"/>
            <a:ext cx="10515600" cy="825500"/>
          </a:xfrm>
        </p:spPr>
        <p:txBody>
          <a:bodyPr anchor="t"/>
          <a:lstStyle/>
          <a:p>
            <a:pPr algn="l"/>
            <a:r>
              <a:rPr lang="it-IT" sz="4000" b="1" err="1">
                <a:solidFill>
                  <a:srgbClr val="1B2A4A"/>
                </a:solidFill>
                <a:latin typeface="Calibri"/>
              </a:rPr>
              <a:t>Req</a:t>
            </a:r>
            <a:r>
              <a:rPr lang="it-IT" sz="4000" b="1">
                <a:solidFill>
                  <a:srgbClr val="1B2A4A"/>
                </a:solidFill>
                <a:latin typeface="Calibri"/>
              </a:rPr>
              <a:t> 4: </a:t>
            </a:r>
            <a:r>
              <a:rPr lang="it-IT" sz="4000" b="1" err="1">
                <a:solidFill>
                  <a:srgbClr val="1B2A4A"/>
                </a:solidFill>
                <a:latin typeface="Calibri"/>
              </a:rPr>
              <a:t>Slightly</a:t>
            </a:r>
            <a:r>
              <a:rPr lang="it-IT" sz="4000" b="1">
                <a:solidFill>
                  <a:srgbClr val="1B2A4A"/>
                </a:solidFill>
                <a:latin typeface="Calibri"/>
              </a:rPr>
              <a:t> NSE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A3F56-6C04-5FD8-12E0-18A144EF7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111500"/>
            <a:ext cx="10515600" cy="762000"/>
          </a:xfrm>
        </p:spPr>
        <p:txBody>
          <a:bodyPr anchor="t"/>
          <a:lstStyle/>
          <a:p>
            <a:pPr algn="l"/>
            <a:r>
              <a:rPr lang="it-IT" sz="1800" b="0" i="1">
                <a:solidFill>
                  <a:srgbClr val="5A6B76"/>
                </a:solidFill>
                <a:latin typeface="Calibri"/>
              </a:rPr>
              <a:t>Sliding window and Change </a:t>
            </a:r>
            <a:r>
              <a:rPr lang="it-IT" sz="1800" b="0" i="1" err="1">
                <a:solidFill>
                  <a:srgbClr val="5A6B76"/>
                </a:solidFill>
                <a:latin typeface="Calibri"/>
              </a:rPr>
              <a:t>detection</a:t>
            </a:r>
            <a:r>
              <a:rPr lang="it-IT" sz="1800" b="0" i="1">
                <a:solidFill>
                  <a:srgbClr val="5A6B76"/>
                </a:solidFill>
                <a:latin typeface="Calibri"/>
              </a:rPr>
              <a:t> test</a:t>
            </a:r>
          </a:p>
        </p:txBody>
      </p:sp>
      <p:sp>
        <p:nvSpPr>
          <p:cNvPr id="90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8" name="Kicker"/>
          <p:cNvSpPr txBox="1"/>
          <p:nvPr/>
        </p:nvSpPr>
        <p:spPr>
          <a:xfrm>
            <a:off x="838200" y="1739900"/>
            <a:ext cx="10515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300" b="1">
                <a:solidFill>
                  <a:srgbClr val="2E86AB"/>
                </a:solidFill>
                <a:latin typeface="Calibri"/>
              </a:rPr>
              <a:t>REQUIREMENT 4</a:t>
            </a:r>
          </a:p>
        </p:txBody>
      </p:sp>
    </p:spTree>
    <p:extLst>
      <p:ext uri="{BB962C8B-B14F-4D97-AF65-F5344CB8AC3E}">
        <p14:creationId xmlns:p14="http://schemas.microsoft.com/office/powerpoint/2010/main" val="21142062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SLIGHTLY NON-STATIONARY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Combinatorial-UCB with Sliding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500" b="1" i="0">
                <a:solidFill>
                  <a:srgbClr val="E87A2B"/>
                </a:solidFill>
                <a:latin typeface="Calibri"/>
              </a:rPr>
              <a:t>The idea.  </a:t>
            </a:r>
            <a:r>
              <a:rPr sz="1500" b="0" i="0">
                <a:solidFill>
                  <a:srgbClr val="333A42"/>
                </a:solidFill>
                <a:latin typeface="Calibri"/>
              </a:rPr>
              <a:t>When the distribution of competing bids changes over time, old observations describe a regime that no longer holds. Standard Combinatorial-UCB averages over the whole history and adapts too slowly. SW-CUCB keeps the CUCB machinery but trusts only the most recent </a:t>
            </a:r>
            <a:r>
              <a:rPr sz="1500" b="1" i="1">
                <a:solidFill>
                  <a:srgbClr val="1B2A4A"/>
                </a:solidFill>
                <a:latin typeface="Consolas"/>
              </a:rPr>
              <a:t>W</a:t>
            </a:r>
            <a:r>
              <a:rPr sz="1500" b="0" i="0">
                <a:solidFill>
                  <a:srgbClr val="333A42"/>
                </a:solidFill>
                <a:latin typeface="Calibri"/>
              </a:rPr>
              <a:t> rounds.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78608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6446520" cy="266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B2A4A"/>
                </a:solidFill>
                <a:latin typeface="Calibri"/>
              </a:rPr>
              <a:t>Windowed estimates:  </a:t>
            </a:r>
            <a:r>
              <a:rPr sz="1450" b="0" i="0">
                <a:solidFill>
                  <a:srgbClr val="333A42"/>
                </a:solidFill>
                <a:latin typeface="Calibri"/>
              </a:rPr>
              <a:t>reward mean, cost mean and pull counts are computed from the last W rounds only; older observations are evicted as the window slides.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B2A4A"/>
                </a:solidFill>
                <a:latin typeface="Calibri"/>
              </a:rPr>
              <a:t>Windowed bonus:  </a:t>
            </a:r>
            <a:r>
              <a:rPr sz="1450" b="0" i="0">
                <a:solidFill>
                  <a:srgbClr val="333A42"/>
                </a:solidFill>
                <a:latin typeface="Calibri"/>
              </a:rPr>
              <a:t>the confidence width uses log(min(t, W)) instead of log(T) — exploration is calibrated to the data the window can hold.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B2A4A"/>
                </a:solidFill>
                <a:latin typeface="Calibri"/>
              </a:rPr>
              <a:t>Low exploration coefficient c:  </a:t>
            </a:r>
            <a:r>
              <a:rPr sz="1450" b="0" i="0">
                <a:solidFill>
                  <a:srgbClr val="333A42"/>
                </a:solidFill>
                <a:latin typeface="Calibri"/>
              </a:rPr>
              <a:t>set well below the classical 2.0. </a:t>
            </a:r>
            <a:r>
              <a:rPr lang="en-US" sz="1450">
                <a:solidFill>
                  <a:srgbClr val="333A42"/>
                </a:solidFill>
                <a:latin typeface="Calibri"/>
              </a:rPr>
              <a:t>Rewards values</a:t>
            </a:r>
            <a:r>
              <a:rPr sz="1450" b="0" i="0">
                <a:solidFill>
                  <a:srgbClr val="333A42"/>
                </a:solidFill>
                <a:latin typeface="Calibri"/>
              </a:rPr>
              <a:t> lie in [0, 1], so the standard bonus would dwarf the estimated means; a smaller c keeps the exploration term from always dominating the UCB, so the learner genuinely exploits — not only explores.</a:t>
            </a:r>
            <a:endParaRPr lang="it-IT" sz="1450" b="0" i="0">
              <a:solidFill>
                <a:srgbClr val="333A42"/>
              </a:solidFill>
              <a:latin typeface="Calibri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B2A4A"/>
                </a:solidFill>
                <a:latin typeface="Calibri"/>
              </a:rPr>
              <a:t>Passive adaptation to changes:  </a:t>
            </a:r>
            <a:r>
              <a:rPr sz="1450" b="0" i="0">
                <a:solidFill>
                  <a:srgbClr val="333A42"/>
                </a:solidFill>
                <a:latin typeface="Calibri"/>
              </a:rPr>
              <a:t>after a change, arms whose window empties get a wide optimistic bonus and are re-explored automatically — no explicit reset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578608"/>
            <a:ext cx="4160520" cy="214884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0376" y="2578608"/>
            <a:ext cx="3721608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Windowed exploration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350" b="0" i="0">
                <a:solidFill>
                  <a:srgbClr val="333A42"/>
                </a:solidFill>
                <a:latin typeface="Calibri"/>
              </a:rPr>
              <a:t>The exploration term of each arm's UCB estimate now uses only its last </a:t>
            </a:r>
            <a:r>
              <a:rPr sz="1350" b="1" i="1">
                <a:solidFill>
                  <a:srgbClr val="1B2A4A"/>
                </a:solidFill>
                <a:latin typeface="Consolas"/>
              </a:rPr>
              <a:t>W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 samples, not its full history: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250" b="1" i="0">
                <a:solidFill>
                  <a:srgbClr val="1B2A4A"/>
                </a:solidFill>
                <a:latin typeface="Consolas"/>
              </a:rPr>
              <a:t>UCB = μ̂ + √( c·log(min(t,W)) / n )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100" b="0" i="1">
                <a:solidFill>
                  <a:srgbClr val="6B7480"/>
                </a:solidFill>
                <a:latin typeface="Calibri"/>
              </a:rPr>
              <a:t>μ̂, n : mean &amp; pull count over the last W rounds     c : exploration coeff.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773168"/>
            <a:ext cx="4160520" cy="1481328"/>
          </a:xfrm>
          <a:prstGeom prst="roundRect">
            <a:avLst>
              <a:gd name="adj" fmla="val 6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483717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E87A2B"/>
                </a:solidFill>
                <a:latin typeface="Calibri"/>
              </a:rPr>
              <a:t>window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10235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B2A4A"/>
                </a:solidFill>
                <a:latin typeface="Consolas"/>
              </a:rPr>
              <a:t>W ≈ √T</a:t>
            </a:r>
            <a:r>
              <a:rPr sz="950" b="0" i="1">
                <a:solidFill>
                  <a:srgbClr val="6B7480"/>
                </a:solidFill>
                <a:latin typeface="Calibri"/>
              </a:rPr>
              <a:t>   default, number of changes unknown</a:t>
            </a:r>
          </a:p>
        </p:txBody>
      </p:sp>
      <p:pic>
        <p:nvPicPr>
          <p:cNvPr id="15" name="Picture 14" descr="win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5413248"/>
            <a:ext cx="1691640" cy="2589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64040" y="544982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0" i="1">
                <a:solidFill>
                  <a:srgbClr val="6B7480"/>
                </a:solidFill>
                <a:latin typeface="Calibri"/>
              </a:rPr>
              <a:t>from B, T, Υ_T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87044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0" i="1">
                <a:solidFill>
                  <a:srgbClr val="6B7480"/>
                </a:solidFill>
                <a:latin typeface="Calibri"/>
              </a:rPr>
              <a:t>too large → slow adaptation · too small → noisy estimates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ola/algorithms/sw_cucb.py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424A-C1E7-E3D1-ABE6-97EC740A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DB0886-10C9-DF88-6F85-8CC8FFDE8A9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7A001-827F-E873-F600-942E05236D2D}"/>
              </a:ext>
            </a:extLst>
          </p:cNvPr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SLIGHTLY NON-STATIONARY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8A0C9-C7A1-093A-5C22-444231C2505B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>
                <a:solidFill>
                  <a:srgbClr val="1B2A4A"/>
                </a:solidFill>
                <a:latin typeface="Calibri"/>
              </a:rPr>
              <a:t>Experiments Environments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EF1B88-7570-5EF3-3372-72BB3F8F3E64}"/>
              </a:ext>
            </a:extLst>
          </p:cNvPr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0C8E6-DD03-E26A-B066-A01210A63AED}"/>
              </a:ext>
            </a:extLst>
          </p:cNvPr>
          <p:cNvSpPr txBox="1"/>
          <p:nvPr/>
        </p:nvSpPr>
        <p:spPr>
          <a:xfrm>
            <a:off x="658368" y="1684020"/>
            <a:ext cx="64922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700" b="1">
                <a:solidFill>
                  <a:srgbClr val="1B2A4A"/>
                </a:solidFill>
                <a:latin typeface="Calibri"/>
              </a:rPr>
              <a:t>Disclaimer for the Considered Cases for the Experiments</a:t>
            </a:r>
            <a:endParaRPr sz="17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C3AB3B-36F7-E9B5-26B0-05010805BAAC}"/>
              </a:ext>
            </a:extLst>
          </p:cNvPr>
          <p:cNvSpPr txBox="1"/>
          <p:nvPr/>
        </p:nvSpPr>
        <p:spPr>
          <a:xfrm>
            <a:off x="640079" y="2070271"/>
            <a:ext cx="11264373" cy="1614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450" b="0" i="0">
                <a:solidFill>
                  <a:srgbClr val="333A42"/>
                </a:solidFill>
                <a:latin typeface="Calibri"/>
              </a:rPr>
              <a:t>Since the specification required a slightly non-stationary environment for the requirement 4 assignment, we decided to test, firstly, the sliding window and change detection algorithms in ideal scenarios, in order to show the desired, sub-linear, behaviour of the many approaches.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endParaRPr lang="en-GB" sz="1450">
              <a:solidFill>
                <a:srgbClr val="333A42"/>
              </a:solidFill>
              <a:latin typeface="Calibri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450" b="0" i="0">
                <a:solidFill>
                  <a:srgbClr val="333A42"/>
                </a:solidFill>
                <a:latin typeface="Calibri"/>
              </a:rPr>
              <a:t>Then, the same algorithms have been tested also in more highly non-stationary environments, used at the same time for the comparison between requirement 4 and requirement 3 different algorithms. In the final cases shown, the environment exhibits a much higher frequency for the highest competing bids Gaussian distributions.</a:t>
            </a:r>
            <a:endParaRPr sz="1450" b="0" i="0">
              <a:solidFill>
                <a:srgbClr val="333A42"/>
              </a:solidFill>
              <a:latin typeface="Calibr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F8D6418-520E-ABAB-D473-9E17E708530A}"/>
              </a:ext>
            </a:extLst>
          </p:cNvPr>
          <p:cNvSpPr/>
          <p:nvPr/>
        </p:nvSpPr>
        <p:spPr>
          <a:xfrm>
            <a:off x="853440" y="4105656"/>
            <a:ext cx="4160520" cy="1886827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19DA7-B32E-88E6-EB5B-D6451238DF49}"/>
              </a:ext>
            </a:extLst>
          </p:cNvPr>
          <p:cNvSpPr txBox="1"/>
          <p:nvPr/>
        </p:nvSpPr>
        <p:spPr>
          <a:xfrm>
            <a:off x="1072896" y="4273852"/>
            <a:ext cx="3721608" cy="520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i="0">
                <a:solidFill>
                  <a:srgbClr val="2E86AB"/>
                </a:solidFill>
                <a:latin typeface="Calibri"/>
              </a:rPr>
              <a:t>Slightly non-Stationary Environment</a:t>
            </a:r>
            <a:endParaRPr sz="1500" b="1" i="0">
              <a:solidFill>
                <a:srgbClr val="2E86AB"/>
              </a:solidFill>
              <a:latin typeface="Calibri"/>
            </a:endParaRPr>
          </a:p>
          <a:p>
            <a:pPr>
              <a:lnSpc>
                <a:spcPct val="118000"/>
              </a:lnSpc>
              <a:spcBef>
                <a:spcPts val="800"/>
              </a:spcBef>
            </a:pPr>
            <a:endParaRPr sz="1100" b="0" i="1">
              <a:solidFill>
                <a:srgbClr val="6B748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73D952-A135-D529-C9CC-3DA55EBA1243}"/>
              </a:ext>
            </a:extLst>
          </p:cNvPr>
          <p:cNvSpPr txBox="1"/>
          <p:nvPr/>
        </p:nvSpPr>
        <p:spPr>
          <a:xfrm>
            <a:off x="658368" y="641908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ola/algorithms/sw_cucb.py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733093-7975-CFDA-6FDC-451A97393765}"/>
              </a:ext>
            </a:extLst>
          </p:cNvPr>
          <p:cNvSpPr txBox="1"/>
          <p:nvPr/>
        </p:nvSpPr>
        <p:spPr>
          <a:xfrm>
            <a:off x="1072896" y="4729127"/>
            <a:ext cx="2331720" cy="1069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Time horizon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Intervals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Budget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B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Per-round budget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ρ = B / 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73D142-537A-0A33-0D9F-AA52A8EDF476}"/>
              </a:ext>
            </a:extLst>
          </p:cNvPr>
          <p:cNvSpPr txBox="1"/>
          <p:nvPr/>
        </p:nvSpPr>
        <p:spPr>
          <a:xfrm>
            <a:off x="3938654" y="4713738"/>
            <a:ext cx="91440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4000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8000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A80FA7-66A1-963C-70AF-DFF167CEC1EB}"/>
              </a:ext>
            </a:extLst>
          </p:cNvPr>
          <p:cNvSpPr txBox="1"/>
          <p:nvPr/>
        </p:nvSpPr>
        <p:spPr>
          <a:xfrm>
            <a:off x="5139799" y="4820350"/>
            <a:ext cx="6764653" cy="463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GB" sz="1450">
                <a:solidFill>
                  <a:srgbClr val="333A42"/>
                </a:solidFill>
                <a:latin typeface="Calibri"/>
              </a:rPr>
              <a:t>In particular, the time horizon is divided into 3 equal intervals; and the related change points occur at round 1333 and 2666.</a:t>
            </a:r>
            <a:endParaRPr sz="1450">
              <a:solidFill>
                <a:srgbClr val="333A4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0750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SLIDING-WINDOW CUCB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SW-CUCB — cumulative pseudo-regret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828800"/>
            <a:ext cx="7452359" cy="4471416"/>
          </a:xfrm>
          <a:prstGeom prst="rect">
            <a:avLst/>
          </a:prstGeom>
          <a:ln w="12700">
            <a:solidFill>
              <a:srgbClr val="D8E1E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0" y="1828800"/>
            <a:ext cx="3611880" cy="306324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85632" y="2048256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Experiment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487168"/>
            <a:ext cx="23317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Time horizon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Intervals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Budget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B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Per-round budget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ρ = B / 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Exploration </a:t>
            </a:r>
            <a:r>
              <a:rPr sz="1300" b="0" i="0" err="1">
                <a:solidFill>
                  <a:srgbClr val="333A42"/>
                </a:solidFill>
                <a:latin typeface="Calibri"/>
              </a:rPr>
              <a:t>coeff</a:t>
            </a:r>
            <a:r>
              <a:rPr sz="1300" b="0" i="0">
                <a:solidFill>
                  <a:srgbClr val="333A42"/>
                </a:solidFill>
                <a:latin typeface="Calibri"/>
              </a:rPr>
              <a:t>.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c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Window size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W = √T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487168"/>
            <a:ext cx="914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4000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8000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2.0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0.1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4261104"/>
            <a:ext cx="309981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333A42"/>
                </a:solidFill>
                <a:latin typeface="Calibri"/>
              </a:rPr>
              <a:t>SKL levels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  (curves)</a:t>
            </a:r>
            <a:r>
              <a:rPr sz="1350" b="1" i="0">
                <a:solidFill>
                  <a:srgbClr val="1B2A4A"/>
                </a:solidFill>
                <a:latin typeface="Consolas"/>
              </a:rPr>
              <a:t>     20 / 200 / </a:t>
            </a:r>
            <a:r>
              <a:rPr lang="en-GB" sz="1350" b="1" i="0">
                <a:solidFill>
                  <a:srgbClr val="1B2A4A"/>
                </a:solidFill>
                <a:latin typeface="Consolas"/>
              </a:rPr>
              <a:t>500</a:t>
            </a:r>
            <a:endParaRPr sz="1350" b="1" i="0">
              <a:solidFill>
                <a:srgbClr val="1B2A4A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47888" y="5074920"/>
            <a:ext cx="3611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 i="1">
                <a:solidFill>
                  <a:srgbClr val="6B7480"/>
                </a:solidFill>
                <a:latin typeface="Calibri"/>
              </a:rPr>
              <a:t>Shaded bands: mean ± std across 20 repeated runs.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SW-CUCB  ·  cumReg_3int_DefWin_0.1ec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SLIDING-WINDOW CUCB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SW-CUCB — cumulative pseudo-regret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828800"/>
            <a:ext cx="7452359" cy="4471416"/>
          </a:xfrm>
          <a:prstGeom prst="rect">
            <a:avLst/>
          </a:prstGeom>
          <a:ln w="12700">
            <a:solidFill>
              <a:srgbClr val="D8E1E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0" y="1828800"/>
            <a:ext cx="3611880" cy="306324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85632" y="2048256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Experiment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487168"/>
            <a:ext cx="23317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Time horizon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Intervals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Budget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B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Per-round budget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ρ = B / 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Exploration coeff.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487168"/>
            <a:ext cx="914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4000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8000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2.0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39319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1" i="0">
                <a:solidFill>
                  <a:srgbClr val="1B2A4A"/>
                </a:solidFill>
                <a:latin typeface="Consolas"/>
              </a:rPr>
              <a:t>257</a:t>
            </a:r>
          </a:p>
        </p:txBody>
      </p:sp>
      <p:pic>
        <p:nvPicPr>
          <p:cNvPr id="13" name="Picture 12" descr="win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3867912"/>
            <a:ext cx="2011680" cy="3079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85632" y="4261104"/>
            <a:ext cx="309981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333A42"/>
                </a:solidFill>
                <a:latin typeface="Calibri"/>
              </a:rPr>
              <a:t>SKL levels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  (curves)</a:t>
            </a:r>
            <a:r>
              <a:rPr sz="1350" b="1" i="0">
                <a:solidFill>
                  <a:srgbClr val="1B2A4A"/>
                </a:solidFill>
                <a:latin typeface="Consolas"/>
              </a:rPr>
              <a:t>     20 / 200 / </a:t>
            </a:r>
            <a:r>
              <a:rPr lang="en-GB" sz="1350" b="1" i="0">
                <a:solidFill>
                  <a:srgbClr val="1B2A4A"/>
                </a:solidFill>
                <a:latin typeface="Consolas"/>
              </a:rPr>
              <a:t>500</a:t>
            </a:r>
            <a:endParaRPr sz="1350" b="1" i="0">
              <a:solidFill>
                <a:srgbClr val="1B2A4A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47888" y="5074920"/>
            <a:ext cx="3611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 i="1">
                <a:solidFill>
                  <a:srgbClr val="6B7480"/>
                </a:solidFill>
                <a:latin typeface="Calibri"/>
              </a:rPr>
              <a:t>Shaded bands: mean ± std across 20 repeated runs.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SW-CUCB  ·  cumReg_3int_257win_0.1ec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SLIDING-WINDOW CUCB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SW-CUCB — cumulative pseudo-regret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828800"/>
            <a:ext cx="7452359" cy="4471416"/>
          </a:xfrm>
          <a:prstGeom prst="rect">
            <a:avLst/>
          </a:prstGeom>
          <a:ln w="12700">
            <a:solidFill>
              <a:srgbClr val="D8E1E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0" y="1828800"/>
            <a:ext cx="3611880" cy="306324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85632" y="2048256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Experiment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487168"/>
            <a:ext cx="23317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Time horizon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Intervals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Budget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B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Per-round budget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ρ = B / 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Exploration coeff.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c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333A42"/>
                </a:solidFill>
                <a:latin typeface="Calibri"/>
              </a:rPr>
              <a:t>Window size</a:t>
            </a:r>
            <a:r>
              <a:rPr sz="1300" b="0" i="1">
                <a:solidFill>
                  <a:srgbClr val="6B7480"/>
                </a:solidFill>
                <a:latin typeface="Consolas"/>
              </a:rPr>
              <a:t> 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487168"/>
            <a:ext cx="914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4000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8000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2.0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0.1</a:t>
            </a:r>
          </a:p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350" b="1" i="0">
                <a:solidFill>
                  <a:srgbClr val="1B2A4A"/>
                </a:solidFill>
                <a:latin typeface="Consolas"/>
              </a:rPr>
              <a:t>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4261104"/>
            <a:ext cx="309981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333A42"/>
                </a:solidFill>
                <a:latin typeface="Calibri"/>
              </a:rPr>
              <a:t>SKL levels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  (curves)</a:t>
            </a:r>
            <a:r>
              <a:rPr sz="1350" b="1" i="0">
                <a:solidFill>
                  <a:srgbClr val="1B2A4A"/>
                </a:solidFill>
                <a:latin typeface="Consolas"/>
              </a:rPr>
              <a:t>     20 / 200 / </a:t>
            </a:r>
            <a:r>
              <a:rPr lang="en-GB" sz="1350" b="1" i="0">
                <a:solidFill>
                  <a:srgbClr val="1B2A4A"/>
                </a:solidFill>
                <a:latin typeface="Consolas"/>
              </a:rPr>
              <a:t>500</a:t>
            </a:r>
            <a:endParaRPr sz="1350" b="1" i="0">
              <a:solidFill>
                <a:srgbClr val="1B2A4A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47888" y="5074920"/>
            <a:ext cx="3611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 i="1">
                <a:solidFill>
                  <a:srgbClr val="6B7480"/>
                </a:solidFill>
                <a:latin typeface="Calibri"/>
              </a:rPr>
              <a:t>Shaded bands: mean ± std across 20 repeated runs.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SW-CUCB  ·  cumReg_3int_700win_0.1exp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5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SLIGHTLY NON-STATIONARY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Combinatorial-UCB with Change Detector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500" b="1" i="0">
                <a:solidFill>
                  <a:srgbClr val="E87A2B"/>
                </a:solidFill>
                <a:latin typeface="Calibri"/>
              </a:rPr>
              <a:t>The idea.  </a:t>
            </a:r>
            <a:r>
              <a:rPr sz="1500" b="0" i="0">
                <a:solidFill>
                  <a:srgbClr val="333A42"/>
                </a:solidFill>
                <a:latin typeface="Calibri"/>
              </a:rPr>
              <a:t>Keep the Combinatorial-UCB machinery, but attach a CUSUM change detector to every (campaign, bid) arm. While a regime is stable it behaves like standard CUCB; when a detector fires, statistics are reset — either only that arm or every arm (see reset scope) — so the learner re-learns under the new distribution.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78608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6446520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Win-indicator signal: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each arm monitors the Bernoulli win indicator, not the raw reward: reward = win·(value − bid) shrinks as the bid grows, so a single threshold would be unfair across arms. The win indicator stays in [0, 1] for every arm.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CUSUM detector: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after M warm-up samples fix a reference win-rate; the statistics g⁺ / g⁻ accumulate deviations beyond a slack ε, and an alarm fires when either exceeds the threshold h.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Forced exploration (α):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with probability α the agent plays a random budget-feasible super-arm, so arms outside the current optimum keep feeding their detectors.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Low exploration coefficient c: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the same reasoning as in the sliding-window approach applies here as well.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UCB estimates: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both the exploitation term (the mean estimate) and the exploration term use only the samples gathered since the last reset; the exploration numerator is the total valid samples across arms, and each arm's count restarts on a detection.</a:t>
            </a:r>
            <a:endParaRPr lang="en-GB" sz="1350" b="0" i="0">
              <a:solidFill>
                <a:srgbClr val="333A42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60920" y="2578608"/>
            <a:ext cx="4160520" cy="214884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0376" y="2578608"/>
            <a:ext cx="3721608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CUSUM parameters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400" b="1" i="0">
                <a:solidFill>
                  <a:srgbClr val="1B2A4A"/>
                </a:solidFill>
                <a:latin typeface="Consolas"/>
              </a:rPr>
              <a:t>M</a:t>
            </a:r>
            <a:r>
              <a:rPr sz="1300" b="0" i="0">
                <a:solidFill>
                  <a:srgbClr val="333A42"/>
                </a:solidFill>
                <a:latin typeface="Calibri"/>
              </a:rPr>
              <a:t>  —  warm-up samples → reference win-rate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400" b="1" i="0">
                <a:solidFill>
                  <a:srgbClr val="1B2A4A"/>
                </a:solidFill>
                <a:latin typeface="Consolas"/>
              </a:rPr>
              <a:t>ε</a:t>
            </a:r>
            <a:r>
              <a:rPr sz="1300" b="0" i="0">
                <a:solidFill>
                  <a:srgbClr val="333A42"/>
                </a:solidFill>
                <a:latin typeface="Calibri"/>
              </a:rPr>
              <a:t>  —  slack: ignore small deviations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400" b="1" i="0">
                <a:solidFill>
                  <a:srgbClr val="1B2A4A"/>
                </a:solidFill>
                <a:latin typeface="Consolas"/>
              </a:rPr>
              <a:t>h</a:t>
            </a:r>
            <a:r>
              <a:rPr sz="1300" b="0" i="0">
                <a:solidFill>
                  <a:srgbClr val="333A42"/>
                </a:solidFill>
                <a:latin typeface="Calibri"/>
              </a:rPr>
              <a:t>  —  detection threshold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400" b="1" i="0" err="1">
                <a:solidFill>
                  <a:srgbClr val="1B2A4A"/>
                </a:solidFill>
                <a:latin typeface="Consolas"/>
              </a:rPr>
              <a:t>ever_pulled</a:t>
            </a:r>
            <a:r>
              <a:rPr sz="1300" b="0" i="0">
                <a:solidFill>
                  <a:srgbClr val="333A42"/>
                </a:solidFill>
                <a:latin typeface="Calibri"/>
              </a:rPr>
              <a:t>  —  mask for the forced initial exploration</a:t>
            </a:r>
            <a:endParaRPr lang="en-GB" sz="1300" b="0" i="0">
              <a:solidFill>
                <a:srgbClr val="333A42"/>
              </a:solidFill>
              <a:latin typeface="Calibri"/>
            </a:endParaRP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l-GR" sz="1400" b="1">
                <a:solidFill>
                  <a:srgbClr val="1B2A4A"/>
                </a:solidFill>
                <a:latin typeface="Consolas" panose="020B0609020204030204" pitchFamily="49" charset="0"/>
              </a:rPr>
              <a:t>α</a:t>
            </a:r>
            <a:r>
              <a:rPr lang="en-GB" sz="1400" b="1">
                <a:solidFill>
                  <a:srgbClr val="1B2A4A"/>
                </a:solidFill>
                <a:latin typeface="Consolas" panose="020B0609020204030204" pitchFamily="49" charset="0"/>
              </a:rPr>
              <a:t> </a:t>
            </a:r>
            <a:r>
              <a:rPr lang="en-GB" sz="1400">
                <a:solidFill>
                  <a:srgbClr val="333A42"/>
                </a:solidFill>
              </a:rPr>
              <a:t>— </a:t>
            </a:r>
            <a:r>
              <a:rPr lang="en-GB" sz="1300">
                <a:solidFill>
                  <a:srgbClr val="333A42"/>
                </a:solidFill>
                <a:latin typeface="+mj-lt"/>
              </a:rPr>
              <a:t>forced</a:t>
            </a:r>
            <a:r>
              <a:rPr lang="en-GB" sz="1400">
                <a:solidFill>
                  <a:srgbClr val="333A42"/>
                </a:solidFill>
              </a:rPr>
              <a:t> </a:t>
            </a:r>
            <a:r>
              <a:rPr lang="en-GB" sz="1300">
                <a:solidFill>
                  <a:srgbClr val="333A42"/>
                </a:solidFill>
              </a:rPr>
              <a:t>exploration</a:t>
            </a:r>
            <a:r>
              <a:rPr lang="en-GB" sz="1400">
                <a:solidFill>
                  <a:srgbClr val="333A42"/>
                </a:solidFill>
              </a:rPr>
              <a:t> </a:t>
            </a:r>
            <a:r>
              <a:rPr lang="en-GB" sz="1300">
                <a:solidFill>
                  <a:srgbClr val="333A42"/>
                </a:solidFill>
                <a:latin typeface="+mj-lt"/>
              </a:rPr>
              <a:t>parameter</a:t>
            </a:r>
            <a:endParaRPr sz="1300" b="0" i="0">
              <a:solidFill>
                <a:srgbClr val="333A42"/>
              </a:solidFill>
              <a:latin typeface="+mj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60920" y="4892040"/>
            <a:ext cx="4160520" cy="1435608"/>
          </a:xfrm>
          <a:prstGeom prst="roundRect">
            <a:avLst>
              <a:gd name="adj" fmla="val 6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0376" y="4892040"/>
            <a:ext cx="3721608" cy="1435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E87A2B"/>
                </a:solidFill>
                <a:latin typeface="Calibri"/>
              </a:rPr>
              <a:t>Reset scope — two modes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300" b="1" i="0">
                <a:solidFill>
                  <a:srgbClr val="1B2A4A"/>
                </a:solidFill>
                <a:latin typeface="Consolas"/>
              </a:rPr>
              <a:t>per-arm</a:t>
            </a:r>
            <a:r>
              <a:rPr sz="1250" b="0" i="0">
                <a:solidFill>
                  <a:srgbClr val="333A42"/>
                </a:solidFill>
                <a:latin typeface="Calibri"/>
              </a:rPr>
              <a:t>  — wipe only the firing arm.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300" b="1" i="0">
                <a:solidFill>
                  <a:srgbClr val="1B2A4A"/>
                </a:solidFill>
                <a:latin typeface="Consolas"/>
              </a:rPr>
              <a:t>global</a:t>
            </a:r>
            <a:r>
              <a:rPr sz="1250" b="0" i="0">
                <a:solidFill>
                  <a:srgbClr val="333A42"/>
                </a:solidFill>
                <a:latin typeface="Calibri"/>
              </a:rPr>
              <a:t>  — restart every arm; fits synchronized regime shifts.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ola/algorithms/cd_cucb.py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25E5-9918-D819-716A-A9A3349D7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0BD3CF-BCB6-0F36-FF3A-255FED2377F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92793-5BCB-8C95-C50C-C94F2C396DEE}"/>
              </a:ext>
            </a:extLst>
          </p:cNvPr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SLIGHTLY NON-STATIONARY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C386C-C3DB-72A2-EF7E-B535C3A11AE2}"/>
              </a:ext>
            </a:extLst>
          </p:cNvPr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Combinatorial-UCB with Change Detector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863002-2C38-BCE1-1C41-51911EEAAE30}"/>
              </a:ext>
            </a:extLst>
          </p:cNvPr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A1FA9-950C-8AAF-FB7C-734CAA5945B8}"/>
              </a:ext>
            </a:extLst>
          </p:cNvPr>
          <p:cNvSpPr txBox="1"/>
          <p:nvPr/>
        </p:nvSpPr>
        <p:spPr>
          <a:xfrm>
            <a:off x="658368" y="1642125"/>
            <a:ext cx="6492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>
                <a:solidFill>
                  <a:srgbClr val="1B2A4A"/>
                </a:solidFill>
                <a:latin typeface="Calibri"/>
              </a:rPr>
              <a:t>Parameters estimation</a:t>
            </a:r>
            <a:endParaRPr sz="2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BDA8B27-09E2-8BA2-8928-ABCFCDD967B5}"/>
              </a:ext>
            </a:extLst>
          </p:cNvPr>
          <p:cNvSpPr/>
          <p:nvPr/>
        </p:nvSpPr>
        <p:spPr>
          <a:xfrm>
            <a:off x="1293673" y="2514783"/>
            <a:ext cx="3284077" cy="120734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E7551-45E2-2421-F736-5DD83BE1565A}"/>
              </a:ext>
            </a:extLst>
          </p:cNvPr>
          <p:cNvSpPr txBox="1"/>
          <p:nvPr/>
        </p:nvSpPr>
        <p:spPr>
          <a:xfrm>
            <a:off x="1381950" y="2661187"/>
            <a:ext cx="3195800" cy="96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i="0">
                <a:solidFill>
                  <a:srgbClr val="2E86AB"/>
                </a:solidFill>
                <a:latin typeface="Calibri"/>
              </a:rPr>
              <a:t>M – Warm-up samples</a:t>
            </a:r>
          </a:p>
          <a:p>
            <a:endParaRPr lang="en-GB" sz="1500" b="1">
              <a:solidFill>
                <a:srgbClr val="2E86AB"/>
              </a:solidFill>
              <a:latin typeface="Calibri"/>
            </a:endParaRPr>
          </a:p>
          <a:p>
            <a:r>
              <a:rPr lang="en-GB" b="1">
                <a:latin typeface="Consolas"/>
              </a:rPr>
              <a:t>M  =  int(log(T / Y_T))</a:t>
            </a:r>
          </a:p>
          <a:p>
            <a:endParaRPr lang="en-GB" sz="1500" b="1" i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D1364F-5038-33FA-E0A9-4F7C0E37B03F}"/>
              </a:ext>
            </a:extLst>
          </p:cNvPr>
          <p:cNvSpPr/>
          <p:nvPr/>
        </p:nvSpPr>
        <p:spPr>
          <a:xfrm>
            <a:off x="3637529" y="4460699"/>
            <a:ext cx="3425378" cy="1259456"/>
          </a:xfrm>
          <a:prstGeom prst="roundRect">
            <a:avLst>
              <a:gd name="adj" fmla="val 6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20CE95-959A-E2C7-41D5-46468F0DA6CC}"/>
              </a:ext>
            </a:extLst>
          </p:cNvPr>
          <p:cNvSpPr txBox="1"/>
          <p:nvPr/>
        </p:nvSpPr>
        <p:spPr>
          <a:xfrm>
            <a:off x="3825125" y="4697639"/>
            <a:ext cx="3174521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i="0">
                <a:solidFill>
                  <a:srgbClr val="E87A2B"/>
                </a:solidFill>
                <a:latin typeface="Calibri"/>
              </a:rPr>
              <a:t>h — Detection threshold</a:t>
            </a:r>
          </a:p>
          <a:p>
            <a:endParaRPr sz="1500" b="1" i="0">
              <a:solidFill>
                <a:srgbClr val="E87A2B"/>
              </a:solidFill>
              <a:latin typeface="Calibri"/>
            </a:endParaRPr>
          </a:p>
          <a:p>
            <a:r>
              <a:rPr lang="en-GB" b="1">
                <a:latin typeface="Consolas"/>
              </a:rPr>
              <a:t>h  =  2 * log(T / Y_T)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9E0AD2-A969-5F4D-9D3D-227FFA2CD795}"/>
              </a:ext>
            </a:extLst>
          </p:cNvPr>
          <p:cNvSpPr txBox="1"/>
          <p:nvPr/>
        </p:nvSpPr>
        <p:spPr>
          <a:xfrm>
            <a:off x="658368" y="641908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ola/algorithms/cd_cucb.py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FAC69942-10F7-5F00-FA7C-DFF1AF5CC3FA}"/>
              </a:ext>
            </a:extLst>
          </p:cNvPr>
          <p:cNvSpPr/>
          <p:nvPr/>
        </p:nvSpPr>
        <p:spPr>
          <a:xfrm>
            <a:off x="6299585" y="2315638"/>
            <a:ext cx="4867023" cy="1592653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1257D5-DE0B-187B-8BA9-2E85DE889F98}"/>
              </a:ext>
            </a:extLst>
          </p:cNvPr>
          <p:cNvSpPr txBox="1"/>
          <p:nvPr/>
        </p:nvSpPr>
        <p:spPr>
          <a:xfrm>
            <a:off x="6548888" y="2514783"/>
            <a:ext cx="4705997" cy="1223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l-GR" sz="1500" b="1">
                <a:solidFill>
                  <a:srgbClr val="2E86AB"/>
                </a:solidFill>
                <a:latin typeface="Calibri"/>
              </a:rPr>
              <a:t>α</a:t>
            </a:r>
            <a:r>
              <a:rPr lang="en-GB" sz="1500" b="1" i="0">
                <a:solidFill>
                  <a:srgbClr val="2E86AB"/>
                </a:solidFill>
                <a:latin typeface="Calibri"/>
              </a:rPr>
              <a:t> –</a:t>
            </a:r>
            <a:r>
              <a:rPr lang="en-GB" sz="1500" b="1">
                <a:solidFill>
                  <a:srgbClr val="2E86AB"/>
                </a:solidFill>
                <a:latin typeface="Calibri"/>
              </a:rPr>
              <a:t>forced exploration parameter</a:t>
            </a:r>
          </a:p>
          <a:p>
            <a:r>
              <a:rPr lang="en-GB" sz="1500" b="1" i="0">
                <a:solidFill>
                  <a:srgbClr val="2E86AB"/>
                </a:solidFill>
                <a:latin typeface="Calibri"/>
              </a:rPr>
              <a:t> </a:t>
            </a:r>
          </a:p>
          <a:p>
            <a:endParaRPr lang="en-GB" sz="1500" b="1">
              <a:solidFill>
                <a:srgbClr val="2E86AB"/>
              </a:solidFill>
              <a:latin typeface="Calibri"/>
            </a:endParaRPr>
          </a:p>
          <a:p>
            <a:r>
              <a:rPr lang="en-GB" b="1">
                <a:latin typeface="Consolas"/>
              </a:rPr>
              <a:t>alpha = sqrt(Y_T * log(T / Y_T) / T)</a:t>
            </a:r>
          </a:p>
          <a:p>
            <a:endParaRPr lang="en-GB" sz="1500" b="1" i="0">
              <a:solidFill>
                <a:srgbClr val="2E86A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98273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CHANGE-DETECTOR CUCB  ·  EXPERIMENTS  ·  PER-ARM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CD-CUCB (CUSUM) — cumulative pseudo-regret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828800"/>
            <a:ext cx="7452359" cy="4471416"/>
          </a:xfrm>
          <a:prstGeom prst="rect">
            <a:avLst/>
          </a:prstGeom>
          <a:ln w="12700">
            <a:solidFill>
              <a:srgbClr val="D8E1E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0" y="1828800"/>
            <a:ext cx="3611880" cy="315468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39912" y="201168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Experiment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414016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Time horizon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Intervals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Budget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B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Per-round budget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ρ = B / 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Exploration coeff.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CUSUM slack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ε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Warm-up samples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Detection threshold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h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Forced-explore prob.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414016"/>
            <a:ext cx="9144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4000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8000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2.0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0.1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0.1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15.2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0.0616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4681728"/>
            <a:ext cx="309981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333A42"/>
                </a:solidFill>
                <a:latin typeface="Calibri"/>
              </a:rPr>
              <a:t>SKL levels</a:t>
            </a:r>
            <a:r>
              <a:rPr sz="1100" b="0" i="1">
                <a:solidFill>
                  <a:srgbClr val="6B7480"/>
                </a:solidFill>
                <a:latin typeface="Calibri"/>
              </a:rPr>
              <a:t>  (curves)</a:t>
            </a:r>
            <a:r>
              <a:rPr sz="1300" b="1" i="0">
                <a:solidFill>
                  <a:srgbClr val="1B2A4A"/>
                </a:solidFill>
                <a:latin typeface="Consolas"/>
              </a:rPr>
              <a:t>     20 / 200 / </a:t>
            </a:r>
            <a:r>
              <a:rPr lang="en-GB" sz="1300" b="1" i="0">
                <a:solidFill>
                  <a:srgbClr val="1B2A4A"/>
                </a:solidFill>
                <a:latin typeface="Consolas"/>
              </a:rPr>
              <a:t>500</a:t>
            </a:r>
            <a:endParaRPr sz="1300" b="1" i="0">
              <a:solidFill>
                <a:srgbClr val="1B2A4A"/>
              </a:solidFill>
              <a:latin typeface="Consola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0" y="50749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513892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A2B"/>
                </a:solidFill>
                <a:latin typeface="Calibri"/>
              </a:rPr>
              <a:t>Mean detection delay</a:t>
            </a:r>
            <a:r>
              <a:rPr sz="1050" b="0" i="1">
                <a:solidFill>
                  <a:srgbClr val="6B7480"/>
                </a:solidFill>
                <a:latin typeface="Calibri"/>
              </a:rPr>
              <a:t>   (rounds)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5413248"/>
            <a:ext cx="1069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5596128"/>
            <a:ext cx="1069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94.2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5413248"/>
            <a:ext cx="1069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6" y="5596128"/>
            <a:ext cx="1069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55.9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0464" y="5413248"/>
            <a:ext cx="10698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</a:t>
            </a:r>
            <a:r>
              <a:rPr lang="en-GB" sz="1050" b="0" i="0">
                <a:solidFill>
                  <a:srgbClr val="6B7480"/>
                </a:solidFill>
                <a:latin typeface="Calibri"/>
              </a:rPr>
              <a:t>500</a:t>
            </a:r>
            <a:endParaRPr sz="1050" b="0" i="0">
              <a:solidFill>
                <a:srgbClr val="6B748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70464" y="5596128"/>
            <a:ext cx="1069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500" b="1" i="0">
                <a:solidFill>
                  <a:srgbClr val="1B2A4A"/>
                </a:solidFill>
                <a:latin typeface="Consolas"/>
              </a:rPr>
              <a:t>41.5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</a:t>
            </a:r>
            <a:r>
              <a:rPr lang="en-GB" sz="1000" b="0" i="0">
                <a:solidFill>
                  <a:srgbClr val="6B7480"/>
                </a:solidFill>
                <a:latin typeface="Consolas"/>
              </a:rPr>
              <a:t>66</a:t>
            </a:r>
            <a:endParaRPr sz="1000" b="0" i="0">
              <a:solidFill>
                <a:srgbClr val="6B7480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47888" y="6053328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1">
                <a:solidFill>
                  <a:srgbClr val="6B7480"/>
                </a:solidFill>
                <a:latin typeface="Calibri"/>
              </a:rPr>
              <a:t>Shaded bands: mean ± std across 20 repeated 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465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CD-CUCB (CUSUM)  ·  cumReg_3int_0.1eps_0.1exp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CHANGE-DETECTOR CUCB  ·  EXPERIMENTS  ·  GLOBAL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CD-CUCB (CUSUM) — cumulative pseudo-regret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828800"/>
            <a:ext cx="7452359" cy="4471416"/>
          </a:xfrm>
          <a:prstGeom prst="rect">
            <a:avLst/>
          </a:prstGeom>
          <a:ln w="12700">
            <a:solidFill>
              <a:srgbClr val="D8E1E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0" y="1828800"/>
            <a:ext cx="3611880" cy="315468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85632" y="201168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Experiment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414016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Time horizon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Intervals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Budget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B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Per-round budget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ρ = B / 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Exploration coeff.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CUSUM slack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ε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Warm-up samples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Detection threshold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h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Forced-explore prob.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414016"/>
            <a:ext cx="9144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4000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8000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2.0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0.1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0.1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15.2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0.0616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4681728"/>
            <a:ext cx="309981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333A42"/>
                </a:solidFill>
                <a:latin typeface="Calibri"/>
              </a:rPr>
              <a:t>SKL levels</a:t>
            </a:r>
            <a:r>
              <a:rPr sz="1100" b="0" i="1">
                <a:solidFill>
                  <a:srgbClr val="6B7480"/>
                </a:solidFill>
                <a:latin typeface="Calibri"/>
              </a:rPr>
              <a:t>  (curves)</a:t>
            </a:r>
            <a:r>
              <a:rPr sz="1300" b="1" i="0">
                <a:solidFill>
                  <a:srgbClr val="1B2A4A"/>
                </a:solidFill>
                <a:latin typeface="Consolas"/>
              </a:rPr>
              <a:t>     20 / 200 / </a:t>
            </a:r>
            <a:r>
              <a:rPr lang="en-GB" sz="1300" b="1" i="0">
                <a:solidFill>
                  <a:srgbClr val="1B2A4A"/>
                </a:solidFill>
                <a:latin typeface="Consolas"/>
              </a:rPr>
              <a:t>500</a:t>
            </a:r>
            <a:endParaRPr sz="1300" b="1" i="0">
              <a:solidFill>
                <a:srgbClr val="1B2A4A"/>
              </a:solidFill>
              <a:latin typeface="Consola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0" y="50749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513892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A2B"/>
                </a:solidFill>
                <a:latin typeface="Calibri"/>
              </a:rPr>
              <a:t>Mean detection delay</a:t>
            </a:r>
            <a:r>
              <a:rPr sz="1050" b="0" i="1">
                <a:solidFill>
                  <a:srgbClr val="6B7480"/>
                </a:solidFill>
                <a:latin typeface="Calibri"/>
              </a:rPr>
              <a:t>   (rounds)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5413248"/>
            <a:ext cx="1069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5596128"/>
            <a:ext cx="1069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115.1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±158.0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5413248"/>
            <a:ext cx="1069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6" y="5596128"/>
            <a:ext cx="1069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73.8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±86.2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0464" y="5413248"/>
            <a:ext cx="10698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</a:t>
            </a:r>
            <a:r>
              <a:rPr lang="en-GB" sz="1050" b="0" i="0">
                <a:solidFill>
                  <a:srgbClr val="6B7480"/>
                </a:solidFill>
                <a:latin typeface="Calibri"/>
              </a:rPr>
              <a:t>500</a:t>
            </a:r>
            <a:endParaRPr sz="1050" b="0" i="0">
              <a:solidFill>
                <a:srgbClr val="6B748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70464" y="5596128"/>
            <a:ext cx="1069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500" b="1" i="0">
                <a:solidFill>
                  <a:srgbClr val="1B2A4A"/>
                </a:solidFill>
                <a:latin typeface="Consolas"/>
              </a:rPr>
              <a:t>58.5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</a:t>
            </a:r>
            <a:r>
              <a:rPr lang="en-GB" sz="1000" b="0" i="0">
                <a:solidFill>
                  <a:srgbClr val="6B7480"/>
                </a:solidFill>
                <a:latin typeface="Consolas"/>
              </a:rPr>
              <a:t>116.3</a:t>
            </a:r>
            <a:endParaRPr sz="1000" b="0" i="0">
              <a:solidFill>
                <a:srgbClr val="6B7480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47888" y="6053328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1">
                <a:solidFill>
                  <a:srgbClr val="6B7480"/>
                </a:solidFill>
                <a:latin typeface="Calibri"/>
              </a:rPr>
              <a:t>Shaded bands: mean ± std across 20 repeated 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465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CD-CUCB (CUSUM)  ·  cumReg_3int_0.1eps_0.1exp_GlobReset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CHANGE-DETECTOR CUCB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Change Detection with Normal Discrepancy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972800" cy="69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00" b="1" i="0">
                <a:solidFill>
                  <a:srgbClr val="E87A2B"/>
                </a:solidFill>
                <a:latin typeface="Calibri"/>
              </a:rPr>
              <a:t>The idea.  </a:t>
            </a:r>
            <a:r>
              <a:rPr sz="1400" b="0" i="0">
                <a:solidFill>
                  <a:srgbClr val="333A42"/>
                </a:solidFill>
                <a:latin typeface="Calibri"/>
              </a:rPr>
              <a:t>A single joint detector watches the whole vector of competing bids over a sliding window: when the window's first and second halves look like different distributions, </a:t>
            </a:r>
            <a:r>
              <a:rPr lang="en-US" sz="1400">
                <a:solidFill>
                  <a:srgbClr val="333A42"/>
                </a:solidFill>
                <a:latin typeface="Calibri"/>
              </a:rPr>
              <a:t>detect</a:t>
            </a:r>
            <a:r>
              <a:rPr sz="1400" b="0" i="0">
                <a:solidFill>
                  <a:srgbClr val="333A42"/>
                </a:solidFill>
                <a:latin typeface="Calibri"/>
              </a:rPr>
              <a:t> a change and restart the learner. Normal Discrepancy also exploits the multivariate structure of the Gaussians used in the experiments to detect change points more effectively.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78608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6446520" cy="3212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Joint detector on m(t):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a single detector watches the full N-dimensional competing-bid vector over a sliding window of the last </a:t>
            </a:r>
            <a:r>
              <a:rPr sz="1350" b="0" i="0" err="1">
                <a:solidFill>
                  <a:srgbClr val="333A42"/>
                </a:solidFill>
                <a:latin typeface="Calibri"/>
              </a:rPr>
              <a:t>nd_window_size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 rounds — not one detector per arm.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Normal Discrepancy: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split the window at its midpoint and compare the full-window covariance with its two halves. ND ≈ 0 when both halves share a distribution and grows when a change sits inside the window.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Full feedback: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the detector</a:t>
            </a:r>
            <a:r>
              <a:rPr lang="en-GB" sz="1350" b="0" i="0">
                <a:solidFill>
                  <a:srgbClr val="333A42"/>
                </a:solidFill>
                <a:latin typeface="Calibri"/>
              </a:rPr>
              <a:t>, as well as the UCB algorithm, exploit the information of the full-feedback approach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86A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Global reset:  </a:t>
            </a:r>
            <a:r>
              <a:rPr sz="1350" b="0" i="0">
                <a:solidFill>
                  <a:srgbClr val="333A42"/>
                </a:solidFill>
                <a:latin typeface="Calibri"/>
              </a:rPr>
              <a:t>being a single joint detector, one alarm restarts every arm and clears the window — the reset is always global.</a:t>
            </a:r>
            <a:endParaRPr lang="en-GB" sz="1350" b="0" i="0">
              <a:solidFill>
                <a:srgbClr val="333A42"/>
              </a:solidFill>
              <a:latin typeface="Calibri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lang="en-GB" sz="1350" b="1">
                <a:solidFill>
                  <a:srgbClr val="2E86AB"/>
                </a:solidFill>
              </a:rPr>
              <a:t>▪  </a:t>
            </a:r>
            <a:r>
              <a:rPr lang="en-GB" sz="1350" b="1">
                <a:solidFill>
                  <a:srgbClr val="1B2A4A"/>
                </a:solidFill>
              </a:rPr>
              <a:t>No need for forced exploration: </a:t>
            </a:r>
            <a:r>
              <a:rPr lang="en-GB" sz="1350">
                <a:solidFill>
                  <a:srgbClr val="333A42"/>
                </a:solidFill>
              </a:rPr>
              <a:t>since the UCB estimator uses the full-feedback information, the forced exploration parameter is set to 0. Also, the exploration term of the UCB formula is ignored. The mean estimates are the only considered term.</a:t>
            </a:r>
            <a:endParaRPr sz="1350" b="0" i="0">
              <a:solidFill>
                <a:srgbClr val="333A42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60920" y="2578608"/>
            <a:ext cx="4160520" cy="214884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16952" y="2724912"/>
            <a:ext cx="36484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Normal Discrepancy</a:t>
            </a:r>
          </a:p>
        </p:txBody>
      </p:sp>
      <p:pic>
        <p:nvPicPr>
          <p:cNvPr id="12" name="Picture 11" descr="nd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200400"/>
            <a:ext cx="3429000" cy="3379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16952" y="3913632"/>
            <a:ext cx="36484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1">
                <a:solidFill>
                  <a:srgbClr val="6B7480"/>
                </a:solidFill>
                <a:latin typeface="Calibri"/>
              </a:rPr>
              <a:t>Σ: full-window covariance;  Σ_L, Σ_R: its two half-windows. ND ≈ 0 with no change, spikes on a shift.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892040"/>
            <a:ext cx="4160520" cy="1435608"/>
          </a:xfrm>
          <a:prstGeom prst="roundRect">
            <a:avLst>
              <a:gd name="adj" fmla="val 6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0376" y="4892040"/>
            <a:ext cx="3721608" cy="1435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E87A2B"/>
                </a:solidFill>
                <a:latin typeface="Calibri"/>
              </a:rPr>
              <a:t>ND parameters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250" b="1" i="0">
                <a:solidFill>
                  <a:srgbClr val="1B2A4A"/>
                </a:solidFill>
                <a:latin typeface="Consolas"/>
              </a:rPr>
              <a:t>nd_window_size</a:t>
            </a:r>
            <a:r>
              <a:rPr sz="1200" b="0" i="0">
                <a:solidFill>
                  <a:srgbClr val="333A42"/>
                </a:solidFill>
                <a:latin typeface="Calibri"/>
              </a:rPr>
              <a:t>  —  window length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50" b="1" i="0">
                <a:solidFill>
                  <a:srgbClr val="1B2A4A"/>
                </a:solidFill>
                <a:latin typeface="Consolas"/>
              </a:rPr>
              <a:t>nd_threshold</a:t>
            </a:r>
            <a:r>
              <a:rPr sz="1200" b="0" i="0">
                <a:solidFill>
                  <a:srgbClr val="333A42"/>
                </a:solidFill>
                <a:latin typeface="Calibri"/>
              </a:rPr>
              <a:t>  —  alarm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ola/algorithms/cd_cucb.py  ·  detector_type = nd_full_feedback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CHANGE-DETECTOR CUCB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CD-CUCB (ND) — cumulative pseudo-regret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828800"/>
            <a:ext cx="7452359" cy="4471415"/>
          </a:xfrm>
          <a:prstGeom prst="rect">
            <a:avLst/>
          </a:prstGeom>
          <a:ln w="12700">
            <a:solidFill>
              <a:srgbClr val="D8E1E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0" y="1828800"/>
            <a:ext cx="3611880" cy="315468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85632" y="201168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Experiment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414016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Time horizon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Intervals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Budget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B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Per-round budget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ρ = B / 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Exploration coeff.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ND threshold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ND window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414016"/>
            <a:ext cx="9144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4000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8000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2.0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0.1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4681728"/>
            <a:ext cx="309981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333A42"/>
                </a:solidFill>
                <a:latin typeface="Calibri"/>
              </a:rPr>
              <a:t>SKL levels</a:t>
            </a:r>
            <a:r>
              <a:rPr sz="1100" b="0" i="1">
                <a:solidFill>
                  <a:srgbClr val="6B7480"/>
                </a:solidFill>
                <a:latin typeface="Calibri"/>
              </a:rPr>
              <a:t>  (curves)</a:t>
            </a:r>
            <a:r>
              <a:rPr sz="1300" b="1" i="0">
                <a:solidFill>
                  <a:srgbClr val="1B2A4A"/>
                </a:solidFill>
                <a:latin typeface="Consolas"/>
              </a:rPr>
              <a:t>     20 / 200 / </a:t>
            </a:r>
            <a:r>
              <a:rPr lang="en-GB" sz="1300" b="1" i="0">
                <a:solidFill>
                  <a:srgbClr val="1B2A4A"/>
                </a:solidFill>
                <a:latin typeface="Consolas"/>
              </a:rPr>
              <a:t>500</a:t>
            </a:r>
            <a:endParaRPr sz="1300" b="1" i="0">
              <a:solidFill>
                <a:srgbClr val="1B2A4A"/>
              </a:solidFill>
              <a:latin typeface="Consola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0" y="50749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513892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A2B"/>
                </a:solidFill>
                <a:latin typeface="Calibri"/>
              </a:rPr>
              <a:t>Mean detection delay</a:t>
            </a:r>
            <a:r>
              <a:rPr sz="1050" b="0" i="1">
                <a:solidFill>
                  <a:srgbClr val="6B7480"/>
                </a:solidFill>
                <a:latin typeface="Calibri"/>
              </a:rPr>
              <a:t>   (rounds)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5413248"/>
            <a:ext cx="1069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5596128"/>
            <a:ext cx="1069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n/a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5413248"/>
            <a:ext cx="1069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6" y="5596128"/>
            <a:ext cx="1069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22.</a:t>
            </a:r>
            <a:r>
              <a:rPr lang="en-GB" sz="1500" b="1" i="0">
                <a:solidFill>
                  <a:srgbClr val="1B2A4A"/>
                </a:solidFill>
                <a:latin typeface="Consolas"/>
              </a:rPr>
              <a:t>2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0464" y="5413248"/>
            <a:ext cx="10698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</a:t>
            </a:r>
            <a:r>
              <a:rPr lang="en-GB" sz="1050" b="0" i="0">
                <a:solidFill>
                  <a:srgbClr val="6B7480"/>
                </a:solidFill>
                <a:latin typeface="Calibri"/>
              </a:rPr>
              <a:t>500</a:t>
            </a:r>
            <a:endParaRPr sz="1050" b="0" i="0">
              <a:solidFill>
                <a:srgbClr val="6B748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70464" y="5596128"/>
            <a:ext cx="1069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500" b="1" i="0">
                <a:solidFill>
                  <a:srgbClr val="1B2A4A"/>
                </a:solidFill>
                <a:latin typeface="Consolas"/>
              </a:rPr>
              <a:t>18.9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</a:t>
            </a:r>
            <a:r>
              <a:rPr lang="en-GB" sz="1000" b="0" i="0">
                <a:solidFill>
                  <a:srgbClr val="6B7480"/>
                </a:solidFill>
                <a:latin typeface="Consolas"/>
              </a:rPr>
              <a:t>3.2</a:t>
            </a:r>
            <a:endParaRPr sz="1000" b="0" i="0">
              <a:solidFill>
                <a:srgbClr val="6B7480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47888" y="6053328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1">
                <a:solidFill>
                  <a:srgbClr val="6B7480"/>
                </a:solidFill>
                <a:latin typeface="Calibri"/>
              </a:rPr>
              <a:t>Shaded bands: mean ± std across 20 repeated runs.</a:t>
            </a:r>
          </a:p>
          <a:p>
            <a:pPr>
              <a:lnSpc>
                <a:spcPct val="105000"/>
              </a:lnSpc>
            </a:pPr>
            <a:r>
              <a:rPr sz="1050" b="0" i="1">
                <a:solidFill>
                  <a:srgbClr val="6B7480"/>
                </a:solidFill>
                <a:latin typeface="Calibri"/>
              </a:rPr>
              <a:t>SKL 20: no change detected.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465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CD-CUCB (ND)  ·  ND_ec=0.1  (threshold = 3)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  CHANGE-DETECTOR CUCB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CD-CUCB (ND) — cumulative pseudo-regret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828800"/>
            <a:ext cx="7452359" cy="4471415"/>
          </a:xfrm>
          <a:prstGeom prst="rect">
            <a:avLst/>
          </a:prstGeom>
          <a:ln w="12700">
            <a:solidFill>
              <a:srgbClr val="D8E1E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0" y="1828800"/>
            <a:ext cx="3611880" cy="3154680"/>
          </a:xfrm>
          <a:prstGeom prst="roundRect">
            <a:avLst>
              <a:gd name="adj" fmla="val 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85632" y="201168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2E86AB"/>
                </a:solidFill>
                <a:latin typeface="Calibri"/>
              </a:rPr>
              <a:t>Experiment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414016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Time horizon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Intervals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Budget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B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Per-round budget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ρ = B / 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Exploration coeff.</a:t>
            </a:r>
            <a:r>
              <a:rPr sz="1250" b="0" i="1">
                <a:solidFill>
                  <a:srgbClr val="6B7480"/>
                </a:solidFill>
                <a:latin typeface="Consolas"/>
              </a:rPr>
              <a:t>  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ND threshold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0" i="0">
                <a:solidFill>
                  <a:srgbClr val="333A42"/>
                </a:solidFill>
                <a:latin typeface="Calibri"/>
              </a:rPr>
              <a:t>ND window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414016"/>
            <a:ext cx="9144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4000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8000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2.0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0.1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1.5</a:t>
            </a:r>
          </a:p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Consolas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4681728"/>
            <a:ext cx="309981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333A42"/>
                </a:solidFill>
                <a:latin typeface="Calibri"/>
              </a:rPr>
              <a:t>SKL levels</a:t>
            </a:r>
            <a:r>
              <a:rPr sz="1100" b="0" i="1">
                <a:solidFill>
                  <a:srgbClr val="6B7480"/>
                </a:solidFill>
                <a:latin typeface="Calibri"/>
              </a:rPr>
              <a:t>  (curves)</a:t>
            </a:r>
            <a:r>
              <a:rPr sz="1300" b="1" i="0">
                <a:solidFill>
                  <a:srgbClr val="1B2A4A"/>
                </a:solidFill>
                <a:latin typeface="Consolas"/>
              </a:rPr>
              <a:t>     20 / 200 / </a:t>
            </a:r>
            <a:r>
              <a:rPr lang="en-GB" sz="1300" b="1" i="0">
                <a:solidFill>
                  <a:srgbClr val="1B2A4A"/>
                </a:solidFill>
                <a:latin typeface="Consolas"/>
              </a:rPr>
              <a:t>500</a:t>
            </a:r>
            <a:endParaRPr sz="1300" b="1" i="0">
              <a:solidFill>
                <a:srgbClr val="1B2A4A"/>
              </a:solidFill>
              <a:latin typeface="Consola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0" y="50749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513892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E87A2B"/>
                </a:solidFill>
                <a:latin typeface="Calibri"/>
              </a:rPr>
              <a:t>Mean detection delay</a:t>
            </a:r>
            <a:r>
              <a:rPr sz="1050" b="0" i="1">
                <a:solidFill>
                  <a:srgbClr val="6B7480"/>
                </a:solidFill>
                <a:latin typeface="Calibri"/>
              </a:rPr>
              <a:t>   (rounds)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5413248"/>
            <a:ext cx="1069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5596128"/>
            <a:ext cx="1069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19.9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±2.8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5413248"/>
            <a:ext cx="1069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6" y="5596128"/>
            <a:ext cx="1069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4.6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0464" y="5413248"/>
            <a:ext cx="10698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B7480"/>
                </a:solidFill>
                <a:latin typeface="Calibri"/>
              </a:rPr>
              <a:t>SKL </a:t>
            </a:r>
            <a:r>
              <a:rPr lang="en-GB" sz="1050" b="0" i="0">
                <a:solidFill>
                  <a:srgbClr val="6B7480"/>
                </a:solidFill>
                <a:latin typeface="Calibri"/>
              </a:rPr>
              <a:t>500</a:t>
            </a:r>
            <a:endParaRPr sz="1050" b="0" i="0">
              <a:solidFill>
                <a:srgbClr val="6B748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70464" y="5596128"/>
            <a:ext cx="1069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onsolas"/>
              </a:rPr>
              <a:t>1.</a:t>
            </a:r>
            <a:r>
              <a:rPr lang="en-GB" sz="1500" b="1" i="0">
                <a:solidFill>
                  <a:srgbClr val="1B2A4A"/>
                </a:solidFill>
                <a:latin typeface="Consolas"/>
              </a:rPr>
              <a:t>9</a:t>
            </a:r>
            <a:r>
              <a:rPr sz="1000" b="0" i="0">
                <a:solidFill>
                  <a:srgbClr val="6B7480"/>
                </a:solidFill>
                <a:latin typeface="Consolas"/>
              </a:rPr>
              <a:t> ±1.</a:t>
            </a:r>
            <a:r>
              <a:rPr lang="en-GB" sz="1000" b="0" i="0">
                <a:solidFill>
                  <a:srgbClr val="6B7480"/>
                </a:solidFill>
                <a:latin typeface="Consolas"/>
              </a:rPr>
              <a:t>3</a:t>
            </a:r>
            <a:endParaRPr sz="1000" b="0" i="0">
              <a:solidFill>
                <a:srgbClr val="6B7480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47888" y="6053328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1">
                <a:solidFill>
                  <a:srgbClr val="6B7480"/>
                </a:solidFill>
                <a:latin typeface="Calibri"/>
              </a:rPr>
              <a:t>Shaded bands: mean ± std across 20 repeated 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465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6B7480"/>
                </a:solidFill>
                <a:latin typeface="Consolas"/>
              </a:rPr>
              <a:t>CD-CUCB (ND)  ·  ND_ec=0.1_threshold=1.5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ED432-0BDC-9385-D9C0-F1F053FA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AC8D4D-67AC-4A60-F43D-02AF4F77799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6A8BC-A79F-C1D3-3A1B-2F78B12A3A46}"/>
              </a:ext>
            </a:extLst>
          </p:cNvPr>
          <p:cNvSpPr txBox="1"/>
          <p:nvPr/>
        </p:nvSpPr>
        <p:spPr>
          <a:xfrm>
            <a:off x="640080" y="41148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</a:t>
            </a:r>
            <a:r>
              <a:rPr lang="en-GB" sz="1300" b="1" i="0">
                <a:solidFill>
                  <a:srgbClr val="2E86AB"/>
                </a:solidFill>
                <a:latin typeface="Calibri"/>
              </a:rPr>
              <a:t>COMPARISON</a:t>
            </a:r>
            <a:endParaRPr sz="1300" b="1" i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98EBD-BD0B-19B3-E5A6-2FD71B19A18C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>
                <a:solidFill>
                  <a:srgbClr val="1B2A4A"/>
                </a:solidFill>
                <a:latin typeface="Calibri"/>
              </a:rPr>
              <a:t>LOW FREQUENCY MEDIUM SKL</a:t>
            </a:r>
            <a:r>
              <a:rPr sz="3000" b="1" i="0">
                <a:solidFill>
                  <a:srgbClr val="1B2A4A"/>
                </a:solidFill>
                <a:latin typeface="Calibri"/>
              </a:rPr>
              <a:t> — </a:t>
            </a:r>
            <a:r>
              <a:rPr lang="en-GB" sz="3000" b="1" i="0">
                <a:solidFill>
                  <a:srgbClr val="1B2A4A"/>
                </a:solidFill>
                <a:latin typeface="Calibri"/>
              </a:rPr>
              <a:t>CUMULATIVE REGRET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B9C5E-37F1-3224-BBD8-11C2EAEB250D}"/>
              </a:ext>
            </a:extLst>
          </p:cNvPr>
          <p:cNvSpPr/>
          <p:nvPr/>
        </p:nvSpPr>
        <p:spPr>
          <a:xfrm>
            <a:off x="658368" y="1278501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108D47-C9F6-30E1-30F0-1955230AAEE8}"/>
              </a:ext>
            </a:extLst>
          </p:cNvPr>
          <p:cNvSpPr txBox="1"/>
          <p:nvPr/>
        </p:nvSpPr>
        <p:spPr>
          <a:xfrm>
            <a:off x="658368" y="6446520"/>
            <a:ext cx="10881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000" b="0" i="1">
                <a:solidFill>
                  <a:srgbClr val="6B7480"/>
                </a:solidFill>
                <a:latin typeface="Consolas"/>
              </a:rPr>
              <a:t>Comparison</a:t>
            </a:r>
            <a:endParaRPr sz="1000" b="0" i="1">
              <a:solidFill>
                <a:srgbClr val="6B7480"/>
              </a:solidFill>
              <a:latin typeface="Consola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C4E8DC7-8AE7-3059-9503-A437B1F2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22" y="1370470"/>
            <a:ext cx="8136156" cy="511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552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003D-D8AD-78A4-D87C-78C97C09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C00A26-E1ED-DD03-71A2-954A4F192F4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CE691-603B-0680-299D-AB50E8535028}"/>
              </a:ext>
            </a:extLst>
          </p:cNvPr>
          <p:cNvSpPr txBox="1"/>
          <p:nvPr/>
        </p:nvSpPr>
        <p:spPr>
          <a:xfrm>
            <a:off x="640080" y="411480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REQUIREMENT 4  ·</a:t>
            </a:r>
            <a:r>
              <a:rPr lang="en-GB" sz="1300" b="1" i="0">
                <a:solidFill>
                  <a:srgbClr val="2E86AB"/>
                </a:solidFill>
                <a:latin typeface="Calibri"/>
              </a:rPr>
              <a:t>COMPARISON</a:t>
            </a:r>
            <a:endParaRPr sz="1300" b="1" i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139D5-9463-21C8-5CC4-5F15D2A4244B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>
                <a:solidFill>
                  <a:srgbClr val="1B2A4A"/>
                </a:solidFill>
                <a:latin typeface="Calibri"/>
              </a:rPr>
              <a:t>HIGH FREQUENCY MEDIUM SKL — CUMULATIVE REGRET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1B53B7-108F-CE82-A381-897B40E6A5B2}"/>
              </a:ext>
            </a:extLst>
          </p:cNvPr>
          <p:cNvSpPr/>
          <p:nvPr/>
        </p:nvSpPr>
        <p:spPr>
          <a:xfrm>
            <a:off x="658368" y="1278501"/>
            <a:ext cx="2926080" cy="381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FE7DF0-12A9-7EF5-8444-4781F39C3862}"/>
              </a:ext>
            </a:extLst>
          </p:cNvPr>
          <p:cNvSpPr txBox="1"/>
          <p:nvPr/>
        </p:nvSpPr>
        <p:spPr>
          <a:xfrm>
            <a:off x="658368" y="6446520"/>
            <a:ext cx="10881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000" b="0" i="1">
                <a:solidFill>
                  <a:srgbClr val="6B7480"/>
                </a:solidFill>
                <a:latin typeface="Consolas"/>
              </a:rPr>
              <a:t>Comparison</a:t>
            </a:r>
            <a:endParaRPr sz="1000" b="0" i="1">
              <a:solidFill>
                <a:srgbClr val="6B7480"/>
              </a:solidFill>
              <a:latin typeface="Consola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8B4EBF-4A97-C343-C173-952F2A36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27922" y="1370470"/>
            <a:ext cx="8136155" cy="511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986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7C7A-6302-353B-0B51-72CED6317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4000" b="1">
                <a:solidFill>
                  <a:srgbClr val="1B2A4A"/>
                </a:solidFill>
                <a:latin typeface="Calibri"/>
              </a:rPr>
              <a:t>Future work…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334E6-2A0A-55AC-C403-9DAC2BEB8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it-IT" sz="1800" b="0" i="1" err="1">
                <a:solidFill>
                  <a:srgbClr val="5A6B76"/>
                </a:solidFill>
                <a:latin typeface="Calibri"/>
              </a:rPr>
              <a:t>Analyze</a:t>
            </a:r>
            <a:r>
              <a:rPr lang="it-IT" sz="1800" b="0" i="1">
                <a:solidFill>
                  <a:srgbClr val="5A6B76"/>
                </a:solidFill>
                <a:latin typeface="Calibri"/>
              </a:rPr>
              <a:t> </a:t>
            </a:r>
            <a:r>
              <a:rPr lang="it-IT" sz="1800" b="0" i="1" err="1">
                <a:solidFill>
                  <a:srgbClr val="5A6B76"/>
                </a:solidFill>
                <a:latin typeface="Calibri"/>
              </a:rPr>
              <a:t>behaviour</a:t>
            </a:r>
            <a:r>
              <a:rPr lang="it-IT" sz="1800" b="0" i="1">
                <a:solidFill>
                  <a:srgbClr val="5A6B76"/>
                </a:solidFill>
                <a:latin typeface="Calibri"/>
              </a:rPr>
              <a:t> with non-</a:t>
            </a:r>
            <a:r>
              <a:rPr lang="it-IT" sz="1800" b="0" i="1" err="1">
                <a:solidFill>
                  <a:srgbClr val="5A6B76"/>
                </a:solidFill>
                <a:latin typeface="Calibri"/>
              </a:rPr>
              <a:t>abrupt</a:t>
            </a:r>
            <a:r>
              <a:rPr lang="it-IT" sz="1800" b="0" i="1">
                <a:solidFill>
                  <a:srgbClr val="5A6B76"/>
                </a:solidFill>
                <a:latin typeface="Calibri"/>
              </a:rPr>
              <a:t> </a:t>
            </a:r>
            <a:r>
              <a:rPr lang="it-IT" sz="1800" b="0" i="1" err="1">
                <a:solidFill>
                  <a:srgbClr val="5A6B76"/>
                </a:solidFill>
                <a:latin typeface="Calibri"/>
              </a:rPr>
              <a:t>changes</a:t>
            </a:r>
            <a:endParaRPr lang="it-IT"/>
          </a:p>
          <a:p>
            <a:pPr marL="342900" indent="-342900">
              <a:buFontTx/>
              <a:buChar char="-"/>
            </a:pPr>
            <a:r>
              <a:rPr lang="it-IT" sz="1800" b="0" i="1" err="1">
                <a:solidFill>
                  <a:srgbClr val="5A6B76"/>
                </a:solidFill>
                <a:latin typeface="Calibri"/>
              </a:rPr>
              <a:t>Recurring</a:t>
            </a:r>
            <a:r>
              <a:rPr lang="it-IT" sz="1800" b="0" i="1">
                <a:solidFill>
                  <a:srgbClr val="5A6B76"/>
                </a:solidFill>
                <a:latin typeface="Calibri"/>
              </a:rPr>
              <a:t> state of the market</a:t>
            </a:r>
          </a:p>
          <a:p>
            <a:pPr marL="342900" indent="-342900">
              <a:buFontTx/>
              <a:buChar char="-"/>
            </a:pPr>
            <a:endParaRPr lang="it-IT"/>
          </a:p>
          <a:p>
            <a:pPr marL="342900" indent="-342900">
              <a:buFontTx/>
              <a:buChar char="-"/>
            </a:pPr>
            <a:endParaRPr lang="it-IT"/>
          </a:p>
        </p:txBody>
      </p:sp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3994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C234-D30D-5CDB-BA98-E49310BB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28DA-0537-DE18-EB1A-55B64D1D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20" y="43977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b="1" i="0" kern="1200">
                <a:ea typeface="+mj-ea"/>
                <a:cs typeface="+mj-cs"/>
              </a:rPr>
              <a:t>Incremental CD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B6F47-598C-E2A5-58A1-24C4B0B7DDC3}"/>
              </a:ext>
            </a:extLst>
          </p:cNvPr>
          <p:cNvSpPr txBox="1"/>
          <p:nvPr/>
        </p:nvSpPr>
        <p:spPr>
          <a:xfrm>
            <a:off x="473820" y="2152821"/>
            <a:ext cx="3481054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Tested to make sure that: </a:t>
            </a:r>
          </a:p>
          <a:p>
            <a:pPr marL="285750" indent="-2286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Transition is monotone → if μ1≤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μT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 then μ1≤μ2≤…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μT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286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ΔSKL is the same amongst every sample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5DDC4D-3E92-4463-9F7C-0FD224DC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603" y="2709993"/>
            <a:ext cx="7423049" cy="2534213"/>
          </a:xfrm>
          <a:prstGeom prst="rect">
            <a:avLst/>
          </a:prstGeom>
        </p:spPr>
      </p:pic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2702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1ACF-988E-A2F0-42FC-B9425B25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168">
            <a:extLst>
              <a:ext uri="{FF2B5EF4-FFF2-40B4-BE49-F238E27FC236}">
                <a16:creationId xmlns:a16="http://schemas.microsoft.com/office/drawing/2014/main" id="{257BBD50-D577-B28C-9C1E-64B8F027DD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13" b="35478"/>
          <a:stretch>
            <a:fillRect/>
          </a:stretch>
        </p:blipFill>
        <p:spPr>
          <a:xfrm>
            <a:off x="1078481" y="1668780"/>
            <a:ext cx="10035037" cy="251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9F7ED1-800C-B421-CCC0-A1D3C0E3A7FA}"/>
              </a:ext>
            </a:extLst>
          </p:cNvPr>
          <p:cNvSpPr txBox="1"/>
          <p:nvPr/>
        </p:nvSpPr>
        <p:spPr>
          <a:xfrm>
            <a:off x="1078481" y="64743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kern="1200">
                <a:solidFill>
                  <a:srgbClr val="1B2A4A"/>
                </a:solidFill>
                <a:latin typeface="Calibri"/>
              </a:rPr>
              <a:t>Gradual CD</a:t>
            </a:r>
            <a:endParaRPr lang="it-IT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8A90A-A573-05D6-8895-674B04D482B9}"/>
              </a:ext>
            </a:extLst>
          </p:cNvPr>
          <p:cNvSpPr txBox="1"/>
          <p:nvPr/>
        </p:nvSpPr>
        <p:spPr>
          <a:xfrm>
            <a:off x="1492758" y="4266891"/>
            <a:ext cx="83553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>
                <a:latin typeface="Delicious"/>
                <a:cs typeface="Segoe UI"/>
              </a:rPr>
              <a:t>3 </a:t>
            </a:r>
            <a:r>
              <a:rPr lang="it-IT" err="1">
                <a:latin typeface="Delicious"/>
                <a:cs typeface="Segoe UI"/>
              </a:rPr>
              <a:t>distinct</a:t>
            </a:r>
            <a:r>
              <a:rPr lang="it-IT">
                <a:latin typeface="Delicious"/>
                <a:cs typeface="Segoe UI"/>
              </a:rPr>
              <a:t> </a:t>
            </a:r>
            <a:r>
              <a:rPr lang="it-IT" err="1">
                <a:latin typeface="Delicious"/>
                <a:cs typeface="Segoe UI"/>
              </a:rPr>
              <a:t>phase</a:t>
            </a:r>
            <a:r>
              <a:rPr lang="it-IT">
                <a:latin typeface="Delicious"/>
                <a:cs typeface="Segoe UI"/>
              </a:rPr>
              <a:t>: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t-IT" b="1">
                <a:solidFill>
                  <a:srgbClr val="00B050"/>
                </a:solidFill>
                <a:latin typeface="Delicious"/>
                <a:cs typeface="Segoe UI"/>
              </a:rPr>
              <a:t>In control </a:t>
            </a:r>
            <a:r>
              <a:rPr lang="it-IT" b="1" err="1">
                <a:solidFill>
                  <a:srgbClr val="00B050"/>
                </a:solidFill>
                <a:latin typeface="Delicious"/>
                <a:cs typeface="Segoe UI"/>
              </a:rPr>
              <a:t>phase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: </a:t>
            </a:r>
            <a:r>
              <a:rPr lang="it-IT" err="1">
                <a:solidFill>
                  <a:srgbClr val="00B050"/>
                </a:solidFill>
                <a:latin typeface="Delicious"/>
                <a:cs typeface="Segoe UI"/>
              </a:rPr>
              <a:t>where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 just </a:t>
            </a:r>
            <a:r>
              <a:rPr lang="el-GR">
                <a:solidFill>
                  <a:srgbClr val="00B050"/>
                </a:solidFill>
                <a:latin typeface="Delicious"/>
                <a:cs typeface="Segoe UI"/>
              </a:rPr>
              <a:t>φ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0 </a:t>
            </a:r>
            <a:r>
              <a:rPr lang="it-IT" err="1">
                <a:solidFill>
                  <a:srgbClr val="00B050"/>
                </a:solidFill>
                <a:latin typeface="Delicious"/>
                <a:cs typeface="Segoe UI"/>
              </a:rPr>
              <a:t>is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 </a:t>
            </a:r>
            <a:r>
              <a:rPr lang="it-IT" err="1">
                <a:solidFill>
                  <a:srgbClr val="00B050"/>
                </a:solidFill>
                <a:latin typeface="Delicious"/>
                <a:cs typeface="Segoe UI"/>
              </a:rPr>
              <a:t>present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t-IT" b="1" err="1">
                <a:solidFill>
                  <a:srgbClr val="C00000"/>
                </a:solidFill>
                <a:latin typeface="Delicious"/>
                <a:cs typeface="Segoe UI"/>
              </a:rPr>
              <a:t>Transition</a:t>
            </a:r>
            <a:r>
              <a:rPr lang="it-IT" b="1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b="1" err="1">
                <a:solidFill>
                  <a:srgbClr val="C00000"/>
                </a:solidFill>
                <a:latin typeface="Delicious"/>
                <a:cs typeface="Segoe UI"/>
              </a:rPr>
              <a:t>phase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: </a:t>
            </a:r>
            <a:r>
              <a:rPr lang="it-IT" err="1">
                <a:solidFill>
                  <a:srgbClr val="C00000"/>
                </a:solidFill>
                <a:latin typeface="Delicious"/>
                <a:cs typeface="Segoe UI"/>
              </a:rPr>
              <a:t>where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el-GR">
                <a:solidFill>
                  <a:srgbClr val="C00000"/>
                </a:solidFill>
                <a:latin typeface="Delicious"/>
                <a:cs typeface="Segoe UI"/>
              </a:rPr>
              <a:t>φ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0 and </a:t>
            </a:r>
            <a:r>
              <a:rPr lang="el-GR">
                <a:solidFill>
                  <a:srgbClr val="C00000"/>
                </a:solidFill>
                <a:latin typeface="Delicious"/>
                <a:cs typeface="Segoe UI"/>
              </a:rPr>
              <a:t>φ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1 </a:t>
            </a:r>
            <a:r>
              <a:rPr lang="it-IT" err="1">
                <a:solidFill>
                  <a:srgbClr val="C00000"/>
                </a:solidFill>
                <a:latin typeface="Delicious"/>
                <a:cs typeface="Segoe UI"/>
              </a:rPr>
              <a:t>alternates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(for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each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block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 bi a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distribution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is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sorted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>
                <a:solidFill>
                  <a:srgbClr val="0070C0"/>
                </a:solidFill>
                <a:latin typeface="Delicious"/>
                <a:cs typeface="Segoe UI"/>
              </a:rPr>
              <a:t>Out of control </a:t>
            </a:r>
            <a:r>
              <a:rPr lang="it-IT" b="1" err="1">
                <a:solidFill>
                  <a:srgbClr val="0070C0"/>
                </a:solidFill>
                <a:latin typeface="Delicious"/>
                <a:cs typeface="Segoe UI"/>
              </a:rPr>
              <a:t>phase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: </a:t>
            </a:r>
            <a:r>
              <a:rPr lang="it-IT" err="1">
                <a:solidFill>
                  <a:srgbClr val="0070C0"/>
                </a:solidFill>
                <a:latin typeface="Delicious"/>
                <a:cs typeface="Segoe UI"/>
              </a:rPr>
              <a:t>where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 just </a:t>
            </a:r>
            <a:r>
              <a:rPr lang="el-GR">
                <a:solidFill>
                  <a:srgbClr val="0070C0"/>
                </a:solidFill>
                <a:latin typeface="Delicious"/>
                <a:cs typeface="Segoe UI"/>
              </a:rPr>
              <a:t>φ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1 </a:t>
            </a:r>
            <a:r>
              <a:rPr lang="it-IT" err="1">
                <a:solidFill>
                  <a:srgbClr val="0070C0"/>
                </a:solidFill>
                <a:latin typeface="Delicious"/>
                <a:cs typeface="Segoe UI"/>
              </a:rPr>
              <a:t>is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 </a:t>
            </a:r>
            <a:r>
              <a:rPr lang="it-IT" err="1">
                <a:solidFill>
                  <a:srgbClr val="0070C0"/>
                </a:solidFill>
                <a:latin typeface="Delicious"/>
                <a:cs typeface="Segoe UI"/>
              </a:rPr>
              <a:t>present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it-IT">
              <a:latin typeface="Delicious"/>
              <a:cs typeface="Segoe UI"/>
            </a:endParaRPr>
          </a:p>
        </p:txBody>
      </p:sp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3163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12C8-43C2-2EED-5044-A6B971B5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it-IT" sz="3200" b="1" err="1">
                <a:solidFill>
                  <a:srgbClr val="1B2A4A"/>
                </a:solidFill>
                <a:latin typeface="Calibri"/>
              </a:rPr>
              <a:t>Recurring</a:t>
            </a:r>
            <a:r>
              <a:rPr lang="it-IT" sz="3200" b="1">
                <a:solidFill>
                  <a:srgbClr val="1B2A4A"/>
                </a:solidFill>
                <a:latin typeface="Calibri"/>
              </a:rPr>
              <a:t> state of the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7D673-0E35-38E2-B1B2-27D3E6A24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/>
              <a:t>In </a:t>
            </a:r>
            <a:r>
              <a:rPr lang="it-IT" sz="1800" err="1"/>
              <a:t>normal</a:t>
            </a:r>
            <a:r>
              <a:rPr lang="it-IT" sz="1800"/>
              <a:t> case scenario </a:t>
            </a:r>
            <a:r>
              <a:rPr lang="it-IT" sz="1800" err="1"/>
              <a:t>we</a:t>
            </a:r>
            <a:r>
              <a:rPr lang="it-IT" sz="1800"/>
              <a:t> know </a:t>
            </a:r>
            <a:r>
              <a:rPr lang="it-IT" sz="1800" err="1"/>
              <a:t>that</a:t>
            </a:r>
            <a:r>
              <a:rPr lang="it-IT" sz="1800"/>
              <a:t> </a:t>
            </a:r>
            <a:r>
              <a:rPr lang="it-IT" sz="1800" err="1"/>
              <a:t>seasonality</a:t>
            </a:r>
            <a:r>
              <a:rPr lang="it-IT" sz="1800"/>
              <a:t> impose </a:t>
            </a:r>
            <a:r>
              <a:rPr lang="it-IT" sz="1800" err="1"/>
              <a:t>recurring</a:t>
            </a:r>
            <a:r>
              <a:rPr lang="it-IT" sz="1800"/>
              <a:t> </a:t>
            </a:r>
            <a:r>
              <a:rPr lang="it-IT" sz="1800" err="1"/>
              <a:t>states</a:t>
            </a:r>
            <a:r>
              <a:rPr lang="it-IT" sz="1800"/>
              <a:t>. </a:t>
            </a:r>
            <a:r>
              <a:rPr lang="it-IT" sz="1800" err="1"/>
              <a:t>Our</a:t>
            </a:r>
            <a:r>
              <a:rPr lang="it-IT" sz="1800"/>
              <a:t> </a:t>
            </a:r>
            <a:r>
              <a:rPr lang="it-IT" sz="1800" err="1"/>
              <a:t>environment</a:t>
            </a:r>
            <a:r>
              <a:rPr lang="it-IT" sz="1800"/>
              <a:t> of </a:t>
            </a:r>
            <a:r>
              <a:rPr lang="it-IT" sz="1800" b="1" err="1"/>
              <a:t>gaussian</a:t>
            </a:r>
            <a:r>
              <a:rPr lang="it-IT" sz="1800" b="1"/>
              <a:t> </a:t>
            </a:r>
            <a:r>
              <a:rPr lang="it-IT" sz="1800" b="1" err="1"/>
              <a:t>constellation</a:t>
            </a:r>
            <a:r>
              <a:rPr lang="it-IT" sz="1800" b="1"/>
              <a:t> </a:t>
            </a:r>
            <a:r>
              <a:rPr lang="it-IT" sz="1800" err="1"/>
              <a:t>adapts</a:t>
            </a:r>
            <a:r>
              <a:rPr lang="it-IT" sz="1800"/>
              <a:t> </a:t>
            </a:r>
            <a:r>
              <a:rPr lang="it-IT" sz="1800" err="1"/>
              <a:t>very</a:t>
            </a:r>
            <a:r>
              <a:rPr lang="it-IT" sz="1800"/>
              <a:t> </a:t>
            </a:r>
            <a:r>
              <a:rPr lang="it-IT" sz="1800" err="1"/>
              <a:t>well</a:t>
            </a:r>
            <a:r>
              <a:rPr lang="it-IT" sz="1800"/>
              <a:t> </a:t>
            </a:r>
            <a:r>
              <a:rPr lang="it-IT" sz="1800" err="1"/>
              <a:t>that</a:t>
            </a:r>
            <a:r>
              <a:rPr lang="it-IT" sz="1800"/>
              <a:t> case. </a:t>
            </a:r>
            <a:r>
              <a:rPr lang="it-IT" sz="1800" err="1"/>
              <a:t>Useful</a:t>
            </a:r>
            <a:r>
              <a:rPr lang="it-IT" sz="1800"/>
              <a:t> </a:t>
            </a:r>
            <a:r>
              <a:rPr lang="it-IT" sz="1800" err="1"/>
              <a:t>tests</a:t>
            </a:r>
            <a:r>
              <a:rPr lang="it-IT" sz="1800"/>
              <a:t> so </a:t>
            </a:r>
            <a:r>
              <a:rPr lang="it-IT" sz="1800" err="1"/>
              <a:t>could</a:t>
            </a:r>
            <a:r>
              <a:rPr lang="it-IT" sz="1800"/>
              <a:t> be to </a:t>
            </a:r>
            <a:r>
              <a:rPr lang="it-IT" sz="1800" err="1"/>
              <a:t>implement</a:t>
            </a:r>
            <a:r>
              <a:rPr lang="it-IT" sz="1800"/>
              <a:t> </a:t>
            </a:r>
            <a:r>
              <a:rPr lang="it-IT" sz="1800" err="1"/>
              <a:t>something</a:t>
            </a:r>
            <a:r>
              <a:rPr lang="it-IT" sz="1800"/>
              <a:t> like </a:t>
            </a:r>
            <a:r>
              <a:rPr lang="it-IT" sz="1800" b="1">
                <a:solidFill>
                  <a:srgbClr val="7030A0"/>
                </a:solidFill>
              </a:rPr>
              <a:t>Learn++.NSE </a:t>
            </a:r>
            <a:r>
              <a:rPr lang="it-IT" sz="1800"/>
              <a:t>to </a:t>
            </a:r>
            <a:r>
              <a:rPr lang="it-IT" sz="1800" err="1"/>
              <a:t>have</a:t>
            </a:r>
            <a:r>
              <a:rPr lang="it-IT" sz="1800"/>
              <a:t> multiple models and updates </a:t>
            </a:r>
            <a:r>
              <a:rPr lang="it-IT" sz="1800" err="1"/>
              <a:t>their</a:t>
            </a:r>
            <a:r>
              <a:rPr lang="it-IT" sz="1800"/>
              <a:t> weights of </a:t>
            </a:r>
            <a:r>
              <a:rPr lang="it-IT" sz="1800" err="1"/>
              <a:t>importance</a:t>
            </a:r>
            <a:r>
              <a:rPr lang="it-IT" sz="1800"/>
              <a:t> </a:t>
            </a:r>
            <a:r>
              <a:rPr lang="it-IT" sz="1800" err="1"/>
              <a:t>when</a:t>
            </a:r>
            <a:r>
              <a:rPr lang="it-IT" sz="1800"/>
              <a:t> the </a:t>
            </a:r>
            <a:r>
              <a:rPr lang="it-IT" sz="1800" err="1"/>
              <a:t>environment</a:t>
            </a:r>
            <a:r>
              <a:rPr lang="it-IT" sz="1800"/>
              <a:t> </a:t>
            </a:r>
            <a:r>
              <a:rPr lang="it-IT" sz="1800" err="1"/>
              <a:t>that</a:t>
            </a:r>
            <a:r>
              <a:rPr lang="it-IT" sz="1800"/>
              <a:t> </a:t>
            </a:r>
            <a:r>
              <a:rPr lang="it-IT" sz="1800" err="1"/>
              <a:t>would</a:t>
            </a:r>
            <a:r>
              <a:rPr lang="it-IT" sz="1800"/>
              <a:t> </a:t>
            </a:r>
            <a:r>
              <a:rPr lang="it-IT" sz="1800" err="1"/>
              <a:t>require</a:t>
            </a:r>
            <a:r>
              <a:rPr lang="it-IT" sz="1800"/>
              <a:t> </a:t>
            </a:r>
            <a:r>
              <a:rPr lang="it-IT" sz="1800" err="1"/>
              <a:t>that</a:t>
            </a:r>
            <a:r>
              <a:rPr lang="it-IT" sz="1800"/>
              <a:t> </a:t>
            </a:r>
            <a:r>
              <a:rPr lang="it-IT" sz="1800" err="1"/>
              <a:t>eventually</a:t>
            </a:r>
            <a:r>
              <a:rPr lang="it-IT" sz="1800"/>
              <a:t> </a:t>
            </a:r>
            <a:r>
              <a:rPr lang="it-IT" sz="1800" err="1"/>
              <a:t>comes</a:t>
            </a:r>
            <a:r>
              <a:rPr lang="it-IT" sz="1800"/>
              <a:t> up </a:t>
            </a:r>
            <a:r>
              <a:rPr lang="it-IT" sz="1800" err="1"/>
              <a:t>again</a:t>
            </a:r>
            <a:r>
              <a:rPr lang="it-IT" sz="1800"/>
              <a:t>.</a:t>
            </a:r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r>
              <a:rPr lang="en-US" sz="1800" b="1">
                <a:solidFill>
                  <a:srgbClr val="7030A0"/>
                </a:solidFill>
              </a:rPr>
              <a:t>References</a:t>
            </a:r>
            <a:endParaRPr lang="en-US" sz="1800">
              <a:solidFill>
                <a:srgbClr val="7030A0"/>
              </a:solidFill>
            </a:endParaRPr>
          </a:p>
          <a:p>
            <a:r>
              <a:rPr lang="en-US" sz="1800">
                <a:solidFill>
                  <a:schemeClr val="bg2">
                    <a:lumMod val="50000"/>
                  </a:schemeClr>
                </a:solidFill>
              </a:rPr>
              <a:t>Elwell, R., &amp; </a:t>
            </a:r>
            <a:r>
              <a:rPr lang="en-US" sz="1800" err="1">
                <a:solidFill>
                  <a:schemeClr val="bg2">
                    <a:lumMod val="50000"/>
                  </a:schemeClr>
                </a:solidFill>
              </a:rPr>
              <a:t>Polikar</a:t>
            </a:r>
            <a:r>
              <a:rPr lang="en-US" sz="1800">
                <a:solidFill>
                  <a:schemeClr val="bg2">
                    <a:lumMod val="50000"/>
                  </a:schemeClr>
                </a:solidFill>
              </a:rPr>
              <a:t>, R. (2011). Incremental Learning of Concept Drift in Nonstationary Environments. </a:t>
            </a:r>
            <a:r>
              <a:rPr lang="en-US" sz="1800" i="1">
                <a:solidFill>
                  <a:schemeClr val="bg2">
                    <a:lumMod val="50000"/>
                  </a:schemeClr>
                </a:solidFill>
              </a:rPr>
              <a:t>IEEE Transactions on Neural Networks</a:t>
            </a:r>
            <a:r>
              <a:rPr lang="en-US" sz="180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800" i="1">
                <a:solidFill>
                  <a:schemeClr val="bg2">
                    <a:lumMod val="50000"/>
                  </a:schemeClr>
                </a:solidFill>
              </a:rPr>
              <a:t>22</a:t>
            </a:r>
            <a:r>
              <a:rPr lang="en-US" sz="1800">
                <a:solidFill>
                  <a:schemeClr val="bg2">
                    <a:lumMod val="50000"/>
                  </a:schemeClr>
                </a:solidFill>
              </a:rPr>
              <a:t>(10), 1517–1531. </a:t>
            </a:r>
            <a:r>
              <a:rPr lang="en-US" sz="180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https://doi.org/10.1109/tnn.2011.2160459</a:t>
            </a:r>
            <a:r>
              <a:rPr lang="en-US" sz="1800">
                <a:solidFill>
                  <a:srgbClr val="00B0F0"/>
                </a:solidFill>
              </a:rPr>
              <a:t> </a:t>
            </a:r>
            <a:r>
              <a:rPr lang="en-US" sz="1800">
                <a:solidFill>
                  <a:schemeClr val="bg2">
                    <a:lumMod val="50000"/>
                  </a:schemeClr>
                </a:solidFill>
              </a:rPr>
              <a:t>Cited by: 1230</a:t>
            </a:r>
          </a:p>
          <a:p>
            <a:pPr marL="0" indent="0">
              <a:buNone/>
            </a:pPr>
            <a:endParaRPr lang="it-IT" sz="1800"/>
          </a:p>
        </p:txBody>
      </p:sp>
      <p:sp>
        <p:nvSpPr>
          <p:cNvPr id="95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29243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022D-0A30-585A-FA18-8EA4BDA73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97100"/>
            <a:ext cx="10515600" cy="1016000"/>
          </a:xfrm>
        </p:spPr>
        <p:txBody>
          <a:bodyPr anchor="t" anchorCtr="0">
            <a:normAutofit/>
          </a:bodyPr>
          <a:lstStyle/>
          <a:p>
            <a:pPr algn="l"/>
            <a:r>
              <a:rPr lang="it-IT" sz="40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Any question?</a:t>
            </a: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54093C96-481C-405B-AA23-48AD962CDBC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26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64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office theme</vt:lpstr>
      <vt:lpstr>Requirement 1: single campaign 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Environment req 3 and 4:  The Gaussian Constellation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Switching mechanism</vt:lpstr>
      <vt:lpstr>Same sKL </vt:lpstr>
      <vt:lpstr>Possible solutions</vt:lpstr>
      <vt:lpstr>PowerPoint Presentation</vt:lpstr>
      <vt:lpstr>How it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Requirement 3: Primal Dual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 4: Slightly 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work…</vt:lpstr>
      <vt:lpstr>Incremental CD</vt:lpstr>
      <vt:lpstr>PowerPoint Presentation</vt:lpstr>
      <vt:lpstr>Recurring state of the market</vt:lpstr>
      <vt:lpstr>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</cp:revision>
  <dcterms:created xsi:type="dcterms:W3CDTF">2026-04-19T17:12:07Z</dcterms:created>
  <dcterms:modified xsi:type="dcterms:W3CDTF">2026-07-10T15:32:12Z</dcterms:modified>
</cp:coreProperties>
</file>